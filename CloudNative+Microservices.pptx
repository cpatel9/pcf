
<file path=[Content_Types].xml><?xml version="1.0" encoding="utf-8"?>
<Types xmlns="http://schemas.openxmlformats.org/package/2006/content-types">
  <Override PartName="/ppt/slideMasters/slideMaster3.xml" ContentType="application/vnd.openxmlformats-officedocument.presentationml.slideMaster+xml"/>
  <Override PartName="/ppt/slides/slide47.xml" ContentType="application/vnd.openxmlformats-officedocument.presentationml.slide+xml"/>
  <Override PartName="/ppt/tags/tag8.xml" ContentType="application/vnd.openxmlformats-officedocument.presentationml.tags+xml"/>
  <Override PartName="/ppt/theme/theme5.xml" ContentType="application/vnd.openxmlformats-officedocument.theme+xml"/>
  <Override PartName="/ppt/notesSlides/notesSlide2.xml" ContentType="application/vnd.openxmlformats-officedocument.presentationml.notesSlide+xml"/>
  <Override PartName="/ppt/slides/slide36.xml" ContentType="application/vnd.openxmlformats-officedocument.presentationml.slide+xml"/>
  <Override PartName="/ppt/diagrams/colors11.xml" ContentType="application/vnd.openxmlformats-officedocument.drawingml.diagramColors+xml"/>
  <Override PartName="/ppt/slides/slide25.xml" ContentType="application/vnd.openxmlformats-officedocument.presentationml.slide+xml"/>
  <Override PartName="/ppt/slideLayouts/slideLayout2.xml" ContentType="application/vnd.openxmlformats-officedocument.presentationml.slideLayout+xml"/>
  <Override PartName="/ppt/slideLayouts/slideLayout35.xml" ContentType="application/vnd.openxmlformats-officedocument.presentationml.slideLayout+xml"/>
  <Override PartName="/ppt/tags/tag49.xml" ContentType="application/vnd.openxmlformats-officedocument.presentationml.tags+xml"/>
  <Override PartName="/ppt/notesSlides/notesSlide27.xml" ContentType="application/vnd.openxmlformats-officedocument.presentationml.notesSlide+xml"/>
  <Override PartName="/ppt/diagrams/layout9.xml" ContentType="application/vnd.openxmlformats-officedocument.drawingml.diagramLayout+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tags/tag38.xml" ContentType="application/vnd.openxmlformats-officedocument.presentationml.tags+xml"/>
  <Override PartName="/ppt/notesSlides/notesSlide16.xml" ContentType="application/vnd.openxmlformats-officedocument.presentationml.notesSlide+xml"/>
  <Override PartName="/ppt/tableStyles.xml" ContentType="application/vnd.openxmlformats-officedocument.presentationml.tableStyles+xml"/>
  <Override PartName="/ppt/tags/tag16.xml" ContentType="application/vnd.openxmlformats-officedocument.presentationml.tags+xml"/>
  <Override PartName="/ppt/tags/tag27.xml" ContentType="application/vnd.openxmlformats-officedocument.presentationml.tags+xml"/>
  <Override PartName="/ppt/tags/tag63.xml" ContentType="application/vnd.openxmlformats-officedocument.presentationml.tags+xml"/>
  <Override PartName="/ppt/tags/tag52.xml" ContentType="application/vnd.openxmlformats-officedocument.presentationml.tags+xml"/>
  <Override PartName="/ppt/notesSlides/notesSlide30.xml" ContentType="application/vnd.openxmlformats-officedocument.presentationml.notesSlide+xml"/>
  <Override PartName="/ppt/tags/tag41.xml" ContentType="application/vnd.openxmlformats-officedocument.presentationml.tags+xml"/>
  <Override PartName="/ppt/diagrams/layout1.xml" ContentType="application/vnd.openxmlformats-officedocument.drawingml.diagramLayout+xml"/>
  <Override PartName="/ppt/diagrams/data2.xml" ContentType="application/vnd.openxmlformats-officedocument.drawingml.diagramData+xml"/>
  <Override PartName="/ppt/notesSlides/notesSlide7.xml" ContentType="application/vnd.openxmlformats-officedocument.presentationml.notesSlide+xml"/>
  <Override PartName="/ppt/tags/tag30.xml" ContentType="application/vnd.openxmlformats-officedocument.presentationml.tags+xml"/>
  <Override PartName="/ppt/diagrams/colors4.xml" ContentType="application/vnd.openxmlformats-officedocument.drawingml.diagramColors+xml"/>
  <Override PartName="/ppt/diagrams/drawing10.xml" ContentType="application/vnd.ms-office.drawingml.diagramDrawing+xml"/>
  <Override PartName="/ppt/slides/slide5.xml" ContentType="application/vnd.openxmlformats-officedocument.presentationml.slide+xml"/>
  <Override PartName="/ppt/slides/slide19.xml" ContentType="application/vnd.openxmlformats-officedocument.presentationml.slide+xml"/>
  <Default Extension="png" ContentType="image/png"/>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diagrams/drawing3.xml" ContentType="application/vnd.ms-office.drawingml.diagramDrawing+xml"/>
  <Override PartName="/ppt/tags/tag5.xml" ContentType="application/vnd.openxmlformats-officedocument.presentationml.tags+xml"/>
  <Override PartName="/ppt/theme/theme2.xml" ContentType="application/vnd.openxmlformats-officedocument.theme+xml"/>
  <Override PartName="/ppt/slideLayouts/slideLayout18.xml" ContentType="application/vnd.openxmlformats-officedocument.presentationml.slideLayout+xml"/>
  <Override PartName="/ppt/diagrams/quickStyle3.xml" ContentType="application/vnd.openxmlformats-officedocument.drawingml.diagramStyle+xml"/>
  <Override PartName="/ppt/slides/slide33.xml" ContentType="application/vnd.openxmlformats-officedocument.presentationml.slide+xml"/>
  <Override PartName="/ppt/slides/slide44.xml" ContentType="application/vnd.openxmlformats-officedocument.presentationml.slide+xml"/>
  <Default Extension="emf" ContentType="image/x-emf"/>
  <Override PartName="/ppt/tags/tag68.xml" ContentType="application/vnd.openxmlformats-officedocument.presentationml.tags+xml"/>
  <Override PartName="/ppt/presentation.xml" ContentType="application/vnd.openxmlformats-officedocument.presentationml.presentation.main+xml"/>
  <Override PartName="/ppt/slides/slide22.xml" ContentType="application/vnd.openxmlformats-officedocument.presentationml.slide+xml"/>
  <Override PartName="/ppt/slideLayouts/slideLayout32.xml" ContentType="application/vnd.openxmlformats-officedocument.presentationml.slideLayout+xml"/>
  <Override PartName="/ppt/tags/tag57.xml" ContentType="application/vnd.openxmlformats-officedocument.presentationml.tags+xml"/>
  <Override PartName="/ppt/diagrams/layout6.xml" ContentType="application/vnd.openxmlformats-officedocument.drawingml.diagramLayout+xml"/>
  <Override PartName="/ppt/notesSlides/notesSlide24.xml" ContentType="application/vnd.openxmlformats-officedocument.presentationml.notesSlide+xml"/>
  <Override PartName="/ppt/notesSlides/notesSlide35.xml" ContentType="application/vnd.openxmlformats-officedocument.presentationml.notesSlide+xml"/>
  <Override PartName="/ppt/diagrams/data10.xml" ContentType="application/vnd.openxmlformats-officedocument.drawingml.diagramData+xml"/>
  <Override PartName="/docProps/app.xml" ContentType="application/vnd.openxmlformats-officedocument.extended-properties+xml"/>
  <Override PartName="/ppt/slides/slide11.xml" ContentType="application/vnd.openxmlformats-officedocument.presentationml.slide+xml"/>
  <Override PartName="/ppt/tags/tag35.xml" ContentType="application/vnd.openxmlformats-officedocument.presentationml.tags+xml"/>
  <Override PartName="/ppt/slideLayouts/slideLayout21.xml" ContentType="application/vnd.openxmlformats-officedocument.presentationml.slideLayout+xml"/>
  <Override PartName="/ppt/tags/tag46.xml" ContentType="application/vnd.openxmlformats-officedocument.presentationml.tags+xml"/>
  <Override PartName="/ppt/diagrams/data7.xml" ContentType="application/vnd.openxmlformats-officedocument.drawingml.diagramData+xml"/>
  <Override PartName="/ppt/notesSlides/notesSlide13.xml" ContentType="application/vnd.openxmlformats-officedocument.presentationml.notesSlide+xml"/>
  <Override PartName="/ppt/diagrams/colors9.xml" ContentType="application/vnd.openxmlformats-officedocument.drawingml.diagramColors+xml"/>
  <Override PartName="/ppt/tags/tag24.xml" ContentType="application/vnd.openxmlformats-officedocument.presentationml.tags+xml"/>
  <Override PartName="/ppt/slideLayouts/slideLayout10.xml" ContentType="application/vnd.openxmlformats-officedocument.presentationml.slideLayout+xml"/>
  <Override PartName="/ppt/tags/tag71.xml" ContentType="application/vnd.openxmlformats-officedocument.presentationml.tags+xml"/>
  <Override PartName="/ppt/diagrams/drawing8.xml" ContentType="application/vnd.ms-office.drawingml.diagramDrawing+xml"/>
  <Override PartName="/ppt/tags/tag13.xml" ContentType="application/vnd.openxmlformats-officedocument.presentationml.tags+xml"/>
  <Override PartName="/ppt/tags/tag60.xml" ContentType="application/vnd.openxmlformats-officedocument.presentationml.tags+xml"/>
  <Override PartName="/ppt/diagrams/quickStyle8.xml" ContentType="application/vnd.openxmlformats-officedocument.drawingml.diagramStyle+xml"/>
  <Override PartName="/ppt/slideMasters/slideMaster5.xml" ContentType="application/vnd.openxmlformats-officedocument.presentationml.slideMaster+xml"/>
  <Override PartName="/ppt/slides/slide49.xml" ContentType="application/vnd.openxmlformats-officedocument.presentationml.slide+xml"/>
  <Override PartName="/ppt/theme/theme7.xml" ContentType="application/vnd.openxmlformats-officedocument.theme+xml"/>
  <Override PartName="/ppt/notesSlides/notesSlide4.xml" ContentType="application/vnd.openxmlformats-officedocument.presentationml.notesSlide+xml"/>
  <Override PartName="/ppt/slides/slide6.xml" ContentType="application/vnd.openxmlformats-officedocument.presentationml.slide+xml"/>
  <Override PartName="/ppt/slides/slide38.xml" ContentType="application/vnd.openxmlformats-officedocument.presentationml.slide+xml"/>
  <Override PartName="/ppt/tags/tag6.xml" ContentType="application/vnd.openxmlformats-officedocument.presentationml.tags+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diagrams/colors1.xml" ContentType="application/vnd.openxmlformats-officedocument.drawingml.diagramColors+xml"/>
  <Override PartName="/ppt/diagrams/quickStyle4.xml" ContentType="application/vnd.openxmlformats-officedocument.drawingml.diagramStyle+xml"/>
  <Override PartName="/ppt/diagrams/layout10.xml" ContentType="application/vnd.openxmlformats-officedocument.drawingml.diagram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tags/tag2.xml" ContentType="application/vnd.openxmlformats-officedocument.presentationml.tags+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tags/tag58.xml" ContentType="application/vnd.openxmlformats-officedocument.presentationml.tags+xml"/>
  <Override PartName="/ppt/tags/tag69.xml" ContentType="application/vnd.openxmlformats-officedocument.presentationml.tags+xml"/>
  <Override PartName="/ppt/notesSlides/notesSlide18.xml" ContentType="application/vnd.openxmlformats-officedocument.presentationml.notesSlide+xml"/>
  <Override PartName="/ppt/diagrams/data11.xml" ContentType="application/vnd.openxmlformats-officedocument.drawingml.diagramData+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tags/tag29.xml" ContentType="application/vnd.openxmlformats-officedocument.presentationml.tags+xml"/>
  <Override PartName="/ppt/slideLayouts/slideLayout22.xml" ContentType="application/vnd.openxmlformats-officedocument.presentationml.slideLayout+xml"/>
  <Override PartName="/ppt/slideLayouts/slideLayout33.xml" ContentType="application/vnd.openxmlformats-officedocument.presentationml.slideLayout+xml"/>
  <Override PartName="/ppt/tags/tag47.xml" ContentType="application/vnd.openxmlformats-officedocument.presentationml.tags+xml"/>
  <Override PartName="/ppt/diagrams/layout7.xml" ContentType="application/vnd.openxmlformats-officedocument.drawingml.diagramLayout+xml"/>
  <Override PartName="/ppt/notesSlides/notesSlide25.xml" ContentType="application/vnd.openxmlformats-officedocument.presentationml.notesSlide+xml"/>
  <Override PartName="/ppt/diagrams/data8.xml" ContentType="application/vnd.openxmlformats-officedocument.drawingml.diagramData+xml"/>
  <Override PartName="/ppt/slides/slide12.xml" ContentType="application/vnd.openxmlformats-officedocument.presentationml.slide+xml"/>
  <Override PartName="/ppt/slides/slide30.xml" ContentType="application/vnd.openxmlformats-officedocument.presentationml.slide+xml"/>
  <Override PartName="/ppt/tags/tag18.xml" ContentType="application/vnd.openxmlformats-officedocument.presentationml.tags+xml"/>
  <Override PartName="/ppt/slideLayouts/slideLayout11.xml" ContentType="application/vnd.openxmlformats-officedocument.presentationml.slideLayout+xml"/>
  <Override PartName="/ppt/slideLayouts/slideLayout40.xml" ContentType="application/vnd.openxmlformats-officedocument.presentationml.slideLayout+xml"/>
  <Override PartName="/ppt/tags/tag36.xml" ContentType="application/vnd.openxmlformats-officedocument.presentationml.tags+xml"/>
  <Override PartName="/ppt/tags/tag54.xml" ContentType="application/vnd.openxmlformats-officedocument.presentationml.tags+xml"/>
  <Override PartName="/ppt/tags/tag65.xml" ContentType="application/vnd.openxmlformats-officedocument.presentationml.tags+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tags/tag14.xml" ContentType="application/vnd.openxmlformats-officedocument.presentationml.tags+xml"/>
  <Override PartName="/ppt/tags/tag25.xml" ContentType="application/vnd.openxmlformats-officedocument.presentationml.tags+xml"/>
  <Override PartName="/ppt/tags/tag43.xml" ContentType="application/vnd.openxmlformats-officedocument.presentationml.tags+xml"/>
  <Override PartName="/ppt/tags/tag61.xml" ContentType="application/vnd.openxmlformats-officedocument.presentationml.tags+xml"/>
  <Override PartName="/ppt/tags/tag72.xml" ContentType="application/vnd.openxmlformats-officedocument.presentationml.tags+xml"/>
  <Override PartName="/ppt/diagrams/layout3.xml" ContentType="application/vnd.openxmlformats-officedocument.drawingml.diagramLayout+xml"/>
  <Override PartName="/ppt/diagrams/data4.xml" ContentType="application/vnd.openxmlformats-officedocument.drawingml.diagramData+xml"/>
  <Override PartName="/ppt/notesSlides/notesSlide9.xml" ContentType="application/vnd.openxmlformats-officedocument.presentationml.notesSlide+xml"/>
  <Override PartName="/ppt/notesSlides/notesSlide21.xml" ContentType="application/vnd.openxmlformats-officedocument.presentationml.notesSlide+xml"/>
  <Override PartName="/ppt/diagrams/drawing9.xml" ContentType="application/vnd.ms-office.drawingml.diagramDrawing+xml"/>
  <Override PartName="/ppt/slideMasters/slideMaster6.xml" ContentType="application/vnd.openxmlformats-officedocument.presentationml.slideMaster+xml"/>
  <Override PartName="/ppt/tags/tag32.xml" ContentType="application/vnd.openxmlformats-officedocument.presentationml.tags+xml"/>
  <Override PartName="/ppt/tags/tag50.xml" ContentType="application/vnd.openxmlformats-officedocument.presentationml.tags+xml"/>
  <Override PartName="/ppt/theme/theme8.xml" ContentType="application/vnd.openxmlformats-officedocument.theme+xml"/>
  <Override PartName="/ppt/diagrams/colors6.xml" ContentType="application/vnd.openxmlformats-officedocument.drawingml.diagramColors+xml"/>
  <Override PartName="/ppt/notesSlides/notesSlide10.xml" ContentType="application/vnd.openxmlformats-officedocument.presentationml.notesSlide+xml"/>
  <Override PartName="/ppt/diagrams/quickStyle9.xml" ContentType="application/vnd.openxmlformats-officedocument.drawingml.diagramStyle+xml"/>
  <Override PartName="/ppt/diagrams/quickStyle11.xml" ContentType="application/vnd.openxmlformats-officedocument.drawingml.diagramStyle+xml"/>
  <Override PartName="/ppt/slides/slide7.xml" ContentType="application/vnd.openxmlformats-officedocument.presentationml.slide+xml"/>
  <Override PartName="/ppt/tags/tag10.xml" ContentType="application/vnd.openxmlformats-officedocument.presentationml.tags+xml"/>
  <Override PartName="/ppt/tags/tag21.xml" ContentType="application/vnd.openxmlformats-officedocument.presentationml.tags+xml"/>
  <Override PartName="/ppt/slideLayouts/slideLayout9.xml" ContentType="application/vnd.openxmlformats-officedocument.presentationml.slideLayout+xml"/>
  <Override PartName="/ppt/diagrams/drawing5.xml" ContentType="application/vnd.ms-office.drawingml.diagramDrawing+xml"/>
  <Override PartName="/ppt/notesSlides/notesSlide5.xml" ContentType="application/vnd.openxmlformats-officedocument.presentationml.notesSlide+xml"/>
  <Override PartName="/ppt/diagrams/layout11.xml" ContentType="application/vnd.openxmlformats-officedocument.drawingml.diagramLayout+xml"/>
  <Override PartName="/ppt/slideMasters/slideMaster2.xml" ContentType="application/vnd.openxmlformats-officedocument.presentationml.slideMaster+xml"/>
  <Override PartName="/ppt/slides/slide28.xml" ContentType="application/vnd.openxmlformats-officedocument.presentationml.slide+xml"/>
  <Override PartName="/ppt/slides/slide39.xml" ContentType="application/vnd.openxmlformats-officedocument.presentationml.slide+xml"/>
  <Override PartName="/ppt/tags/tag7.xml" ContentType="application/vnd.openxmlformats-officedocument.presentationml.tags+xml"/>
  <Override PartName="/ppt/theme/theme4.xml" ContentType="application/vnd.openxmlformats-officedocument.theme+xml"/>
  <Override PartName="/ppt/slideLayouts/slideLayout38.xml" ContentType="application/vnd.openxmlformats-officedocument.presentationml.slideLayout+xml"/>
  <Override PartName="/ppt/notesSlides/notesSlide1.xml" ContentType="application/vnd.openxmlformats-officedocument.presentationml.notesSlide+xml"/>
  <Override PartName="/ppt/diagrams/colors2.xml" ContentType="application/vnd.openxmlformats-officedocument.drawingml.diagramColors+xml"/>
  <Override PartName="/ppt/diagrams/quickStyle5.xml" ContentType="application/vnd.openxmlformats-officedocument.drawingml.diagramStyl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diagrams/drawing1.xml" ContentType="application/vnd.ms-office.drawingml.diagramDrawing+xml"/>
  <Override PartName="/ppt/notesSlides/notesSlide19.xml" ContentType="application/vnd.openxmlformats-officedocument.presentationml.notesSlide+xml"/>
  <Override PartName="/ppt/diagrams/colors10.xml" ContentType="application/vnd.openxmlformats-officedocument.drawingml.diagramColors+xml"/>
  <Override PartName="/ppt/slides/slide24.xml" ContentType="application/vnd.openxmlformats-officedocument.presentationml.slide+xml"/>
  <Override PartName="/ppt/slides/slide35.xml" ContentType="application/vnd.openxmlformats-officedocument.presentationml.slide+xml"/>
  <Override PartName="/ppt/tags/tag3.xml" ContentType="application/vnd.openxmlformats-officedocument.presentationml.tags+xml"/>
  <Default Extension="jpeg" ContentType="image/jpeg"/>
  <Override PartName="/ppt/slideLayouts/slideLayout16.xml" ContentType="application/vnd.openxmlformats-officedocument.presentationml.slideLayout+xml"/>
  <Override PartName="/ppt/slideLayouts/slideLayout34.xml" ContentType="application/vnd.openxmlformats-officedocument.presentationml.slideLayout+xml"/>
  <Override PartName="/ppt/tags/tag59.xml" ContentType="application/vnd.openxmlformats-officedocument.presentationml.tags+xml"/>
  <Override PartName="/ppt/diagrams/quickStyle1.xml" ContentType="application/vnd.openxmlformats-officedocument.drawingml.diagramStyle+xml"/>
  <Override PartName="/ppt/diagrams/layout8.xml" ContentType="application/vnd.openxmlformats-officedocument.drawingml.diagramLayout+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tags/tag19.xml" ContentType="application/vnd.openxmlformats-officedocument.presentationml.tags+xml"/>
  <Override PartName="/ppt/slideLayouts/slideLayout23.xml" ContentType="application/vnd.openxmlformats-officedocument.presentationml.slideLayout+xml"/>
  <Override PartName="/ppt/slideLayouts/slideLayout41.xml" ContentType="application/vnd.openxmlformats-officedocument.presentationml.slideLayout+xml"/>
  <Override PartName="/ppt/tags/tag37.xml" ContentType="application/vnd.openxmlformats-officedocument.presentationml.tags+xml"/>
  <Override PartName="/ppt/tags/tag48.xml" ContentType="application/vnd.openxmlformats-officedocument.presentationml.tags+xml"/>
  <Override PartName="/ppt/tags/tag66.xml" ContentType="application/vnd.openxmlformats-officedocument.presentationml.tags+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diagrams/data9.xml" ContentType="application/vnd.openxmlformats-officedocument.drawingml.diagramData+xml"/>
  <Override PartName="/ppt/slides/slide20.xml" ContentType="application/vnd.openxmlformats-officedocument.presentationml.slide+xml"/>
  <Override PartName="/ppt/tags/tag26.xml" ContentType="application/vnd.openxmlformats-officedocument.presentationml.tags+xml"/>
  <Override PartName="/ppt/slideLayouts/slideLayout12.xml" ContentType="application/vnd.openxmlformats-officedocument.presentationml.slideLayout+xml"/>
  <Override PartName="/ppt/slideLayouts/slideLayout30.xml" ContentType="application/vnd.openxmlformats-officedocument.presentationml.slideLayout+xml"/>
  <Override PartName="/ppt/tags/tag55.xml" ContentType="application/vnd.openxmlformats-officedocument.presentationml.tags+xml"/>
  <Override PartName="/ppt/tags/tag73.xml" ContentType="application/vnd.openxmlformats-officedocument.presentationml.tags+xml"/>
  <Override PartName="/ppt/diagrams/layout4.xml" ContentType="application/vnd.openxmlformats-officedocument.drawingml.diagramLayout+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tags/tag15.xml" ContentType="application/vnd.openxmlformats-officedocument.presentationml.tags+xml"/>
  <Default Extension="tiff" ContentType="image/tiff"/>
  <Override PartName="/ppt/tags/tag33.xml" ContentType="application/vnd.openxmlformats-officedocument.presentationml.tags+xml"/>
  <Override PartName="/ppt/tags/tag44.xml" ContentType="application/vnd.openxmlformats-officedocument.presentationml.tags+xml"/>
  <Override PartName="/ppt/tags/tag62.xml" ContentType="application/vnd.openxmlformats-officedocument.presentationml.tags+xml"/>
  <Override PartName="/ppt/diagrams/data5.xml" ContentType="application/vnd.openxmlformats-officedocument.drawingml.diagramData+xml"/>
  <Override PartName="/ppt/diagrams/colors7.xml" ContentType="application/vnd.openxmlformats-officedocument.drawingml.diagramColors+xml"/>
  <Override PartName="/ppt/notesSlides/notesSlide11.xml" ContentType="application/vnd.openxmlformats-officedocument.presentationml.notesSlide+xml"/>
  <Override PartName="/ppt/tags/tag22.xml" ContentType="application/vnd.openxmlformats-officedocument.presentationml.tags+xml"/>
  <Override PartName="/ppt/tags/tag40.xml" ContentType="application/vnd.openxmlformats-officedocument.presentationml.tags+xml"/>
  <Override PartName="/ppt/tags/tag51.xml" ContentType="application/vnd.openxmlformats-officedocument.presentationml.tags+xml"/>
  <Override PartName="/ppt/diagrams/drawing6.xml" ContentType="application/vnd.ms-office.drawingml.diagramDrawing+xml"/>
  <Override PartName="/ppt/notesSlides/notesSlide6.xml" ContentType="application/vnd.openxmlformats-officedocument.presentationml.notesSlide+xml"/>
  <Override PartName="/ppt/slides/slide8.xml" ContentType="application/vnd.openxmlformats-officedocument.presentationml.slide+xml"/>
  <Override PartName="/ppt/tags/tag11.xml" ContentType="application/vnd.openxmlformats-officedocument.presentationml.tags+xml"/>
  <Override PartName="/ppt/diagrams/data1.xml" ContentType="application/vnd.openxmlformats-officedocument.drawingml.diagramData+xml"/>
  <Override PartName="/ppt/diagrams/colors3.xml" ContentType="application/vnd.openxmlformats-officedocument.drawingml.diagramColors+xml"/>
  <Override PartName="/ppt/diagrams/quickStyle6.xml" ContentType="application/vnd.openxmlformats-officedocument.drawingml.diagramStyle+xml"/>
  <Override PartName="/ppt/slides/slide29.xml" ContentType="application/vnd.openxmlformats-officedocument.presentationml.slide+xml"/>
  <Override PartName="/ppt/slideLayouts/slideLayout39.xml" ContentType="application/vnd.openxmlformats-officedocument.presentationml.slideLayout+xml"/>
  <Override PartName="/ppt/diagrams/drawing2.xml" ContentType="application/vnd.ms-office.drawingml.diagramDrawing+xml"/>
  <Override PartName="/ppt/slides/slide4.xml" ContentType="application/vnd.openxmlformats-officedocument.presentationml.slide+xml"/>
  <Override PartName="/ppt/slides/slide18.xml" ContentType="application/vnd.openxmlformats-officedocument.presentationml.slide+xml"/>
  <Override PartName="/ppt/tags/tag4.xml" ContentType="application/vnd.openxmlformats-officedocument.presentationml.tags+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diagrams/quickStyle2.xml" ContentType="application/vnd.openxmlformats-officedocument.drawingml.diagramStyle+xml"/>
  <Override PartName="/ppt/slides/slide43.xml" ContentType="application/vnd.openxmlformats-officedocument.presentationml.slide+xml"/>
  <Override PartName="/ppt/theme/theme1.xml" ContentType="application/vnd.openxmlformats-officedocument.theme+xml"/>
  <Override PartName="/ppt/slides/slide32.xml" ContentType="application/vnd.openxmlformats-officedocument.presentationml.slide+xml"/>
  <Override PartName="/ppt/tags/tag56.xml" ContentType="application/vnd.openxmlformats-officedocument.presentationml.tags+xml"/>
  <Override PartName="/ppt/tags/tag67.xml" ContentType="application/vnd.openxmlformats-officedocument.presentationml.tags+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tags/tag45.xml" ContentType="application/vnd.openxmlformats-officedocument.presentationml.tags+xml"/>
  <Override PartName="/ppt/diagrams/layout5.xml" ContentType="application/vnd.openxmlformats-officedocument.drawingml.diagramLayout+xml"/>
  <Override PartName="/ppt/diagrams/data6.xml" ContentType="application/vnd.openxmlformats-officedocument.drawingml.diagramData+xml"/>
  <Override PartName="/ppt/notesSlides/notesSlide23.xml" ContentType="application/vnd.openxmlformats-officedocument.presentationml.notesSlide+xml"/>
  <Override PartName="/ppt/tags/tag34.xml" ContentType="application/vnd.openxmlformats-officedocument.presentationml.tags+xml"/>
  <Override PartName="/ppt/notesSlides/notesSlide12.xml" ContentType="application/vnd.openxmlformats-officedocument.presentationml.notesSlide+xml"/>
  <Override PartName="/ppt/diagrams/colors8.xml" ContentType="application/vnd.openxmlformats-officedocument.drawingml.diagramColors+xml"/>
  <Override PartName="/ppt/tags/tag12.xml" ContentType="application/vnd.openxmlformats-officedocument.presentationml.tags+xml"/>
  <Override PartName="/ppt/tags/tag23.xml" ContentType="application/vnd.openxmlformats-officedocument.presentationml.tags+xml"/>
  <Override PartName="/ppt/tags/tag70.xml" ContentType="application/vnd.openxmlformats-officedocument.presentationml.tags+xml"/>
  <Override PartName="/ppt/diagrams/drawing7.xml" ContentType="application/vnd.ms-office.drawingml.diagramDrawing+xml"/>
  <Override PartName="/ppt/slideMasters/slideMaster4.xml" ContentType="application/vnd.openxmlformats-officedocument.presentationml.slideMaster+xml"/>
  <Override PartName="/ppt/slides/slide9.xml" ContentType="application/vnd.openxmlformats-officedocument.presentationml.slide+xml"/>
  <Override PartName="/ppt/viewProps.xml" ContentType="application/vnd.openxmlformats-officedocument.presentationml.viewProps+xml"/>
  <Override PartName="/ppt/tags/tag9.xml" ContentType="application/vnd.openxmlformats-officedocument.presentationml.tags+xml"/>
  <Override PartName="/ppt/theme/theme6.xml" ContentType="application/vnd.openxmlformats-officedocument.theme+xml"/>
  <Override PartName="/ppt/diagrams/quickStyle7.xml" ContentType="application/vnd.openxmlformats-officedocument.drawingml.diagramStyle+xml"/>
  <Override PartName="/ppt/slides/slide48.xml" ContentType="application/vnd.openxmlformats-officedocument.presentationml.slide+xml"/>
  <Default Extension="bin" ContentType="application/vnd.openxmlformats-officedocument.oleObject"/>
  <Override PartName="/ppt/notesSlides/notesSlide3.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36.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tags/tag39.xml" ContentType="application/vnd.openxmlformats-officedocument.presentationml.tags+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slides/slide51.xml" ContentType="application/vnd.openxmlformats-officedocument.presentationml.slide+xml"/>
  <Override PartName="/ppt/tags/tag1.xml" ContentType="application/vnd.openxmlformats-officedocument.presentationml.tags+xml"/>
  <Override PartName="/ppt/tags/tag28.xml" ContentType="application/vnd.openxmlformats-officedocument.presentationml.tags+xml"/>
  <Override PartName="/ppt/slideLayouts/slideLayout14.xml" ContentType="application/vnd.openxmlformats-officedocument.presentationml.slideLayout+xml"/>
  <Override PartName="/ppt/slides/slide40.xml" ContentType="application/vnd.openxmlformats-officedocument.presentationml.slide+xml"/>
  <Override PartName="/ppt/tags/tag17.xml" ContentType="application/vnd.openxmlformats-officedocument.presentationml.tags+xml"/>
  <Override PartName="/ppt/tags/tag64.xml" ContentType="application/vnd.openxmlformats-officedocument.presentationml.tags+xml"/>
  <Default Extension="vml" ContentType="application/vnd.openxmlformats-officedocument.vmlDrawing"/>
  <Default Extension="gif" ContentType="image/gif"/>
  <Override PartName="/ppt/tags/tag53.xml" ContentType="application/vnd.openxmlformats-officedocument.presentationml.tags+xml"/>
  <Override PartName="/ppt/diagrams/layout2.xml" ContentType="application/vnd.openxmlformats-officedocument.drawingml.diagramLayout+xml"/>
  <Override PartName="/ppt/notesSlides/notesSlide8.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tags/tag31.xml" ContentType="application/vnd.openxmlformats-officedocument.presentationml.tags+xml"/>
  <Override PartName="/ppt/tags/tag42.xml" ContentType="application/vnd.openxmlformats-officedocument.presentationml.tags+xml"/>
  <Override PartName="/ppt/diagrams/data3.xml" ContentType="application/vnd.openxmlformats-officedocument.drawingml.diagramData+xml"/>
  <Override PartName="/ppt/diagrams/colors5.xml" ContentType="application/vnd.openxmlformats-officedocument.drawingml.diagramColors+xml"/>
  <Override PartName="/ppt/diagrams/quickStyle10.xml" ContentType="application/vnd.openxmlformats-officedocument.drawingml.diagramStyle+xml"/>
  <Override PartName="/ppt/diagrams/drawing11.xml" ContentType="application/vnd.ms-office.drawingml.diagramDrawing+xml"/>
  <Override PartName="/ppt/handoutMasters/handoutMaster1.xml" ContentType="application/vnd.openxmlformats-officedocument.presentationml.handoutMaster+xml"/>
  <Override PartName="/ppt/tags/tag20.xml" ContentType="application/vnd.openxmlformats-officedocument.presentationml.tags+xml"/>
  <Override PartName="/ppt/diagrams/drawing4.xml" ContentType="application/vnd.ms-office.drawingml.diagramDrawing+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7" r:id="rId1"/>
    <p:sldMasterId id="2147483939" r:id="rId2"/>
    <p:sldMasterId id="2147483946" r:id="rId3"/>
    <p:sldMasterId id="2147483972" r:id="rId4"/>
    <p:sldMasterId id="2147483984" r:id="rId5"/>
    <p:sldMasterId id="2147483997" r:id="rId6"/>
  </p:sldMasterIdLst>
  <p:notesMasterIdLst>
    <p:notesMasterId r:id="rId59"/>
  </p:notesMasterIdLst>
  <p:handoutMasterIdLst>
    <p:handoutMasterId r:id="rId60"/>
  </p:handoutMasterIdLst>
  <p:sldIdLst>
    <p:sldId id="311" r:id="rId7"/>
    <p:sldId id="394" r:id="rId8"/>
    <p:sldId id="395" r:id="rId9"/>
    <p:sldId id="396" r:id="rId10"/>
    <p:sldId id="438" r:id="rId11"/>
    <p:sldId id="397" r:id="rId12"/>
    <p:sldId id="398" r:id="rId13"/>
    <p:sldId id="437" r:id="rId14"/>
    <p:sldId id="367" r:id="rId15"/>
    <p:sldId id="369" r:id="rId16"/>
    <p:sldId id="371" r:id="rId17"/>
    <p:sldId id="372" r:id="rId18"/>
    <p:sldId id="442" r:id="rId19"/>
    <p:sldId id="373" r:id="rId20"/>
    <p:sldId id="374" r:id="rId21"/>
    <p:sldId id="375" r:id="rId22"/>
    <p:sldId id="376" r:id="rId23"/>
    <p:sldId id="379" r:id="rId24"/>
    <p:sldId id="443" r:id="rId25"/>
    <p:sldId id="381" r:id="rId26"/>
    <p:sldId id="382" r:id="rId27"/>
    <p:sldId id="383" r:id="rId28"/>
    <p:sldId id="384" r:id="rId29"/>
    <p:sldId id="385" r:id="rId30"/>
    <p:sldId id="386" r:id="rId31"/>
    <p:sldId id="387" r:id="rId32"/>
    <p:sldId id="388" r:id="rId33"/>
    <p:sldId id="389" r:id="rId34"/>
    <p:sldId id="390" r:id="rId35"/>
    <p:sldId id="391" r:id="rId36"/>
    <p:sldId id="399" r:id="rId37"/>
    <p:sldId id="447" r:id="rId38"/>
    <p:sldId id="448" r:id="rId39"/>
    <p:sldId id="392" r:id="rId40"/>
    <p:sldId id="449" r:id="rId41"/>
    <p:sldId id="333" r:id="rId42"/>
    <p:sldId id="444" r:id="rId43"/>
    <p:sldId id="340" r:id="rId44"/>
    <p:sldId id="341" r:id="rId45"/>
    <p:sldId id="342" r:id="rId46"/>
    <p:sldId id="364" r:id="rId47"/>
    <p:sldId id="351" r:id="rId48"/>
    <p:sldId id="439" r:id="rId49"/>
    <p:sldId id="446" r:id="rId50"/>
    <p:sldId id="352" r:id="rId51"/>
    <p:sldId id="445" r:id="rId52"/>
    <p:sldId id="434" r:id="rId53"/>
    <p:sldId id="406" r:id="rId54"/>
    <p:sldId id="435" r:id="rId55"/>
    <p:sldId id="427" r:id="rId56"/>
    <p:sldId id="362" r:id="rId57"/>
    <p:sldId id="329" r:id="rId58"/>
  </p:sldIdLst>
  <p:sldSz cx="10972800" cy="6858000"/>
  <p:notesSz cx="6797675" cy="9874250"/>
  <p:custDataLst>
    <p:tags r:id="rId61"/>
  </p:custDataLst>
  <p:defaultTex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AF1C63"/>
    <a:srgbClr val="005B7C"/>
    <a:srgbClr val="000000"/>
    <a:srgbClr val="A2BFAF"/>
    <a:srgbClr val="ACB7B2"/>
    <a:srgbClr val="6A9529"/>
    <a:srgbClr val="00A0D6"/>
    <a:srgbClr val="0085B3"/>
    <a:srgbClr val="909090"/>
    <a:srgbClr val="FFC72C"/>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33" autoAdjust="0"/>
    <p:restoredTop sz="86957" autoAdjust="0"/>
  </p:normalViewPr>
  <p:slideViewPr>
    <p:cSldViewPr snapToGrid="0">
      <p:cViewPr>
        <p:scale>
          <a:sx n="65" d="100"/>
          <a:sy n="65" d="100"/>
        </p:scale>
        <p:origin x="-868" y="76"/>
      </p:cViewPr>
      <p:guideLst>
        <p:guide orient="horz"/>
        <p:guide orient="horz" pos="952"/>
        <p:guide orient="horz" pos="3954"/>
        <p:guide orient="horz" pos="2447"/>
        <p:guide orient="horz" pos="2514"/>
        <p:guide orient="horz" pos="2391"/>
        <p:guide orient="horz" pos="504"/>
        <p:guide pos="3458"/>
        <p:guide pos="222"/>
        <p:guide pos="3555"/>
        <p:guide pos="3361"/>
        <p:guide pos="669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50" d="100"/>
          <a:sy n="50" d="100"/>
        </p:scale>
        <p:origin x="-2688" y="-84"/>
      </p:cViewPr>
      <p:guideLst>
        <p:guide orient="horz" pos="3110"/>
        <p:guide pos="2141"/>
      </p:guideLst>
    </p:cSldViewPr>
  </p:notes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slide" Target="slides/slide49.xml"/><Relationship Id="rId63" Type="http://schemas.openxmlformats.org/officeDocument/2006/relationships/viewProps" Target="viewProps.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61" Type="http://schemas.openxmlformats.org/officeDocument/2006/relationships/tags" Target="tags/tag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handoutMaster" Target="handoutMasters/handoutMaster1.xml"/><Relationship Id="rId65"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theme" Target="theme/theme1.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1">
  <dgm:title val=""/>
  <dgm:desc val=""/>
  <dgm:catLst>
    <dgm:cat type="accent5" pri="11100"/>
  </dgm:catLst>
  <dgm:styleLbl name="node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5">
        <a:shade val="80000"/>
      </a:schemeClr>
    </dgm:linClrLst>
    <dgm:effectClrLst/>
    <dgm:txLinClrLst/>
    <dgm:txFillClrLst/>
    <dgm:txEffectClrLst/>
  </dgm:styleLbl>
  <dgm:styleLbl name="node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f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align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b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dgm:txEffectClrLst/>
  </dgm:styleLbl>
  <dgm:styleLbl name="parChTrans2D2">
    <dgm:fillClrLst meth="repeat">
      <a:schemeClr val="accent5"/>
    </dgm:fillClrLst>
    <dgm:linClrLst meth="repeat">
      <a:schemeClr val="accent5"/>
    </dgm:linClrLst>
    <dgm:effectClrLst/>
    <dgm:txLinClrLst/>
    <dgm:txFillClrLst/>
    <dgm:txEffectClrLst/>
  </dgm:styleLbl>
  <dgm:styleLbl name="parChTrans2D3">
    <dgm:fillClrLst meth="repeat">
      <a:schemeClr val="accent5"/>
    </dgm:fillClrLst>
    <dgm:linClrLst meth="repeat">
      <a:schemeClr val="accent5"/>
    </dgm:linClrLst>
    <dgm:effectClrLst/>
    <dgm:txLinClrLst/>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con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align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trAlignAcc1">
    <dgm:fillClrLst meth="repeat">
      <a:schemeClr val="accent5">
        <a:alpha val="40000"/>
        <a:tint val="40000"/>
      </a:schemeClr>
    </dgm:fillClrLst>
    <dgm:linClrLst meth="repeat">
      <a:schemeClr val="accent5"/>
    </dgm:linClrLst>
    <dgm:effectClrLst/>
    <dgm:txLinClrLst/>
    <dgm:txFillClrLst meth="repeat">
      <a:schemeClr val="dk1"/>
    </dgm:txFillClrLst>
    <dgm:txEffectClrLst/>
  </dgm:styleLbl>
  <dgm:styleLbl name="b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fgAcc0">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2">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3">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4">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5_1">
  <dgm:title val=""/>
  <dgm:desc val=""/>
  <dgm:catLst>
    <dgm:cat type="accent5" pri="11100"/>
  </dgm:catLst>
  <dgm:styleLbl name="node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5">
        <a:shade val="80000"/>
      </a:schemeClr>
    </dgm:linClrLst>
    <dgm:effectClrLst/>
    <dgm:txLinClrLst/>
    <dgm:txFillClrLst/>
    <dgm:txEffectClrLst/>
  </dgm:styleLbl>
  <dgm:styleLbl name="node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f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align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b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dgm:txEffectClrLst/>
  </dgm:styleLbl>
  <dgm:styleLbl name="parChTrans2D2">
    <dgm:fillClrLst meth="repeat">
      <a:schemeClr val="accent5"/>
    </dgm:fillClrLst>
    <dgm:linClrLst meth="repeat">
      <a:schemeClr val="accent5"/>
    </dgm:linClrLst>
    <dgm:effectClrLst/>
    <dgm:txLinClrLst/>
    <dgm:txFillClrLst/>
    <dgm:txEffectClrLst/>
  </dgm:styleLbl>
  <dgm:styleLbl name="parChTrans2D3">
    <dgm:fillClrLst meth="repeat">
      <a:schemeClr val="accent5"/>
    </dgm:fillClrLst>
    <dgm:linClrLst meth="repeat">
      <a:schemeClr val="accent5"/>
    </dgm:linClrLst>
    <dgm:effectClrLst/>
    <dgm:txLinClrLst/>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con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align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trAlignAcc1">
    <dgm:fillClrLst meth="repeat">
      <a:schemeClr val="accent5">
        <a:alpha val="40000"/>
        <a:tint val="40000"/>
      </a:schemeClr>
    </dgm:fillClrLst>
    <dgm:linClrLst meth="repeat">
      <a:schemeClr val="accent5"/>
    </dgm:linClrLst>
    <dgm:effectClrLst/>
    <dgm:txLinClrLst/>
    <dgm:txFillClrLst meth="repeat">
      <a:schemeClr val="dk1"/>
    </dgm:txFillClrLst>
    <dgm:txEffectClrLst/>
  </dgm:styleLbl>
  <dgm:styleLbl name="b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fgAcc0">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2">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3">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4">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5_1">
  <dgm:title val=""/>
  <dgm:desc val=""/>
  <dgm:catLst>
    <dgm:cat type="accent5" pri="11100"/>
  </dgm:catLst>
  <dgm:styleLbl name="node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5">
        <a:shade val="80000"/>
      </a:schemeClr>
    </dgm:linClrLst>
    <dgm:effectClrLst/>
    <dgm:txLinClrLst/>
    <dgm:txFillClrLst/>
    <dgm:txEffectClrLst/>
  </dgm:styleLbl>
  <dgm:styleLbl name="node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f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align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b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dgm:txEffectClrLst/>
  </dgm:styleLbl>
  <dgm:styleLbl name="parChTrans2D2">
    <dgm:fillClrLst meth="repeat">
      <a:schemeClr val="accent5"/>
    </dgm:fillClrLst>
    <dgm:linClrLst meth="repeat">
      <a:schemeClr val="accent5"/>
    </dgm:linClrLst>
    <dgm:effectClrLst/>
    <dgm:txLinClrLst/>
    <dgm:txFillClrLst/>
    <dgm:txEffectClrLst/>
  </dgm:styleLbl>
  <dgm:styleLbl name="parChTrans2D3">
    <dgm:fillClrLst meth="repeat">
      <a:schemeClr val="accent5"/>
    </dgm:fillClrLst>
    <dgm:linClrLst meth="repeat">
      <a:schemeClr val="accent5"/>
    </dgm:linClrLst>
    <dgm:effectClrLst/>
    <dgm:txLinClrLst/>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con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align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trAlignAcc1">
    <dgm:fillClrLst meth="repeat">
      <a:schemeClr val="accent5">
        <a:alpha val="40000"/>
        <a:tint val="40000"/>
      </a:schemeClr>
    </dgm:fillClrLst>
    <dgm:linClrLst meth="repeat">
      <a:schemeClr val="accent5"/>
    </dgm:linClrLst>
    <dgm:effectClrLst/>
    <dgm:txLinClrLst/>
    <dgm:txFillClrLst meth="repeat">
      <a:schemeClr val="dk1"/>
    </dgm:txFillClrLst>
    <dgm:txEffectClrLst/>
  </dgm:styleLbl>
  <dgm:styleLbl name="b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fgAcc0">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2">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3">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4">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3_3">
  <dgm:title val=""/>
  <dgm:desc val=""/>
  <dgm:catLst>
    <dgm:cat type="accent3" pri="11300"/>
  </dgm:catLst>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5_1">
  <dgm:title val=""/>
  <dgm:desc val=""/>
  <dgm:catLst>
    <dgm:cat type="accent5" pri="11100"/>
  </dgm:catLst>
  <dgm:styleLbl name="node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5">
        <a:shade val="80000"/>
      </a:schemeClr>
    </dgm:linClrLst>
    <dgm:effectClrLst/>
    <dgm:txLinClrLst/>
    <dgm:txFillClrLst/>
    <dgm:txEffectClrLst/>
  </dgm:styleLbl>
  <dgm:styleLbl name="node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f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align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b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dgm:txEffectClrLst/>
  </dgm:styleLbl>
  <dgm:styleLbl name="parChTrans2D2">
    <dgm:fillClrLst meth="repeat">
      <a:schemeClr val="accent5"/>
    </dgm:fillClrLst>
    <dgm:linClrLst meth="repeat">
      <a:schemeClr val="accent5"/>
    </dgm:linClrLst>
    <dgm:effectClrLst/>
    <dgm:txLinClrLst/>
    <dgm:txFillClrLst/>
    <dgm:txEffectClrLst/>
  </dgm:styleLbl>
  <dgm:styleLbl name="parChTrans2D3">
    <dgm:fillClrLst meth="repeat">
      <a:schemeClr val="accent5"/>
    </dgm:fillClrLst>
    <dgm:linClrLst meth="repeat">
      <a:schemeClr val="accent5"/>
    </dgm:linClrLst>
    <dgm:effectClrLst/>
    <dgm:txLinClrLst/>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con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align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trAlignAcc1">
    <dgm:fillClrLst meth="repeat">
      <a:schemeClr val="accent5">
        <a:alpha val="40000"/>
        <a:tint val="40000"/>
      </a:schemeClr>
    </dgm:fillClrLst>
    <dgm:linClrLst meth="repeat">
      <a:schemeClr val="accent5"/>
    </dgm:linClrLst>
    <dgm:effectClrLst/>
    <dgm:txLinClrLst/>
    <dgm:txFillClrLst meth="repeat">
      <a:schemeClr val="dk1"/>
    </dgm:txFillClrLst>
    <dgm:txEffectClrLst/>
  </dgm:styleLbl>
  <dgm:styleLbl name="b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fgAcc0">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2">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3">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4">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5_1">
  <dgm:title val=""/>
  <dgm:desc val=""/>
  <dgm:catLst>
    <dgm:cat type="accent5" pri="11100"/>
  </dgm:catLst>
  <dgm:styleLbl name="node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5">
        <a:shade val="80000"/>
      </a:schemeClr>
    </dgm:linClrLst>
    <dgm:effectClrLst/>
    <dgm:txLinClrLst/>
    <dgm:txFillClrLst/>
    <dgm:txEffectClrLst/>
  </dgm:styleLbl>
  <dgm:styleLbl name="node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f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align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b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dgm:txEffectClrLst/>
  </dgm:styleLbl>
  <dgm:styleLbl name="parChTrans2D2">
    <dgm:fillClrLst meth="repeat">
      <a:schemeClr val="accent5"/>
    </dgm:fillClrLst>
    <dgm:linClrLst meth="repeat">
      <a:schemeClr val="accent5"/>
    </dgm:linClrLst>
    <dgm:effectClrLst/>
    <dgm:txLinClrLst/>
    <dgm:txFillClrLst/>
    <dgm:txEffectClrLst/>
  </dgm:styleLbl>
  <dgm:styleLbl name="parChTrans2D3">
    <dgm:fillClrLst meth="repeat">
      <a:schemeClr val="accent5"/>
    </dgm:fillClrLst>
    <dgm:linClrLst meth="repeat">
      <a:schemeClr val="accent5"/>
    </dgm:linClrLst>
    <dgm:effectClrLst/>
    <dgm:txLinClrLst/>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con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align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trAlignAcc1">
    <dgm:fillClrLst meth="repeat">
      <a:schemeClr val="accent5">
        <a:alpha val="40000"/>
        <a:tint val="40000"/>
      </a:schemeClr>
    </dgm:fillClrLst>
    <dgm:linClrLst meth="repeat">
      <a:schemeClr val="accent5"/>
    </dgm:linClrLst>
    <dgm:effectClrLst/>
    <dgm:txLinClrLst/>
    <dgm:txFillClrLst meth="repeat">
      <a:schemeClr val="dk1"/>
    </dgm:txFillClrLst>
    <dgm:txEffectClrLst/>
  </dgm:styleLbl>
  <dgm:styleLbl name="b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fgAcc0">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2">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3">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4">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5_1">
  <dgm:title val=""/>
  <dgm:desc val=""/>
  <dgm:catLst>
    <dgm:cat type="accent5" pri="11100"/>
  </dgm:catLst>
  <dgm:styleLbl name="node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5">
        <a:shade val="80000"/>
      </a:schemeClr>
    </dgm:linClrLst>
    <dgm:effectClrLst/>
    <dgm:txLinClrLst/>
    <dgm:txFillClrLst/>
    <dgm:txEffectClrLst/>
  </dgm:styleLbl>
  <dgm:styleLbl name="node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f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align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b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dgm:txEffectClrLst/>
  </dgm:styleLbl>
  <dgm:styleLbl name="parChTrans2D2">
    <dgm:fillClrLst meth="repeat">
      <a:schemeClr val="accent5"/>
    </dgm:fillClrLst>
    <dgm:linClrLst meth="repeat">
      <a:schemeClr val="accent5"/>
    </dgm:linClrLst>
    <dgm:effectClrLst/>
    <dgm:txLinClrLst/>
    <dgm:txFillClrLst/>
    <dgm:txEffectClrLst/>
  </dgm:styleLbl>
  <dgm:styleLbl name="parChTrans2D3">
    <dgm:fillClrLst meth="repeat">
      <a:schemeClr val="accent5"/>
    </dgm:fillClrLst>
    <dgm:linClrLst meth="repeat">
      <a:schemeClr val="accent5"/>
    </dgm:linClrLst>
    <dgm:effectClrLst/>
    <dgm:txLinClrLst/>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con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align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trAlignAcc1">
    <dgm:fillClrLst meth="repeat">
      <a:schemeClr val="accent5">
        <a:alpha val="40000"/>
        <a:tint val="40000"/>
      </a:schemeClr>
    </dgm:fillClrLst>
    <dgm:linClrLst meth="repeat">
      <a:schemeClr val="accent5"/>
    </dgm:linClrLst>
    <dgm:effectClrLst/>
    <dgm:txLinClrLst/>
    <dgm:txFillClrLst meth="repeat">
      <a:schemeClr val="dk1"/>
    </dgm:txFillClrLst>
    <dgm:txEffectClrLst/>
  </dgm:styleLbl>
  <dgm:styleLbl name="b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fgAcc0">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2">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3">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4">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1850C6C-D0AA-4343-86A6-43ED7C37256A}" type="doc">
      <dgm:prSet loTypeId="urn:microsoft.com/office/officeart/2005/8/layout/vList2" loCatId="list" qsTypeId="urn:microsoft.com/office/officeart/2005/8/quickstyle/simple3" qsCatId="simple" csTypeId="urn:microsoft.com/office/officeart/2005/8/colors/accent5_3" csCatId="accent5"/>
      <dgm:spPr/>
      <dgm:t>
        <a:bodyPr/>
        <a:lstStyle/>
        <a:p>
          <a:endParaRPr lang="en-US"/>
        </a:p>
      </dgm:t>
    </dgm:pt>
    <dgm:pt modelId="{EDE9639B-26EE-4C60-BB1C-9D06A3FB3CBC}">
      <dgm:prSet/>
      <dgm:spPr/>
      <dgm:t>
        <a:bodyPr/>
        <a:lstStyle/>
        <a:p>
          <a:pPr rtl="0"/>
          <a:r>
            <a:rPr lang="en-US" dirty="0" smtClean="0"/>
            <a:t>Delivery of on-demand computing resources everything from applications to data centers over the Internet on a pay-for-use basis</a:t>
          </a:r>
          <a:endParaRPr lang="en-US" dirty="0"/>
        </a:p>
      </dgm:t>
    </dgm:pt>
    <dgm:pt modelId="{1D33338D-4479-4ECB-9359-2A57F94542B2}" type="parTrans" cxnId="{90951D1D-8526-49E0-A050-AD517EC0E2DB}">
      <dgm:prSet/>
      <dgm:spPr/>
      <dgm:t>
        <a:bodyPr/>
        <a:lstStyle/>
        <a:p>
          <a:endParaRPr lang="en-US"/>
        </a:p>
      </dgm:t>
    </dgm:pt>
    <dgm:pt modelId="{9ED662B0-3E5A-4ED2-B8E4-5C780B15F9C7}" type="sibTrans" cxnId="{90951D1D-8526-49E0-A050-AD517EC0E2DB}">
      <dgm:prSet/>
      <dgm:spPr/>
      <dgm:t>
        <a:bodyPr/>
        <a:lstStyle/>
        <a:p>
          <a:endParaRPr lang="en-US"/>
        </a:p>
      </dgm:t>
    </dgm:pt>
    <dgm:pt modelId="{10D05E69-9637-4FF3-B3EC-88853E09186A}">
      <dgm:prSet/>
      <dgm:spPr/>
      <dgm:t>
        <a:bodyPr/>
        <a:lstStyle/>
        <a:p>
          <a:pPr rtl="0"/>
          <a:r>
            <a:rPr lang="en-US" smtClean="0"/>
            <a:t>Relies on sharing computing resources rather than having local servers or personal devices to handle applications</a:t>
          </a:r>
          <a:endParaRPr lang="en-US" dirty="0"/>
        </a:p>
      </dgm:t>
    </dgm:pt>
    <dgm:pt modelId="{33F8C679-91BA-4776-BD5A-08E9823E3C1E}" type="parTrans" cxnId="{E8723E09-11C4-4DA3-B857-1D3A0CC68FD2}">
      <dgm:prSet/>
      <dgm:spPr/>
      <dgm:t>
        <a:bodyPr/>
        <a:lstStyle/>
        <a:p>
          <a:endParaRPr lang="en-US"/>
        </a:p>
      </dgm:t>
    </dgm:pt>
    <dgm:pt modelId="{8677B24D-A0B3-4EF4-A081-89D56125F297}" type="sibTrans" cxnId="{E8723E09-11C4-4DA3-B857-1D3A0CC68FD2}">
      <dgm:prSet/>
      <dgm:spPr/>
      <dgm:t>
        <a:bodyPr/>
        <a:lstStyle/>
        <a:p>
          <a:endParaRPr lang="en-US"/>
        </a:p>
      </dgm:t>
    </dgm:pt>
    <dgm:pt modelId="{3F7A0956-8037-4D49-8DFE-8B1C1E270312}" type="pres">
      <dgm:prSet presAssocID="{01850C6C-D0AA-4343-86A6-43ED7C37256A}" presName="linear" presStyleCnt="0">
        <dgm:presLayoutVars>
          <dgm:animLvl val="lvl"/>
          <dgm:resizeHandles val="exact"/>
        </dgm:presLayoutVars>
      </dgm:prSet>
      <dgm:spPr/>
      <dgm:t>
        <a:bodyPr/>
        <a:lstStyle/>
        <a:p>
          <a:endParaRPr lang="en-US"/>
        </a:p>
      </dgm:t>
    </dgm:pt>
    <dgm:pt modelId="{538779E5-2AD6-418F-8D76-424B2DFC14E4}" type="pres">
      <dgm:prSet presAssocID="{EDE9639B-26EE-4C60-BB1C-9D06A3FB3CBC}" presName="parentText" presStyleLbl="node1" presStyleIdx="0" presStyleCnt="2">
        <dgm:presLayoutVars>
          <dgm:chMax val="0"/>
          <dgm:bulletEnabled val="1"/>
        </dgm:presLayoutVars>
      </dgm:prSet>
      <dgm:spPr/>
      <dgm:t>
        <a:bodyPr/>
        <a:lstStyle/>
        <a:p>
          <a:endParaRPr lang="en-US"/>
        </a:p>
      </dgm:t>
    </dgm:pt>
    <dgm:pt modelId="{468E6006-68D7-417D-892E-8D0996825033}" type="pres">
      <dgm:prSet presAssocID="{9ED662B0-3E5A-4ED2-B8E4-5C780B15F9C7}" presName="spacer" presStyleCnt="0"/>
      <dgm:spPr/>
      <dgm:t>
        <a:bodyPr/>
        <a:lstStyle/>
        <a:p>
          <a:endParaRPr lang="en-US"/>
        </a:p>
      </dgm:t>
    </dgm:pt>
    <dgm:pt modelId="{C393669E-1306-44BE-8DC8-1E935B0A37C3}" type="pres">
      <dgm:prSet presAssocID="{10D05E69-9637-4FF3-B3EC-88853E09186A}" presName="parentText" presStyleLbl="node1" presStyleIdx="1" presStyleCnt="2">
        <dgm:presLayoutVars>
          <dgm:chMax val="0"/>
          <dgm:bulletEnabled val="1"/>
        </dgm:presLayoutVars>
      </dgm:prSet>
      <dgm:spPr/>
      <dgm:t>
        <a:bodyPr/>
        <a:lstStyle/>
        <a:p>
          <a:endParaRPr lang="en-US"/>
        </a:p>
      </dgm:t>
    </dgm:pt>
  </dgm:ptLst>
  <dgm:cxnLst>
    <dgm:cxn modelId="{20E21BDB-B4C5-414C-91E3-F48055FE9C34}" type="presOf" srcId="{01850C6C-D0AA-4343-86A6-43ED7C37256A}" destId="{3F7A0956-8037-4D49-8DFE-8B1C1E270312}" srcOrd="0" destOrd="0" presId="urn:microsoft.com/office/officeart/2005/8/layout/vList2"/>
    <dgm:cxn modelId="{90951D1D-8526-49E0-A050-AD517EC0E2DB}" srcId="{01850C6C-D0AA-4343-86A6-43ED7C37256A}" destId="{EDE9639B-26EE-4C60-BB1C-9D06A3FB3CBC}" srcOrd="0" destOrd="0" parTransId="{1D33338D-4479-4ECB-9359-2A57F94542B2}" sibTransId="{9ED662B0-3E5A-4ED2-B8E4-5C780B15F9C7}"/>
    <dgm:cxn modelId="{E8723E09-11C4-4DA3-B857-1D3A0CC68FD2}" srcId="{01850C6C-D0AA-4343-86A6-43ED7C37256A}" destId="{10D05E69-9637-4FF3-B3EC-88853E09186A}" srcOrd="1" destOrd="0" parTransId="{33F8C679-91BA-4776-BD5A-08E9823E3C1E}" sibTransId="{8677B24D-A0B3-4EF4-A081-89D56125F297}"/>
    <dgm:cxn modelId="{A6B3B8C7-88B3-4025-94AB-50E27A0DEBFC}" type="presOf" srcId="{EDE9639B-26EE-4C60-BB1C-9D06A3FB3CBC}" destId="{538779E5-2AD6-418F-8D76-424B2DFC14E4}" srcOrd="0" destOrd="0" presId="urn:microsoft.com/office/officeart/2005/8/layout/vList2"/>
    <dgm:cxn modelId="{B8084B84-64E6-449F-B1DC-91F62BAB2629}" type="presOf" srcId="{10D05E69-9637-4FF3-B3EC-88853E09186A}" destId="{C393669E-1306-44BE-8DC8-1E935B0A37C3}" srcOrd="0" destOrd="0" presId="urn:microsoft.com/office/officeart/2005/8/layout/vList2"/>
    <dgm:cxn modelId="{7341941B-B81A-4412-AEB9-9C26706C4883}" type="presParOf" srcId="{3F7A0956-8037-4D49-8DFE-8B1C1E270312}" destId="{538779E5-2AD6-418F-8D76-424B2DFC14E4}" srcOrd="0" destOrd="0" presId="urn:microsoft.com/office/officeart/2005/8/layout/vList2"/>
    <dgm:cxn modelId="{FD9999DF-2A68-4436-B7E4-BB1059760524}" type="presParOf" srcId="{3F7A0956-8037-4D49-8DFE-8B1C1E270312}" destId="{468E6006-68D7-417D-892E-8D0996825033}" srcOrd="1" destOrd="0" presId="urn:microsoft.com/office/officeart/2005/8/layout/vList2"/>
    <dgm:cxn modelId="{7FD1E339-13DA-4E76-B5C6-A359EE17C55F}" type="presParOf" srcId="{3F7A0956-8037-4D49-8DFE-8B1C1E270312}" destId="{C393669E-1306-44BE-8DC8-1E935B0A37C3}" srcOrd="2" destOrd="0" presId="urn:microsoft.com/office/officeart/2005/8/layout/vList2"/>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9DCDD55-D037-421F-846C-436C81AAC063}" type="doc">
      <dgm:prSet loTypeId="urn:microsoft.com/office/officeart/2005/8/layout/vList2" loCatId="list" qsTypeId="urn:microsoft.com/office/officeart/2005/8/quickstyle/simple1" qsCatId="simple" csTypeId="urn:microsoft.com/office/officeart/2005/8/colors/accent5_1" csCatId="accent5"/>
      <dgm:spPr/>
      <dgm:t>
        <a:bodyPr/>
        <a:lstStyle/>
        <a:p>
          <a:endParaRPr lang="en-US"/>
        </a:p>
      </dgm:t>
    </dgm:pt>
    <dgm:pt modelId="{F9D3A8B9-7AE9-420C-9CA9-4268F87F6DDD}">
      <dgm:prSet/>
      <dgm:spPr/>
      <dgm:t>
        <a:bodyPr/>
        <a:lstStyle/>
        <a:p>
          <a:pPr rtl="0"/>
          <a:r>
            <a:rPr lang="en-US" dirty="0" smtClean="0"/>
            <a:t>A </a:t>
          </a:r>
          <a:r>
            <a:rPr lang="en-US" b="1" dirty="0" smtClean="0"/>
            <a:t>cloud</a:t>
          </a:r>
          <a:r>
            <a:rPr lang="en-US" dirty="0" smtClean="0"/>
            <a:t> refers to a distinct IT environment that is designed for the purpose of remotely provisioning scalable and measured IT resources</a:t>
          </a:r>
          <a:endParaRPr lang="en-US" b="1" dirty="0"/>
        </a:p>
      </dgm:t>
    </dgm:pt>
    <dgm:pt modelId="{3A28CAB2-348C-42C9-90B7-9EE1F759B2CF}" type="parTrans" cxnId="{037C8899-3159-43DF-9F1A-377605C061A5}">
      <dgm:prSet/>
      <dgm:spPr/>
      <dgm:t>
        <a:bodyPr/>
        <a:lstStyle/>
        <a:p>
          <a:endParaRPr lang="en-US"/>
        </a:p>
      </dgm:t>
    </dgm:pt>
    <dgm:pt modelId="{772598B0-EEC8-4C33-8EF8-4AC72FCA782D}" type="sibTrans" cxnId="{037C8899-3159-43DF-9F1A-377605C061A5}">
      <dgm:prSet/>
      <dgm:spPr/>
      <dgm:t>
        <a:bodyPr/>
        <a:lstStyle/>
        <a:p>
          <a:endParaRPr lang="en-US"/>
        </a:p>
      </dgm:t>
    </dgm:pt>
    <dgm:pt modelId="{EF59F874-2D25-426E-83E0-E71013C092C3}" type="pres">
      <dgm:prSet presAssocID="{49DCDD55-D037-421F-846C-436C81AAC063}" presName="linear" presStyleCnt="0">
        <dgm:presLayoutVars>
          <dgm:animLvl val="lvl"/>
          <dgm:resizeHandles val="exact"/>
        </dgm:presLayoutVars>
      </dgm:prSet>
      <dgm:spPr/>
      <dgm:t>
        <a:bodyPr/>
        <a:lstStyle/>
        <a:p>
          <a:endParaRPr lang="en-US"/>
        </a:p>
      </dgm:t>
    </dgm:pt>
    <dgm:pt modelId="{D282022D-1AAB-49AC-93CC-7231AEAF502C}" type="pres">
      <dgm:prSet presAssocID="{F9D3A8B9-7AE9-420C-9CA9-4268F87F6DDD}" presName="parentText" presStyleLbl="node1" presStyleIdx="0" presStyleCnt="1">
        <dgm:presLayoutVars>
          <dgm:chMax val="0"/>
          <dgm:bulletEnabled val="1"/>
        </dgm:presLayoutVars>
      </dgm:prSet>
      <dgm:spPr/>
      <dgm:t>
        <a:bodyPr/>
        <a:lstStyle/>
        <a:p>
          <a:endParaRPr lang="en-US"/>
        </a:p>
      </dgm:t>
    </dgm:pt>
  </dgm:ptLst>
  <dgm:cxnLst>
    <dgm:cxn modelId="{037C8899-3159-43DF-9F1A-377605C061A5}" srcId="{49DCDD55-D037-421F-846C-436C81AAC063}" destId="{F9D3A8B9-7AE9-420C-9CA9-4268F87F6DDD}" srcOrd="0" destOrd="0" parTransId="{3A28CAB2-348C-42C9-90B7-9EE1F759B2CF}" sibTransId="{772598B0-EEC8-4C33-8EF8-4AC72FCA782D}"/>
    <dgm:cxn modelId="{521F1572-602E-42D6-AF65-310B4949B88F}" type="presOf" srcId="{F9D3A8B9-7AE9-420C-9CA9-4268F87F6DDD}" destId="{D282022D-1AAB-49AC-93CC-7231AEAF502C}" srcOrd="0" destOrd="0" presId="urn:microsoft.com/office/officeart/2005/8/layout/vList2"/>
    <dgm:cxn modelId="{EF2033C7-CD77-4F28-A7E8-2EA62C207535}" type="presOf" srcId="{49DCDD55-D037-421F-846C-436C81AAC063}" destId="{EF59F874-2D25-426E-83E0-E71013C092C3}" srcOrd="0" destOrd="0" presId="urn:microsoft.com/office/officeart/2005/8/layout/vList2"/>
    <dgm:cxn modelId="{2713AC7E-391A-4B2C-A61C-A6BB25A317F0}" type="presParOf" srcId="{EF59F874-2D25-426E-83E0-E71013C092C3}" destId="{D282022D-1AAB-49AC-93CC-7231AEAF502C}" srcOrd="0" destOrd="0" presId="urn:microsoft.com/office/officeart/2005/8/layout/vList2"/>
  </dgm:cxnLst>
  <dgm:bg/>
  <dgm:whole/>
  <dgm:extLst>
    <a:ext uri="http://schemas.microsoft.com/office/drawing/2008/diagram">
      <dsp:dataModelExt xmlns:dsp="http://schemas.microsoft.com/office/drawing/2008/diagram" xmlns=""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EED7811-05B6-4698-856D-E047F8E4CF30}" type="doc">
      <dgm:prSet loTypeId="urn:microsoft.com/office/officeart/2005/8/layout/venn1" loCatId="relationship" qsTypeId="urn:microsoft.com/office/officeart/2005/8/quickstyle/simple1" qsCatId="simple" csTypeId="urn:microsoft.com/office/officeart/2005/8/colors/colorful5" csCatId="colorful"/>
      <dgm:spPr/>
      <dgm:t>
        <a:bodyPr/>
        <a:lstStyle/>
        <a:p>
          <a:endParaRPr lang="en-US"/>
        </a:p>
      </dgm:t>
    </dgm:pt>
    <dgm:pt modelId="{6272C479-4ED6-4772-89EF-74D6F834EC80}">
      <dgm:prSet/>
      <dgm:spPr/>
      <dgm:t>
        <a:bodyPr/>
        <a:lstStyle/>
        <a:p>
          <a:pPr rtl="0"/>
          <a:r>
            <a:rPr lang="en-US" dirty="0" smtClean="0"/>
            <a:t>Shared Resources</a:t>
          </a:r>
          <a:endParaRPr lang="en-US" dirty="0"/>
        </a:p>
      </dgm:t>
    </dgm:pt>
    <dgm:pt modelId="{E436ED32-989D-4751-8E4B-39166BF5A88C}" type="parTrans" cxnId="{A34D54BE-40F5-4999-8653-549B4BE92108}">
      <dgm:prSet/>
      <dgm:spPr/>
      <dgm:t>
        <a:bodyPr/>
        <a:lstStyle/>
        <a:p>
          <a:endParaRPr lang="en-US"/>
        </a:p>
      </dgm:t>
    </dgm:pt>
    <dgm:pt modelId="{0D19BC91-E28E-49E4-BB3C-1FB9DC8F98EC}" type="sibTrans" cxnId="{A34D54BE-40F5-4999-8653-549B4BE92108}">
      <dgm:prSet/>
      <dgm:spPr/>
      <dgm:t>
        <a:bodyPr/>
        <a:lstStyle/>
        <a:p>
          <a:endParaRPr lang="en-US"/>
        </a:p>
      </dgm:t>
    </dgm:pt>
    <dgm:pt modelId="{31E6CD59-C9AF-4EFE-9339-6EA2DB81B7B8}">
      <dgm:prSet/>
      <dgm:spPr/>
      <dgm:t>
        <a:bodyPr/>
        <a:lstStyle/>
        <a:p>
          <a:pPr rtl="0"/>
          <a:r>
            <a:rPr lang="en-US" dirty="0" smtClean="0"/>
            <a:t>Dynamic Scaling</a:t>
          </a:r>
          <a:endParaRPr lang="en-US" dirty="0"/>
        </a:p>
      </dgm:t>
    </dgm:pt>
    <dgm:pt modelId="{A39E16D0-C63A-47AC-984F-D65C60EAEDC8}" type="parTrans" cxnId="{411E687A-2CE3-485F-9296-099DB80FF78B}">
      <dgm:prSet/>
      <dgm:spPr/>
      <dgm:t>
        <a:bodyPr/>
        <a:lstStyle/>
        <a:p>
          <a:endParaRPr lang="en-US"/>
        </a:p>
      </dgm:t>
    </dgm:pt>
    <dgm:pt modelId="{7EE6B6D5-09F4-476F-87BB-3290930A1A1E}" type="sibTrans" cxnId="{411E687A-2CE3-485F-9296-099DB80FF78B}">
      <dgm:prSet/>
      <dgm:spPr/>
      <dgm:t>
        <a:bodyPr/>
        <a:lstStyle/>
        <a:p>
          <a:endParaRPr lang="en-US"/>
        </a:p>
      </dgm:t>
    </dgm:pt>
    <dgm:pt modelId="{2502211A-905E-4755-B7A6-A248F0896955}">
      <dgm:prSet/>
      <dgm:spPr/>
      <dgm:t>
        <a:bodyPr/>
        <a:lstStyle/>
        <a:p>
          <a:pPr rtl="0"/>
          <a:r>
            <a:rPr lang="en-US" dirty="0" smtClean="0"/>
            <a:t>Pay as you Use</a:t>
          </a:r>
          <a:endParaRPr lang="en-US" dirty="0"/>
        </a:p>
      </dgm:t>
    </dgm:pt>
    <dgm:pt modelId="{E07720EB-02F0-424F-B707-AAFEAD566A21}" type="parTrans" cxnId="{4C12EEF2-32B6-406C-8444-C7B1C3B24FD5}">
      <dgm:prSet/>
      <dgm:spPr/>
      <dgm:t>
        <a:bodyPr/>
        <a:lstStyle/>
        <a:p>
          <a:endParaRPr lang="en-US"/>
        </a:p>
      </dgm:t>
    </dgm:pt>
    <dgm:pt modelId="{CCE714C6-0606-4448-9C7E-0E1BDB3E5B6A}" type="sibTrans" cxnId="{4C12EEF2-32B6-406C-8444-C7B1C3B24FD5}">
      <dgm:prSet/>
      <dgm:spPr/>
      <dgm:t>
        <a:bodyPr/>
        <a:lstStyle/>
        <a:p>
          <a:endParaRPr lang="en-US"/>
        </a:p>
      </dgm:t>
    </dgm:pt>
    <dgm:pt modelId="{46680AEC-8C51-4259-AF3B-EA1DBCE85E1F}">
      <dgm:prSet/>
      <dgm:spPr/>
      <dgm:t>
        <a:bodyPr/>
        <a:lstStyle/>
        <a:p>
          <a:pPr rtl="0"/>
          <a:r>
            <a:rPr lang="en-US" dirty="0" smtClean="0"/>
            <a:t>High Availability</a:t>
          </a:r>
          <a:endParaRPr lang="en-US" dirty="0"/>
        </a:p>
      </dgm:t>
    </dgm:pt>
    <dgm:pt modelId="{F0DF6731-4070-4A2B-B33A-30319BE8756F}" type="parTrans" cxnId="{63BCFE67-2FB1-4C61-BB99-32ED4564AE4A}">
      <dgm:prSet/>
      <dgm:spPr/>
      <dgm:t>
        <a:bodyPr/>
        <a:lstStyle/>
        <a:p>
          <a:endParaRPr lang="en-US"/>
        </a:p>
      </dgm:t>
    </dgm:pt>
    <dgm:pt modelId="{D129E410-F073-47F1-A28D-2F17B0B69305}" type="sibTrans" cxnId="{63BCFE67-2FB1-4C61-BB99-32ED4564AE4A}">
      <dgm:prSet/>
      <dgm:spPr/>
      <dgm:t>
        <a:bodyPr/>
        <a:lstStyle/>
        <a:p>
          <a:endParaRPr lang="en-US"/>
        </a:p>
      </dgm:t>
    </dgm:pt>
    <dgm:pt modelId="{43A754CE-F742-4905-8EDC-C730D0CB37FE}">
      <dgm:prSet/>
      <dgm:spPr/>
      <dgm:t>
        <a:bodyPr/>
        <a:lstStyle/>
        <a:p>
          <a:pPr rtl="0"/>
          <a:r>
            <a:rPr lang="en-US" dirty="0" smtClean="0"/>
            <a:t>High Productivity</a:t>
          </a:r>
          <a:endParaRPr lang="en-US" dirty="0"/>
        </a:p>
      </dgm:t>
    </dgm:pt>
    <dgm:pt modelId="{4E6B7870-F02C-467E-849E-639D31E0A21C}" type="parTrans" cxnId="{BFEBC5B1-687E-46C0-81CE-296280690CF4}">
      <dgm:prSet/>
      <dgm:spPr/>
      <dgm:t>
        <a:bodyPr/>
        <a:lstStyle/>
        <a:p>
          <a:endParaRPr lang="en-US"/>
        </a:p>
      </dgm:t>
    </dgm:pt>
    <dgm:pt modelId="{9FE88A74-76C6-4D8D-98A8-12ACCA835AB6}" type="sibTrans" cxnId="{BFEBC5B1-687E-46C0-81CE-296280690CF4}">
      <dgm:prSet/>
      <dgm:spPr/>
      <dgm:t>
        <a:bodyPr/>
        <a:lstStyle/>
        <a:p>
          <a:endParaRPr lang="en-US"/>
        </a:p>
      </dgm:t>
    </dgm:pt>
    <dgm:pt modelId="{1989D8B2-1BE2-46B6-B34D-80F29A1EB4DE}">
      <dgm:prSet/>
      <dgm:spPr/>
      <dgm:t>
        <a:bodyPr/>
        <a:lstStyle/>
        <a:p>
          <a:pPr rtl="0"/>
          <a:r>
            <a:rPr lang="en-US" dirty="0" smtClean="0"/>
            <a:t>Environment friendly</a:t>
          </a:r>
          <a:endParaRPr lang="en-US" dirty="0"/>
        </a:p>
      </dgm:t>
    </dgm:pt>
    <dgm:pt modelId="{C0DADE5D-F7AA-4F2C-ADEC-1A7069495D96}" type="parTrans" cxnId="{FB89330B-00A8-4644-A183-E73D2EB69146}">
      <dgm:prSet/>
      <dgm:spPr/>
      <dgm:t>
        <a:bodyPr/>
        <a:lstStyle/>
        <a:p>
          <a:endParaRPr lang="en-US"/>
        </a:p>
      </dgm:t>
    </dgm:pt>
    <dgm:pt modelId="{877B263A-A1C8-43EB-A8A3-F77BB00DFECB}" type="sibTrans" cxnId="{FB89330B-00A8-4644-A183-E73D2EB69146}">
      <dgm:prSet/>
      <dgm:spPr/>
      <dgm:t>
        <a:bodyPr/>
        <a:lstStyle/>
        <a:p>
          <a:endParaRPr lang="en-US"/>
        </a:p>
      </dgm:t>
    </dgm:pt>
    <dgm:pt modelId="{6B671143-7D9C-4534-A071-B31F193CB2AE}">
      <dgm:prSet/>
      <dgm:spPr/>
      <dgm:t>
        <a:bodyPr/>
        <a:lstStyle/>
        <a:p>
          <a:pPr rtl="0"/>
          <a:r>
            <a:rPr lang="en-US" dirty="0" smtClean="0"/>
            <a:t>Less Deployment Time</a:t>
          </a:r>
          <a:endParaRPr lang="en-US" dirty="0"/>
        </a:p>
      </dgm:t>
    </dgm:pt>
    <dgm:pt modelId="{C08AE378-1B41-470B-9563-9F6E9B47A3A6}" type="parTrans" cxnId="{A61B84AD-F3E5-4E75-BE42-4A6A18BAABB2}">
      <dgm:prSet/>
      <dgm:spPr/>
      <dgm:t>
        <a:bodyPr/>
        <a:lstStyle/>
        <a:p>
          <a:endParaRPr lang="en-US"/>
        </a:p>
      </dgm:t>
    </dgm:pt>
    <dgm:pt modelId="{3CEDADAD-AD69-4707-B281-EFB868BE2429}" type="sibTrans" cxnId="{A61B84AD-F3E5-4E75-BE42-4A6A18BAABB2}">
      <dgm:prSet/>
      <dgm:spPr/>
      <dgm:t>
        <a:bodyPr/>
        <a:lstStyle/>
        <a:p>
          <a:endParaRPr lang="en-US"/>
        </a:p>
      </dgm:t>
    </dgm:pt>
    <dgm:pt modelId="{1C623C71-34BB-4A15-A45D-A9AE57DE6FDC}">
      <dgm:prSet/>
      <dgm:spPr/>
      <dgm:t>
        <a:bodyPr/>
        <a:lstStyle/>
        <a:p>
          <a:endParaRPr lang="en-US"/>
        </a:p>
      </dgm:t>
    </dgm:pt>
    <dgm:pt modelId="{9BA4DAE2-BF2A-4607-8763-298D1F03C039}" type="parTrans" cxnId="{880196C8-E4E6-4E4A-9A39-477038F67694}">
      <dgm:prSet/>
      <dgm:spPr/>
      <dgm:t>
        <a:bodyPr/>
        <a:lstStyle/>
        <a:p>
          <a:endParaRPr lang="en-US"/>
        </a:p>
      </dgm:t>
    </dgm:pt>
    <dgm:pt modelId="{21056222-5294-4B39-A47A-9B961E70B2A1}" type="sibTrans" cxnId="{880196C8-E4E6-4E4A-9A39-477038F67694}">
      <dgm:prSet/>
      <dgm:spPr/>
      <dgm:t>
        <a:bodyPr/>
        <a:lstStyle/>
        <a:p>
          <a:endParaRPr lang="en-US"/>
        </a:p>
      </dgm:t>
    </dgm:pt>
    <dgm:pt modelId="{63588D8D-A4D7-4B1D-A16A-8863B24239E3}" type="pres">
      <dgm:prSet presAssocID="{CEED7811-05B6-4698-856D-E047F8E4CF30}" presName="compositeShape" presStyleCnt="0">
        <dgm:presLayoutVars>
          <dgm:chMax val="7"/>
          <dgm:dir/>
          <dgm:resizeHandles val="exact"/>
        </dgm:presLayoutVars>
      </dgm:prSet>
      <dgm:spPr/>
      <dgm:t>
        <a:bodyPr/>
        <a:lstStyle/>
        <a:p>
          <a:endParaRPr lang="en-US"/>
        </a:p>
      </dgm:t>
    </dgm:pt>
    <dgm:pt modelId="{B469A577-F739-4F51-B1AE-26BD2E525A10}" type="pres">
      <dgm:prSet presAssocID="{6272C479-4ED6-4772-89EF-74D6F834EC80}" presName="circ1" presStyleLbl="vennNode1" presStyleIdx="0" presStyleCnt="7"/>
      <dgm:spPr/>
    </dgm:pt>
    <dgm:pt modelId="{B9618C3C-53AC-4F60-9AB1-E808BA68E446}" type="pres">
      <dgm:prSet presAssocID="{6272C479-4ED6-4772-89EF-74D6F834EC80}" presName="circ1Tx" presStyleLbl="revTx" presStyleIdx="0" presStyleCnt="0">
        <dgm:presLayoutVars>
          <dgm:chMax val="0"/>
          <dgm:chPref val="0"/>
          <dgm:bulletEnabled val="1"/>
        </dgm:presLayoutVars>
      </dgm:prSet>
      <dgm:spPr/>
      <dgm:t>
        <a:bodyPr/>
        <a:lstStyle/>
        <a:p>
          <a:endParaRPr lang="en-US"/>
        </a:p>
      </dgm:t>
    </dgm:pt>
    <dgm:pt modelId="{DFB66475-500F-42A8-81F7-AEED8AA7CD3E}" type="pres">
      <dgm:prSet presAssocID="{31E6CD59-C9AF-4EFE-9339-6EA2DB81B7B8}" presName="circ2" presStyleLbl="vennNode1" presStyleIdx="1" presStyleCnt="7"/>
      <dgm:spPr/>
    </dgm:pt>
    <dgm:pt modelId="{4492965C-0726-42A8-B4A6-CAF6D8F36B95}" type="pres">
      <dgm:prSet presAssocID="{31E6CD59-C9AF-4EFE-9339-6EA2DB81B7B8}" presName="circ2Tx" presStyleLbl="revTx" presStyleIdx="0" presStyleCnt="0">
        <dgm:presLayoutVars>
          <dgm:chMax val="0"/>
          <dgm:chPref val="0"/>
          <dgm:bulletEnabled val="1"/>
        </dgm:presLayoutVars>
      </dgm:prSet>
      <dgm:spPr/>
      <dgm:t>
        <a:bodyPr/>
        <a:lstStyle/>
        <a:p>
          <a:endParaRPr lang="en-US"/>
        </a:p>
      </dgm:t>
    </dgm:pt>
    <dgm:pt modelId="{DE55D4FE-374F-4DBB-B454-711B474801DF}" type="pres">
      <dgm:prSet presAssocID="{2502211A-905E-4755-B7A6-A248F0896955}" presName="circ3" presStyleLbl="vennNode1" presStyleIdx="2" presStyleCnt="7"/>
      <dgm:spPr/>
    </dgm:pt>
    <dgm:pt modelId="{A9DD5467-E724-4B5D-859E-B08E60676E38}" type="pres">
      <dgm:prSet presAssocID="{2502211A-905E-4755-B7A6-A248F0896955}" presName="circ3Tx" presStyleLbl="revTx" presStyleIdx="0" presStyleCnt="0">
        <dgm:presLayoutVars>
          <dgm:chMax val="0"/>
          <dgm:chPref val="0"/>
          <dgm:bulletEnabled val="1"/>
        </dgm:presLayoutVars>
      </dgm:prSet>
      <dgm:spPr/>
      <dgm:t>
        <a:bodyPr/>
        <a:lstStyle/>
        <a:p>
          <a:endParaRPr lang="en-US"/>
        </a:p>
      </dgm:t>
    </dgm:pt>
    <dgm:pt modelId="{CD9EC061-4362-4C99-8F62-E820335CC632}" type="pres">
      <dgm:prSet presAssocID="{46680AEC-8C51-4259-AF3B-EA1DBCE85E1F}" presName="circ4" presStyleLbl="vennNode1" presStyleIdx="3" presStyleCnt="7"/>
      <dgm:spPr/>
    </dgm:pt>
    <dgm:pt modelId="{71717596-74AE-4E89-8C66-2F9BE4013664}" type="pres">
      <dgm:prSet presAssocID="{46680AEC-8C51-4259-AF3B-EA1DBCE85E1F}" presName="circ4Tx" presStyleLbl="revTx" presStyleIdx="0" presStyleCnt="0">
        <dgm:presLayoutVars>
          <dgm:chMax val="0"/>
          <dgm:chPref val="0"/>
          <dgm:bulletEnabled val="1"/>
        </dgm:presLayoutVars>
      </dgm:prSet>
      <dgm:spPr/>
      <dgm:t>
        <a:bodyPr/>
        <a:lstStyle/>
        <a:p>
          <a:endParaRPr lang="en-US"/>
        </a:p>
      </dgm:t>
    </dgm:pt>
    <dgm:pt modelId="{3F0AD8C3-8A15-4413-8399-CBF1C800F9AD}" type="pres">
      <dgm:prSet presAssocID="{43A754CE-F742-4905-8EDC-C730D0CB37FE}" presName="circ5" presStyleLbl="vennNode1" presStyleIdx="4" presStyleCnt="7"/>
      <dgm:spPr/>
    </dgm:pt>
    <dgm:pt modelId="{63A54FD8-193A-421D-B84D-CA0535C3F386}" type="pres">
      <dgm:prSet presAssocID="{43A754CE-F742-4905-8EDC-C730D0CB37FE}" presName="circ5Tx" presStyleLbl="revTx" presStyleIdx="0" presStyleCnt="0">
        <dgm:presLayoutVars>
          <dgm:chMax val="0"/>
          <dgm:chPref val="0"/>
          <dgm:bulletEnabled val="1"/>
        </dgm:presLayoutVars>
      </dgm:prSet>
      <dgm:spPr/>
      <dgm:t>
        <a:bodyPr/>
        <a:lstStyle/>
        <a:p>
          <a:endParaRPr lang="en-US"/>
        </a:p>
      </dgm:t>
    </dgm:pt>
    <dgm:pt modelId="{09702C5A-4853-43C7-9132-FAE7199B819E}" type="pres">
      <dgm:prSet presAssocID="{1989D8B2-1BE2-46B6-B34D-80F29A1EB4DE}" presName="circ6" presStyleLbl="vennNode1" presStyleIdx="5" presStyleCnt="7"/>
      <dgm:spPr/>
    </dgm:pt>
    <dgm:pt modelId="{0E8B9054-5098-4752-9960-C42AF6A77C32}" type="pres">
      <dgm:prSet presAssocID="{1989D8B2-1BE2-46B6-B34D-80F29A1EB4DE}" presName="circ6Tx" presStyleLbl="revTx" presStyleIdx="0" presStyleCnt="0">
        <dgm:presLayoutVars>
          <dgm:chMax val="0"/>
          <dgm:chPref val="0"/>
          <dgm:bulletEnabled val="1"/>
        </dgm:presLayoutVars>
      </dgm:prSet>
      <dgm:spPr/>
      <dgm:t>
        <a:bodyPr/>
        <a:lstStyle/>
        <a:p>
          <a:endParaRPr lang="en-US"/>
        </a:p>
      </dgm:t>
    </dgm:pt>
    <dgm:pt modelId="{C138A083-EFB3-4486-B69F-0FAE958B2244}" type="pres">
      <dgm:prSet presAssocID="{6B671143-7D9C-4534-A071-B31F193CB2AE}" presName="circ7" presStyleLbl="vennNode1" presStyleIdx="6" presStyleCnt="7"/>
      <dgm:spPr/>
    </dgm:pt>
    <dgm:pt modelId="{8DD6306D-6155-45A6-BC0F-4095725FC0D0}" type="pres">
      <dgm:prSet presAssocID="{6B671143-7D9C-4534-A071-B31F193CB2AE}" presName="circ7Tx" presStyleLbl="revTx" presStyleIdx="0" presStyleCnt="0">
        <dgm:presLayoutVars>
          <dgm:chMax val="0"/>
          <dgm:chPref val="0"/>
          <dgm:bulletEnabled val="1"/>
        </dgm:presLayoutVars>
      </dgm:prSet>
      <dgm:spPr/>
      <dgm:t>
        <a:bodyPr/>
        <a:lstStyle/>
        <a:p>
          <a:endParaRPr lang="en-US"/>
        </a:p>
      </dgm:t>
    </dgm:pt>
  </dgm:ptLst>
  <dgm:cxnLst>
    <dgm:cxn modelId="{8537B99D-F235-4DF6-B3D8-062D82EA0A51}" type="presOf" srcId="{6B671143-7D9C-4534-A071-B31F193CB2AE}" destId="{8DD6306D-6155-45A6-BC0F-4095725FC0D0}" srcOrd="0" destOrd="0" presId="urn:microsoft.com/office/officeart/2005/8/layout/venn1"/>
    <dgm:cxn modelId="{A61B84AD-F3E5-4E75-BE42-4A6A18BAABB2}" srcId="{CEED7811-05B6-4698-856D-E047F8E4CF30}" destId="{6B671143-7D9C-4534-A071-B31F193CB2AE}" srcOrd="6" destOrd="0" parTransId="{C08AE378-1B41-470B-9563-9F6E9B47A3A6}" sibTransId="{3CEDADAD-AD69-4707-B281-EFB868BE2429}"/>
    <dgm:cxn modelId="{BFEBC5B1-687E-46C0-81CE-296280690CF4}" srcId="{CEED7811-05B6-4698-856D-E047F8E4CF30}" destId="{43A754CE-F742-4905-8EDC-C730D0CB37FE}" srcOrd="4" destOrd="0" parTransId="{4E6B7870-F02C-467E-849E-639D31E0A21C}" sibTransId="{9FE88A74-76C6-4D8D-98A8-12ACCA835AB6}"/>
    <dgm:cxn modelId="{D5CBDD29-7D0D-42A7-873A-787693760854}" type="presOf" srcId="{46680AEC-8C51-4259-AF3B-EA1DBCE85E1F}" destId="{71717596-74AE-4E89-8C66-2F9BE4013664}" srcOrd="0" destOrd="0" presId="urn:microsoft.com/office/officeart/2005/8/layout/venn1"/>
    <dgm:cxn modelId="{930D390B-FDDE-49DE-BD36-3DFF9B594A80}" type="presOf" srcId="{1989D8B2-1BE2-46B6-B34D-80F29A1EB4DE}" destId="{0E8B9054-5098-4752-9960-C42AF6A77C32}" srcOrd="0" destOrd="0" presId="urn:microsoft.com/office/officeart/2005/8/layout/venn1"/>
    <dgm:cxn modelId="{1F71CD6C-234F-4EAC-86BD-DA0C52CA1F5C}" type="presOf" srcId="{6272C479-4ED6-4772-89EF-74D6F834EC80}" destId="{B9618C3C-53AC-4F60-9AB1-E808BA68E446}" srcOrd="0" destOrd="0" presId="urn:microsoft.com/office/officeart/2005/8/layout/venn1"/>
    <dgm:cxn modelId="{4C12EEF2-32B6-406C-8444-C7B1C3B24FD5}" srcId="{CEED7811-05B6-4698-856D-E047F8E4CF30}" destId="{2502211A-905E-4755-B7A6-A248F0896955}" srcOrd="2" destOrd="0" parTransId="{E07720EB-02F0-424F-B707-AAFEAD566A21}" sibTransId="{CCE714C6-0606-4448-9C7E-0E1BDB3E5B6A}"/>
    <dgm:cxn modelId="{A34D54BE-40F5-4999-8653-549B4BE92108}" srcId="{CEED7811-05B6-4698-856D-E047F8E4CF30}" destId="{6272C479-4ED6-4772-89EF-74D6F834EC80}" srcOrd="0" destOrd="0" parTransId="{E436ED32-989D-4751-8E4B-39166BF5A88C}" sibTransId="{0D19BC91-E28E-49E4-BB3C-1FB9DC8F98EC}"/>
    <dgm:cxn modelId="{63BCFE67-2FB1-4C61-BB99-32ED4564AE4A}" srcId="{CEED7811-05B6-4698-856D-E047F8E4CF30}" destId="{46680AEC-8C51-4259-AF3B-EA1DBCE85E1F}" srcOrd="3" destOrd="0" parTransId="{F0DF6731-4070-4A2B-B33A-30319BE8756F}" sibTransId="{D129E410-F073-47F1-A28D-2F17B0B69305}"/>
    <dgm:cxn modelId="{9505A319-053C-4957-B48B-9376218CD2C3}" type="presOf" srcId="{2502211A-905E-4755-B7A6-A248F0896955}" destId="{A9DD5467-E724-4B5D-859E-B08E60676E38}" srcOrd="0" destOrd="0" presId="urn:microsoft.com/office/officeart/2005/8/layout/venn1"/>
    <dgm:cxn modelId="{FB89330B-00A8-4644-A183-E73D2EB69146}" srcId="{CEED7811-05B6-4698-856D-E047F8E4CF30}" destId="{1989D8B2-1BE2-46B6-B34D-80F29A1EB4DE}" srcOrd="5" destOrd="0" parTransId="{C0DADE5D-F7AA-4F2C-ADEC-1A7069495D96}" sibTransId="{877B263A-A1C8-43EB-A8A3-F77BB00DFECB}"/>
    <dgm:cxn modelId="{411E687A-2CE3-485F-9296-099DB80FF78B}" srcId="{CEED7811-05B6-4698-856D-E047F8E4CF30}" destId="{31E6CD59-C9AF-4EFE-9339-6EA2DB81B7B8}" srcOrd="1" destOrd="0" parTransId="{A39E16D0-C63A-47AC-984F-D65C60EAEDC8}" sibTransId="{7EE6B6D5-09F4-476F-87BB-3290930A1A1E}"/>
    <dgm:cxn modelId="{206C3035-65E2-419F-B44E-6B0068CE5161}" type="presOf" srcId="{CEED7811-05B6-4698-856D-E047F8E4CF30}" destId="{63588D8D-A4D7-4B1D-A16A-8863B24239E3}" srcOrd="0" destOrd="0" presId="urn:microsoft.com/office/officeart/2005/8/layout/venn1"/>
    <dgm:cxn modelId="{9A61A247-5689-4B74-B150-5617B5FBA3E6}" type="presOf" srcId="{43A754CE-F742-4905-8EDC-C730D0CB37FE}" destId="{63A54FD8-193A-421D-B84D-CA0535C3F386}" srcOrd="0" destOrd="0" presId="urn:microsoft.com/office/officeart/2005/8/layout/venn1"/>
    <dgm:cxn modelId="{48A5FEE0-AE89-4612-8C59-63BAE616A0A0}" type="presOf" srcId="{31E6CD59-C9AF-4EFE-9339-6EA2DB81B7B8}" destId="{4492965C-0726-42A8-B4A6-CAF6D8F36B95}" srcOrd="0" destOrd="0" presId="urn:microsoft.com/office/officeart/2005/8/layout/venn1"/>
    <dgm:cxn modelId="{880196C8-E4E6-4E4A-9A39-477038F67694}" srcId="{CEED7811-05B6-4698-856D-E047F8E4CF30}" destId="{1C623C71-34BB-4A15-A45D-A9AE57DE6FDC}" srcOrd="7" destOrd="0" parTransId="{9BA4DAE2-BF2A-4607-8763-298D1F03C039}" sibTransId="{21056222-5294-4B39-A47A-9B961E70B2A1}"/>
    <dgm:cxn modelId="{B9F5489A-1F3D-4A1F-83E7-C9D89EAF7C55}" type="presParOf" srcId="{63588D8D-A4D7-4B1D-A16A-8863B24239E3}" destId="{B469A577-F739-4F51-B1AE-26BD2E525A10}" srcOrd="0" destOrd="0" presId="urn:microsoft.com/office/officeart/2005/8/layout/venn1"/>
    <dgm:cxn modelId="{634B8EAC-9C04-4AAE-9BB4-AF0B566AD9EB}" type="presParOf" srcId="{63588D8D-A4D7-4B1D-A16A-8863B24239E3}" destId="{B9618C3C-53AC-4F60-9AB1-E808BA68E446}" srcOrd="1" destOrd="0" presId="urn:microsoft.com/office/officeart/2005/8/layout/venn1"/>
    <dgm:cxn modelId="{AD9DF530-61CD-40A4-A9D6-BE59FF5EF519}" type="presParOf" srcId="{63588D8D-A4D7-4B1D-A16A-8863B24239E3}" destId="{DFB66475-500F-42A8-81F7-AEED8AA7CD3E}" srcOrd="2" destOrd="0" presId="urn:microsoft.com/office/officeart/2005/8/layout/venn1"/>
    <dgm:cxn modelId="{203C137A-1F39-4850-9FDD-16F36BCC048A}" type="presParOf" srcId="{63588D8D-A4D7-4B1D-A16A-8863B24239E3}" destId="{4492965C-0726-42A8-B4A6-CAF6D8F36B95}" srcOrd="3" destOrd="0" presId="urn:microsoft.com/office/officeart/2005/8/layout/venn1"/>
    <dgm:cxn modelId="{6D3D6F25-4C0E-4DD5-82D3-DD17A702068A}" type="presParOf" srcId="{63588D8D-A4D7-4B1D-A16A-8863B24239E3}" destId="{DE55D4FE-374F-4DBB-B454-711B474801DF}" srcOrd="4" destOrd="0" presId="urn:microsoft.com/office/officeart/2005/8/layout/venn1"/>
    <dgm:cxn modelId="{2B82BA03-441F-402E-AF56-3EE09C2CA338}" type="presParOf" srcId="{63588D8D-A4D7-4B1D-A16A-8863B24239E3}" destId="{A9DD5467-E724-4B5D-859E-B08E60676E38}" srcOrd="5" destOrd="0" presId="urn:microsoft.com/office/officeart/2005/8/layout/venn1"/>
    <dgm:cxn modelId="{69F01BA7-69BC-45CC-A02A-B60412FF41A2}" type="presParOf" srcId="{63588D8D-A4D7-4B1D-A16A-8863B24239E3}" destId="{CD9EC061-4362-4C99-8F62-E820335CC632}" srcOrd="6" destOrd="0" presId="urn:microsoft.com/office/officeart/2005/8/layout/venn1"/>
    <dgm:cxn modelId="{68446EDA-9EED-42A0-8D19-63B6D2DDF029}" type="presParOf" srcId="{63588D8D-A4D7-4B1D-A16A-8863B24239E3}" destId="{71717596-74AE-4E89-8C66-2F9BE4013664}" srcOrd="7" destOrd="0" presId="urn:microsoft.com/office/officeart/2005/8/layout/venn1"/>
    <dgm:cxn modelId="{493ACBA3-9554-40C0-9D79-BEE74013AD75}" type="presParOf" srcId="{63588D8D-A4D7-4B1D-A16A-8863B24239E3}" destId="{3F0AD8C3-8A15-4413-8399-CBF1C800F9AD}" srcOrd="8" destOrd="0" presId="urn:microsoft.com/office/officeart/2005/8/layout/venn1"/>
    <dgm:cxn modelId="{7C10EA09-4748-4800-AA02-38F425173F92}" type="presParOf" srcId="{63588D8D-A4D7-4B1D-A16A-8863B24239E3}" destId="{63A54FD8-193A-421D-B84D-CA0535C3F386}" srcOrd="9" destOrd="0" presId="urn:microsoft.com/office/officeart/2005/8/layout/venn1"/>
    <dgm:cxn modelId="{5EBBC78C-D192-4A99-99CE-D56AE5A3E99B}" type="presParOf" srcId="{63588D8D-A4D7-4B1D-A16A-8863B24239E3}" destId="{09702C5A-4853-43C7-9132-FAE7199B819E}" srcOrd="10" destOrd="0" presId="urn:microsoft.com/office/officeart/2005/8/layout/venn1"/>
    <dgm:cxn modelId="{61217268-7088-42CC-9C40-038089D567B1}" type="presParOf" srcId="{63588D8D-A4D7-4B1D-A16A-8863B24239E3}" destId="{0E8B9054-5098-4752-9960-C42AF6A77C32}" srcOrd="11" destOrd="0" presId="urn:microsoft.com/office/officeart/2005/8/layout/venn1"/>
    <dgm:cxn modelId="{CD7C1DC7-6274-44E1-8CB3-D8968900C26A}" type="presParOf" srcId="{63588D8D-A4D7-4B1D-A16A-8863B24239E3}" destId="{C138A083-EFB3-4486-B69F-0FAE958B2244}" srcOrd="12" destOrd="0" presId="urn:microsoft.com/office/officeart/2005/8/layout/venn1"/>
    <dgm:cxn modelId="{E5F8FDFF-D3DF-435A-BBAA-B8E242EA71F3}" type="presParOf" srcId="{63588D8D-A4D7-4B1D-A16A-8863B24239E3}" destId="{8DD6306D-6155-45A6-BC0F-4095725FC0D0}" srcOrd="13" destOrd="0" presId="urn:microsoft.com/office/officeart/2005/8/layout/venn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8703F4B-305A-4263-9D37-FD681D1CAD99}" type="doc">
      <dgm:prSet loTypeId="urn:microsoft.com/office/officeart/2005/8/layout/hList6" loCatId="list" qsTypeId="urn:microsoft.com/office/officeart/2005/8/quickstyle/3d9" qsCatId="3D" csTypeId="urn:microsoft.com/office/officeart/2005/8/colors/accent5_1" csCatId="accent5" phldr="1"/>
      <dgm:spPr/>
      <dgm:t>
        <a:bodyPr/>
        <a:lstStyle/>
        <a:p>
          <a:endParaRPr lang="en-US"/>
        </a:p>
      </dgm:t>
    </dgm:pt>
    <dgm:pt modelId="{E472227C-7FF3-4721-9FF8-77B072EFACCD}">
      <dgm:prSet/>
      <dgm:spPr/>
      <dgm:t>
        <a:bodyPr/>
        <a:lstStyle/>
        <a:p>
          <a:pPr rtl="0"/>
          <a:r>
            <a:rPr lang="en-US" dirty="0" smtClean="0"/>
            <a:t>IAAS</a:t>
          </a:r>
          <a:endParaRPr lang="en-US" dirty="0"/>
        </a:p>
      </dgm:t>
    </dgm:pt>
    <dgm:pt modelId="{8A033762-1B77-4C7A-96C8-9A41B1C09A86}" type="parTrans" cxnId="{DBDEEEB1-D285-4226-8B26-63B087A863A0}">
      <dgm:prSet/>
      <dgm:spPr/>
      <dgm:t>
        <a:bodyPr/>
        <a:lstStyle/>
        <a:p>
          <a:endParaRPr lang="en-US"/>
        </a:p>
      </dgm:t>
    </dgm:pt>
    <dgm:pt modelId="{9D340CC6-97BC-4DED-B4A5-2D93040DF96C}" type="sibTrans" cxnId="{DBDEEEB1-D285-4226-8B26-63B087A863A0}">
      <dgm:prSet/>
      <dgm:spPr/>
      <dgm:t>
        <a:bodyPr/>
        <a:lstStyle/>
        <a:p>
          <a:endParaRPr lang="en-US"/>
        </a:p>
      </dgm:t>
    </dgm:pt>
    <dgm:pt modelId="{E170CF83-4A0D-4C40-83C3-97985B22D61D}">
      <dgm:prSet/>
      <dgm:spPr/>
      <dgm:t>
        <a:bodyPr/>
        <a:lstStyle/>
        <a:p>
          <a:pPr rtl="0"/>
          <a:r>
            <a:rPr lang="en-US" dirty="0" smtClean="0"/>
            <a:t>PAAS</a:t>
          </a:r>
          <a:endParaRPr lang="en-US" dirty="0"/>
        </a:p>
      </dgm:t>
    </dgm:pt>
    <dgm:pt modelId="{D9FCCC30-D12D-4530-AC7B-8C32B13849B2}" type="parTrans" cxnId="{532E44D0-4363-4987-82AB-9DBDFB5AFAB7}">
      <dgm:prSet/>
      <dgm:spPr/>
      <dgm:t>
        <a:bodyPr/>
        <a:lstStyle/>
        <a:p>
          <a:endParaRPr lang="en-US"/>
        </a:p>
      </dgm:t>
    </dgm:pt>
    <dgm:pt modelId="{2D40E17C-2E77-4E75-86F4-9DED999935C8}" type="sibTrans" cxnId="{532E44D0-4363-4987-82AB-9DBDFB5AFAB7}">
      <dgm:prSet/>
      <dgm:spPr/>
      <dgm:t>
        <a:bodyPr/>
        <a:lstStyle/>
        <a:p>
          <a:endParaRPr lang="en-US"/>
        </a:p>
      </dgm:t>
    </dgm:pt>
    <dgm:pt modelId="{2066FC00-DB17-4D81-972B-88CA9818B6E2}">
      <dgm:prSet/>
      <dgm:spPr/>
      <dgm:t>
        <a:bodyPr/>
        <a:lstStyle/>
        <a:p>
          <a:pPr rtl="0"/>
          <a:r>
            <a:rPr lang="en-US" dirty="0" smtClean="0"/>
            <a:t>SAAS</a:t>
          </a:r>
          <a:endParaRPr lang="en-US" dirty="0"/>
        </a:p>
      </dgm:t>
    </dgm:pt>
    <dgm:pt modelId="{ECF20940-3FBC-4FCE-9B2A-E37EA9FE175E}" type="parTrans" cxnId="{C1DE674C-90E4-40C8-A6B0-2314A08994D6}">
      <dgm:prSet/>
      <dgm:spPr/>
      <dgm:t>
        <a:bodyPr/>
        <a:lstStyle/>
        <a:p>
          <a:endParaRPr lang="en-US"/>
        </a:p>
      </dgm:t>
    </dgm:pt>
    <dgm:pt modelId="{DC132919-B3CA-4A84-9714-332DA17EC6EE}" type="sibTrans" cxnId="{C1DE674C-90E4-40C8-A6B0-2314A08994D6}">
      <dgm:prSet/>
      <dgm:spPr/>
      <dgm:t>
        <a:bodyPr/>
        <a:lstStyle/>
        <a:p>
          <a:endParaRPr lang="en-US"/>
        </a:p>
      </dgm:t>
    </dgm:pt>
    <dgm:pt modelId="{1E28E2F2-AACC-4E34-A0AD-1DEF2FB83DC0}" type="pres">
      <dgm:prSet presAssocID="{38703F4B-305A-4263-9D37-FD681D1CAD99}" presName="Name0" presStyleCnt="0">
        <dgm:presLayoutVars>
          <dgm:dir/>
          <dgm:resizeHandles val="exact"/>
        </dgm:presLayoutVars>
      </dgm:prSet>
      <dgm:spPr/>
      <dgm:t>
        <a:bodyPr/>
        <a:lstStyle/>
        <a:p>
          <a:endParaRPr lang="en-US"/>
        </a:p>
      </dgm:t>
    </dgm:pt>
    <dgm:pt modelId="{FD632726-0A68-400F-A2DB-57C986B242FA}" type="pres">
      <dgm:prSet presAssocID="{E472227C-7FF3-4721-9FF8-77B072EFACCD}" presName="node" presStyleLbl="node1" presStyleIdx="0" presStyleCnt="3" custLinFactNeighborX="-6947">
        <dgm:presLayoutVars>
          <dgm:bulletEnabled val="1"/>
        </dgm:presLayoutVars>
      </dgm:prSet>
      <dgm:spPr/>
      <dgm:t>
        <a:bodyPr/>
        <a:lstStyle/>
        <a:p>
          <a:endParaRPr lang="en-US"/>
        </a:p>
      </dgm:t>
    </dgm:pt>
    <dgm:pt modelId="{9805AEED-DC1D-4F90-8D10-22E414624A67}" type="pres">
      <dgm:prSet presAssocID="{9D340CC6-97BC-4DED-B4A5-2D93040DF96C}" presName="sibTrans" presStyleCnt="0"/>
      <dgm:spPr/>
    </dgm:pt>
    <dgm:pt modelId="{F2BD6456-6370-4C31-8633-656A9BE0DAA4}" type="pres">
      <dgm:prSet presAssocID="{E170CF83-4A0D-4C40-83C3-97985B22D61D}" presName="node" presStyleLbl="node1" presStyleIdx="1" presStyleCnt="3">
        <dgm:presLayoutVars>
          <dgm:bulletEnabled val="1"/>
        </dgm:presLayoutVars>
      </dgm:prSet>
      <dgm:spPr/>
      <dgm:t>
        <a:bodyPr/>
        <a:lstStyle/>
        <a:p>
          <a:endParaRPr lang="en-US"/>
        </a:p>
      </dgm:t>
    </dgm:pt>
    <dgm:pt modelId="{07550D1B-CA30-4679-A35B-9C56F5298B22}" type="pres">
      <dgm:prSet presAssocID="{2D40E17C-2E77-4E75-86F4-9DED999935C8}" presName="sibTrans" presStyleCnt="0"/>
      <dgm:spPr/>
    </dgm:pt>
    <dgm:pt modelId="{FED0CD5D-C864-42D3-818A-547CEA0E4259}" type="pres">
      <dgm:prSet presAssocID="{2066FC00-DB17-4D81-972B-88CA9818B6E2}" presName="node" presStyleLbl="node1" presStyleIdx="2" presStyleCnt="3">
        <dgm:presLayoutVars>
          <dgm:bulletEnabled val="1"/>
        </dgm:presLayoutVars>
      </dgm:prSet>
      <dgm:spPr/>
      <dgm:t>
        <a:bodyPr/>
        <a:lstStyle/>
        <a:p>
          <a:endParaRPr lang="en-US"/>
        </a:p>
      </dgm:t>
    </dgm:pt>
  </dgm:ptLst>
  <dgm:cxnLst>
    <dgm:cxn modelId="{14242371-9C2D-476E-AE52-20112D7D0270}" type="presOf" srcId="{2066FC00-DB17-4D81-972B-88CA9818B6E2}" destId="{FED0CD5D-C864-42D3-818A-547CEA0E4259}" srcOrd="0" destOrd="0" presId="urn:microsoft.com/office/officeart/2005/8/layout/hList6"/>
    <dgm:cxn modelId="{C1DE674C-90E4-40C8-A6B0-2314A08994D6}" srcId="{38703F4B-305A-4263-9D37-FD681D1CAD99}" destId="{2066FC00-DB17-4D81-972B-88CA9818B6E2}" srcOrd="2" destOrd="0" parTransId="{ECF20940-3FBC-4FCE-9B2A-E37EA9FE175E}" sibTransId="{DC132919-B3CA-4A84-9714-332DA17EC6EE}"/>
    <dgm:cxn modelId="{532E44D0-4363-4987-82AB-9DBDFB5AFAB7}" srcId="{38703F4B-305A-4263-9D37-FD681D1CAD99}" destId="{E170CF83-4A0D-4C40-83C3-97985B22D61D}" srcOrd="1" destOrd="0" parTransId="{D9FCCC30-D12D-4530-AC7B-8C32B13849B2}" sibTransId="{2D40E17C-2E77-4E75-86F4-9DED999935C8}"/>
    <dgm:cxn modelId="{2B09BDF6-A573-4017-8FA2-5397CBD1DE85}" type="presOf" srcId="{E170CF83-4A0D-4C40-83C3-97985B22D61D}" destId="{F2BD6456-6370-4C31-8633-656A9BE0DAA4}" srcOrd="0" destOrd="0" presId="urn:microsoft.com/office/officeart/2005/8/layout/hList6"/>
    <dgm:cxn modelId="{DBDEEEB1-D285-4226-8B26-63B087A863A0}" srcId="{38703F4B-305A-4263-9D37-FD681D1CAD99}" destId="{E472227C-7FF3-4721-9FF8-77B072EFACCD}" srcOrd="0" destOrd="0" parTransId="{8A033762-1B77-4C7A-96C8-9A41B1C09A86}" sibTransId="{9D340CC6-97BC-4DED-B4A5-2D93040DF96C}"/>
    <dgm:cxn modelId="{4E7E4F81-AC41-4996-BD03-BEAD384EF949}" type="presOf" srcId="{E472227C-7FF3-4721-9FF8-77B072EFACCD}" destId="{FD632726-0A68-400F-A2DB-57C986B242FA}" srcOrd="0" destOrd="0" presId="urn:microsoft.com/office/officeart/2005/8/layout/hList6"/>
    <dgm:cxn modelId="{9DDD9DF6-3995-4493-9602-7CD4CC158520}" type="presOf" srcId="{38703F4B-305A-4263-9D37-FD681D1CAD99}" destId="{1E28E2F2-AACC-4E34-A0AD-1DEF2FB83DC0}" srcOrd="0" destOrd="0" presId="urn:microsoft.com/office/officeart/2005/8/layout/hList6"/>
    <dgm:cxn modelId="{67F9F6E8-91E3-4484-899E-7906F9047C71}" type="presParOf" srcId="{1E28E2F2-AACC-4E34-A0AD-1DEF2FB83DC0}" destId="{FD632726-0A68-400F-A2DB-57C986B242FA}" srcOrd="0" destOrd="0" presId="urn:microsoft.com/office/officeart/2005/8/layout/hList6"/>
    <dgm:cxn modelId="{F7813824-DD39-4EA0-974B-C3EBB49D4EAB}" type="presParOf" srcId="{1E28E2F2-AACC-4E34-A0AD-1DEF2FB83DC0}" destId="{9805AEED-DC1D-4F90-8D10-22E414624A67}" srcOrd="1" destOrd="0" presId="urn:microsoft.com/office/officeart/2005/8/layout/hList6"/>
    <dgm:cxn modelId="{1CCF13A0-248F-40F8-95EA-67A7E29F1EEB}" type="presParOf" srcId="{1E28E2F2-AACC-4E34-A0AD-1DEF2FB83DC0}" destId="{F2BD6456-6370-4C31-8633-656A9BE0DAA4}" srcOrd="2" destOrd="0" presId="urn:microsoft.com/office/officeart/2005/8/layout/hList6"/>
    <dgm:cxn modelId="{AA03D03B-2F91-469D-BFAA-C2AF9AFEC606}" type="presParOf" srcId="{1E28E2F2-AACC-4E34-A0AD-1DEF2FB83DC0}" destId="{07550D1B-CA30-4679-A35B-9C56F5298B22}" srcOrd="3" destOrd="0" presId="urn:microsoft.com/office/officeart/2005/8/layout/hList6"/>
    <dgm:cxn modelId="{FCEDD7BD-19DD-4842-A563-AE986F155980}" type="presParOf" srcId="{1E28E2F2-AACC-4E34-A0AD-1DEF2FB83DC0}" destId="{FED0CD5D-C864-42D3-818A-547CEA0E4259}" srcOrd="4" destOrd="0" presId="urn:microsoft.com/office/officeart/2005/8/layout/hList6"/>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8703F4B-305A-4263-9D37-FD681D1CAD99}" type="doc">
      <dgm:prSet loTypeId="urn:microsoft.com/office/officeart/2005/8/layout/hList6" loCatId="list" qsTypeId="urn:microsoft.com/office/officeart/2005/8/quickstyle/3d9" qsCatId="3D" csTypeId="urn:microsoft.com/office/officeart/2005/8/colors/accent6_1" csCatId="accent6" phldr="1"/>
      <dgm:spPr/>
      <dgm:t>
        <a:bodyPr/>
        <a:lstStyle/>
        <a:p>
          <a:endParaRPr lang="en-US"/>
        </a:p>
      </dgm:t>
    </dgm:pt>
    <dgm:pt modelId="{E472227C-7FF3-4721-9FF8-77B072EFACCD}">
      <dgm:prSet/>
      <dgm:spPr/>
      <dgm:t>
        <a:bodyPr/>
        <a:lstStyle/>
        <a:p>
          <a:pPr rtl="0"/>
          <a:r>
            <a:rPr lang="en-US" dirty="0" smtClean="0"/>
            <a:t>Public</a:t>
          </a:r>
          <a:endParaRPr lang="en-US" dirty="0"/>
        </a:p>
      </dgm:t>
    </dgm:pt>
    <dgm:pt modelId="{8A033762-1B77-4C7A-96C8-9A41B1C09A86}" type="parTrans" cxnId="{DBDEEEB1-D285-4226-8B26-63B087A863A0}">
      <dgm:prSet/>
      <dgm:spPr/>
      <dgm:t>
        <a:bodyPr/>
        <a:lstStyle/>
        <a:p>
          <a:endParaRPr lang="en-US"/>
        </a:p>
      </dgm:t>
    </dgm:pt>
    <dgm:pt modelId="{9D340CC6-97BC-4DED-B4A5-2D93040DF96C}" type="sibTrans" cxnId="{DBDEEEB1-D285-4226-8B26-63B087A863A0}">
      <dgm:prSet/>
      <dgm:spPr/>
      <dgm:t>
        <a:bodyPr/>
        <a:lstStyle/>
        <a:p>
          <a:endParaRPr lang="en-US"/>
        </a:p>
      </dgm:t>
    </dgm:pt>
    <dgm:pt modelId="{E170CF83-4A0D-4C40-83C3-97985B22D61D}">
      <dgm:prSet/>
      <dgm:spPr/>
      <dgm:t>
        <a:bodyPr/>
        <a:lstStyle/>
        <a:p>
          <a:pPr rtl="0"/>
          <a:r>
            <a:rPr lang="en-US" dirty="0" smtClean="0"/>
            <a:t>Private</a:t>
          </a:r>
          <a:endParaRPr lang="en-US" dirty="0"/>
        </a:p>
      </dgm:t>
    </dgm:pt>
    <dgm:pt modelId="{D9FCCC30-D12D-4530-AC7B-8C32B13849B2}" type="parTrans" cxnId="{532E44D0-4363-4987-82AB-9DBDFB5AFAB7}">
      <dgm:prSet/>
      <dgm:spPr/>
      <dgm:t>
        <a:bodyPr/>
        <a:lstStyle/>
        <a:p>
          <a:endParaRPr lang="en-US"/>
        </a:p>
      </dgm:t>
    </dgm:pt>
    <dgm:pt modelId="{2D40E17C-2E77-4E75-86F4-9DED999935C8}" type="sibTrans" cxnId="{532E44D0-4363-4987-82AB-9DBDFB5AFAB7}">
      <dgm:prSet/>
      <dgm:spPr/>
      <dgm:t>
        <a:bodyPr/>
        <a:lstStyle/>
        <a:p>
          <a:endParaRPr lang="en-US"/>
        </a:p>
      </dgm:t>
    </dgm:pt>
    <dgm:pt modelId="{2066FC00-DB17-4D81-972B-88CA9818B6E2}">
      <dgm:prSet/>
      <dgm:spPr/>
      <dgm:t>
        <a:bodyPr/>
        <a:lstStyle/>
        <a:p>
          <a:pPr rtl="0"/>
          <a:r>
            <a:rPr lang="en-US" dirty="0" smtClean="0"/>
            <a:t>Hybrid</a:t>
          </a:r>
          <a:endParaRPr lang="en-US" dirty="0"/>
        </a:p>
      </dgm:t>
    </dgm:pt>
    <dgm:pt modelId="{ECF20940-3FBC-4FCE-9B2A-E37EA9FE175E}" type="parTrans" cxnId="{C1DE674C-90E4-40C8-A6B0-2314A08994D6}">
      <dgm:prSet/>
      <dgm:spPr/>
      <dgm:t>
        <a:bodyPr/>
        <a:lstStyle/>
        <a:p>
          <a:endParaRPr lang="en-US"/>
        </a:p>
      </dgm:t>
    </dgm:pt>
    <dgm:pt modelId="{DC132919-B3CA-4A84-9714-332DA17EC6EE}" type="sibTrans" cxnId="{C1DE674C-90E4-40C8-A6B0-2314A08994D6}">
      <dgm:prSet/>
      <dgm:spPr/>
      <dgm:t>
        <a:bodyPr/>
        <a:lstStyle/>
        <a:p>
          <a:endParaRPr lang="en-US"/>
        </a:p>
      </dgm:t>
    </dgm:pt>
    <dgm:pt modelId="{1E28E2F2-AACC-4E34-A0AD-1DEF2FB83DC0}" type="pres">
      <dgm:prSet presAssocID="{38703F4B-305A-4263-9D37-FD681D1CAD99}" presName="Name0" presStyleCnt="0">
        <dgm:presLayoutVars>
          <dgm:dir/>
          <dgm:resizeHandles val="exact"/>
        </dgm:presLayoutVars>
      </dgm:prSet>
      <dgm:spPr/>
      <dgm:t>
        <a:bodyPr/>
        <a:lstStyle/>
        <a:p>
          <a:endParaRPr lang="en-US"/>
        </a:p>
      </dgm:t>
    </dgm:pt>
    <dgm:pt modelId="{FD632726-0A68-400F-A2DB-57C986B242FA}" type="pres">
      <dgm:prSet presAssocID="{E472227C-7FF3-4721-9FF8-77B072EFACCD}" presName="node" presStyleLbl="node1" presStyleIdx="0" presStyleCnt="3">
        <dgm:presLayoutVars>
          <dgm:bulletEnabled val="1"/>
        </dgm:presLayoutVars>
      </dgm:prSet>
      <dgm:spPr/>
      <dgm:t>
        <a:bodyPr/>
        <a:lstStyle/>
        <a:p>
          <a:endParaRPr lang="en-US"/>
        </a:p>
      </dgm:t>
    </dgm:pt>
    <dgm:pt modelId="{9805AEED-DC1D-4F90-8D10-22E414624A67}" type="pres">
      <dgm:prSet presAssocID="{9D340CC6-97BC-4DED-B4A5-2D93040DF96C}" presName="sibTrans" presStyleCnt="0"/>
      <dgm:spPr/>
    </dgm:pt>
    <dgm:pt modelId="{F2BD6456-6370-4C31-8633-656A9BE0DAA4}" type="pres">
      <dgm:prSet presAssocID="{E170CF83-4A0D-4C40-83C3-97985B22D61D}" presName="node" presStyleLbl="node1" presStyleIdx="1" presStyleCnt="3" custLinFactNeighborY="-483">
        <dgm:presLayoutVars>
          <dgm:bulletEnabled val="1"/>
        </dgm:presLayoutVars>
      </dgm:prSet>
      <dgm:spPr/>
      <dgm:t>
        <a:bodyPr/>
        <a:lstStyle/>
        <a:p>
          <a:endParaRPr lang="en-US"/>
        </a:p>
      </dgm:t>
    </dgm:pt>
    <dgm:pt modelId="{07550D1B-CA30-4679-A35B-9C56F5298B22}" type="pres">
      <dgm:prSet presAssocID="{2D40E17C-2E77-4E75-86F4-9DED999935C8}" presName="sibTrans" presStyleCnt="0"/>
      <dgm:spPr/>
    </dgm:pt>
    <dgm:pt modelId="{FED0CD5D-C864-42D3-818A-547CEA0E4259}" type="pres">
      <dgm:prSet presAssocID="{2066FC00-DB17-4D81-972B-88CA9818B6E2}" presName="node" presStyleLbl="node1" presStyleIdx="2" presStyleCnt="3">
        <dgm:presLayoutVars>
          <dgm:bulletEnabled val="1"/>
        </dgm:presLayoutVars>
      </dgm:prSet>
      <dgm:spPr/>
      <dgm:t>
        <a:bodyPr/>
        <a:lstStyle/>
        <a:p>
          <a:endParaRPr lang="en-US"/>
        </a:p>
      </dgm:t>
    </dgm:pt>
  </dgm:ptLst>
  <dgm:cxnLst>
    <dgm:cxn modelId="{F452467C-31AE-42BF-91FB-E55A253FB4C2}" type="presOf" srcId="{2066FC00-DB17-4D81-972B-88CA9818B6E2}" destId="{FED0CD5D-C864-42D3-818A-547CEA0E4259}" srcOrd="0" destOrd="0" presId="urn:microsoft.com/office/officeart/2005/8/layout/hList6"/>
    <dgm:cxn modelId="{43DA6D42-9B3E-4188-A0AF-653F34A89B80}" type="presOf" srcId="{E472227C-7FF3-4721-9FF8-77B072EFACCD}" destId="{FD632726-0A68-400F-A2DB-57C986B242FA}" srcOrd="0" destOrd="0" presId="urn:microsoft.com/office/officeart/2005/8/layout/hList6"/>
    <dgm:cxn modelId="{C1DE674C-90E4-40C8-A6B0-2314A08994D6}" srcId="{38703F4B-305A-4263-9D37-FD681D1CAD99}" destId="{2066FC00-DB17-4D81-972B-88CA9818B6E2}" srcOrd="2" destOrd="0" parTransId="{ECF20940-3FBC-4FCE-9B2A-E37EA9FE175E}" sibTransId="{DC132919-B3CA-4A84-9714-332DA17EC6EE}"/>
    <dgm:cxn modelId="{532E44D0-4363-4987-82AB-9DBDFB5AFAB7}" srcId="{38703F4B-305A-4263-9D37-FD681D1CAD99}" destId="{E170CF83-4A0D-4C40-83C3-97985B22D61D}" srcOrd="1" destOrd="0" parTransId="{D9FCCC30-D12D-4530-AC7B-8C32B13849B2}" sibTransId="{2D40E17C-2E77-4E75-86F4-9DED999935C8}"/>
    <dgm:cxn modelId="{DBDEEEB1-D285-4226-8B26-63B087A863A0}" srcId="{38703F4B-305A-4263-9D37-FD681D1CAD99}" destId="{E472227C-7FF3-4721-9FF8-77B072EFACCD}" srcOrd="0" destOrd="0" parTransId="{8A033762-1B77-4C7A-96C8-9A41B1C09A86}" sibTransId="{9D340CC6-97BC-4DED-B4A5-2D93040DF96C}"/>
    <dgm:cxn modelId="{0D74EB67-F9C1-40A2-8C3F-1BE6ABE79ECD}" type="presOf" srcId="{38703F4B-305A-4263-9D37-FD681D1CAD99}" destId="{1E28E2F2-AACC-4E34-A0AD-1DEF2FB83DC0}" srcOrd="0" destOrd="0" presId="urn:microsoft.com/office/officeart/2005/8/layout/hList6"/>
    <dgm:cxn modelId="{F08D5610-1CF6-4AE8-A764-CB8C76DF28E3}" type="presOf" srcId="{E170CF83-4A0D-4C40-83C3-97985B22D61D}" destId="{F2BD6456-6370-4C31-8633-656A9BE0DAA4}" srcOrd="0" destOrd="0" presId="urn:microsoft.com/office/officeart/2005/8/layout/hList6"/>
    <dgm:cxn modelId="{BE3A7647-C097-42C8-8049-15D653B49F77}" type="presParOf" srcId="{1E28E2F2-AACC-4E34-A0AD-1DEF2FB83DC0}" destId="{FD632726-0A68-400F-A2DB-57C986B242FA}" srcOrd="0" destOrd="0" presId="urn:microsoft.com/office/officeart/2005/8/layout/hList6"/>
    <dgm:cxn modelId="{ADBBCD17-4443-4B77-AEE8-521A5B21DFA9}" type="presParOf" srcId="{1E28E2F2-AACC-4E34-A0AD-1DEF2FB83DC0}" destId="{9805AEED-DC1D-4F90-8D10-22E414624A67}" srcOrd="1" destOrd="0" presId="urn:microsoft.com/office/officeart/2005/8/layout/hList6"/>
    <dgm:cxn modelId="{43FCD6D8-72BB-4CA5-9651-8ECE5E9D3C6A}" type="presParOf" srcId="{1E28E2F2-AACC-4E34-A0AD-1DEF2FB83DC0}" destId="{F2BD6456-6370-4C31-8633-656A9BE0DAA4}" srcOrd="2" destOrd="0" presId="urn:microsoft.com/office/officeart/2005/8/layout/hList6"/>
    <dgm:cxn modelId="{BA06DB0F-E465-414D-B734-E6C6A999403B}" type="presParOf" srcId="{1E28E2F2-AACC-4E34-A0AD-1DEF2FB83DC0}" destId="{07550D1B-CA30-4679-A35B-9C56F5298B22}" srcOrd="3" destOrd="0" presId="urn:microsoft.com/office/officeart/2005/8/layout/hList6"/>
    <dgm:cxn modelId="{CB5F2314-527B-4E37-AD66-CB43CD8F7CAE}" type="presParOf" srcId="{1E28E2F2-AACC-4E34-A0AD-1DEF2FB83DC0}" destId="{FED0CD5D-C864-42D3-818A-547CEA0E4259}" srcOrd="4" destOrd="0" presId="urn:microsoft.com/office/officeart/2005/8/layout/hList6"/>
  </dgm:cxnLst>
  <dgm:bg/>
  <dgm:whole/>
  <dgm:extLst>
    <a:ext uri="http://schemas.microsoft.com/office/drawing/2008/diagram">
      <dsp:dataModelExt xmlns:dsp="http://schemas.microsoft.com/office/drawing/2008/diagram" xmlns="" relId="rId12"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AF9E060-FE7C-4D5A-9EE3-AA867049E8D4}" type="doc">
      <dgm:prSet loTypeId="urn:microsoft.com/office/officeart/2005/8/layout/vList2" loCatId="list" qsTypeId="urn:microsoft.com/office/officeart/2005/8/quickstyle/simple1" qsCatId="simple" csTypeId="urn:microsoft.com/office/officeart/2005/8/colors/accent5_1" csCatId="accent5" phldr="1"/>
      <dgm:spPr/>
      <dgm:t>
        <a:bodyPr/>
        <a:lstStyle/>
        <a:p>
          <a:endParaRPr lang="en-US"/>
        </a:p>
      </dgm:t>
    </dgm:pt>
    <dgm:pt modelId="{FEB01FBB-13BA-4593-A09B-E44E3870A5FE}">
      <dgm:prSet custT="1"/>
      <dgm:spPr/>
      <dgm:t>
        <a:bodyPr/>
        <a:lstStyle/>
        <a:p>
          <a:pPr rtl="0"/>
          <a:r>
            <a:rPr lang="en-US" sz="1400" b="1" dirty="0" smtClean="0"/>
            <a:t>What Is 12 Factor? </a:t>
          </a:r>
          <a:endParaRPr lang="en-US" sz="1400" b="1" dirty="0"/>
        </a:p>
      </dgm:t>
    </dgm:pt>
    <dgm:pt modelId="{AC574573-0213-45B4-A4AD-58F4388170C1}" type="parTrans" cxnId="{5734F387-EAE5-4633-ABC9-5CB569B82369}">
      <dgm:prSet/>
      <dgm:spPr/>
      <dgm:t>
        <a:bodyPr/>
        <a:lstStyle/>
        <a:p>
          <a:endParaRPr lang="en-US" sz="1400"/>
        </a:p>
      </dgm:t>
    </dgm:pt>
    <dgm:pt modelId="{3AF9EEB0-CC9F-4B41-8DF5-9187F7B2C207}" type="sibTrans" cxnId="{5734F387-EAE5-4633-ABC9-5CB569B82369}">
      <dgm:prSet/>
      <dgm:spPr/>
      <dgm:t>
        <a:bodyPr/>
        <a:lstStyle/>
        <a:p>
          <a:endParaRPr lang="en-US" sz="1400"/>
        </a:p>
      </dgm:t>
    </dgm:pt>
    <dgm:pt modelId="{F81A7171-02B2-4121-806C-A33895033A89}">
      <dgm:prSet custT="1"/>
      <dgm:spPr/>
      <dgm:t>
        <a:bodyPr/>
        <a:lstStyle/>
        <a:p>
          <a:pPr rtl="0"/>
          <a:r>
            <a:rPr lang="en-US" sz="1400" dirty="0" smtClean="0"/>
            <a:t>The twelve-factor app is a methodology for building Cloud Native apps that has clean contract with underlying operating system, enable continuous deployment with maximum agility, significant scale up capability, and Independent of programming languages and back end services</a:t>
          </a:r>
          <a:endParaRPr lang="en-US" sz="1400" dirty="0"/>
        </a:p>
      </dgm:t>
    </dgm:pt>
    <dgm:pt modelId="{6B3DB646-10B5-4EE0-A280-5211DFD68398}" type="parTrans" cxnId="{16600A81-F606-4223-9246-13FDE894F89D}">
      <dgm:prSet/>
      <dgm:spPr/>
      <dgm:t>
        <a:bodyPr/>
        <a:lstStyle/>
        <a:p>
          <a:endParaRPr lang="en-US" sz="1400"/>
        </a:p>
      </dgm:t>
    </dgm:pt>
    <dgm:pt modelId="{4A37DBA8-0AC6-4693-913D-3E2275F7322C}" type="sibTrans" cxnId="{16600A81-F606-4223-9246-13FDE894F89D}">
      <dgm:prSet/>
      <dgm:spPr/>
      <dgm:t>
        <a:bodyPr/>
        <a:lstStyle/>
        <a:p>
          <a:endParaRPr lang="en-US" sz="1400"/>
        </a:p>
      </dgm:t>
    </dgm:pt>
    <dgm:pt modelId="{386C87CD-FC89-48B1-8176-F693A657D07E}">
      <dgm:prSet custT="1"/>
      <dgm:spPr/>
      <dgm:t>
        <a:bodyPr/>
        <a:lstStyle/>
        <a:p>
          <a:pPr rtl="0"/>
          <a:r>
            <a:rPr lang="en-US" sz="1400" dirty="0" smtClean="0"/>
            <a:t>This is derived by </a:t>
          </a:r>
          <a:r>
            <a:rPr lang="en-US" sz="1400" dirty="0" err="1" smtClean="0"/>
            <a:t>Heroku</a:t>
          </a:r>
          <a:r>
            <a:rPr lang="en-US" sz="1400" dirty="0" smtClean="0"/>
            <a:t> (a Sales Force </a:t>
          </a:r>
          <a:r>
            <a:rPr lang="en-US" sz="1400" dirty="0" err="1" smtClean="0"/>
            <a:t>PaaS</a:t>
          </a:r>
          <a:r>
            <a:rPr lang="en-US" sz="1400" dirty="0" smtClean="0"/>
            <a:t> platform) after witnessing thousands of applications development &amp; deployments in cloud.</a:t>
          </a:r>
          <a:endParaRPr lang="en-US" sz="1400" dirty="0"/>
        </a:p>
      </dgm:t>
    </dgm:pt>
    <dgm:pt modelId="{E71B19E2-3758-4A74-BFB1-1DD0631371C8}" type="parTrans" cxnId="{9723F69D-D671-4D00-8874-246D4ABF0AC0}">
      <dgm:prSet/>
      <dgm:spPr/>
      <dgm:t>
        <a:bodyPr/>
        <a:lstStyle/>
        <a:p>
          <a:endParaRPr lang="en-US" sz="1400"/>
        </a:p>
      </dgm:t>
    </dgm:pt>
    <dgm:pt modelId="{981DFFE7-BB20-448C-940A-25EF1F7BA355}" type="sibTrans" cxnId="{9723F69D-D671-4D00-8874-246D4ABF0AC0}">
      <dgm:prSet/>
      <dgm:spPr/>
      <dgm:t>
        <a:bodyPr/>
        <a:lstStyle/>
        <a:p>
          <a:endParaRPr lang="en-US" sz="1400"/>
        </a:p>
      </dgm:t>
    </dgm:pt>
    <dgm:pt modelId="{A7B06F15-9444-49E5-8BE5-00CA872AB34E}">
      <dgm:prSet custT="1"/>
      <dgm:spPr/>
      <dgm:t>
        <a:bodyPr/>
        <a:lstStyle/>
        <a:p>
          <a:pPr rtl="0"/>
          <a:r>
            <a:rPr lang="en-US" sz="1400" dirty="0" smtClean="0"/>
            <a:t>Read more @http://12factor.net/</a:t>
          </a:r>
          <a:endParaRPr lang="en-US" sz="1400" dirty="0"/>
        </a:p>
      </dgm:t>
    </dgm:pt>
    <dgm:pt modelId="{39903EF6-05D5-48B1-8896-7C0E1FFDF572}" type="parTrans" cxnId="{9BAC6A74-D299-49EF-B4FA-08E44E748AAF}">
      <dgm:prSet/>
      <dgm:spPr/>
      <dgm:t>
        <a:bodyPr/>
        <a:lstStyle/>
        <a:p>
          <a:endParaRPr lang="en-US" sz="1400"/>
        </a:p>
      </dgm:t>
    </dgm:pt>
    <dgm:pt modelId="{A84EE90B-1DF1-4E60-BFE2-9A2FF9EC3960}" type="sibTrans" cxnId="{9BAC6A74-D299-49EF-B4FA-08E44E748AAF}">
      <dgm:prSet/>
      <dgm:spPr/>
      <dgm:t>
        <a:bodyPr/>
        <a:lstStyle/>
        <a:p>
          <a:endParaRPr lang="en-US" sz="1400"/>
        </a:p>
      </dgm:t>
    </dgm:pt>
    <dgm:pt modelId="{7841E3E1-9062-46A9-BDB3-F030A0E16949}">
      <dgm:prSet custT="1"/>
      <dgm:spPr/>
      <dgm:t>
        <a:bodyPr/>
        <a:lstStyle/>
        <a:p>
          <a:pPr rtl="0"/>
          <a:r>
            <a:rPr lang="en-US" sz="1400" b="1" dirty="0" smtClean="0"/>
            <a:t>Why 12 Factor?</a:t>
          </a:r>
          <a:endParaRPr lang="en-US" sz="1400" b="1" dirty="0"/>
        </a:p>
      </dgm:t>
    </dgm:pt>
    <dgm:pt modelId="{D8859975-2EBC-4BBE-8ECA-77ED4099C88A}" type="parTrans" cxnId="{D14DC79C-F69E-4AF1-A015-AA477FBD1DFD}">
      <dgm:prSet/>
      <dgm:spPr/>
      <dgm:t>
        <a:bodyPr/>
        <a:lstStyle/>
        <a:p>
          <a:endParaRPr lang="en-US" sz="1400"/>
        </a:p>
      </dgm:t>
    </dgm:pt>
    <dgm:pt modelId="{3CE59E43-9A4D-4119-BC36-A3E193D60B9E}" type="sibTrans" cxnId="{D14DC79C-F69E-4AF1-A015-AA477FBD1DFD}">
      <dgm:prSet/>
      <dgm:spPr/>
      <dgm:t>
        <a:bodyPr/>
        <a:lstStyle/>
        <a:p>
          <a:endParaRPr lang="en-US" sz="1400"/>
        </a:p>
      </dgm:t>
    </dgm:pt>
    <dgm:pt modelId="{186582D2-4101-471A-9861-C99E562A6AE9}">
      <dgm:prSet custT="1"/>
      <dgm:spPr/>
      <dgm:t>
        <a:bodyPr/>
        <a:lstStyle/>
        <a:p>
          <a:pPr rtl="0"/>
          <a:r>
            <a:rPr lang="en-US" sz="1400" dirty="0" smtClean="0"/>
            <a:t>Good code fails if you don’t have a process and platforms. Complexity increases if you have diverse programming environments. Applying certain constraints will help adequately track, use and share the applications easily – that’s why 12 factor app is popular in cloud development.</a:t>
          </a:r>
          <a:endParaRPr lang="en-US" sz="1400" dirty="0"/>
        </a:p>
      </dgm:t>
    </dgm:pt>
    <dgm:pt modelId="{24AFC3F3-F757-44C5-B6C9-8B78EBF2FD90}" type="parTrans" cxnId="{C1812DE6-4CE6-495F-8465-D9E8025F4185}">
      <dgm:prSet/>
      <dgm:spPr/>
      <dgm:t>
        <a:bodyPr/>
        <a:lstStyle/>
        <a:p>
          <a:endParaRPr lang="en-US" sz="1400"/>
        </a:p>
      </dgm:t>
    </dgm:pt>
    <dgm:pt modelId="{8C3235F9-E378-4298-8CC0-7904FFDC30A1}" type="sibTrans" cxnId="{C1812DE6-4CE6-495F-8465-D9E8025F4185}">
      <dgm:prSet/>
      <dgm:spPr/>
      <dgm:t>
        <a:bodyPr/>
        <a:lstStyle/>
        <a:p>
          <a:endParaRPr lang="en-US" sz="1400"/>
        </a:p>
      </dgm:t>
    </dgm:pt>
    <dgm:pt modelId="{7C99A6A6-DE39-4CB0-9FFA-568147718764}">
      <dgm:prSet custT="1"/>
      <dgm:spPr/>
      <dgm:t>
        <a:bodyPr/>
        <a:lstStyle/>
        <a:p>
          <a:pPr rtl="0"/>
          <a:r>
            <a:rPr lang="en-US" sz="1400" dirty="0" smtClean="0"/>
            <a:t>Its build to exploit the modern cloud platforms principles with agility in mind and so easy for new developers to join with less time, less tooling and low cost </a:t>
          </a:r>
          <a:endParaRPr lang="en-US" sz="1400" dirty="0"/>
        </a:p>
      </dgm:t>
    </dgm:pt>
    <dgm:pt modelId="{B32831D5-95C6-4FFF-85ED-B1971114633C}" type="parTrans" cxnId="{5DA7AC0D-D700-45B0-9847-D0CC6758D605}">
      <dgm:prSet/>
      <dgm:spPr/>
      <dgm:t>
        <a:bodyPr/>
        <a:lstStyle/>
        <a:p>
          <a:endParaRPr lang="en-US" sz="1400"/>
        </a:p>
      </dgm:t>
    </dgm:pt>
    <dgm:pt modelId="{2138CCFB-465E-4CA9-9577-DFC6C941A7B3}" type="sibTrans" cxnId="{5DA7AC0D-D700-45B0-9847-D0CC6758D605}">
      <dgm:prSet/>
      <dgm:spPr/>
      <dgm:t>
        <a:bodyPr/>
        <a:lstStyle/>
        <a:p>
          <a:endParaRPr lang="en-US" sz="1400"/>
        </a:p>
      </dgm:t>
    </dgm:pt>
    <dgm:pt modelId="{674EFB32-3CB3-48C6-9E9F-85D8BF7D9F7B}" type="pres">
      <dgm:prSet presAssocID="{4AF9E060-FE7C-4D5A-9EE3-AA867049E8D4}" presName="linear" presStyleCnt="0">
        <dgm:presLayoutVars>
          <dgm:animLvl val="lvl"/>
          <dgm:resizeHandles val="exact"/>
        </dgm:presLayoutVars>
      </dgm:prSet>
      <dgm:spPr/>
      <dgm:t>
        <a:bodyPr/>
        <a:lstStyle/>
        <a:p>
          <a:endParaRPr lang="en-US"/>
        </a:p>
      </dgm:t>
    </dgm:pt>
    <dgm:pt modelId="{FCD09278-1E4F-49AC-8D42-0C94E7D4BCC4}" type="pres">
      <dgm:prSet presAssocID="{FEB01FBB-13BA-4593-A09B-E44E3870A5FE}" presName="parentText" presStyleLbl="node1" presStyleIdx="0" presStyleCnt="7" custLinFactY="4271" custLinFactNeighborY="100000">
        <dgm:presLayoutVars>
          <dgm:chMax val="0"/>
          <dgm:bulletEnabled val="1"/>
        </dgm:presLayoutVars>
      </dgm:prSet>
      <dgm:spPr/>
      <dgm:t>
        <a:bodyPr/>
        <a:lstStyle/>
        <a:p>
          <a:endParaRPr lang="en-US"/>
        </a:p>
      </dgm:t>
    </dgm:pt>
    <dgm:pt modelId="{15B585A7-27B2-4FA3-86C2-A13A9E72F531}" type="pres">
      <dgm:prSet presAssocID="{3AF9EEB0-CC9F-4B41-8DF5-9187F7B2C207}" presName="spacer" presStyleCnt="0"/>
      <dgm:spPr/>
      <dgm:t>
        <a:bodyPr/>
        <a:lstStyle/>
        <a:p>
          <a:endParaRPr lang="en-US"/>
        </a:p>
      </dgm:t>
    </dgm:pt>
    <dgm:pt modelId="{49B53DC7-FD5C-40CD-882D-E1547E86832C}" type="pres">
      <dgm:prSet presAssocID="{F81A7171-02B2-4121-806C-A33895033A89}" presName="parentText" presStyleLbl="node1" presStyleIdx="1" presStyleCnt="7">
        <dgm:presLayoutVars>
          <dgm:chMax val="0"/>
          <dgm:bulletEnabled val="1"/>
        </dgm:presLayoutVars>
      </dgm:prSet>
      <dgm:spPr/>
      <dgm:t>
        <a:bodyPr/>
        <a:lstStyle/>
        <a:p>
          <a:endParaRPr lang="en-US"/>
        </a:p>
      </dgm:t>
    </dgm:pt>
    <dgm:pt modelId="{9927CC86-33B7-40D4-8A8B-B0798649C995}" type="pres">
      <dgm:prSet presAssocID="{4A37DBA8-0AC6-4693-913D-3E2275F7322C}" presName="spacer" presStyleCnt="0"/>
      <dgm:spPr/>
      <dgm:t>
        <a:bodyPr/>
        <a:lstStyle/>
        <a:p>
          <a:endParaRPr lang="en-US"/>
        </a:p>
      </dgm:t>
    </dgm:pt>
    <dgm:pt modelId="{B6C1AFA0-ABC5-4D6D-9A1A-4DF4673F4F63}" type="pres">
      <dgm:prSet presAssocID="{386C87CD-FC89-48B1-8176-F693A657D07E}" presName="parentText" presStyleLbl="node1" presStyleIdx="2" presStyleCnt="7">
        <dgm:presLayoutVars>
          <dgm:chMax val="0"/>
          <dgm:bulletEnabled val="1"/>
        </dgm:presLayoutVars>
      </dgm:prSet>
      <dgm:spPr/>
      <dgm:t>
        <a:bodyPr/>
        <a:lstStyle/>
        <a:p>
          <a:endParaRPr lang="en-US"/>
        </a:p>
      </dgm:t>
    </dgm:pt>
    <dgm:pt modelId="{922C8ACC-8153-4D11-8E4D-198807AA39A4}" type="pres">
      <dgm:prSet presAssocID="{981DFFE7-BB20-448C-940A-25EF1F7BA355}" presName="spacer" presStyleCnt="0"/>
      <dgm:spPr/>
      <dgm:t>
        <a:bodyPr/>
        <a:lstStyle/>
        <a:p>
          <a:endParaRPr lang="en-US"/>
        </a:p>
      </dgm:t>
    </dgm:pt>
    <dgm:pt modelId="{12AFA56D-D7A5-458F-A84D-31AACD01CD07}" type="pres">
      <dgm:prSet presAssocID="{A7B06F15-9444-49E5-8BE5-00CA872AB34E}" presName="parentText" presStyleLbl="node1" presStyleIdx="3" presStyleCnt="7">
        <dgm:presLayoutVars>
          <dgm:chMax val="0"/>
          <dgm:bulletEnabled val="1"/>
        </dgm:presLayoutVars>
      </dgm:prSet>
      <dgm:spPr/>
      <dgm:t>
        <a:bodyPr/>
        <a:lstStyle/>
        <a:p>
          <a:endParaRPr lang="en-US"/>
        </a:p>
      </dgm:t>
    </dgm:pt>
    <dgm:pt modelId="{C4C87FAC-5EE2-43BD-8130-3314AF236DA5}" type="pres">
      <dgm:prSet presAssocID="{A84EE90B-1DF1-4E60-BFE2-9A2FF9EC3960}" presName="spacer" presStyleCnt="0"/>
      <dgm:spPr/>
      <dgm:t>
        <a:bodyPr/>
        <a:lstStyle/>
        <a:p>
          <a:endParaRPr lang="en-US"/>
        </a:p>
      </dgm:t>
    </dgm:pt>
    <dgm:pt modelId="{4ADEDA7A-DC3E-488B-8E9A-4157232B2311}" type="pres">
      <dgm:prSet presAssocID="{7841E3E1-9062-46A9-BDB3-F030A0E16949}" presName="parentText" presStyleLbl="node1" presStyleIdx="4" presStyleCnt="7">
        <dgm:presLayoutVars>
          <dgm:chMax val="0"/>
          <dgm:bulletEnabled val="1"/>
        </dgm:presLayoutVars>
      </dgm:prSet>
      <dgm:spPr/>
      <dgm:t>
        <a:bodyPr/>
        <a:lstStyle/>
        <a:p>
          <a:endParaRPr lang="en-US"/>
        </a:p>
      </dgm:t>
    </dgm:pt>
    <dgm:pt modelId="{EEEE33A7-06C2-47F4-AC12-F4030D8F6E6F}" type="pres">
      <dgm:prSet presAssocID="{3CE59E43-9A4D-4119-BC36-A3E193D60B9E}" presName="spacer" presStyleCnt="0"/>
      <dgm:spPr/>
      <dgm:t>
        <a:bodyPr/>
        <a:lstStyle/>
        <a:p>
          <a:endParaRPr lang="en-US"/>
        </a:p>
      </dgm:t>
    </dgm:pt>
    <dgm:pt modelId="{63F5A3BB-ADB9-448B-945D-4B65469FEEFE}" type="pres">
      <dgm:prSet presAssocID="{186582D2-4101-471A-9861-C99E562A6AE9}" presName="parentText" presStyleLbl="node1" presStyleIdx="5" presStyleCnt="7">
        <dgm:presLayoutVars>
          <dgm:chMax val="0"/>
          <dgm:bulletEnabled val="1"/>
        </dgm:presLayoutVars>
      </dgm:prSet>
      <dgm:spPr/>
      <dgm:t>
        <a:bodyPr/>
        <a:lstStyle/>
        <a:p>
          <a:endParaRPr lang="en-US"/>
        </a:p>
      </dgm:t>
    </dgm:pt>
    <dgm:pt modelId="{E7069B0C-27C9-46C1-8FA4-E208BCDDED0C}" type="pres">
      <dgm:prSet presAssocID="{8C3235F9-E378-4298-8CC0-7904FFDC30A1}" presName="spacer" presStyleCnt="0"/>
      <dgm:spPr/>
      <dgm:t>
        <a:bodyPr/>
        <a:lstStyle/>
        <a:p>
          <a:endParaRPr lang="en-US"/>
        </a:p>
      </dgm:t>
    </dgm:pt>
    <dgm:pt modelId="{F9EF2214-B512-4069-A6FB-E5C4278F793B}" type="pres">
      <dgm:prSet presAssocID="{7C99A6A6-DE39-4CB0-9FFA-568147718764}" presName="parentText" presStyleLbl="node1" presStyleIdx="6" presStyleCnt="7">
        <dgm:presLayoutVars>
          <dgm:chMax val="0"/>
          <dgm:bulletEnabled val="1"/>
        </dgm:presLayoutVars>
      </dgm:prSet>
      <dgm:spPr/>
      <dgm:t>
        <a:bodyPr/>
        <a:lstStyle/>
        <a:p>
          <a:endParaRPr lang="en-US"/>
        </a:p>
      </dgm:t>
    </dgm:pt>
  </dgm:ptLst>
  <dgm:cxnLst>
    <dgm:cxn modelId="{C92E22A7-65E9-49F2-B63F-B69D1769F367}" type="presOf" srcId="{186582D2-4101-471A-9861-C99E562A6AE9}" destId="{63F5A3BB-ADB9-448B-945D-4B65469FEEFE}" srcOrd="0" destOrd="0" presId="urn:microsoft.com/office/officeart/2005/8/layout/vList2"/>
    <dgm:cxn modelId="{BD82F1DE-C75D-47C9-8BA5-72C5E4300659}" type="presOf" srcId="{7C99A6A6-DE39-4CB0-9FFA-568147718764}" destId="{F9EF2214-B512-4069-A6FB-E5C4278F793B}" srcOrd="0" destOrd="0" presId="urn:microsoft.com/office/officeart/2005/8/layout/vList2"/>
    <dgm:cxn modelId="{9723F69D-D671-4D00-8874-246D4ABF0AC0}" srcId="{4AF9E060-FE7C-4D5A-9EE3-AA867049E8D4}" destId="{386C87CD-FC89-48B1-8176-F693A657D07E}" srcOrd="2" destOrd="0" parTransId="{E71B19E2-3758-4A74-BFB1-1DD0631371C8}" sibTransId="{981DFFE7-BB20-448C-940A-25EF1F7BA355}"/>
    <dgm:cxn modelId="{5B0F3EA3-7504-42C0-9C06-E4D6BFD45B7F}" type="presOf" srcId="{A7B06F15-9444-49E5-8BE5-00CA872AB34E}" destId="{12AFA56D-D7A5-458F-A84D-31AACD01CD07}" srcOrd="0" destOrd="0" presId="urn:microsoft.com/office/officeart/2005/8/layout/vList2"/>
    <dgm:cxn modelId="{530F2869-D553-44A5-A2EB-DDA4B68F3CF5}" type="presOf" srcId="{FEB01FBB-13BA-4593-A09B-E44E3870A5FE}" destId="{FCD09278-1E4F-49AC-8D42-0C94E7D4BCC4}" srcOrd="0" destOrd="0" presId="urn:microsoft.com/office/officeart/2005/8/layout/vList2"/>
    <dgm:cxn modelId="{16600A81-F606-4223-9246-13FDE894F89D}" srcId="{4AF9E060-FE7C-4D5A-9EE3-AA867049E8D4}" destId="{F81A7171-02B2-4121-806C-A33895033A89}" srcOrd="1" destOrd="0" parTransId="{6B3DB646-10B5-4EE0-A280-5211DFD68398}" sibTransId="{4A37DBA8-0AC6-4693-913D-3E2275F7322C}"/>
    <dgm:cxn modelId="{D36BFF9C-7C84-4934-BF0C-5E94F20618C4}" type="presOf" srcId="{F81A7171-02B2-4121-806C-A33895033A89}" destId="{49B53DC7-FD5C-40CD-882D-E1547E86832C}" srcOrd="0" destOrd="0" presId="urn:microsoft.com/office/officeart/2005/8/layout/vList2"/>
    <dgm:cxn modelId="{5734F387-EAE5-4633-ABC9-5CB569B82369}" srcId="{4AF9E060-FE7C-4D5A-9EE3-AA867049E8D4}" destId="{FEB01FBB-13BA-4593-A09B-E44E3870A5FE}" srcOrd="0" destOrd="0" parTransId="{AC574573-0213-45B4-A4AD-58F4388170C1}" sibTransId="{3AF9EEB0-CC9F-4B41-8DF5-9187F7B2C207}"/>
    <dgm:cxn modelId="{CCEEA797-D3B2-4C0A-8825-5F39AC26DFA5}" type="presOf" srcId="{4AF9E060-FE7C-4D5A-9EE3-AA867049E8D4}" destId="{674EFB32-3CB3-48C6-9E9F-85D8BF7D9F7B}" srcOrd="0" destOrd="0" presId="urn:microsoft.com/office/officeart/2005/8/layout/vList2"/>
    <dgm:cxn modelId="{C1812DE6-4CE6-495F-8465-D9E8025F4185}" srcId="{4AF9E060-FE7C-4D5A-9EE3-AA867049E8D4}" destId="{186582D2-4101-471A-9861-C99E562A6AE9}" srcOrd="5" destOrd="0" parTransId="{24AFC3F3-F757-44C5-B6C9-8B78EBF2FD90}" sibTransId="{8C3235F9-E378-4298-8CC0-7904FFDC30A1}"/>
    <dgm:cxn modelId="{9BAC6A74-D299-49EF-B4FA-08E44E748AAF}" srcId="{4AF9E060-FE7C-4D5A-9EE3-AA867049E8D4}" destId="{A7B06F15-9444-49E5-8BE5-00CA872AB34E}" srcOrd="3" destOrd="0" parTransId="{39903EF6-05D5-48B1-8896-7C0E1FFDF572}" sibTransId="{A84EE90B-1DF1-4E60-BFE2-9A2FF9EC3960}"/>
    <dgm:cxn modelId="{D14DC79C-F69E-4AF1-A015-AA477FBD1DFD}" srcId="{4AF9E060-FE7C-4D5A-9EE3-AA867049E8D4}" destId="{7841E3E1-9062-46A9-BDB3-F030A0E16949}" srcOrd="4" destOrd="0" parTransId="{D8859975-2EBC-4BBE-8ECA-77ED4099C88A}" sibTransId="{3CE59E43-9A4D-4119-BC36-A3E193D60B9E}"/>
    <dgm:cxn modelId="{5DA7AC0D-D700-45B0-9847-D0CC6758D605}" srcId="{4AF9E060-FE7C-4D5A-9EE3-AA867049E8D4}" destId="{7C99A6A6-DE39-4CB0-9FFA-568147718764}" srcOrd="6" destOrd="0" parTransId="{B32831D5-95C6-4FFF-85ED-B1971114633C}" sibTransId="{2138CCFB-465E-4CA9-9577-DFC6C941A7B3}"/>
    <dgm:cxn modelId="{F3F87D1C-ACE0-4165-BB0A-D2400E9EBD86}" type="presOf" srcId="{7841E3E1-9062-46A9-BDB3-F030A0E16949}" destId="{4ADEDA7A-DC3E-488B-8E9A-4157232B2311}" srcOrd="0" destOrd="0" presId="urn:microsoft.com/office/officeart/2005/8/layout/vList2"/>
    <dgm:cxn modelId="{B7E9F230-F3D8-4EC8-87A3-C7F6F3EE8D9F}" type="presOf" srcId="{386C87CD-FC89-48B1-8176-F693A657D07E}" destId="{B6C1AFA0-ABC5-4D6D-9A1A-4DF4673F4F63}" srcOrd="0" destOrd="0" presId="urn:microsoft.com/office/officeart/2005/8/layout/vList2"/>
    <dgm:cxn modelId="{E027984E-AE72-45FB-B15E-B060BF471F11}" type="presParOf" srcId="{674EFB32-3CB3-48C6-9E9F-85D8BF7D9F7B}" destId="{FCD09278-1E4F-49AC-8D42-0C94E7D4BCC4}" srcOrd="0" destOrd="0" presId="urn:microsoft.com/office/officeart/2005/8/layout/vList2"/>
    <dgm:cxn modelId="{69CAF72B-85D7-4A9B-9605-6DEDFC349767}" type="presParOf" srcId="{674EFB32-3CB3-48C6-9E9F-85D8BF7D9F7B}" destId="{15B585A7-27B2-4FA3-86C2-A13A9E72F531}" srcOrd="1" destOrd="0" presId="urn:microsoft.com/office/officeart/2005/8/layout/vList2"/>
    <dgm:cxn modelId="{16F153BF-D342-438E-9169-3E82EB84994A}" type="presParOf" srcId="{674EFB32-3CB3-48C6-9E9F-85D8BF7D9F7B}" destId="{49B53DC7-FD5C-40CD-882D-E1547E86832C}" srcOrd="2" destOrd="0" presId="urn:microsoft.com/office/officeart/2005/8/layout/vList2"/>
    <dgm:cxn modelId="{16CD7346-E3C6-45D2-A864-4B9410FD91F0}" type="presParOf" srcId="{674EFB32-3CB3-48C6-9E9F-85D8BF7D9F7B}" destId="{9927CC86-33B7-40D4-8A8B-B0798649C995}" srcOrd="3" destOrd="0" presId="urn:microsoft.com/office/officeart/2005/8/layout/vList2"/>
    <dgm:cxn modelId="{7CF9BA57-3419-46CD-82E7-CA9FF7C5537E}" type="presParOf" srcId="{674EFB32-3CB3-48C6-9E9F-85D8BF7D9F7B}" destId="{B6C1AFA0-ABC5-4D6D-9A1A-4DF4673F4F63}" srcOrd="4" destOrd="0" presId="urn:microsoft.com/office/officeart/2005/8/layout/vList2"/>
    <dgm:cxn modelId="{46A15505-A2BB-4C90-9E83-24673F0EAF80}" type="presParOf" srcId="{674EFB32-3CB3-48C6-9E9F-85D8BF7D9F7B}" destId="{922C8ACC-8153-4D11-8E4D-198807AA39A4}" srcOrd="5" destOrd="0" presId="urn:microsoft.com/office/officeart/2005/8/layout/vList2"/>
    <dgm:cxn modelId="{6EDF0A7C-FC35-4FB9-80E0-1468DA8EF505}" type="presParOf" srcId="{674EFB32-3CB3-48C6-9E9F-85D8BF7D9F7B}" destId="{12AFA56D-D7A5-458F-A84D-31AACD01CD07}" srcOrd="6" destOrd="0" presId="urn:microsoft.com/office/officeart/2005/8/layout/vList2"/>
    <dgm:cxn modelId="{3CFDEBE0-5387-4CC7-9DB4-EE91DF618F88}" type="presParOf" srcId="{674EFB32-3CB3-48C6-9E9F-85D8BF7D9F7B}" destId="{C4C87FAC-5EE2-43BD-8130-3314AF236DA5}" srcOrd="7" destOrd="0" presId="urn:microsoft.com/office/officeart/2005/8/layout/vList2"/>
    <dgm:cxn modelId="{C88B1790-E5B9-44E3-88D5-25E5832E071A}" type="presParOf" srcId="{674EFB32-3CB3-48C6-9E9F-85D8BF7D9F7B}" destId="{4ADEDA7A-DC3E-488B-8E9A-4157232B2311}" srcOrd="8" destOrd="0" presId="urn:microsoft.com/office/officeart/2005/8/layout/vList2"/>
    <dgm:cxn modelId="{B3FC89D8-5E2F-431A-B331-E202ACA4FC38}" type="presParOf" srcId="{674EFB32-3CB3-48C6-9E9F-85D8BF7D9F7B}" destId="{EEEE33A7-06C2-47F4-AC12-F4030D8F6E6F}" srcOrd="9" destOrd="0" presId="urn:microsoft.com/office/officeart/2005/8/layout/vList2"/>
    <dgm:cxn modelId="{C3B442DF-F60D-49EC-8075-20F7F6171AF6}" type="presParOf" srcId="{674EFB32-3CB3-48C6-9E9F-85D8BF7D9F7B}" destId="{63F5A3BB-ADB9-448B-945D-4B65469FEEFE}" srcOrd="10" destOrd="0" presId="urn:microsoft.com/office/officeart/2005/8/layout/vList2"/>
    <dgm:cxn modelId="{A2FF1773-1119-41D7-B851-40C65D357736}" type="presParOf" srcId="{674EFB32-3CB3-48C6-9E9F-85D8BF7D9F7B}" destId="{E7069B0C-27C9-46C1-8FA4-E208BCDDED0C}" srcOrd="11" destOrd="0" presId="urn:microsoft.com/office/officeart/2005/8/layout/vList2"/>
    <dgm:cxn modelId="{C2CB4520-8551-442B-8F5E-EB69BD9EF0B1}" type="presParOf" srcId="{674EFB32-3CB3-48C6-9E9F-85D8BF7D9F7B}" destId="{F9EF2214-B512-4069-A6FB-E5C4278F793B}" srcOrd="12" destOrd="0" presId="urn:microsoft.com/office/officeart/2005/8/layout/vList2"/>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FCB2790-FE25-4DD9-BF2A-7FF90A66E086}" type="doc">
      <dgm:prSet loTypeId="urn:microsoft.com/office/officeart/2008/layout/LinedList" loCatId="list" qsTypeId="urn:microsoft.com/office/officeart/2005/8/quickstyle/simple1" qsCatId="simple" csTypeId="urn:microsoft.com/office/officeart/2005/8/colors/accent3_3" csCatId="accent3" phldr="1"/>
      <dgm:spPr/>
      <dgm:t>
        <a:bodyPr/>
        <a:lstStyle/>
        <a:p>
          <a:endParaRPr lang="en-US"/>
        </a:p>
      </dgm:t>
    </dgm:pt>
    <dgm:pt modelId="{B6E7628F-AD4F-4B8C-B544-805D2DEAADBA}">
      <dgm:prSet phldrT="[Text]"/>
      <dgm:spPr/>
      <dgm:t>
        <a:bodyPr/>
        <a:lstStyle/>
        <a:p>
          <a:r>
            <a:rPr lang="en-US" b="1" dirty="0" smtClean="0"/>
            <a:t>12 factors </a:t>
          </a:r>
          <a:r>
            <a:rPr lang="en-US" dirty="0" smtClean="0"/>
            <a:t>(Solid principle for Cloud Native Architecture)</a:t>
          </a:r>
          <a:endParaRPr lang="en-US" dirty="0"/>
        </a:p>
      </dgm:t>
    </dgm:pt>
    <dgm:pt modelId="{A1D174D7-B513-4115-88C0-1E349645997B}" type="parTrans" cxnId="{72524EE7-4E83-4A43-B890-14B739151F84}">
      <dgm:prSet/>
      <dgm:spPr/>
      <dgm:t>
        <a:bodyPr/>
        <a:lstStyle/>
        <a:p>
          <a:endParaRPr lang="en-US"/>
        </a:p>
      </dgm:t>
    </dgm:pt>
    <dgm:pt modelId="{49FBFBDD-8FF8-42C9-B482-3DA78BD11D4F}" type="sibTrans" cxnId="{72524EE7-4E83-4A43-B890-14B739151F84}">
      <dgm:prSet/>
      <dgm:spPr/>
      <dgm:t>
        <a:bodyPr/>
        <a:lstStyle/>
        <a:p>
          <a:endParaRPr lang="en-US"/>
        </a:p>
      </dgm:t>
    </dgm:pt>
    <dgm:pt modelId="{BDD2DEB5-4D14-400E-8267-C356A113FB46}">
      <dgm:prSet phldrT="[Text]"/>
      <dgm:spPr/>
      <dgm:t>
        <a:bodyPr/>
        <a:lstStyle/>
        <a:p>
          <a:r>
            <a:rPr lang="en-US" b="1" i="0" dirty="0" smtClean="0">
              <a:hlinkClick xmlns:r="http://schemas.openxmlformats.org/officeDocument/2006/relationships" r:id=""/>
            </a:rPr>
            <a:t>Codebase</a:t>
          </a:r>
          <a:endParaRPr lang="en-US" dirty="0"/>
        </a:p>
      </dgm:t>
    </dgm:pt>
    <dgm:pt modelId="{7FF0AFC6-99EF-4832-8716-CEE7E257355A}" type="parTrans" cxnId="{4E57BF49-0DB6-4D64-A054-C3D205EC5E67}">
      <dgm:prSet/>
      <dgm:spPr/>
      <dgm:t>
        <a:bodyPr/>
        <a:lstStyle/>
        <a:p>
          <a:endParaRPr lang="en-US"/>
        </a:p>
      </dgm:t>
    </dgm:pt>
    <dgm:pt modelId="{6C645E0B-A10E-4FE2-A284-32FEA8704B7A}" type="sibTrans" cxnId="{4E57BF49-0DB6-4D64-A054-C3D205EC5E67}">
      <dgm:prSet/>
      <dgm:spPr/>
      <dgm:t>
        <a:bodyPr/>
        <a:lstStyle/>
        <a:p>
          <a:endParaRPr lang="en-US"/>
        </a:p>
      </dgm:t>
    </dgm:pt>
    <dgm:pt modelId="{C92328FF-933F-4C3C-8D04-3B3F537D94C3}">
      <dgm:prSet phldrT="[Text]"/>
      <dgm:spPr/>
      <dgm:t>
        <a:bodyPr/>
        <a:lstStyle/>
        <a:p>
          <a:r>
            <a:rPr lang="en-US" b="1" i="0" dirty="0" smtClean="0">
              <a:hlinkClick xmlns:r="http://schemas.openxmlformats.org/officeDocument/2006/relationships" r:id=""/>
            </a:rPr>
            <a:t>Dependencies</a:t>
          </a:r>
          <a:endParaRPr lang="en-US" dirty="0"/>
        </a:p>
      </dgm:t>
    </dgm:pt>
    <dgm:pt modelId="{4E27C26F-8275-4E56-859E-52B87B278371}" type="parTrans" cxnId="{50A403D5-3C09-4F80-A1C5-7A271AA93275}">
      <dgm:prSet/>
      <dgm:spPr/>
      <dgm:t>
        <a:bodyPr/>
        <a:lstStyle/>
        <a:p>
          <a:endParaRPr lang="en-US"/>
        </a:p>
      </dgm:t>
    </dgm:pt>
    <dgm:pt modelId="{70E376E4-DED2-4A28-B348-343E36F3B06F}" type="sibTrans" cxnId="{50A403D5-3C09-4F80-A1C5-7A271AA93275}">
      <dgm:prSet/>
      <dgm:spPr/>
      <dgm:t>
        <a:bodyPr/>
        <a:lstStyle/>
        <a:p>
          <a:endParaRPr lang="en-US"/>
        </a:p>
      </dgm:t>
    </dgm:pt>
    <dgm:pt modelId="{CE6A86AE-7D6F-4760-8B30-0A562B24CD7C}">
      <dgm:prSet phldrT="[Text]"/>
      <dgm:spPr/>
      <dgm:t>
        <a:bodyPr/>
        <a:lstStyle/>
        <a:p>
          <a:r>
            <a:rPr lang="en-US" b="1" i="0" dirty="0" smtClean="0">
              <a:hlinkClick xmlns:r="http://schemas.openxmlformats.org/officeDocument/2006/relationships" r:id=""/>
            </a:rPr>
            <a:t>Build, release, run</a:t>
          </a:r>
          <a:endParaRPr lang="en-US" dirty="0"/>
        </a:p>
      </dgm:t>
    </dgm:pt>
    <dgm:pt modelId="{7D043BA3-BDDD-4966-956F-B7EEDC936E73}" type="parTrans" cxnId="{080B6874-BA21-4C74-B5EA-57E2ADC812C7}">
      <dgm:prSet/>
      <dgm:spPr/>
      <dgm:t>
        <a:bodyPr/>
        <a:lstStyle/>
        <a:p>
          <a:endParaRPr lang="en-US"/>
        </a:p>
      </dgm:t>
    </dgm:pt>
    <dgm:pt modelId="{75D6036F-43B5-4ECB-BAA3-34BE8DC302E4}" type="sibTrans" cxnId="{080B6874-BA21-4C74-B5EA-57E2ADC812C7}">
      <dgm:prSet/>
      <dgm:spPr/>
      <dgm:t>
        <a:bodyPr/>
        <a:lstStyle/>
        <a:p>
          <a:endParaRPr lang="en-US"/>
        </a:p>
      </dgm:t>
    </dgm:pt>
    <dgm:pt modelId="{9EB2095E-84A2-4014-A4DC-6A1628B20B2C}">
      <dgm:prSet phldrT="[Text]"/>
      <dgm:spPr/>
      <dgm:t>
        <a:bodyPr/>
        <a:lstStyle/>
        <a:p>
          <a:r>
            <a:rPr lang="en-US" b="1" i="0" dirty="0" smtClean="0">
              <a:hlinkClick xmlns:r="http://schemas.openxmlformats.org/officeDocument/2006/relationships" r:id=""/>
            </a:rPr>
            <a:t>Backing Services</a:t>
          </a:r>
          <a:endParaRPr lang="en-US" dirty="0"/>
        </a:p>
      </dgm:t>
    </dgm:pt>
    <dgm:pt modelId="{05909E9E-3DA5-4FF8-875E-A57CF1F66DCB}" type="parTrans" cxnId="{F3DFAB8B-B942-4FC6-9DDF-ECCFD2BCAD5B}">
      <dgm:prSet/>
      <dgm:spPr/>
      <dgm:t>
        <a:bodyPr/>
        <a:lstStyle/>
        <a:p>
          <a:endParaRPr lang="en-US"/>
        </a:p>
      </dgm:t>
    </dgm:pt>
    <dgm:pt modelId="{ABA262D6-5391-42E2-8472-9F436BE7AC45}" type="sibTrans" cxnId="{F3DFAB8B-B942-4FC6-9DDF-ECCFD2BCAD5B}">
      <dgm:prSet/>
      <dgm:spPr/>
      <dgm:t>
        <a:bodyPr/>
        <a:lstStyle/>
        <a:p>
          <a:endParaRPr lang="en-US"/>
        </a:p>
      </dgm:t>
    </dgm:pt>
    <dgm:pt modelId="{786ABF0E-88A1-4EE5-9BB7-D2F3A37A3114}">
      <dgm:prSet phldrT="[Text]"/>
      <dgm:spPr/>
      <dgm:t>
        <a:bodyPr/>
        <a:lstStyle/>
        <a:p>
          <a:r>
            <a:rPr lang="en-US" b="1" i="0" dirty="0" smtClean="0">
              <a:hlinkClick xmlns:r="http://schemas.openxmlformats.org/officeDocument/2006/relationships" r:id=""/>
            </a:rPr>
            <a:t>Processes</a:t>
          </a:r>
          <a:endParaRPr lang="en-US" dirty="0"/>
        </a:p>
      </dgm:t>
    </dgm:pt>
    <dgm:pt modelId="{1613C911-BE1D-446A-874C-2E33696034F7}" type="parTrans" cxnId="{B62669EF-848D-4DCE-93A3-E46649518638}">
      <dgm:prSet/>
      <dgm:spPr/>
      <dgm:t>
        <a:bodyPr/>
        <a:lstStyle/>
        <a:p>
          <a:endParaRPr lang="en-US"/>
        </a:p>
      </dgm:t>
    </dgm:pt>
    <dgm:pt modelId="{4E9AA02A-2CCB-44BE-B4D4-13387F129B3C}" type="sibTrans" cxnId="{B62669EF-848D-4DCE-93A3-E46649518638}">
      <dgm:prSet/>
      <dgm:spPr/>
      <dgm:t>
        <a:bodyPr/>
        <a:lstStyle/>
        <a:p>
          <a:endParaRPr lang="en-US"/>
        </a:p>
      </dgm:t>
    </dgm:pt>
    <dgm:pt modelId="{A4326731-0B42-486A-BE60-CEAD9A65C7CE}">
      <dgm:prSet phldrT="[Text]"/>
      <dgm:spPr/>
      <dgm:t>
        <a:bodyPr/>
        <a:lstStyle/>
        <a:p>
          <a:r>
            <a:rPr lang="en-US" b="1" i="0" dirty="0" smtClean="0">
              <a:hlinkClick xmlns:r="http://schemas.openxmlformats.org/officeDocument/2006/relationships" r:id=""/>
            </a:rPr>
            <a:t>Port binding</a:t>
          </a:r>
          <a:endParaRPr lang="en-US" dirty="0"/>
        </a:p>
      </dgm:t>
    </dgm:pt>
    <dgm:pt modelId="{87F617DD-C490-4F79-B16C-2BC2FD4B8216}" type="parTrans" cxnId="{7BD530C5-F5CB-4509-AC0D-A8AB2359E51E}">
      <dgm:prSet/>
      <dgm:spPr/>
      <dgm:t>
        <a:bodyPr/>
        <a:lstStyle/>
        <a:p>
          <a:endParaRPr lang="en-US"/>
        </a:p>
      </dgm:t>
    </dgm:pt>
    <dgm:pt modelId="{77799D1E-74AA-43AD-9CEE-072B309FCD78}" type="sibTrans" cxnId="{7BD530C5-F5CB-4509-AC0D-A8AB2359E51E}">
      <dgm:prSet/>
      <dgm:spPr/>
      <dgm:t>
        <a:bodyPr/>
        <a:lstStyle/>
        <a:p>
          <a:endParaRPr lang="en-US"/>
        </a:p>
      </dgm:t>
    </dgm:pt>
    <dgm:pt modelId="{1C60D59D-3611-4069-8825-933A09EC80D3}">
      <dgm:prSet phldrT="[Text]"/>
      <dgm:spPr/>
      <dgm:t>
        <a:bodyPr/>
        <a:lstStyle/>
        <a:p>
          <a:r>
            <a:rPr lang="en-US" b="1" i="0" dirty="0" smtClean="0">
              <a:hlinkClick xmlns:r="http://schemas.openxmlformats.org/officeDocument/2006/relationships" r:id=""/>
            </a:rPr>
            <a:t>Concurrency</a:t>
          </a:r>
          <a:endParaRPr lang="en-US" dirty="0"/>
        </a:p>
      </dgm:t>
    </dgm:pt>
    <dgm:pt modelId="{42B70552-9D21-494B-B995-44968AF14717}" type="parTrans" cxnId="{AC34EF6C-0D07-442F-B75C-1E069A6BDDC4}">
      <dgm:prSet/>
      <dgm:spPr/>
      <dgm:t>
        <a:bodyPr/>
        <a:lstStyle/>
        <a:p>
          <a:endParaRPr lang="en-US"/>
        </a:p>
      </dgm:t>
    </dgm:pt>
    <dgm:pt modelId="{DAEE1A9D-DA24-44B6-A332-1406C0C48269}" type="sibTrans" cxnId="{AC34EF6C-0D07-442F-B75C-1E069A6BDDC4}">
      <dgm:prSet/>
      <dgm:spPr/>
      <dgm:t>
        <a:bodyPr/>
        <a:lstStyle/>
        <a:p>
          <a:endParaRPr lang="en-US"/>
        </a:p>
      </dgm:t>
    </dgm:pt>
    <dgm:pt modelId="{573E66A5-209C-4DAF-A013-7B7A52EC292F}">
      <dgm:prSet phldrT="[Text]"/>
      <dgm:spPr/>
      <dgm:t>
        <a:bodyPr/>
        <a:lstStyle/>
        <a:p>
          <a:r>
            <a:rPr lang="en-US" b="1" i="0" dirty="0" smtClean="0">
              <a:hlinkClick xmlns:r="http://schemas.openxmlformats.org/officeDocument/2006/relationships" r:id=""/>
            </a:rPr>
            <a:t>Disposability</a:t>
          </a:r>
          <a:endParaRPr lang="en-US" dirty="0"/>
        </a:p>
      </dgm:t>
    </dgm:pt>
    <dgm:pt modelId="{FDD8216C-2548-455C-ACF4-40DAEF385CBD}" type="parTrans" cxnId="{E792D73F-28A7-47CB-8317-AB5CEF39E02D}">
      <dgm:prSet/>
      <dgm:spPr/>
      <dgm:t>
        <a:bodyPr/>
        <a:lstStyle/>
        <a:p>
          <a:endParaRPr lang="en-US"/>
        </a:p>
      </dgm:t>
    </dgm:pt>
    <dgm:pt modelId="{37BE4959-C7CE-4056-8753-3DE14D52465A}" type="sibTrans" cxnId="{E792D73F-28A7-47CB-8317-AB5CEF39E02D}">
      <dgm:prSet/>
      <dgm:spPr/>
      <dgm:t>
        <a:bodyPr/>
        <a:lstStyle/>
        <a:p>
          <a:endParaRPr lang="en-US"/>
        </a:p>
      </dgm:t>
    </dgm:pt>
    <dgm:pt modelId="{B772BDE6-D87D-4311-9C32-21BBEAE1AC4B}">
      <dgm:prSet phldrT="[Text]"/>
      <dgm:spPr/>
      <dgm:t>
        <a:bodyPr/>
        <a:lstStyle/>
        <a:p>
          <a:r>
            <a:rPr lang="en-US" b="1" i="0" dirty="0" smtClean="0">
              <a:hlinkClick xmlns:r="http://schemas.openxmlformats.org/officeDocument/2006/relationships" r:id=""/>
            </a:rPr>
            <a:t>Dev/prod parity</a:t>
          </a:r>
          <a:endParaRPr lang="en-US" dirty="0"/>
        </a:p>
      </dgm:t>
    </dgm:pt>
    <dgm:pt modelId="{B76D5A3F-646F-46FC-B479-B829D77F4CC6}" type="parTrans" cxnId="{FDFEEE98-EE5C-4D2F-A6B2-5D7DE22A7575}">
      <dgm:prSet/>
      <dgm:spPr/>
      <dgm:t>
        <a:bodyPr/>
        <a:lstStyle/>
        <a:p>
          <a:endParaRPr lang="en-US"/>
        </a:p>
      </dgm:t>
    </dgm:pt>
    <dgm:pt modelId="{9E38D760-11CF-47AC-AC3A-608CB2A24D71}" type="sibTrans" cxnId="{FDFEEE98-EE5C-4D2F-A6B2-5D7DE22A7575}">
      <dgm:prSet/>
      <dgm:spPr/>
      <dgm:t>
        <a:bodyPr/>
        <a:lstStyle/>
        <a:p>
          <a:endParaRPr lang="en-US"/>
        </a:p>
      </dgm:t>
    </dgm:pt>
    <dgm:pt modelId="{7C4574F9-42DC-458E-B0BC-A86E3A63C7AE}">
      <dgm:prSet phldrT="[Text]"/>
      <dgm:spPr/>
      <dgm:t>
        <a:bodyPr/>
        <a:lstStyle/>
        <a:p>
          <a:r>
            <a:rPr lang="en-US" b="1" i="0" dirty="0" smtClean="0">
              <a:hlinkClick xmlns:r="http://schemas.openxmlformats.org/officeDocument/2006/relationships" r:id=""/>
            </a:rPr>
            <a:t>Logs</a:t>
          </a:r>
          <a:endParaRPr lang="en-US" dirty="0"/>
        </a:p>
      </dgm:t>
    </dgm:pt>
    <dgm:pt modelId="{FFBE6BB7-5F18-4F0C-B21F-1AE8BF5EB39E}" type="parTrans" cxnId="{398C2302-FC9E-4DF2-B9D7-F8483F621F08}">
      <dgm:prSet/>
      <dgm:spPr/>
      <dgm:t>
        <a:bodyPr/>
        <a:lstStyle/>
        <a:p>
          <a:endParaRPr lang="en-US"/>
        </a:p>
      </dgm:t>
    </dgm:pt>
    <dgm:pt modelId="{84762267-8015-432E-96E9-6599DB6FE2D2}" type="sibTrans" cxnId="{398C2302-FC9E-4DF2-B9D7-F8483F621F08}">
      <dgm:prSet/>
      <dgm:spPr/>
      <dgm:t>
        <a:bodyPr/>
        <a:lstStyle/>
        <a:p>
          <a:endParaRPr lang="en-US"/>
        </a:p>
      </dgm:t>
    </dgm:pt>
    <dgm:pt modelId="{A07A763A-8A9F-4BC4-8A88-1F37D9FDA31C}">
      <dgm:prSet phldrT="[Text]"/>
      <dgm:spPr/>
      <dgm:t>
        <a:bodyPr/>
        <a:lstStyle/>
        <a:p>
          <a:r>
            <a:rPr lang="en-US" b="1" i="0" dirty="0" smtClean="0">
              <a:hlinkClick xmlns:r="http://schemas.openxmlformats.org/officeDocument/2006/relationships" r:id=""/>
            </a:rPr>
            <a:t>Admin processes</a:t>
          </a:r>
          <a:endParaRPr lang="en-US" dirty="0"/>
        </a:p>
      </dgm:t>
    </dgm:pt>
    <dgm:pt modelId="{92EE543C-DA83-40B3-AEB3-EDF850051206}" type="parTrans" cxnId="{38CDF055-53D4-4AFF-AA8F-4FD8E1CFF1D8}">
      <dgm:prSet/>
      <dgm:spPr/>
      <dgm:t>
        <a:bodyPr/>
        <a:lstStyle/>
        <a:p>
          <a:endParaRPr lang="en-US"/>
        </a:p>
      </dgm:t>
    </dgm:pt>
    <dgm:pt modelId="{3CED7F2C-C3E1-4131-9CD6-03F221AA43A8}" type="sibTrans" cxnId="{38CDF055-53D4-4AFF-AA8F-4FD8E1CFF1D8}">
      <dgm:prSet/>
      <dgm:spPr/>
      <dgm:t>
        <a:bodyPr/>
        <a:lstStyle/>
        <a:p>
          <a:endParaRPr lang="en-US"/>
        </a:p>
      </dgm:t>
    </dgm:pt>
    <dgm:pt modelId="{06C2CAEA-599D-47A2-BA60-067940F1DF01}">
      <dgm:prSet phldrT="[Text]"/>
      <dgm:spPr/>
      <dgm:t>
        <a:bodyPr/>
        <a:lstStyle/>
        <a:p>
          <a:r>
            <a:rPr lang="en-US" b="1" i="0" dirty="0" smtClean="0">
              <a:hlinkClick xmlns:r="http://schemas.openxmlformats.org/officeDocument/2006/relationships" r:id=""/>
            </a:rPr>
            <a:t>Config</a:t>
          </a:r>
          <a:endParaRPr lang="en-US" dirty="0"/>
        </a:p>
      </dgm:t>
    </dgm:pt>
    <dgm:pt modelId="{E0E78478-D911-44C3-B852-118E37036428}" type="parTrans" cxnId="{439EDBF5-A398-4328-B8D3-6E10D71F4730}">
      <dgm:prSet/>
      <dgm:spPr/>
      <dgm:t>
        <a:bodyPr/>
        <a:lstStyle/>
        <a:p>
          <a:endParaRPr lang="en-US"/>
        </a:p>
      </dgm:t>
    </dgm:pt>
    <dgm:pt modelId="{E56B1E64-EF7E-4D96-866F-4AECE7937D9A}" type="sibTrans" cxnId="{439EDBF5-A398-4328-B8D3-6E10D71F4730}">
      <dgm:prSet/>
      <dgm:spPr/>
      <dgm:t>
        <a:bodyPr/>
        <a:lstStyle/>
        <a:p>
          <a:endParaRPr lang="en-US"/>
        </a:p>
      </dgm:t>
    </dgm:pt>
    <dgm:pt modelId="{ACDAEB24-B324-42BC-8E3B-7D79613A2D16}">
      <dgm:prSet phldrT="[Text]"/>
      <dgm:spPr/>
      <dgm:t>
        <a:bodyPr/>
        <a:lstStyle/>
        <a:p>
          <a:r>
            <a:rPr lang="en-US" b="0" i="0" dirty="0" smtClean="0"/>
            <a:t>One codebase tracked in revision control, many deploys</a:t>
          </a:r>
          <a:endParaRPr lang="en-US" dirty="0"/>
        </a:p>
      </dgm:t>
    </dgm:pt>
    <dgm:pt modelId="{C50A73EC-4633-40A8-8D02-3799273C098E}" type="parTrans" cxnId="{5D4301CF-2BA1-424F-B785-25B0D968CC3B}">
      <dgm:prSet/>
      <dgm:spPr/>
      <dgm:t>
        <a:bodyPr/>
        <a:lstStyle/>
        <a:p>
          <a:endParaRPr lang="en-US"/>
        </a:p>
      </dgm:t>
    </dgm:pt>
    <dgm:pt modelId="{B8604D8B-C1EA-49E3-8275-6CCFF0DE870D}" type="sibTrans" cxnId="{5D4301CF-2BA1-424F-B785-25B0D968CC3B}">
      <dgm:prSet/>
      <dgm:spPr/>
      <dgm:t>
        <a:bodyPr/>
        <a:lstStyle/>
        <a:p>
          <a:endParaRPr lang="en-US"/>
        </a:p>
      </dgm:t>
    </dgm:pt>
    <dgm:pt modelId="{108AB784-BD6E-4137-86AF-97A71485587D}">
      <dgm:prSet phldrT="[Text]"/>
      <dgm:spPr/>
      <dgm:t>
        <a:bodyPr/>
        <a:lstStyle/>
        <a:p>
          <a:r>
            <a:rPr lang="en-US" b="0" i="0" dirty="0" smtClean="0"/>
            <a:t>Explicitly declare and isolate dependencies</a:t>
          </a:r>
          <a:endParaRPr lang="en-US" dirty="0"/>
        </a:p>
      </dgm:t>
    </dgm:pt>
    <dgm:pt modelId="{DC0BAC7A-61F4-41DA-AA5F-325B041C44AC}" type="parTrans" cxnId="{2C57D1A7-1D9C-4230-B212-042B50271CD8}">
      <dgm:prSet/>
      <dgm:spPr/>
      <dgm:t>
        <a:bodyPr/>
        <a:lstStyle/>
        <a:p>
          <a:endParaRPr lang="en-US"/>
        </a:p>
      </dgm:t>
    </dgm:pt>
    <dgm:pt modelId="{8F76313F-F31D-4FA7-A75E-4A9C2EC648DD}" type="sibTrans" cxnId="{2C57D1A7-1D9C-4230-B212-042B50271CD8}">
      <dgm:prSet/>
      <dgm:spPr/>
      <dgm:t>
        <a:bodyPr/>
        <a:lstStyle/>
        <a:p>
          <a:endParaRPr lang="en-US"/>
        </a:p>
      </dgm:t>
    </dgm:pt>
    <dgm:pt modelId="{B1D70AB4-6ADD-4F89-A36D-4A42955AEA98}">
      <dgm:prSet phldrT="[Text]"/>
      <dgm:spPr/>
      <dgm:t>
        <a:bodyPr/>
        <a:lstStyle/>
        <a:p>
          <a:r>
            <a:rPr lang="en-US" b="0" i="0" dirty="0" smtClean="0"/>
            <a:t>Store configuration in the environment</a:t>
          </a:r>
          <a:endParaRPr lang="en-US" dirty="0"/>
        </a:p>
      </dgm:t>
    </dgm:pt>
    <dgm:pt modelId="{1995E963-64AC-49F5-9E1D-0A59077079D8}" type="parTrans" cxnId="{DE942E47-D994-4890-BE8A-297D8CC58DCA}">
      <dgm:prSet/>
      <dgm:spPr/>
      <dgm:t>
        <a:bodyPr/>
        <a:lstStyle/>
        <a:p>
          <a:endParaRPr lang="en-US"/>
        </a:p>
      </dgm:t>
    </dgm:pt>
    <dgm:pt modelId="{CF4BC7BD-404F-474E-8877-67E09969562E}" type="sibTrans" cxnId="{DE942E47-D994-4890-BE8A-297D8CC58DCA}">
      <dgm:prSet/>
      <dgm:spPr/>
      <dgm:t>
        <a:bodyPr/>
        <a:lstStyle/>
        <a:p>
          <a:endParaRPr lang="en-US"/>
        </a:p>
      </dgm:t>
    </dgm:pt>
    <dgm:pt modelId="{0847578D-A2A3-4401-B5E6-8EF837EE3301}">
      <dgm:prSet phldrT="[Text]"/>
      <dgm:spPr/>
      <dgm:t>
        <a:bodyPr/>
        <a:lstStyle/>
        <a:p>
          <a:r>
            <a:rPr lang="en-US" b="0" i="0" dirty="0" smtClean="0"/>
            <a:t>Treat backing services as attached resources</a:t>
          </a:r>
          <a:endParaRPr lang="en-US" dirty="0"/>
        </a:p>
      </dgm:t>
    </dgm:pt>
    <dgm:pt modelId="{BF502C56-4228-4644-8D5C-A71743FAF05F}" type="parTrans" cxnId="{D0CE5020-F2B7-4AC6-AD20-CE0873F47355}">
      <dgm:prSet/>
      <dgm:spPr/>
      <dgm:t>
        <a:bodyPr/>
        <a:lstStyle/>
        <a:p>
          <a:endParaRPr lang="en-US"/>
        </a:p>
      </dgm:t>
    </dgm:pt>
    <dgm:pt modelId="{8FC4E7E2-4241-419C-B5D4-3C9BE9865EDC}" type="sibTrans" cxnId="{D0CE5020-F2B7-4AC6-AD20-CE0873F47355}">
      <dgm:prSet/>
      <dgm:spPr/>
      <dgm:t>
        <a:bodyPr/>
        <a:lstStyle/>
        <a:p>
          <a:endParaRPr lang="en-US"/>
        </a:p>
      </dgm:t>
    </dgm:pt>
    <dgm:pt modelId="{1802913D-8339-4726-9539-4AB78631D187}">
      <dgm:prSet phldrT="[Text]"/>
      <dgm:spPr/>
      <dgm:t>
        <a:bodyPr/>
        <a:lstStyle/>
        <a:p>
          <a:r>
            <a:rPr lang="en-US" b="0" i="0" dirty="0" smtClean="0"/>
            <a:t>Strictly separate build and run stages</a:t>
          </a:r>
          <a:endParaRPr lang="en-US" dirty="0"/>
        </a:p>
      </dgm:t>
    </dgm:pt>
    <dgm:pt modelId="{6B27943B-8EBF-44CC-82F6-8CC013207BD8}" type="parTrans" cxnId="{450EE1E5-F9BA-48BC-8A6F-00D762186D6A}">
      <dgm:prSet/>
      <dgm:spPr/>
      <dgm:t>
        <a:bodyPr/>
        <a:lstStyle/>
        <a:p>
          <a:endParaRPr lang="en-US"/>
        </a:p>
      </dgm:t>
    </dgm:pt>
    <dgm:pt modelId="{C8EEDD00-6F19-47FF-A796-5D586E750860}" type="sibTrans" cxnId="{450EE1E5-F9BA-48BC-8A6F-00D762186D6A}">
      <dgm:prSet/>
      <dgm:spPr/>
      <dgm:t>
        <a:bodyPr/>
        <a:lstStyle/>
        <a:p>
          <a:endParaRPr lang="en-US"/>
        </a:p>
      </dgm:t>
    </dgm:pt>
    <dgm:pt modelId="{DF823E02-EE08-4E4F-B428-83FCFFBC1CA1}">
      <dgm:prSet phldrT="[Text]"/>
      <dgm:spPr/>
      <dgm:t>
        <a:bodyPr/>
        <a:lstStyle/>
        <a:p>
          <a:r>
            <a:rPr lang="en-US" b="0" i="0" dirty="0" smtClean="0"/>
            <a:t>Execute the app as one or more stateless processes</a:t>
          </a:r>
          <a:endParaRPr lang="en-US" dirty="0"/>
        </a:p>
      </dgm:t>
    </dgm:pt>
    <dgm:pt modelId="{58BE509B-C392-409E-9F7D-DE16B556B947}" type="parTrans" cxnId="{AAEEA401-6FB7-4564-8CB8-088BE6D90AB9}">
      <dgm:prSet/>
      <dgm:spPr/>
      <dgm:t>
        <a:bodyPr/>
        <a:lstStyle/>
        <a:p>
          <a:endParaRPr lang="en-US"/>
        </a:p>
      </dgm:t>
    </dgm:pt>
    <dgm:pt modelId="{01EF5615-008E-4E6C-9795-06D90370E2BB}" type="sibTrans" cxnId="{AAEEA401-6FB7-4564-8CB8-088BE6D90AB9}">
      <dgm:prSet/>
      <dgm:spPr/>
      <dgm:t>
        <a:bodyPr/>
        <a:lstStyle/>
        <a:p>
          <a:endParaRPr lang="en-US"/>
        </a:p>
      </dgm:t>
    </dgm:pt>
    <dgm:pt modelId="{8347A665-5323-4E84-9804-468D447B7E09}">
      <dgm:prSet phldrT="[Text]"/>
      <dgm:spPr/>
      <dgm:t>
        <a:bodyPr/>
        <a:lstStyle/>
        <a:p>
          <a:r>
            <a:rPr lang="fr-FR" b="0" i="0" dirty="0" smtClean="0"/>
            <a:t>Export services via port binding</a:t>
          </a:r>
          <a:endParaRPr lang="en-US" dirty="0"/>
        </a:p>
      </dgm:t>
    </dgm:pt>
    <dgm:pt modelId="{5DB5A5AC-1608-4033-B914-322182846F86}" type="parTrans" cxnId="{C7091535-E75C-4243-98FC-A983C5AAA150}">
      <dgm:prSet/>
      <dgm:spPr/>
      <dgm:t>
        <a:bodyPr/>
        <a:lstStyle/>
        <a:p>
          <a:endParaRPr lang="en-US"/>
        </a:p>
      </dgm:t>
    </dgm:pt>
    <dgm:pt modelId="{9D4022C6-C74E-444C-96B9-99E3D01F3FE0}" type="sibTrans" cxnId="{C7091535-E75C-4243-98FC-A983C5AAA150}">
      <dgm:prSet/>
      <dgm:spPr/>
      <dgm:t>
        <a:bodyPr/>
        <a:lstStyle/>
        <a:p>
          <a:endParaRPr lang="en-US"/>
        </a:p>
      </dgm:t>
    </dgm:pt>
    <dgm:pt modelId="{D14507E4-BC7C-4876-9980-69C387F70620}">
      <dgm:prSet phldrT="[Text]"/>
      <dgm:spPr/>
      <dgm:t>
        <a:bodyPr/>
        <a:lstStyle/>
        <a:p>
          <a:r>
            <a:rPr lang="en-US" b="0" i="0" dirty="0" smtClean="0"/>
            <a:t>Scale out via the process model</a:t>
          </a:r>
          <a:endParaRPr lang="en-US" dirty="0"/>
        </a:p>
      </dgm:t>
    </dgm:pt>
    <dgm:pt modelId="{8522960A-9B2F-4724-A173-C12111A2AE47}" type="parTrans" cxnId="{34EF6B17-B22B-4B8B-AA44-1168B22D51AF}">
      <dgm:prSet/>
      <dgm:spPr/>
      <dgm:t>
        <a:bodyPr/>
        <a:lstStyle/>
        <a:p>
          <a:endParaRPr lang="en-US"/>
        </a:p>
      </dgm:t>
    </dgm:pt>
    <dgm:pt modelId="{65FD62BD-92F2-4F82-B8A2-D4D21BAAD9DC}" type="sibTrans" cxnId="{34EF6B17-B22B-4B8B-AA44-1168B22D51AF}">
      <dgm:prSet/>
      <dgm:spPr/>
      <dgm:t>
        <a:bodyPr/>
        <a:lstStyle/>
        <a:p>
          <a:endParaRPr lang="en-US"/>
        </a:p>
      </dgm:t>
    </dgm:pt>
    <dgm:pt modelId="{BA7D87DD-DD92-4D62-8978-59C29AC1470F}">
      <dgm:prSet phldrT="[Text]"/>
      <dgm:spPr/>
      <dgm:t>
        <a:bodyPr/>
        <a:lstStyle/>
        <a:p>
          <a:r>
            <a:rPr lang="en-US" b="0" i="0" dirty="0" smtClean="0"/>
            <a:t>Maximize robustness with fast startup and graceful shutdown</a:t>
          </a:r>
          <a:endParaRPr lang="en-US" dirty="0"/>
        </a:p>
      </dgm:t>
    </dgm:pt>
    <dgm:pt modelId="{38A7F798-C1BC-4F14-A6E4-1D315FF8102F}" type="parTrans" cxnId="{7AD111B5-0731-4CF3-9372-E5B494F9195A}">
      <dgm:prSet/>
      <dgm:spPr/>
      <dgm:t>
        <a:bodyPr/>
        <a:lstStyle/>
        <a:p>
          <a:endParaRPr lang="en-US"/>
        </a:p>
      </dgm:t>
    </dgm:pt>
    <dgm:pt modelId="{37FBADAC-5E38-45D0-834B-72E7F93CA20C}" type="sibTrans" cxnId="{7AD111B5-0731-4CF3-9372-E5B494F9195A}">
      <dgm:prSet/>
      <dgm:spPr/>
      <dgm:t>
        <a:bodyPr/>
        <a:lstStyle/>
        <a:p>
          <a:endParaRPr lang="en-US"/>
        </a:p>
      </dgm:t>
    </dgm:pt>
    <dgm:pt modelId="{6ADDEAB4-47FD-4FAC-BA5F-6FC7595CA436}">
      <dgm:prSet phldrT="[Text]"/>
      <dgm:spPr/>
      <dgm:t>
        <a:bodyPr/>
        <a:lstStyle/>
        <a:p>
          <a:r>
            <a:rPr lang="en-US" b="0" i="0" dirty="0" smtClean="0"/>
            <a:t>Keep development, staging, and production as similar as possible</a:t>
          </a:r>
          <a:endParaRPr lang="en-US" dirty="0"/>
        </a:p>
      </dgm:t>
    </dgm:pt>
    <dgm:pt modelId="{9C34E6A8-AAF4-4EE7-A6DB-24CAC249EB90}" type="parTrans" cxnId="{E56A4A23-8A12-432F-9F54-19F2901AEDB3}">
      <dgm:prSet/>
      <dgm:spPr/>
      <dgm:t>
        <a:bodyPr/>
        <a:lstStyle/>
        <a:p>
          <a:endParaRPr lang="en-US"/>
        </a:p>
      </dgm:t>
    </dgm:pt>
    <dgm:pt modelId="{D259AE7A-54E7-4D2E-997D-203118607C07}" type="sibTrans" cxnId="{E56A4A23-8A12-432F-9F54-19F2901AEDB3}">
      <dgm:prSet/>
      <dgm:spPr/>
      <dgm:t>
        <a:bodyPr/>
        <a:lstStyle/>
        <a:p>
          <a:endParaRPr lang="en-US"/>
        </a:p>
      </dgm:t>
    </dgm:pt>
    <dgm:pt modelId="{EF0321BE-A7F6-4C8F-AB47-5217B9EDFD68}">
      <dgm:prSet phldrT="[Text]"/>
      <dgm:spPr/>
      <dgm:t>
        <a:bodyPr/>
        <a:lstStyle/>
        <a:p>
          <a:r>
            <a:rPr lang="en-US" b="0" i="0" dirty="0" smtClean="0"/>
            <a:t>Treat logs as event streams</a:t>
          </a:r>
          <a:endParaRPr lang="en-US" dirty="0"/>
        </a:p>
      </dgm:t>
    </dgm:pt>
    <dgm:pt modelId="{720F882A-9F1C-4404-84B0-32961F60B95D}" type="parTrans" cxnId="{A7290B95-73E1-4ED4-BDC6-8987EC9D9BDF}">
      <dgm:prSet/>
      <dgm:spPr/>
      <dgm:t>
        <a:bodyPr/>
        <a:lstStyle/>
        <a:p>
          <a:endParaRPr lang="en-US"/>
        </a:p>
      </dgm:t>
    </dgm:pt>
    <dgm:pt modelId="{EAAC146B-D018-4BA3-A8D3-E6FF902783F0}" type="sibTrans" cxnId="{A7290B95-73E1-4ED4-BDC6-8987EC9D9BDF}">
      <dgm:prSet/>
      <dgm:spPr/>
      <dgm:t>
        <a:bodyPr/>
        <a:lstStyle/>
        <a:p>
          <a:endParaRPr lang="en-US"/>
        </a:p>
      </dgm:t>
    </dgm:pt>
    <dgm:pt modelId="{21EC3168-090E-4205-9E0B-670A87402102}">
      <dgm:prSet phldrT="[Text]"/>
      <dgm:spPr/>
      <dgm:t>
        <a:bodyPr/>
        <a:lstStyle/>
        <a:p>
          <a:r>
            <a:rPr lang="en-US" b="0" i="0" dirty="0" smtClean="0"/>
            <a:t>Run admin/management tasks as one-off processes</a:t>
          </a:r>
          <a:endParaRPr lang="en-US" dirty="0"/>
        </a:p>
      </dgm:t>
    </dgm:pt>
    <dgm:pt modelId="{DAF6B54F-46C7-4E46-A600-ABF98C1432D5}" type="parTrans" cxnId="{B0E1D296-5B2C-4702-BAB6-9BD8A21F308C}">
      <dgm:prSet/>
      <dgm:spPr/>
      <dgm:t>
        <a:bodyPr/>
        <a:lstStyle/>
        <a:p>
          <a:endParaRPr lang="en-US"/>
        </a:p>
      </dgm:t>
    </dgm:pt>
    <dgm:pt modelId="{A127495E-C982-478C-B522-33078086376C}" type="sibTrans" cxnId="{B0E1D296-5B2C-4702-BAB6-9BD8A21F308C}">
      <dgm:prSet/>
      <dgm:spPr/>
      <dgm:t>
        <a:bodyPr/>
        <a:lstStyle/>
        <a:p>
          <a:endParaRPr lang="en-US"/>
        </a:p>
      </dgm:t>
    </dgm:pt>
    <dgm:pt modelId="{ABB35341-A555-414E-AB58-0FFF1643EA7D}" type="pres">
      <dgm:prSet presAssocID="{DFCB2790-FE25-4DD9-BF2A-7FF90A66E086}" presName="vert0" presStyleCnt="0">
        <dgm:presLayoutVars>
          <dgm:dir/>
          <dgm:animOne val="branch"/>
          <dgm:animLvl val="lvl"/>
        </dgm:presLayoutVars>
      </dgm:prSet>
      <dgm:spPr/>
      <dgm:t>
        <a:bodyPr/>
        <a:lstStyle/>
        <a:p>
          <a:endParaRPr lang="en-US"/>
        </a:p>
      </dgm:t>
    </dgm:pt>
    <dgm:pt modelId="{306DBF75-F2A1-4FB6-9E8F-65A648D27EA3}" type="pres">
      <dgm:prSet presAssocID="{B6E7628F-AD4F-4B8C-B544-805D2DEAADBA}" presName="thickLine" presStyleLbl="alignNode1" presStyleIdx="0" presStyleCnt="1"/>
      <dgm:spPr/>
      <dgm:t>
        <a:bodyPr/>
        <a:lstStyle/>
        <a:p>
          <a:endParaRPr lang="en-US"/>
        </a:p>
      </dgm:t>
    </dgm:pt>
    <dgm:pt modelId="{C5E1EE03-2303-47D8-AB94-37289B19ED06}" type="pres">
      <dgm:prSet presAssocID="{B6E7628F-AD4F-4B8C-B544-805D2DEAADBA}" presName="horz1" presStyleCnt="0"/>
      <dgm:spPr/>
      <dgm:t>
        <a:bodyPr/>
        <a:lstStyle/>
        <a:p>
          <a:endParaRPr lang="en-US"/>
        </a:p>
      </dgm:t>
    </dgm:pt>
    <dgm:pt modelId="{6D36D92B-BB4C-48EF-8A22-53A7FA49DB1D}" type="pres">
      <dgm:prSet presAssocID="{B6E7628F-AD4F-4B8C-B544-805D2DEAADBA}" presName="tx1" presStyleLbl="revTx" presStyleIdx="0" presStyleCnt="25"/>
      <dgm:spPr/>
      <dgm:t>
        <a:bodyPr/>
        <a:lstStyle/>
        <a:p>
          <a:endParaRPr lang="en-US"/>
        </a:p>
      </dgm:t>
    </dgm:pt>
    <dgm:pt modelId="{8190571E-7037-4081-87CC-FC2E7FDC061E}" type="pres">
      <dgm:prSet presAssocID="{B6E7628F-AD4F-4B8C-B544-805D2DEAADBA}" presName="vert1" presStyleCnt="0"/>
      <dgm:spPr/>
      <dgm:t>
        <a:bodyPr/>
        <a:lstStyle/>
        <a:p>
          <a:endParaRPr lang="en-US"/>
        </a:p>
      </dgm:t>
    </dgm:pt>
    <dgm:pt modelId="{480387D0-54BC-4718-89AE-54CAF5772BC6}" type="pres">
      <dgm:prSet presAssocID="{BDD2DEB5-4D14-400E-8267-C356A113FB46}" presName="vertSpace2a" presStyleCnt="0"/>
      <dgm:spPr/>
      <dgm:t>
        <a:bodyPr/>
        <a:lstStyle/>
        <a:p>
          <a:endParaRPr lang="en-US"/>
        </a:p>
      </dgm:t>
    </dgm:pt>
    <dgm:pt modelId="{134ACB1E-8CAA-4891-A5CC-7D3D19005CE9}" type="pres">
      <dgm:prSet presAssocID="{BDD2DEB5-4D14-400E-8267-C356A113FB46}" presName="horz2" presStyleCnt="0"/>
      <dgm:spPr/>
      <dgm:t>
        <a:bodyPr/>
        <a:lstStyle/>
        <a:p>
          <a:endParaRPr lang="en-US"/>
        </a:p>
      </dgm:t>
    </dgm:pt>
    <dgm:pt modelId="{7992F5E7-C574-4AD8-8C4D-673573B6A72F}" type="pres">
      <dgm:prSet presAssocID="{BDD2DEB5-4D14-400E-8267-C356A113FB46}" presName="horzSpace2" presStyleCnt="0"/>
      <dgm:spPr/>
      <dgm:t>
        <a:bodyPr/>
        <a:lstStyle/>
        <a:p>
          <a:endParaRPr lang="en-US"/>
        </a:p>
      </dgm:t>
    </dgm:pt>
    <dgm:pt modelId="{2F336A2D-DE30-49D8-8121-B788C1547A10}" type="pres">
      <dgm:prSet presAssocID="{BDD2DEB5-4D14-400E-8267-C356A113FB46}" presName="tx2" presStyleLbl="revTx" presStyleIdx="1" presStyleCnt="25"/>
      <dgm:spPr/>
      <dgm:t>
        <a:bodyPr/>
        <a:lstStyle/>
        <a:p>
          <a:endParaRPr lang="en-US"/>
        </a:p>
      </dgm:t>
    </dgm:pt>
    <dgm:pt modelId="{CC98CF49-6494-4D17-9DB5-4B309D5156BE}" type="pres">
      <dgm:prSet presAssocID="{BDD2DEB5-4D14-400E-8267-C356A113FB46}" presName="vert2" presStyleCnt="0"/>
      <dgm:spPr/>
      <dgm:t>
        <a:bodyPr/>
        <a:lstStyle/>
        <a:p>
          <a:endParaRPr lang="en-US"/>
        </a:p>
      </dgm:t>
    </dgm:pt>
    <dgm:pt modelId="{FD9057A4-9A2B-426F-A234-166616EC39A7}" type="pres">
      <dgm:prSet presAssocID="{ACDAEB24-B324-42BC-8E3B-7D79613A2D16}" presName="horz3" presStyleCnt="0"/>
      <dgm:spPr/>
      <dgm:t>
        <a:bodyPr/>
        <a:lstStyle/>
        <a:p>
          <a:endParaRPr lang="en-US"/>
        </a:p>
      </dgm:t>
    </dgm:pt>
    <dgm:pt modelId="{E9810F30-D39D-4044-827C-2906604F1DA2}" type="pres">
      <dgm:prSet presAssocID="{ACDAEB24-B324-42BC-8E3B-7D79613A2D16}" presName="horzSpace3" presStyleCnt="0"/>
      <dgm:spPr/>
      <dgm:t>
        <a:bodyPr/>
        <a:lstStyle/>
        <a:p>
          <a:endParaRPr lang="en-US"/>
        </a:p>
      </dgm:t>
    </dgm:pt>
    <dgm:pt modelId="{1FC361A9-58F8-4982-BAB6-1FE835B7E412}" type="pres">
      <dgm:prSet presAssocID="{ACDAEB24-B324-42BC-8E3B-7D79613A2D16}" presName="tx3" presStyleLbl="revTx" presStyleIdx="2" presStyleCnt="25"/>
      <dgm:spPr/>
      <dgm:t>
        <a:bodyPr/>
        <a:lstStyle/>
        <a:p>
          <a:endParaRPr lang="en-US"/>
        </a:p>
      </dgm:t>
    </dgm:pt>
    <dgm:pt modelId="{C5F26D7B-86BC-4D29-98AA-B03EF41E6A6C}" type="pres">
      <dgm:prSet presAssocID="{ACDAEB24-B324-42BC-8E3B-7D79613A2D16}" presName="vert3" presStyleCnt="0"/>
      <dgm:spPr/>
      <dgm:t>
        <a:bodyPr/>
        <a:lstStyle/>
        <a:p>
          <a:endParaRPr lang="en-US"/>
        </a:p>
      </dgm:t>
    </dgm:pt>
    <dgm:pt modelId="{B230D8EA-2706-4AA5-9702-3C38714A1AB1}" type="pres">
      <dgm:prSet presAssocID="{BDD2DEB5-4D14-400E-8267-C356A113FB46}" presName="thinLine2b" presStyleLbl="callout" presStyleIdx="0" presStyleCnt="12"/>
      <dgm:spPr/>
      <dgm:t>
        <a:bodyPr/>
        <a:lstStyle/>
        <a:p>
          <a:endParaRPr lang="en-US"/>
        </a:p>
      </dgm:t>
    </dgm:pt>
    <dgm:pt modelId="{640C33C7-61FE-4EE2-B111-73500BACD4BC}" type="pres">
      <dgm:prSet presAssocID="{BDD2DEB5-4D14-400E-8267-C356A113FB46}" presName="vertSpace2b" presStyleCnt="0"/>
      <dgm:spPr/>
      <dgm:t>
        <a:bodyPr/>
        <a:lstStyle/>
        <a:p>
          <a:endParaRPr lang="en-US"/>
        </a:p>
      </dgm:t>
    </dgm:pt>
    <dgm:pt modelId="{E1214B5F-7149-4C0C-A0BB-49238AB780E9}" type="pres">
      <dgm:prSet presAssocID="{C92328FF-933F-4C3C-8D04-3B3F537D94C3}" presName="horz2" presStyleCnt="0"/>
      <dgm:spPr/>
      <dgm:t>
        <a:bodyPr/>
        <a:lstStyle/>
        <a:p>
          <a:endParaRPr lang="en-US"/>
        </a:p>
      </dgm:t>
    </dgm:pt>
    <dgm:pt modelId="{C48C2AAA-70A2-4ED8-9C77-FDC32B8E18BF}" type="pres">
      <dgm:prSet presAssocID="{C92328FF-933F-4C3C-8D04-3B3F537D94C3}" presName="horzSpace2" presStyleCnt="0"/>
      <dgm:spPr/>
      <dgm:t>
        <a:bodyPr/>
        <a:lstStyle/>
        <a:p>
          <a:endParaRPr lang="en-US"/>
        </a:p>
      </dgm:t>
    </dgm:pt>
    <dgm:pt modelId="{69740E21-C432-4BC7-82AC-689ED8F162C5}" type="pres">
      <dgm:prSet presAssocID="{C92328FF-933F-4C3C-8D04-3B3F537D94C3}" presName="tx2" presStyleLbl="revTx" presStyleIdx="3" presStyleCnt="25"/>
      <dgm:spPr/>
      <dgm:t>
        <a:bodyPr/>
        <a:lstStyle/>
        <a:p>
          <a:endParaRPr lang="en-US"/>
        </a:p>
      </dgm:t>
    </dgm:pt>
    <dgm:pt modelId="{1BD143C2-A517-4059-8297-F8688C33E16F}" type="pres">
      <dgm:prSet presAssocID="{C92328FF-933F-4C3C-8D04-3B3F537D94C3}" presName="vert2" presStyleCnt="0"/>
      <dgm:spPr/>
      <dgm:t>
        <a:bodyPr/>
        <a:lstStyle/>
        <a:p>
          <a:endParaRPr lang="en-US"/>
        </a:p>
      </dgm:t>
    </dgm:pt>
    <dgm:pt modelId="{06E405A9-8B4C-45D5-B8DC-2BF8012467F1}" type="pres">
      <dgm:prSet presAssocID="{108AB784-BD6E-4137-86AF-97A71485587D}" presName="horz3" presStyleCnt="0"/>
      <dgm:spPr/>
      <dgm:t>
        <a:bodyPr/>
        <a:lstStyle/>
        <a:p>
          <a:endParaRPr lang="en-US"/>
        </a:p>
      </dgm:t>
    </dgm:pt>
    <dgm:pt modelId="{CA665E20-ED55-4459-B82B-E87558B29463}" type="pres">
      <dgm:prSet presAssocID="{108AB784-BD6E-4137-86AF-97A71485587D}" presName="horzSpace3" presStyleCnt="0"/>
      <dgm:spPr/>
      <dgm:t>
        <a:bodyPr/>
        <a:lstStyle/>
        <a:p>
          <a:endParaRPr lang="en-US"/>
        </a:p>
      </dgm:t>
    </dgm:pt>
    <dgm:pt modelId="{67B78FED-8CD0-490A-9E96-FB592E6E71E0}" type="pres">
      <dgm:prSet presAssocID="{108AB784-BD6E-4137-86AF-97A71485587D}" presName="tx3" presStyleLbl="revTx" presStyleIdx="4" presStyleCnt="25"/>
      <dgm:spPr/>
      <dgm:t>
        <a:bodyPr/>
        <a:lstStyle/>
        <a:p>
          <a:endParaRPr lang="en-US"/>
        </a:p>
      </dgm:t>
    </dgm:pt>
    <dgm:pt modelId="{92F7BC85-4704-4EB3-AFF1-41ACF9E3E6FC}" type="pres">
      <dgm:prSet presAssocID="{108AB784-BD6E-4137-86AF-97A71485587D}" presName="vert3" presStyleCnt="0"/>
      <dgm:spPr/>
      <dgm:t>
        <a:bodyPr/>
        <a:lstStyle/>
        <a:p>
          <a:endParaRPr lang="en-US"/>
        </a:p>
      </dgm:t>
    </dgm:pt>
    <dgm:pt modelId="{9ACDD2A3-C9B0-4A0B-A91E-2A11D7DFE815}" type="pres">
      <dgm:prSet presAssocID="{C92328FF-933F-4C3C-8D04-3B3F537D94C3}" presName="thinLine2b" presStyleLbl="callout" presStyleIdx="1" presStyleCnt="12"/>
      <dgm:spPr/>
      <dgm:t>
        <a:bodyPr/>
        <a:lstStyle/>
        <a:p>
          <a:endParaRPr lang="en-US"/>
        </a:p>
      </dgm:t>
    </dgm:pt>
    <dgm:pt modelId="{8CF07B4C-F069-4FF3-BB57-BE71967E2032}" type="pres">
      <dgm:prSet presAssocID="{C92328FF-933F-4C3C-8D04-3B3F537D94C3}" presName="vertSpace2b" presStyleCnt="0"/>
      <dgm:spPr/>
      <dgm:t>
        <a:bodyPr/>
        <a:lstStyle/>
        <a:p>
          <a:endParaRPr lang="en-US"/>
        </a:p>
      </dgm:t>
    </dgm:pt>
    <dgm:pt modelId="{1B3537DC-8FB2-4FAF-8AEF-FBE52C5E73F1}" type="pres">
      <dgm:prSet presAssocID="{06C2CAEA-599D-47A2-BA60-067940F1DF01}" presName="horz2" presStyleCnt="0"/>
      <dgm:spPr/>
      <dgm:t>
        <a:bodyPr/>
        <a:lstStyle/>
        <a:p>
          <a:endParaRPr lang="en-US"/>
        </a:p>
      </dgm:t>
    </dgm:pt>
    <dgm:pt modelId="{D622245E-7B4E-4431-A409-0EEC16261055}" type="pres">
      <dgm:prSet presAssocID="{06C2CAEA-599D-47A2-BA60-067940F1DF01}" presName="horzSpace2" presStyleCnt="0"/>
      <dgm:spPr/>
      <dgm:t>
        <a:bodyPr/>
        <a:lstStyle/>
        <a:p>
          <a:endParaRPr lang="en-US"/>
        </a:p>
      </dgm:t>
    </dgm:pt>
    <dgm:pt modelId="{FE4CEB96-C9FE-444A-9D3F-1D9252E9C344}" type="pres">
      <dgm:prSet presAssocID="{06C2CAEA-599D-47A2-BA60-067940F1DF01}" presName="tx2" presStyleLbl="revTx" presStyleIdx="5" presStyleCnt="25"/>
      <dgm:spPr/>
      <dgm:t>
        <a:bodyPr/>
        <a:lstStyle/>
        <a:p>
          <a:endParaRPr lang="en-US"/>
        </a:p>
      </dgm:t>
    </dgm:pt>
    <dgm:pt modelId="{0C619890-076A-4FEE-AF84-DC975D352C41}" type="pres">
      <dgm:prSet presAssocID="{06C2CAEA-599D-47A2-BA60-067940F1DF01}" presName="vert2" presStyleCnt="0"/>
      <dgm:spPr/>
      <dgm:t>
        <a:bodyPr/>
        <a:lstStyle/>
        <a:p>
          <a:endParaRPr lang="en-US"/>
        </a:p>
      </dgm:t>
    </dgm:pt>
    <dgm:pt modelId="{A3BF8712-2DB3-4334-86CD-67E2B0503C4F}" type="pres">
      <dgm:prSet presAssocID="{B1D70AB4-6ADD-4F89-A36D-4A42955AEA98}" presName="horz3" presStyleCnt="0"/>
      <dgm:spPr/>
      <dgm:t>
        <a:bodyPr/>
        <a:lstStyle/>
        <a:p>
          <a:endParaRPr lang="en-US"/>
        </a:p>
      </dgm:t>
    </dgm:pt>
    <dgm:pt modelId="{D9CCF157-5A99-4AC9-9D14-94539F3E83E8}" type="pres">
      <dgm:prSet presAssocID="{B1D70AB4-6ADD-4F89-A36D-4A42955AEA98}" presName="horzSpace3" presStyleCnt="0"/>
      <dgm:spPr/>
      <dgm:t>
        <a:bodyPr/>
        <a:lstStyle/>
        <a:p>
          <a:endParaRPr lang="en-US"/>
        </a:p>
      </dgm:t>
    </dgm:pt>
    <dgm:pt modelId="{8694DF0D-3EF0-475C-AB00-63714E3C043B}" type="pres">
      <dgm:prSet presAssocID="{B1D70AB4-6ADD-4F89-A36D-4A42955AEA98}" presName="tx3" presStyleLbl="revTx" presStyleIdx="6" presStyleCnt="25"/>
      <dgm:spPr/>
      <dgm:t>
        <a:bodyPr/>
        <a:lstStyle/>
        <a:p>
          <a:endParaRPr lang="en-US"/>
        </a:p>
      </dgm:t>
    </dgm:pt>
    <dgm:pt modelId="{57DB0EF4-C43E-4BD8-B8B5-9F1C79F484E8}" type="pres">
      <dgm:prSet presAssocID="{B1D70AB4-6ADD-4F89-A36D-4A42955AEA98}" presName="vert3" presStyleCnt="0"/>
      <dgm:spPr/>
      <dgm:t>
        <a:bodyPr/>
        <a:lstStyle/>
        <a:p>
          <a:endParaRPr lang="en-US"/>
        </a:p>
      </dgm:t>
    </dgm:pt>
    <dgm:pt modelId="{55B551C1-3956-4FB5-9FC0-72F039EDE315}" type="pres">
      <dgm:prSet presAssocID="{06C2CAEA-599D-47A2-BA60-067940F1DF01}" presName="thinLine2b" presStyleLbl="callout" presStyleIdx="2" presStyleCnt="12"/>
      <dgm:spPr/>
      <dgm:t>
        <a:bodyPr/>
        <a:lstStyle/>
        <a:p>
          <a:endParaRPr lang="en-US"/>
        </a:p>
      </dgm:t>
    </dgm:pt>
    <dgm:pt modelId="{BBCA71EF-058D-490D-B79B-C85806A5D279}" type="pres">
      <dgm:prSet presAssocID="{06C2CAEA-599D-47A2-BA60-067940F1DF01}" presName="vertSpace2b" presStyleCnt="0"/>
      <dgm:spPr/>
      <dgm:t>
        <a:bodyPr/>
        <a:lstStyle/>
        <a:p>
          <a:endParaRPr lang="en-US"/>
        </a:p>
      </dgm:t>
    </dgm:pt>
    <dgm:pt modelId="{91114291-A1AD-49E3-AD48-F3FF429380BC}" type="pres">
      <dgm:prSet presAssocID="{9EB2095E-84A2-4014-A4DC-6A1628B20B2C}" presName="horz2" presStyleCnt="0"/>
      <dgm:spPr/>
      <dgm:t>
        <a:bodyPr/>
        <a:lstStyle/>
        <a:p>
          <a:endParaRPr lang="en-US"/>
        </a:p>
      </dgm:t>
    </dgm:pt>
    <dgm:pt modelId="{B1B17504-0DE0-43AF-A704-79238B0C1F79}" type="pres">
      <dgm:prSet presAssocID="{9EB2095E-84A2-4014-A4DC-6A1628B20B2C}" presName="horzSpace2" presStyleCnt="0"/>
      <dgm:spPr/>
      <dgm:t>
        <a:bodyPr/>
        <a:lstStyle/>
        <a:p>
          <a:endParaRPr lang="en-US"/>
        </a:p>
      </dgm:t>
    </dgm:pt>
    <dgm:pt modelId="{EE1B3B31-C3A2-44CE-B07C-40E3BABFF200}" type="pres">
      <dgm:prSet presAssocID="{9EB2095E-84A2-4014-A4DC-6A1628B20B2C}" presName="tx2" presStyleLbl="revTx" presStyleIdx="7" presStyleCnt="25"/>
      <dgm:spPr/>
      <dgm:t>
        <a:bodyPr/>
        <a:lstStyle/>
        <a:p>
          <a:endParaRPr lang="en-US"/>
        </a:p>
      </dgm:t>
    </dgm:pt>
    <dgm:pt modelId="{AA31E6E8-BEA9-45B2-A849-222C47644B4D}" type="pres">
      <dgm:prSet presAssocID="{9EB2095E-84A2-4014-A4DC-6A1628B20B2C}" presName="vert2" presStyleCnt="0"/>
      <dgm:spPr/>
      <dgm:t>
        <a:bodyPr/>
        <a:lstStyle/>
        <a:p>
          <a:endParaRPr lang="en-US"/>
        </a:p>
      </dgm:t>
    </dgm:pt>
    <dgm:pt modelId="{0E5C5569-41F3-4947-BA62-AA504A07BCA1}" type="pres">
      <dgm:prSet presAssocID="{0847578D-A2A3-4401-B5E6-8EF837EE3301}" presName="horz3" presStyleCnt="0"/>
      <dgm:spPr/>
      <dgm:t>
        <a:bodyPr/>
        <a:lstStyle/>
        <a:p>
          <a:endParaRPr lang="en-US"/>
        </a:p>
      </dgm:t>
    </dgm:pt>
    <dgm:pt modelId="{8B634869-3D6F-4F19-941F-98517CF6B527}" type="pres">
      <dgm:prSet presAssocID="{0847578D-A2A3-4401-B5E6-8EF837EE3301}" presName="horzSpace3" presStyleCnt="0"/>
      <dgm:spPr/>
      <dgm:t>
        <a:bodyPr/>
        <a:lstStyle/>
        <a:p>
          <a:endParaRPr lang="en-US"/>
        </a:p>
      </dgm:t>
    </dgm:pt>
    <dgm:pt modelId="{FC3C7886-424D-4780-90D1-D7C51C4E6030}" type="pres">
      <dgm:prSet presAssocID="{0847578D-A2A3-4401-B5E6-8EF837EE3301}" presName="tx3" presStyleLbl="revTx" presStyleIdx="8" presStyleCnt="25"/>
      <dgm:spPr/>
      <dgm:t>
        <a:bodyPr/>
        <a:lstStyle/>
        <a:p>
          <a:endParaRPr lang="en-US"/>
        </a:p>
      </dgm:t>
    </dgm:pt>
    <dgm:pt modelId="{EF4B794F-CB95-47A3-B80C-3B5CBFD8D89B}" type="pres">
      <dgm:prSet presAssocID="{0847578D-A2A3-4401-B5E6-8EF837EE3301}" presName="vert3" presStyleCnt="0"/>
      <dgm:spPr/>
      <dgm:t>
        <a:bodyPr/>
        <a:lstStyle/>
        <a:p>
          <a:endParaRPr lang="en-US"/>
        </a:p>
      </dgm:t>
    </dgm:pt>
    <dgm:pt modelId="{D8692E62-CB46-4B7F-AD83-10E3647E9B61}" type="pres">
      <dgm:prSet presAssocID="{9EB2095E-84A2-4014-A4DC-6A1628B20B2C}" presName="thinLine2b" presStyleLbl="callout" presStyleIdx="3" presStyleCnt="12"/>
      <dgm:spPr/>
      <dgm:t>
        <a:bodyPr/>
        <a:lstStyle/>
        <a:p>
          <a:endParaRPr lang="en-US"/>
        </a:p>
      </dgm:t>
    </dgm:pt>
    <dgm:pt modelId="{AC44066D-3C00-4BD5-91E6-B595D5A4A695}" type="pres">
      <dgm:prSet presAssocID="{9EB2095E-84A2-4014-A4DC-6A1628B20B2C}" presName="vertSpace2b" presStyleCnt="0"/>
      <dgm:spPr/>
      <dgm:t>
        <a:bodyPr/>
        <a:lstStyle/>
        <a:p>
          <a:endParaRPr lang="en-US"/>
        </a:p>
      </dgm:t>
    </dgm:pt>
    <dgm:pt modelId="{9668FD17-A892-49E2-ABB6-21093247EBCA}" type="pres">
      <dgm:prSet presAssocID="{CE6A86AE-7D6F-4760-8B30-0A562B24CD7C}" presName="horz2" presStyleCnt="0"/>
      <dgm:spPr/>
      <dgm:t>
        <a:bodyPr/>
        <a:lstStyle/>
        <a:p>
          <a:endParaRPr lang="en-US"/>
        </a:p>
      </dgm:t>
    </dgm:pt>
    <dgm:pt modelId="{7702C47E-0CA4-4300-BAAE-9FFFE77F44B7}" type="pres">
      <dgm:prSet presAssocID="{CE6A86AE-7D6F-4760-8B30-0A562B24CD7C}" presName="horzSpace2" presStyleCnt="0"/>
      <dgm:spPr/>
      <dgm:t>
        <a:bodyPr/>
        <a:lstStyle/>
        <a:p>
          <a:endParaRPr lang="en-US"/>
        </a:p>
      </dgm:t>
    </dgm:pt>
    <dgm:pt modelId="{77A702C1-D77D-4064-982B-EBFB84B5B7C0}" type="pres">
      <dgm:prSet presAssocID="{CE6A86AE-7D6F-4760-8B30-0A562B24CD7C}" presName="tx2" presStyleLbl="revTx" presStyleIdx="9" presStyleCnt="25"/>
      <dgm:spPr/>
      <dgm:t>
        <a:bodyPr/>
        <a:lstStyle/>
        <a:p>
          <a:endParaRPr lang="en-US"/>
        </a:p>
      </dgm:t>
    </dgm:pt>
    <dgm:pt modelId="{9033CA31-DA60-40EF-9338-EDC2B3BC6925}" type="pres">
      <dgm:prSet presAssocID="{CE6A86AE-7D6F-4760-8B30-0A562B24CD7C}" presName="vert2" presStyleCnt="0"/>
      <dgm:spPr/>
      <dgm:t>
        <a:bodyPr/>
        <a:lstStyle/>
        <a:p>
          <a:endParaRPr lang="en-US"/>
        </a:p>
      </dgm:t>
    </dgm:pt>
    <dgm:pt modelId="{D4FF0B28-1B1F-47B0-925A-B5E0E9F51221}" type="pres">
      <dgm:prSet presAssocID="{1802913D-8339-4726-9539-4AB78631D187}" presName="horz3" presStyleCnt="0"/>
      <dgm:spPr/>
      <dgm:t>
        <a:bodyPr/>
        <a:lstStyle/>
        <a:p>
          <a:endParaRPr lang="en-US"/>
        </a:p>
      </dgm:t>
    </dgm:pt>
    <dgm:pt modelId="{B96A4A20-7FE9-4BD5-85C2-6D4681B2C2F1}" type="pres">
      <dgm:prSet presAssocID="{1802913D-8339-4726-9539-4AB78631D187}" presName="horzSpace3" presStyleCnt="0"/>
      <dgm:spPr/>
      <dgm:t>
        <a:bodyPr/>
        <a:lstStyle/>
        <a:p>
          <a:endParaRPr lang="en-US"/>
        </a:p>
      </dgm:t>
    </dgm:pt>
    <dgm:pt modelId="{70263E1B-D2DF-437E-B39F-9DFBC26EFB1B}" type="pres">
      <dgm:prSet presAssocID="{1802913D-8339-4726-9539-4AB78631D187}" presName="tx3" presStyleLbl="revTx" presStyleIdx="10" presStyleCnt="25"/>
      <dgm:spPr/>
      <dgm:t>
        <a:bodyPr/>
        <a:lstStyle/>
        <a:p>
          <a:endParaRPr lang="en-US"/>
        </a:p>
      </dgm:t>
    </dgm:pt>
    <dgm:pt modelId="{D2C96178-D702-46F7-AF24-5A5A52AF6615}" type="pres">
      <dgm:prSet presAssocID="{1802913D-8339-4726-9539-4AB78631D187}" presName="vert3" presStyleCnt="0"/>
      <dgm:spPr/>
      <dgm:t>
        <a:bodyPr/>
        <a:lstStyle/>
        <a:p>
          <a:endParaRPr lang="en-US"/>
        </a:p>
      </dgm:t>
    </dgm:pt>
    <dgm:pt modelId="{C339D601-8677-4ECF-9C84-B61B52FF6FF9}" type="pres">
      <dgm:prSet presAssocID="{CE6A86AE-7D6F-4760-8B30-0A562B24CD7C}" presName="thinLine2b" presStyleLbl="callout" presStyleIdx="4" presStyleCnt="12"/>
      <dgm:spPr/>
      <dgm:t>
        <a:bodyPr/>
        <a:lstStyle/>
        <a:p>
          <a:endParaRPr lang="en-US"/>
        </a:p>
      </dgm:t>
    </dgm:pt>
    <dgm:pt modelId="{1F2ED8C6-0332-4224-A89D-9987D50BADA3}" type="pres">
      <dgm:prSet presAssocID="{CE6A86AE-7D6F-4760-8B30-0A562B24CD7C}" presName="vertSpace2b" presStyleCnt="0"/>
      <dgm:spPr/>
      <dgm:t>
        <a:bodyPr/>
        <a:lstStyle/>
        <a:p>
          <a:endParaRPr lang="en-US"/>
        </a:p>
      </dgm:t>
    </dgm:pt>
    <dgm:pt modelId="{38C4C796-00BC-461A-8E12-CC84CFD04D93}" type="pres">
      <dgm:prSet presAssocID="{786ABF0E-88A1-4EE5-9BB7-D2F3A37A3114}" presName="horz2" presStyleCnt="0"/>
      <dgm:spPr/>
      <dgm:t>
        <a:bodyPr/>
        <a:lstStyle/>
        <a:p>
          <a:endParaRPr lang="en-US"/>
        </a:p>
      </dgm:t>
    </dgm:pt>
    <dgm:pt modelId="{2276B5EE-CC54-46FE-9D06-698B9F480549}" type="pres">
      <dgm:prSet presAssocID="{786ABF0E-88A1-4EE5-9BB7-D2F3A37A3114}" presName="horzSpace2" presStyleCnt="0"/>
      <dgm:spPr/>
      <dgm:t>
        <a:bodyPr/>
        <a:lstStyle/>
        <a:p>
          <a:endParaRPr lang="en-US"/>
        </a:p>
      </dgm:t>
    </dgm:pt>
    <dgm:pt modelId="{C2D6E482-38EE-4FFA-8363-F2AF0054A239}" type="pres">
      <dgm:prSet presAssocID="{786ABF0E-88A1-4EE5-9BB7-D2F3A37A3114}" presName="tx2" presStyleLbl="revTx" presStyleIdx="11" presStyleCnt="25"/>
      <dgm:spPr/>
      <dgm:t>
        <a:bodyPr/>
        <a:lstStyle/>
        <a:p>
          <a:endParaRPr lang="en-US"/>
        </a:p>
      </dgm:t>
    </dgm:pt>
    <dgm:pt modelId="{60FEB981-F51B-4E80-849C-2DC0F014063A}" type="pres">
      <dgm:prSet presAssocID="{786ABF0E-88A1-4EE5-9BB7-D2F3A37A3114}" presName="vert2" presStyleCnt="0"/>
      <dgm:spPr/>
      <dgm:t>
        <a:bodyPr/>
        <a:lstStyle/>
        <a:p>
          <a:endParaRPr lang="en-US"/>
        </a:p>
      </dgm:t>
    </dgm:pt>
    <dgm:pt modelId="{41BAD49E-683F-496D-A49D-1EC3F4491B75}" type="pres">
      <dgm:prSet presAssocID="{DF823E02-EE08-4E4F-B428-83FCFFBC1CA1}" presName="horz3" presStyleCnt="0"/>
      <dgm:spPr/>
      <dgm:t>
        <a:bodyPr/>
        <a:lstStyle/>
        <a:p>
          <a:endParaRPr lang="en-US"/>
        </a:p>
      </dgm:t>
    </dgm:pt>
    <dgm:pt modelId="{EDEB85D2-8D61-45B2-991B-1CC880ABEED2}" type="pres">
      <dgm:prSet presAssocID="{DF823E02-EE08-4E4F-B428-83FCFFBC1CA1}" presName="horzSpace3" presStyleCnt="0"/>
      <dgm:spPr/>
      <dgm:t>
        <a:bodyPr/>
        <a:lstStyle/>
        <a:p>
          <a:endParaRPr lang="en-US"/>
        </a:p>
      </dgm:t>
    </dgm:pt>
    <dgm:pt modelId="{3F09B7CC-7A7B-4176-9759-6D9BB1E24E9A}" type="pres">
      <dgm:prSet presAssocID="{DF823E02-EE08-4E4F-B428-83FCFFBC1CA1}" presName="tx3" presStyleLbl="revTx" presStyleIdx="12" presStyleCnt="25"/>
      <dgm:spPr/>
      <dgm:t>
        <a:bodyPr/>
        <a:lstStyle/>
        <a:p>
          <a:endParaRPr lang="en-US"/>
        </a:p>
      </dgm:t>
    </dgm:pt>
    <dgm:pt modelId="{A5E5557B-2D2B-4E29-B92F-3A554392A266}" type="pres">
      <dgm:prSet presAssocID="{DF823E02-EE08-4E4F-B428-83FCFFBC1CA1}" presName="vert3" presStyleCnt="0"/>
      <dgm:spPr/>
      <dgm:t>
        <a:bodyPr/>
        <a:lstStyle/>
        <a:p>
          <a:endParaRPr lang="en-US"/>
        </a:p>
      </dgm:t>
    </dgm:pt>
    <dgm:pt modelId="{45806D57-4082-43D3-B0C8-F88B3D2B746A}" type="pres">
      <dgm:prSet presAssocID="{786ABF0E-88A1-4EE5-9BB7-D2F3A37A3114}" presName="thinLine2b" presStyleLbl="callout" presStyleIdx="5" presStyleCnt="12"/>
      <dgm:spPr/>
      <dgm:t>
        <a:bodyPr/>
        <a:lstStyle/>
        <a:p>
          <a:endParaRPr lang="en-US"/>
        </a:p>
      </dgm:t>
    </dgm:pt>
    <dgm:pt modelId="{BBBAF750-2328-47D9-8391-1CA7171FC1EB}" type="pres">
      <dgm:prSet presAssocID="{786ABF0E-88A1-4EE5-9BB7-D2F3A37A3114}" presName="vertSpace2b" presStyleCnt="0"/>
      <dgm:spPr/>
      <dgm:t>
        <a:bodyPr/>
        <a:lstStyle/>
        <a:p>
          <a:endParaRPr lang="en-US"/>
        </a:p>
      </dgm:t>
    </dgm:pt>
    <dgm:pt modelId="{81510A57-7F5B-4970-B445-9ED4FE86EA1E}" type="pres">
      <dgm:prSet presAssocID="{A4326731-0B42-486A-BE60-CEAD9A65C7CE}" presName="horz2" presStyleCnt="0"/>
      <dgm:spPr/>
      <dgm:t>
        <a:bodyPr/>
        <a:lstStyle/>
        <a:p>
          <a:endParaRPr lang="en-US"/>
        </a:p>
      </dgm:t>
    </dgm:pt>
    <dgm:pt modelId="{19D3E32E-D648-4D9B-8CAF-8243B68CA66D}" type="pres">
      <dgm:prSet presAssocID="{A4326731-0B42-486A-BE60-CEAD9A65C7CE}" presName="horzSpace2" presStyleCnt="0"/>
      <dgm:spPr/>
      <dgm:t>
        <a:bodyPr/>
        <a:lstStyle/>
        <a:p>
          <a:endParaRPr lang="en-US"/>
        </a:p>
      </dgm:t>
    </dgm:pt>
    <dgm:pt modelId="{BE4E65C4-97AE-4D3B-B2F0-D018B046F286}" type="pres">
      <dgm:prSet presAssocID="{A4326731-0B42-486A-BE60-CEAD9A65C7CE}" presName="tx2" presStyleLbl="revTx" presStyleIdx="13" presStyleCnt="25"/>
      <dgm:spPr/>
      <dgm:t>
        <a:bodyPr/>
        <a:lstStyle/>
        <a:p>
          <a:endParaRPr lang="en-US"/>
        </a:p>
      </dgm:t>
    </dgm:pt>
    <dgm:pt modelId="{CE8856B2-A0B3-41D5-B131-8EBB6BA76086}" type="pres">
      <dgm:prSet presAssocID="{A4326731-0B42-486A-BE60-CEAD9A65C7CE}" presName="vert2" presStyleCnt="0"/>
      <dgm:spPr/>
      <dgm:t>
        <a:bodyPr/>
        <a:lstStyle/>
        <a:p>
          <a:endParaRPr lang="en-US"/>
        </a:p>
      </dgm:t>
    </dgm:pt>
    <dgm:pt modelId="{A2025475-6505-4902-B7A2-ABA15EBCDD6F}" type="pres">
      <dgm:prSet presAssocID="{8347A665-5323-4E84-9804-468D447B7E09}" presName="horz3" presStyleCnt="0"/>
      <dgm:spPr/>
      <dgm:t>
        <a:bodyPr/>
        <a:lstStyle/>
        <a:p>
          <a:endParaRPr lang="en-US"/>
        </a:p>
      </dgm:t>
    </dgm:pt>
    <dgm:pt modelId="{AB4F24FE-7E54-4382-822C-4E61D1D05E29}" type="pres">
      <dgm:prSet presAssocID="{8347A665-5323-4E84-9804-468D447B7E09}" presName="horzSpace3" presStyleCnt="0"/>
      <dgm:spPr/>
      <dgm:t>
        <a:bodyPr/>
        <a:lstStyle/>
        <a:p>
          <a:endParaRPr lang="en-US"/>
        </a:p>
      </dgm:t>
    </dgm:pt>
    <dgm:pt modelId="{B0B28CBF-D728-4BF3-8C20-1E93ADC2C2C4}" type="pres">
      <dgm:prSet presAssocID="{8347A665-5323-4E84-9804-468D447B7E09}" presName="tx3" presStyleLbl="revTx" presStyleIdx="14" presStyleCnt="25"/>
      <dgm:spPr/>
      <dgm:t>
        <a:bodyPr/>
        <a:lstStyle/>
        <a:p>
          <a:endParaRPr lang="en-US"/>
        </a:p>
      </dgm:t>
    </dgm:pt>
    <dgm:pt modelId="{51581A63-7FF2-4825-A5E7-384ABFEDDCC5}" type="pres">
      <dgm:prSet presAssocID="{8347A665-5323-4E84-9804-468D447B7E09}" presName="vert3" presStyleCnt="0"/>
      <dgm:spPr/>
      <dgm:t>
        <a:bodyPr/>
        <a:lstStyle/>
        <a:p>
          <a:endParaRPr lang="en-US"/>
        </a:p>
      </dgm:t>
    </dgm:pt>
    <dgm:pt modelId="{1E1914F5-661E-445D-8E58-BFC2CE09ED4D}" type="pres">
      <dgm:prSet presAssocID="{A4326731-0B42-486A-BE60-CEAD9A65C7CE}" presName="thinLine2b" presStyleLbl="callout" presStyleIdx="6" presStyleCnt="12"/>
      <dgm:spPr/>
      <dgm:t>
        <a:bodyPr/>
        <a:lstStyle/>
        <a:p>
          <a:endParaRPr lang="en-US"/>
        </a:p>
      </dgm:t>
    </dgm:pt>
    <dgm:pt modelId="{100B0F99-12B3-4788-B0B4-81AC08A81986}" type="pres">
      <dgm:prSet presAssocID="{A4326731-0B42-486A-BE60-CEAD9A65C7CE}" presName="vertSpace2b" presStyleCnt="0"/>
      <dgm:spPr/>
      <dgm:t>
        <a:bodyPr/>
        <a:lstStyle/>
        <a:p>
          <a:endParaRPr lang="en-US"/>
        </a:p>
      </dgm:t>
    </dgm:pt>
    <dgm:pt modelId="{2CF1665C-6148-4570-ABB9-76E8B3204CEA}" type="pres">
      <dgm:prSet presAssocID="{1C60D59D-3611-4069-8825-933A09EC80D3}" presName="horz2" presStyleCnt="0"/>
      <dgm:spPr/>
      <dgm:t>
        <a:bodyPr/>
        <a:lstStyle/>
        <a:p>
          <a:endParaRPr lang="en-US"/>
        </a:p>
      </dgm:t>
    </dgm:pt>
    <dgm:pt modelId="{D97277C2-AFAF-4BD0-8534-3BA3044AE581}" type="pres">
      <dgm:prSet presAssocID="{1C60D59D-3611-4069-8825-933A09EC80D3}" presName="horzSpace2" presStyleCnt="0"/>
      <dgm:spPr/>
      <dgm:t>
        <a:bodyPr/>
        <a:lstStyle/>
        <a:p>
          <a:endParaRPr lang="en-US"/>
        </a:p>
      </dgm:t>
    </dgm:pt>
    <dgm:pt modelId="{374D6A72-3947-4D00-96AC-512A00ABB82B}" type="pres">
      <dgm:prSet presAssocID="{1C60D59D-3611-4069-8825-933A09EC80D3}" presName="tx2" presStyleLbl="revTx" presStyleIdx="15" presStyleCnt="25"/>
      <dgm:spPr/>
      <dgm:t>
        <a:bodyPr/>
        <a:lstStyle/>
        <a:p>
          <a:endParaRPr lang="en-US"/>
        </a:p>
      </dgm:t>
    </dgm:pt>
    <dgm:pt modelId="{14808FE2-1268-4D98-AC96-EBF1F5BB5B24}" type="pres">
      <dgm:prSet presAssocID="{1C60D59D-3611-4069-8825-933A09EC80D3}" presName="vert2" presStyleCnt="0"/>
      <dgm:spPr/>
      <dgm:t>
        <a:bodyPr/>
        <a:lstStyle/>
        <a:p>
          <a:endParaRPr lang="en-US"/>
        </a:p>
      </dgm:t>
    </dgm:pt>
    <dgm:pt modelId="{7B636C0D-7DCB-4AF8-A68F-7965A34A3A87}" type="pres">
      <dgm:prSet presAssocID="{D14507E4-BC7C-4876-9980-69C387F70620}" presName="horz3" presStyleCnt="0"/>
      <dgm:spPr/>
      <dgm:t>
        <a:bodyPr/>
        <a:lstStyle/>
        <a:p>
          <a:endParaRPr lang="en-US"/>
        </a:p>
      </dgm:t>
    </dgm:pt>
    <dgm:pt modelId="{69F4C7CD-8299-42D0-8F3E-E6EADBC4C910}" type="pres">
      <dgm:prSet presAssocID="{D14507E4-BC7C-4876-9980-69C387F70620}" presName="horzSpace3" presStyleCnt="0"/>
      <dgm:spPr/>
      <dgm:t>
        <a:bodyPr/>
        <a:lstStyle/>
        <a:p>
          <a:endParaRPr lang="en-US"/>
        </a:p>
      </dgm:t>
    </dgm:pt>
    <dgm:pt modelId="{67DA113E-2FB6-4AEF-8745-340ACF174DCB}" type="pres">
      <dgm:prSet presAssocID="{D14507E4-BC7C-4876-9980-69C387F70620}" presName="tx3" presStyleLbl="revTx" presStyleIdx="16" presStyleCnt="25"/>
      <dgm:spPr/>
      <dgm:t>
        <a:bodyPr/>
        <a:lstStyle/>
        <a:p>
          <a:endParaRPr lang="en-US"/>
        </a:p>
      </dgm:t>
    </dgm:pt>
    <dgm:pt modelId="{E57C65AA-9050-4732-9D95-5DB820CA7D62}" type="pres">
      <dgm:prSet presAssocID="{D14507E4-BC7C-4876-9980-69C387F70620}" presName="vert3" presStyleCnt="0"/>
      <dgm:spPr/>
      <dgm:t>
        <a:bodyPr/>
        <a:lstStyle/>
        <a:p>
          <a:endParaRPr lang="en-US"/>
        </a:p>
      </dgm:t>
    </dgm:pt>
    <dgm:pt modelId="{E22C1DBF-E3C3-474F-AD8E-4FFBD8C15FE1}" type="pres">
      <dgm:prSet presAssocID="{1C60D59D-3611-4069-8825-933A09EC80D3}" presName="thinLine2b" presStyleLbl="callout" presStyleIdx="7" presStyleCnt="12"/>
      <dgm:spPr/>
      <dgm:t>
        <a:bodyPr/>
        <a:lstStyle/>
        <a:p>
          <a:endParaRPr lang="en-US"/>
        </a:p>
      </dgm:t>
    </dgm:pt>
    <dgm:pt modelId="{6705AF36-0B06-4180-8E95-4E0326B316ED}" type="pres">
      <dgm:prSet presAssocID="{1C60D59D-3611-4069-8825-933A09EC80D3}" presName="vertSpace2b" presStyleCnt="0"/>
      <dgm:spPr/>
      <dgm:t>
        <a:bodyPr/>
        <a:lstStyle/>
        <a:p>
          <a:endParaRPr lang="en-US"/>
        </a:p>
      </dgm:t>
    </dgm:pt>
    <dgm:pt modelId="{0614FAC8-A650-4791-8E61-6B3A67845F42}" type="pres">
      <dgm:prSet presAssocID="{573E66A5-209C-4DAF-A013-7B7A52EC292F}" presName="horz2" presStyleCnt="0"/>
      <dgm:spPr/>
      <dgm:t>
        <a:bodyPr/>
        <a:lstStyle/>
        <a:p>
          <a:endParaRPr lang="en-US"/>
        </a:p>
      </dgm:t>
    </dgm:pt>
    <dgm:pt modelId="{60D36AA5-F7E9-4FFF-9CBE-BE1F5654ACAB}" type="pres">
      <dgm:prSet presAssocID="{573E66A5-209C-4DAF-A013-7B7A52EC292F}" presName="horzSpace2" presStyleCnt="0"/>
      <dgm:spPr/>
      <dgm:t>
        <a:bodyPr/>
        <a:lstStyle/>
        <a:p>
          <a:endParaRPr lang="en-US"/>
        </a:p>
      </dgm:t>
    </dgm:pt>
    <dgm:pt modelId="{F525890F-EB6A-439F-93C6-D2C674E88944}" type="pres">
      <dgm:prSet presAssocID="{573E66A5-209C-4DAF-A013-7B7A52EC292F}" presName="tx2" presStyleLbl="revTx" presStyleIdx="17" presStyleCnt="25"/>
      <dgm:spPr/>
      <dgm:t>
        <a:bodyPr/>
        <a:lstStyle/>
        <a:p>
          <a:endParaRPr lang="en-US"/>
        </a:p>
      </dgm:t>
    </dgm:pt>
    <dgm:pt modelId="{8ADB6529-226D-41F4-8B8C-498C7B5D05F1}" type="pres">
      <dgm:prSet presAssocID="{573E66A5-209C-4DAF-A013-7B7A52EC292F}" presName="vert2" presStyleCnt="0"/>
      <dgm:spPr/>
      <dgm:t>
        <a:bodyPr/>
        <a:lstStyle/>
        <a:p>
          <a:endParaRPr lang="en-US"/>
        </a:p>
      </dgm:t>
    </dgm:pt>
    <dgm:pt modelId="{F3EAD1B6-8FFF-43B7-85C7-C3B90EA554A0}" type="pres">
      <dgm:prSet presAssocID="{BA7D87DD-DD92-4D62-8978-59C29AC1470F}" presName="horz3" presStyleCnt="0"/>
      <dgm:spPr/>
      <dgm:t>
        <a:bodyPr/>
        <a:lstStyle/>
        <a:p>
          <a:endParaRPr lang="en-US"/>
        </a:p>
      </dgm:t>
    </dgm:pt>
    <dgm:pt modelId="{5EBC319D-70B4-4C21-A194-DC1B594F8E47}" type="pres">
      <dgm:prSet presAssocID="{BA7D87DD-DD92-4D62-8978-59C29AC1470F}" presName="horzSpace3" presStyleCnt="0"/>
      <dgm:spPr/>
      <dgm:t>
        <a:bodyPr/>
        <a:lstStyle/>
        <a:p>
          <a:endParaRPr lang="en-US"/>
        </a:p>
      </dgm:t>
    </dgm:pt>
    <dgm:pt modelId="{462799D0-B34D-43D2-AA5E-972F8E8AA2C7}" type="pres">
      <dgm:prSet presAssocID="{BA7D87DD-DD92-4D62-8978-59C29AC1470F}" presName="tx3" presStyleLbl="revTx" presStyleIdx="18" presStyleCnt="25"/>
      <dgm:spPr/>
      <dgm:t>
        <a:bodyPr/>
        <a:lstStyle/>
        <a:p>
          <a:endParaRPr lang="en-US"/>
        </a:p>
      </dgm:t>
    </dgm:pt>
    <dgm:pt modelId="{70ECB9E2-B453-4441-B651-D375391A74B1}" type="pres">
      <dgm:prSet presAssocID="{BA7D87DD-DD92-4D62-8978-59C29AC1470F}" presName="vert3" presStyleCnt="0"/>
      <dgm:spPr/>
      <dgm:t>
        <a:bodyPr/>
        <a:lstStyle/>
        <a:p>
          <a:endParaRPr lang="en-US"/>
        </a:p>
      </dgm:t>
    </dgm:pt>
    <dgm:pt modelId="{41C83CB3-DEB8-437E-91DE-DF63BE27DC5D}" type="pres">
      <dgm:prSet presAssocID="{573E66A5-209C-4DAF-A013-7B7A52EC292F}" presName="thinLine2b" presStyleLbl="callout" presStyleIdx="8" presStyleCnt="12"/>
      <dgm:spPr/>
      <dgm:t>
        <a:bodyPr/>
        <a:lstStyle/>
        <a:p>
          <a:endParaRPr lang="en-US"/>
        </a:p>
      </dgm:t>
    </dgm:pt>
    <dgm:pt modelId="{80B2319D-A2DC-44E1-AA74-80E17D28E9D6}" type="pres">
      <dgm:prSet presAssocID="{573E66A5-209C-4DAF-A013-7B7A52EC292F}" presName="vertSpace2b" presStyleCnt="0"/>
      <dgm:spPr/>
      <dgm:t>
        <a:bodyPr/>
        <a:lstStyle/>
        <a:p>
          <a:endParaRPr lang="en-US"/>
        </a:p>
      </dgm:t>
    </dgm:pt>
    <dgm:pt modelId="{FAD49460-4A6E-4806-8741-1CCA2FE092F2}" type="pres">
      <dgm:prSet presAssocID="{B772BDE6-D87D-4311-9C32-21BBEAE1AC4B}" presName="horz2" presStyleCnt="0"/>
      <dgm:spPr/>
      <dgm:t>
        <a:bodyPr/>
        <a:lstStyle/>
        <a:p>
          <a:endParaRPr lang="en-US"/>
        </a:p>
      </dgm:t>
    </dgm:pt>
    <dgm:pt modelId="{1A6F1C39-6CE5-4D77-A5AF-E2DDA19349DB}" type="pres">
      <dgm:prSet presAssocID="{B772BDE6-D87D-4311-9C32-21BBEAE1AC4B}" presName="horzSpace2" presStyleCnt="0"/>
      <dgm:spPr/>
      <dgm:t>
        <a:bodyPr/>
        <a:lstStyle/>
        <a:p>
          <a:endParaRPr lang="en-US"/>
        </a:p>
      </dgm:t>
    </dgm:pt>
    <dgm:pt modelId="{DCBA1321-4166-4FDF-85E0-A4557647107C}" type="pres">
      <dgm:prSet presAssocID="{B772BDE6-D87D-4311-9C32-21BBEAE1AC4B}" presName="tx2" presStyleLbl="revTx" presStyleIdx="19" presStyleCnt="25"/>
      <dgm:spPr/>
      <dgm:t>
        <a:bodyPr/>
        <a:lstStyle/>
        <a:p>
          <a:endParaRPr lang="en-US"/>
        </a:p>
      </dgm:t>
    </dgm:pt>
    <dgm:pt modelId="{08F2F743-10FA-41DA-8350-FBA01431CDF7}" type="pres">
      <dgm:prSet presAssocID="{B772BDE6-D87D-4311-9C32-21BBEAE1AC4B}" presName="vert2" presStyleCnt="0"/>
      <dgm:spPr/>
      <dgm:t>
        <a:bodyPr/>
        <a:lstStyle/>
        <a:p>
          <a:endParaRPr lang="en-US"/>
        </a:p>
      </dgm:t>
    </dgm:pt>
    <dgm:pt modelId="{B3211AD3-E287-4248-B2EB-39BF56228850}" type="pres">
      <dgm:prSet presAssocID="{6ADDEAB4-47FD-4FAC-BA5F-6FC7595CA436}" presName="horz3" presStyleCnt="0"/>
      <dgm:spPr/>
      <dgm:t>
        <a:bodyPr/>
        <a:lstStyle/>
        <a:p>
          <a:endParaRPr lang="en-US"/>
        </a:p>
      </dgm:t>
    </dgm:pt>
    <dgm:pt modelId="{96BC1EBD-BF77-4AB6-949C-45A569E0EA62}" type="pres">
      <dgm:prSet presAssocID="{6ADDEAB4-47FD-4FAC-BA5F-6FC7595CA436}" presName="horzSpace3" presStyleCnt="0"/>
      <dgm:spPr/>
      <dgm:t>
        <a:bodyPr/>
        <a:lstStyle/>
        <a:p>
          <a:endParaRPr lang="en-US"/>
        </a:p>
      </dgm:t>
    </dgm:pt>
    <dgm:pt modelId="{BCEE2737-002D-408F-9B74-889E2EE9E74A}" type="pres">
      <dgm:prSet presAssocID="{6ADDEAB4-47FD-4FAC-BA5F-6FC7595CA436}" presName="tx3" presStyleLbl="revTx" presStyleIdx="20" presStyleCnt="25"/>
      <dgm:spPr/>
      <dgm:t>
        <a:bodyPr/>
        <a:lstStyle/>
        <a:p>
          <a:endParaRPr lang="en-US"/>
        </a:p>
      </dgm:t>
    </dgm:pt>
    <dgm:pt modelId="{43B49599-2BDE-4041-BECA-8FD481FE0FF4}" type="pres">
      <dgm:prSet presAssocID="{6ADDEAB4-47FD-4FAC-BA5F-6FC7595CA436}" presName="vert3" presStyleCnt="0"/>
      <dgm:spPr/>
      <dgm:t>
        <a:bodyPr/>
        <a:lstStyle/>
        <a:p>
          <a:endParaRPr lang="en-US"/>
        </a:p>
      </dgm:t>
    </dgm:pt>
    <dgm:pt modelId="{50BFCA13-9573-4F0B-A7BE-DCC29A72E119}" type="pres">
      <dgm:prSet presAssocID="{B772BDE6-D87D-4311-9C32-21BBEAE1AC4B}" presName="thinLine2b" presStyleLbl="callout" presStyleIdx="9" presStyleCnt="12"/>
      <dgm:spPr/>
      <dgm:t>
        <a:bodyPr/>
        <a:lstStyle/>
        <a:p>
          <a:endParaRPr lang="en-US"/>
        </a:p>
      </dgm:t>
    </dgm:pt>
    <dgm:pt modelId="{2B83355D-4E3F-4269-915C-30E8FAB6B044}" type="pres">
      <dgm:prSet presAssocID="{B772BDE6-D87D-4311-9C32-21BBEAE1AC4B}" presName="vertSpace2b" presStyleCnt="0"/>
      <dgm:spPr/>
      <dgm:t>
        <a:bodyPr/>
        <a:lstStyle/>
        <a:p>
          <a:endParaRPr lang="en-US"/>
        </a:p>
      </dgm:t>
    </dgm:pt>
    <dgm:pt modelId="{2A467DE1-5523-4BEF-AAF4-E2DAAF58EA9A}" type="pres">
      <dgm:prSet presAssocID="{7C4574F9-42DC-458E-B0BC-A86E3A63C7AE}" presName="horz2" presStyleCnt="0"/>
      <dgm:spPr/>
      <dgm:t>
        <a:bodyPr/>
        <a:lstStyle/>
        <a:p>
          <a:endParaRPr lang="en-US"/>
        </a:p>
      </dgm:t>
    </dgm:pt>
    <dgm:pt modelId="{BDA0C934-1A3F-4B47-90E7-02441D6852EF}" type="pres">
      <dgm:prSet presAssocID="{7C4574F9-42DC-458E-B0BC-A86E3A63C7AE}" presName="horzSpace2" presStyleCnt="0"/>
      <dgm:spPr/>
      <dgm:t>
        <a:bodyPr/>
        <a:lstStyle/>
        <a:p>
          <a:endParaRPr lang="en-US"/>
        </a:p>
      </dgm:t>
    </dgm:pt>
    <dgm:pt modelId="{AD5AC08B-640B-4BF3-9632-89D5B8F40CC0}" type="pres">
      <dgm:prSet presAssocID="{7C4574F9-42DC-458E-B0BC-A86E3A63C7AE}" presName="tx2" presStyleLbl="revTx" presStyleIdx="21" presStyleCnt="25"/>
      <dgm:spPr/>
      <dgm:t>
        <a:bodyPr/>
        <a:lstStyle/>
        <a:p>
          <a:endParaRPr lang="en-US"/>
        </a:p>
      </dgm:t>
    </dgm:pt>
    <dgm:pt modelId="{DF64F0F7-8709-4691-AADC-AFD248786267}" type="pres">
      <dgm:prSet presAssocID="{7C4574F9-42DC-458E-B0BC-A86E3A63C7AE}" presName="vert2" presStyleCnt="0"/>
      <dgm:spPr/>
      <dgm:t>
        <a:bodyPr/>
        <a:lstStyle/>
        <a:p>
          <a:endParaRPr lang="en-US"/>
        </a:p>
      </dgm:t>
    </dgm:pt>
    <dgm:pt modelId="{CF99770D-8C18-4CD2-8EEA-6B451E4078B0}" type="pres">
      <dgm:prSet presAssocID="{EF0321BE-A7F6-4C8F-AB47-5217B9EDFD68}" presName="horz3" presStyleCnt="0"/>
      <dgm:spPr/>
      <dgm:t>
        <a:bodyPr/>
        <a:lstStyle/>
        <a:p>
          <a:endParaRPr lang="en-US"/>
        </a:p>
      </dgm:t>
    </dgm:pt>
    <dgm:pt modelId="{4F500191-86B1-42E7-B90C-3C4EB6C8A4A8}" type="pres">
      <dgm:prSet presAssocID="{EF0321BE-A7F6-4C8F-AB47-5217B9EDFD68}" presName="horzSpace3" presStyleCnt="0"/>
      <dgm:spPr/>
      <dgm:t>
        <a:bodyPr/>
        <a:lstStyle/>
        <a:p>
          <a:endParaRPr lang="en-US"/>
        </a:p>
      </dgm:t>
    </dgm:pt>
    <dgm:pt modelId="{79F03C78-9304-49B8-A52D-E06506C87DAE}" type="pres">
      <dgm:prSet presAssocID="{EF0321BE-A7F6-4C8F-AB47-5217B9EDFD68}" presName="tx3" presStyleLbl="revTx" presStyleIdx="22" presStyleCnt="25"/>
      <dgm:spPr/>
      <dgm:t>
        <a:bodyPr/>
        <a:lstStyle/>
        <a:p>
          <a:endParaRPr lang="en-US"/>
        </a:p>
      </dgm:t>
    </dgm:pt>
    <dgm:pt modelId="{3CE92AD0-C2B8-4EF2-88D5-D52165EC8B9F}" type="pres">
      <dgm:prSet presAssocID="{EF0321BE-A7F6-4C8F-AB47-5217B9EDFD68}" presName="vert3" presStyleCnt="0"/>
      <dgm:spPr/>
      <dgm:t>
        <a:bodyPr/>
        <a:lstStyle/>
        <a:p>
          <a:endParaRPr lang="en-US"/>
        </a:p>
      </dgm:t>
    </dgm:pt>
    <dgm:pt modelId="{5ADC530F-8DF8-4F12-98F0-054C354EA3B3}" type="pres">
      <dgm:prSet presAssocID="{7C4574F9-42DC-458E-B0BC-A86E3A63C7AE}" presName="thinLine2b" presStyleLbl="callout" presStyleIdx="10" presStyleCnt="12"/>
      <dgm:spPr/>
      <dgm:t>
        <a:bodyPr/>
        <a:lstStyle/>
        <a:p>
          <a:endParaRPr lang="en-US"/>
        </a:p>
      </dgm:t>
    </dgm:pt>
    <dgm:pt modelId="{15E8B04D-7988-4DD4-BA4C-AE2D536F98C1}" type="pres">
      <dgm:prSet presAssocID="{7C4574F9-42DC-458E-B0BC-A86E3A63C7AE}" presName="vertSpace2b" presStyleCnt="0"/>
      <dgm:spPr/>
      <dgm:t>
        <a:bodyPr/>
        <a:lstStyle/>
        <a:p>
          <a:endParaRPr lang="en-US"/>
        </a:p>
      </dgm:t>
    </dgm:pt>
    <dgm:pt modelId="{06974225-66EF-458A-B018-1A306E4F9725}" type="pres">
      <dgm:prSet presAssocID="{A07A763A-8A9F-4BC4-8A88-1F37D9FDA31C}" presName="horz2" presStyleCnt="0"/>
      <dgm:spPr/>
      <dgm:t>
        <a:bodyPr/>
        <a:lstStyle/>
        <a:p>
          <a:endParaRPr lang="en-US"/>
        </a:p>
      </dgm:t>
    </dgm:pt>
    <dgm:pt modelId="{5F90ACD2-A3DF-45FF-AD2F-03FF83117CF2}" type="pres">
      <dgm:prSet presAssocID="{A07A763A-8A9F-4BC4-8A88-1F37D9FDA31C}" presName="horzSpace2" presStyleCnt="0"/>
      <dgm:spPr/>
      <dgm:t>
        <a:bodyPr/>
        <a:lstStyle/>
        <a:p>
          <a:endParaRPr lang="en-US"/>
        </a:p>
      </dgm:t>
    </dgm:pt>
    <dgm:pt modelId="{E211ECC8-5850-41F3-AB5C-76D989040FF4}" type="pres">
      <dgm:prSet presAssocID="{A07A763A-8A9F-4BC4-8A88-1F37D9FDA31C}" presName="tx2" presStyleLbl="revTx" presStyleIdx="23" presStyleCnt="25"/>
      <dgm:spPr/>
      <dgm:t>
        <a:bodyPr/>
        <a:lstStyle/>
        <a:p>
          <a:endParaRPr lang="en-US"/>
        </a:p>
      </dgm:t>
    </dgm:pt>
    <dgm:pt modelId="{45B5638A-18C8-4D7B-9BC5-18A516564B5A}" type="pres">
      <dgm:prSet presAssocID="{A07A763A-8A9F-4BC4-8A88-1F37D9FDA31C}" presName="vert2" presStyleCnt="0"/>
      <dgm:spPr/>
      <dgm:t>
        <a:bodyPr/>
        <a:lstStyle/>
        <a:p>
          <a:endParaRPr lang="en-US"/>
        </a:p>
      </dgm:t>
    </dgm:pt>
    <dgm:pt modelId="{EC61AEAC-9127-409D-A573-885B85680BD4}" type="pres">
      <dgm:prSet presAssocID="{21EC3168-090E-4205-9E0B-670A87402102}" presName="horz3" presStyleCnt="0"/>
      <dgm:spPr/>
      <dgm:t>
        <a:bodyPr/>
        <a:lstStyle/>
        <a:p>
          <a:endParaRPr lang="en-US"/>
        </a:p>
      </dgm:t>
    </dgm:pt>
    <dgm:pt modelId="{2284652C-EBD9-44A8-8910-A96FF332341E}" type="pres">
      <dgm:prSet presAssocID="{21EC3168-090E-4205-9E0B-670A87402102}" presName="horzSpace3" presStyleCnt="0"/>
      <dgm:spPr/>
      <dgm:t>
        <a:bodyPr/>
        <a:lstStyle/>
        <a:p>
          <a:endParaRPr lang="en-US"/>
        </a:p>
      </dgm:t>
    </dgm:pt>
    <dgm:pt modelId="{578D3DF1-1129-41F8-8F9C-0D1CC87C745D}" type="pres">
      <dgm:prSet presAssocID="{21EC3168-090E-4205-9E0B-670A87402102}" presName="tx3" presStyleLbl="revTx" presStyleIdx="24" presStyleCnt="25"/>
      <dgm:spPr/>
      <dgm:t>
        <a:bodyPr/>
        <a:lstStyle/>
        <a:p>
          <a:endParaRPr lang="en-US"/>
        </a:p>
      </dgm:t>
    </dgm:pt>
    <dgm:pt modelId="{4EC4C1F3-29D3-43F9-9381-EF67000FCF3A}" type="pres">
      <dgm:prSet presAssocID="{21EC3168-090E-4205-9E0B-670A87402102}" presName="vert3" presStyleCnt="0"/>
      <dgm:spPr/>
      <dgm:t>
        <a:bodyPr/>
        <a:lstStyle/>
        <a:p>
          <a:endParaRPr lang="en-US"/>
        </a:p>
      </dgm:t>
    </dgm:pt>
    <dgm:pt modelId="{C15E3481-0C8B-431D-B0A4-3625A8C8A3D4}" type="pres">
      <dgm:prSet presAssocID="{A07A763A-8A9F-4BC4-8A88-1F37D9FDA31C}" presName="thinLine2b" presStyleLbl="callout" presStyleIdx="11" presStyleCnt="12"/>
      <dgm:spPr/>
      <dgm:t>
        <a:bodyPr/>
        <a:lstStyle/>
        <a:p>
          <a:endParaRPr lang="en-US"/>
        </a:p>
      </dgm:t>
    </dgm:pt>
    <dgm:pt modelId="{1DDFDA83-51F2-4C65-8AB9-DB3B31E31291}" type="pres">
      <dgm:prSet presAssocID="{A07A763A-8A9F-4BC4-8A88-1F37D9FDA31C}" presName="vertSpace2b" presStyleCnt="0"/>
      <dgm:spPr/>
      <dgm:t>
        <a:bodyPr/>
        <a:lstStyle/>
        <a:p>
          <a:endParaRPr lang="en-US"/>
        </a:p>
      </dgm:t>
    </dgm:pt>
  </dgm:ptLst>
  <dgm:cxnLst>
    <dgm:cxn modelId="{E792D73F-28A7-47CB-8317-AB5CEF39E02D}" srcId="{B6E7628F-AD4F-4B8C-B544-805D2DEAADBA}" destId="{573E66A5-209C-4DAF-A013-7B7A52EC292F}" srcOrd="8" destOrd="0" parTransId="{FDD8216C-2548-455C-ACF4-40DAEF385CBD}" sibTransId="{37BE4959-C7CE-4056-8753-3DE14D52465A}"/>
    <dgm:cxn modelId="{17EACE37-A3BC-44B7-9EF0-547516EC0DF6}" type="presOf" srcId="{21EC3168-090E-4205-9E0B-670A87402102}" destId="{578D3DF1-1129-41F8-8F9C-0D1CC87C745D}" srcOrd="0" destOrd="0" presId="urn:microsoft.com/office/officeart/2008/layout/LinedList"/>
    <dgm:cxn modelId="{38CDF055-53D4-4AFF-AA8F-4FD8E1CFF1D8}" srcId="{B6E7628F-AD4F-4B8C-B544-805D2DEAADBA}" destId="{A07A763A-8A9F-4BC4-8A88-1F37D9FDA31C}" srcOrd="11" destOrd="0" parTransId="{92EE543C-DA83-40B3-AEB3-EDF850051206}" sibTransId="{3CED7F2C-C3E1-4131-9CD6-03F221AA43A8}"/>
    <dgm:cxn modelId="{25DD0A65-6A2C-42CF-8E20-66807102FFE2}" type="presOf" srcId="{EF0321BE-A7F6-4C8F-AB47-5217B9EDFD68}" destId="{79F03C78-9304-49B8-A52D-E06506C87DAE}" srcOrd="0" destOrd="0" presId="urn:microsoft.com/office/officeart/2008/layout/LinedList"/>
    <dgm:cxn modelId="{D806EE7F-A62C-4AC8-86AF-17C3C759EEEE}" type="presOf" srcId="{D14507E4-BC7C-4876-9980-69C387F70620}" destId="{67DA113E-2FB6-4AEF-8745-340ACF174DCB}" srcOrd="0" destOrd="0" presId="urn:microsoft.com/office/officeart/2008/layout/LinedList"/>
    <dgm:cxn modelId="{E56A4A23-8A12-432F-9F54-19F2901AEDB3}" srcId="{B772BDE6-D87D-4311-9C32-21BBEAE1AC4B}" destId="{6ADDEAB4-47FD-4FAC-BA5F-6FC7595CA436}" srcOrd="0" destOrd="0" parTransId="{9C34E6A8-AAF4-4EE7-A6DB-24CAC249EB90}" sibTransId="{D259AE7A-54E7-4D2E-997D-203118607C07}"/>
    <dgm:cxn modelId="{72524EE7-4E83-4A43-B890-14B739151F84}" srcId="{DFCB2790-FE25-4DD9-BF2A-7FF90A66E086}" destId="{B6E7628F-AD4F-4B8C-B544-805D2DEAADBA}" srcOrd="0" destOrd="0" parTransId="{A1D174D7-B513-4115-88C0-1E349645997B}" sibTransId="{49FBFBDD-8FF8-42C9-B482-3DA78BD11D4F}"/>
    <dgm:cxn modelId="{4E57BF49-0DB6-4D64-A054-C3D205EC5E67}" srcId="{B6E7628F-AD4F-4B8C-B544-805D2DEAADBA}" destId="{BDD2DEB5-4D14-400E-8267-C356A113FB46}" srcOrd="0" destOrd="0" parTransId="{7FF0AFC6-99EF-4832-8716-CEE7E257355A}" sibTransId="{6C645E0B-A10E-4FE2-A284-32FEA8704B7A}"/>
    <dgm:cxn modelId="{50A403D5-3C09-4F80-A1C5-7A271AA93275}" srcId="{B6E7628F-AD4F-4B8C-B544-805D2DEAADBA}" destId="{C92328FF-933F-4C3C-8D04-3B3F537D94C3}" srcOrd="1" destOrd="0" parTransId="{4E27C26F-8275-4E56-859E-52B87B278371}" sibTransId="{70E376E4-DED2-4A28-B348-343E36F3B06F}"/>
    <dgm:cxn modelId="{E5F0D21D-73DE-46F0-850F-8D2ED10AC2D8}" type="presOf" srcId="{108AB784-BD6E-4137-86AF-97A71485587D}" destId="{67B78FED-8CD0-490A-9E96-FB592E6E71E0}" srcOrd="0" destOrd="0" presId="urn:microsoft.com/office/officeart/2008/layout/LinedList"/>
    <dgm:cxn modelId="{34EF6B17-B22B-4B8B-AA44-1168B22D51AF}" srcId="{1C60D59D-3611-4069-8825-933A09EC80D3}" destId="{D14507E4-BC7C-4876-9980-69C387F70620}" srcOrd="0" destOrd="0" parTransId="{8522960A-9B2F-4724-A173-C12111A2AE47}" sibTransId="{65FD62BD-92F2-4F82-B8A2-D4D21BAAD9DC}"/>
    <dgm:cxn modelId="{5D4301CF-2BA1-424F-B785-25B0D968CC3B}" srcId="{BDD2DEB5-4D14-400E-8267-C356A113FB46}" destId="{ACDAEB24-B324-42BC-8E3B-7D79613A2D16}" srcOrd="0" destOrd="0" parTransId="{C50A73EC-4633-40A8-8D02-3799273C098E}" sibTransId="{B8604D8B-C1EA-49E3-8275-6CCFF0DE870D}"/>
    <dgm:cxn modelId="{504F9FF6-0D71-4AE4-89DB-F28C9E9F90D4}" type="presOf" srcId="{CE6A86AE-7D6F-4760-8B30-0A562B24CD7C}" destId="{77A702C1-D77D-4064-982B-EBFB84B5B7C0}" srcOrd="0" destOrd="0" presId="urn:microsoft.com/office/officeart/2008/layout/LinedList"/>
    <dgm:cxn modelId="{B9BAD546-5502-48C3-B8D0-35DB7249950B}" type="presOf" srcId="{A07A763A-8A9F-4BC4-8A88-1F37D9FDA31C}" destId="{E211ECC8-5850-41F3-AB5C-76D989040FF4}" srcOrd="0" destOrd="0" presId="urn:microsoft.com/office/officeart/2008/layout/LinedList"/>
    <dgm:cxn modelId="{327A7BF2-BEEC-483C-A2FF-05B717EC0390}" type="presOf" srcId="{BA7D87DD-DD92-4D62-8978-59C29AC1470F}" destId="{462799D0-B34D-43D2-AA5E-972F8E8AA2C7}" srcOrd="0" destOrd="0" presId="urn:microsoft.com/office/officeart/2008/layout/LinedList"/>
    <dgm:cxn modelId="{7AD111B5-0731-4CF3-9372-E5B494F9195A}" srcId="{573E66A5-209C-4DAF-A013-7B7A52EC292F}" destId="{BA7D87DD-DD92-4D62-8978-59C29AC1470F}" srcOrd="0" destOrd="0" parTransId="{38A7F798-C1BC-4F14-A6E4-1D315FF8102F}" sibTransId="{37FBADAC-5E38-45D0-834B-72E7F93CA20C}"/>
    <dgm:cxn modelId="{D0CE5020-F2B7-4AC6-AD20-CE0873F47355}" srcId="{9EB2095E-84A2-4014-A4DC-6A1628B20B2C}" destId="{0847578D-A2A3-4401-B5E6-8EF837EE3301}" srcOrd="0" destOrd="0" parTransId="{BF502C56-4228-4644-8D5C-A71743FAF05F}" sibTransId="{8FC4E7E2-4241-419C-B5D4-3C9BE9865EDC}"/>
    <dgm:cxn modelId="{5CCF5A84-FD7E-4378-815B-F3DAED2FF41D}" type="presOf" srcId="{1802913D-8339-4726-9539-4AB78631D187}" destId="{70263E1B-D2DF-437E-B39F-9DFBC26EFB1B}" srcOrd="0" destOrd="0" presId="urn:microsoft.com/office/officeart/2008/layout/LinedList"/>
    <dgm:cxn modelId="{7BD530C5-F5CB-4509-AC0D-A8AB2359E51E}" srcId="{B6E7628F-AD4F-4B8C-B544-805D2DEAADBA}" destId="{A4326731-0B42-486A-BE60-CEAD9A65C7CE}" srcOrd="6" destOrd="0" parTransId="{87F617DD-C490-4F79-B16C-2BC2FD4B8216}" sibTransId="{77799D1E-74AA-43AD-9CEE-072B309FCD78}"/>
    <dgm:cxn modelId="{19FA293A-027C-4500-BA87-264A2811EE3A}" type="presOf" srcId="{ACDAEB24-B324-42BC-8E3B-7D79613A2D16}" destId="{1FC361A9-58F8-4982-BAB6-1FE835B7E412}" srcOrd="0" destOrd="0" presId="urn:microsoft.com/office/officeart/2008/layout/LinedList"/>
    <dgm:cxn modelId="{924F3E9F-2445-4393-A5AE-9D7E2D4C119D}" type="presOf" srcId="{DF823E02-EE08-4E4F-B428-83FCFFBC1CA1}" destId="{3F09B7CC-7A7B-4176-9759-6D9BB1E24E9A}" srcOrd="0" destOrd="0" presId="urn:microsoft.com/office/officeart/2008/layout/LinedList"/>
    <dgm:cxn modelId="{080B6874-BA21-4C74-B5EA-57E2ADC812C7}" srcId="{B6E7628F-AD4F-4B8C-B544-805D2DEAADBA}" destId="{CE6A86AE-7D6F-4760-8B30-0A562B24CD7C}" srcOrd="4" destOrd="0" parTransId="{7D043BA3-BDDD-4966-956F-B7EEDC936E73}" sibTransId="{75D6036F-43B5-4ECB-BAA3-34BE8DC302E4}"/>
    <dgm:cxn modelId="{EC30BB3F-576A-4ADE-93D2-EA1607C48006}" type="presOf" srcId="{786ABF0E-88A1-4EE5-9BB7-D2F3A37A3114}" destId="{C2D6E482-38EE-4FFA-8363-F2AF0054A239}" srcOrd="0" destOrd="0" presId="urn:microsoft.com/office/officeart/2008/layout/LinedList"/>
    <dgm:cxn modelId="{A7290B95-73E1-4ED4-BDC6-8987EC9D9BDF}" srcId="{7C4574F9-42DC-458E-B0BC-A86E3A63C7AE}" destId="{EF0321BE-A7F6-4C8F-AB47-5217B9EDFD68}" srcOrd="0" destOrd="0" parTransId="{720F882A-9F1C-4404-84B0-32961F60B95D}" sibTransId="{EAAC146B-D018-4BA3-A8D3-E6FF902783F0}"/>
    <dgm:cxn modelId="{6E745FD0-C686-41E4-B48A-C8919F4C985B}" type="presOf" srcId="{573E66A5-209C-4DAF-A013-7B7A52EC292F}" destId="{F525890F-EB6A-439F-93C6-D2C674E88944}" srcOrd="0" destOrd="0" presId="urn:microsoft.com/office/officeart/2008/layout/LinedList"/>
    <dgm:cxn modelId="{E588C492-7B5D-482B-BE75-5652019E8581}" type="presOf" srcId="{1C60D59D-3611-4069-8825-933A09EC80D3}" destId="{374D6A72-3947-4D00-96AC-512A00ABB82B}" srcOrd="0" destOrd="0" presId="urn:microsoft.com/office/officeart/2008/layout/LinedList"/>
    <dgm:cxn modelId="{6DE85193-B80D-4B95-B79B-C3346235BE27}" type="presOf" srcId="{DFCB2790-FE25-4DD9-BF2A-7FF90A66E086}" destId="{ABB35341-A555-414E-AB58-0FFF1643EA7D}" srcOrd="0" destOrd="0" presId="urn:microsoft.com/office/officeart/2008/layout/LinedList"/>
    <dgm:cxn modelId="{F3DFAB8B-B942-4FC6-9DDF-ECCFD2BCAD5B}" srcId="{B6E7628F-AD4F-4B8C-B544-805D2DEAADBA}" destId="{9EB2095E-84A2-4014-A4DC-6A1628B20B2C}" srcOrd="3" destOrd="0" parTransId="{05909E9E-3DA5-4FF8-875E-A57CF1F66DCB}" sibTransId="{ABA262D6-5391-42E2-8472-9F436BE7AC45}"/>
    <dgm:cxn modelId="{B0E1D296-5B2C-4702-BAB6-9BD8A21F308C}" srcId="{A07A763A-8A9F-4BC4-8A88-1F37D9FDA31C}" destId="{21EC3168-090E-4205-9E0B-670A87402102}" srcOrd="0" destOrd="0" parTransId="{DAF6B54F-46C7-4E46-A600-ABF98C1432D5}" sibTransId="{A127495E-C982-478C-B522-33078086376C}"/>
    <dgm:cxn modelId="{BF6C573E-B489-49E1-BDFC-FDF6C1EB6F5B}" type="presOf" srcId="{0847578D-A2A3-4401-B5E6-8EF837EE3301}" destId="{FC3C7886-424D-4780-90D1-D7C51C4E6030}" srcOrd="0" destOrd="0" presId="urn:microsoft.com/office/officeart/2008/layout/LinedList"/>
    <dgm:cxn modelId="{D6B85043-6F89-4F6E-BF52-F5DCC7E21776}" type="presOf" srcId="{C92328FF-933F-4C3C-8D04-3B3F537D94C3}" destId="{69740E21-C432-4BC7-82AC-689ED8F162C5}" srcOrd="0" destOrd="0" presId="urn:microsoft.com/office/officeart/2008/layout/LinedList"/>
    <dgm:cxn modelId="{398C2302-FC9E-4DF2-B9D7-F8483F621F08}" srcId="{B6E7628F-AD4F-4B8C-B544-805D2DEAADBA}" destId="{7C4574F9-42DC-458E-B0BC-A86E3A63C7AE}" srcOrd="10" destOrd="0" parTransId="{FFBE6BB7-5F18-4F0C-B21F-1AE8BF5EB39E}" sibTransId="{84762267-8015-432E-96E9-6599DB6FE2D2}"/>
    <dgm:cxn modelId="{450EE1E5-F9BA-48BC-8A6F-00D762186D6A}" srcId="{CE6A86AE-7D6F-4760-8B30-0A562B24CD7C}" destId="{1802913D-8339-4726-9539-4AB78631D187}" srcOrd="0" destOrd="0" parTransId="{6B27943B-8EBF-44CC-82F6-8CC013207BD8}" sibTransId="{C8EEDD00-6F19-47FF-A796-5D586E750860}"/>
    <dgm:cxn modelId="{B62669EF-848D-4DCE-93A3-E46649518638}" srcId="{B6E7628F-AD4F-4B8C-B544-805D2DEAADBA}" destId="{786ABF0E-88A1-4EE5-9BB7-D2F3A37A3114}" srcOrd="5" destOrd="0" parTransId="{1613C911-BE1D-446A-874C-2E33696034F7}" sibTransId="{4E9AA02A-2CCB-44BE-B4D4-13387F129B3C}"/>
    <dgm:cxn modelId="{AAEEA401-6FB7-4564-8CB8-088BE6D90AB9}" srcId="{786ABF0E-88A1-4EE5-9BB7-D2F3A37A3114}" destId="{DF823E02-EE08-4E4F-B428-83FCFFBC1CA1}" srcOrd="0" destOrd="0" parTransId="{58BE509B-C392-409E-9F7D-DE16B556B947}" sibTransId="{01EF5615-008E-4E6C-9795-06D90370E2BB}"/>
    <dgm:cxn modelId="{AE246D90-31E4-4B6E-A025-C652C63CBE2A}" type="presOf" srcId="{B772BDE6-D87D-4311-9C32-21BBEAE1AC4B}" destId="{DCBA1321-4166-4FDF-85E0-A4557647107C}" srcOrd="0" destOrd="0" presId="urn:microsoft.com/office/officeart/2008/layout/LinedList"/>
    <dgm:cxn modelId="{ACD9B8EA-E8C5-4919-BA95-778889E52766}" type="presOf" srcId="{B1D70AB4-6ADD-4F89-A36D-4A42955AEA98}" destId="{8694DF0D-3EF0-475C-AB00-63714E3C043B}" srcOrd="0" destOrd="0" presId="urn:microsoft.com/office/officeart/2008/layout/LinedList"/>
    <dgm:cxn modelId="{C7B9F58C-F3D4-4209-BC37-81E6E650F27A}" type="presOf" srcId="{8347A665-5323-4E84-9804-468D447B7E09}" destId="{B0B28CBF-D728-4BF3-8C20-1E93ADC2C2C4}" srcOrd="0" destOrd="0" presId="urn:microsoft.com/office/officeart/2008/layout/LinedList"/>
    <dgm:cxn modelId="{C7091535-E75C-4243-98FC-A983C5AAA150}" srcId="{A4326731-0B42-486A-BE60-CEAD9A65C7CE}" destId="{8347A665-5323-4E84-9804-468D447B7E09}" srcOrd="0" destOrd="0" parTransId="{5DB5A5AC-1608-4033-B914-322182846F86}" sibTransId="{9D4022C6-C74E-444C-96B9-99E3D01F3FE0}"/>
    <dgm:cxn modelId="{0EA63DB9-9137-407B-8C67-D64FC5B66FE9}" type="presOf" srcId="{BDD2DEB5-4D14-400E-8267-C356A113FB46}" destId="{2F336A2D-DE30-49D8-8121-B788C1547A10}" srcOrd="0" destOrd="0" presId="urn:microsoft.com/office/officeart/2008/layout/LinedList"/>
    <dgm:cxn modelId="{FDFEEE98-EE5C-4D2F-A6B2-5D7DE22A7575}" srcId="{B6E7628F-AD4F-4B8C-B544-805D2DEAADBA}" destId="{B772BDE6-D87D-4311-9C32-21BBEAE1AC4B}" srcOrd="9" destOrd="0" parTransId="{B76D5A3F-646F-46FC-B479-B829D77F4CC6}" sibTransId="{9E38D760-11CF-47AC-AC3A-608CB2A24D71}"/>
    <dgm:cxn modelId="{AC34EF6C-0D07-442F-B75C-1E069A6BDDC4}" srcId="{B6E7628F-AD4F-4B8C-B544-805D2DEAADBA}" destId="{1C60D59D-3611-4069-8825-933A09EC80D3}" srcOrd="7" destOrd="0" parTransId="{42B70552-9D21-494B-B995-44968AF14717}" sibTransId="{DAEE1A9D-DA24-44B6-A332-1406C0C48269}"/>
    <dgm:cxn modelId="{2C57D1A7-1D9C-4230-B212-042B50271CD8}" srcId="{C92328FF-933F-4C3C-8D04-3B3F537D94C3}" destId="{108AB784-BD6E-4137-86AF-97A71485587D}" srcOrd="0" destOrd="0" parTransId="{DC0BAC7A-61F4-41DA-AA5F-325B041C44AC}" sibTransId="{8F76313F-F31D-4FA7-A75E-4A9C2EC648DD}"/>
    <dgm:cxn modelId="{91743A22-4F7F-46DE-BAE1-0AE5BC450C80}" type="presOf" srcId="{6ADDEAB4-47FD-4FAC-BA5F-6FC7595CA436}" destId="{BCEE2737-002D-408F-9B74-889E2EE9E74A}" srcOrd="0" destOrd="0" presId="urn:microsoft.com/office/officeart/2008/layout/LinedList"/>
    <dgm:cxn modelId="{614F2EA8-3F5F-4C04-A13D-BB45D40A1D9A}" type="presOf" srcId="{9EB2095E-84A2-4014-A4DC-6A1628B20B2C}" destId="{EE1B3B31-C3A2-44CE-B07C-40E3BABFF200}" srcOrd="0" destOrd="0" presId="urn:microsoft.com/office/officeart/2008/layout/LinedList"/>
    <dgm:cxn modelId="{DE942E47-D994-4890-BE8A-297D8CC58DCA}" srcId="{06C2CAEA-599D-47A2-BA60-067940F1DF01}" destId="{B1D70AB4-6ADD-4F89-A36D-4A42955AEA98}" srcOrd="0" destOrd="0" parTransId="{1995E963-64AC-49F5-9E1D-0A59077079D8}" sibTransId="{CF4BC7BD-404F-474E-8877-67E09969562E}"/>
    <dgm:cxn modelId="{B18ABE19-4A03-4485-83D6-7397F16F1FAB}" type="presOf" srcId="{06C2CAEA-599D-47A2-BA60-067940F1DF01}" destId="{FE4CEB96-C9FE-444A-9D3F-1D9252E9C344}" srcOrd="0" destOrd="0" presId="urn:microsoft.com/office/officeart/2008/layout/LinedList"/>
    <dgm:cxn modelId="{F07EDBB4-A859-474F-B89E-D75B997FA2A0}" type="presOf" srcId="{B6E7628F-AD4F-4B8C-B544-805D2DEAADBA}" destId="{6D36D92B-BB4C-48EF-8A22-53A7FA49DB1D}" srcOrd="0" destOrd="0" presId="urn:microsoft.com/office/officeart/2008/layout/LinedList"/>
    <dgm:cxn modelId="{E312EE34-1BDE-4F48-ACB6-69290314B2D9}" type="presOf" srcId="{7C4574F9-42DC-458E-B0BC-A86E3A63C7AE}" destId="{AD5AC08B-640B-4BF3-9632-89D5B8F40CC0}" srcOrd="0" destOrd="0" presId="urn:microsoft.com/office/officeart/2008/layout/LinedList"/>
    <dgm:cxn modelId="{439EDBF5-A398-4328-B8D3-6E10D71F4730}" srcId="{B6E7628F-AD4F-4B8C-B544-805D2DEAADBA}" destId="{06C2CAEA-599D-47A2-BA60-067940F1DF01}" srcOrd="2" destOrd="0" parTransId="{E0E78478-D911-44C3-B852-118E37036428}" sibTransId="{E56B1E64-EF7E-4D96-866F-4AECE7937D9A}"/>
    <dgm:cxn modelId="{F8F61522-E851-497D-89D3-AB87EE040078}" type="presOf" srcId="{A4326731-0B42-486A-BE60-CEAD9A65C7CE}" destId="{BE4E65C4-97AE-4D3B-B2F0-D018B046F286}" srcOrd="0" destOrd="0" presId="urn:microsoft.com/office/officeart/2008/layout/LinedList"/>
    <dgm:cxn modelId="{007DF232-7C80-4F41-818B-E39CB801387B}" type="presParOf" srcId="{ABB35341-A555-414E-AB58-0FFF1643EA7D}" destId="{306DBF75-F2A1-4FB6-9E8F-65A648D27EA3}" srcOrd="0" destOrd="0" presId="urn:microsoft.com/office/officeart/2008/layout/LinedList"/>
    <dgm:cxn modelId="{9C4E49EE-15B4-482A-962E-65EACA5FAED6}" type="presParOf" srcId="{ABB35341-A555-414E-AB58-0FFF1643EA7D}" destId="{C5E1EE03-2303-47D8-AB94-37289B19ED06}" srcOrd="1" destOrd="0" presId="urn:microsoft.com/office/officeart/2008/layout/LinedList"/>
    <dgm:cxn modelId="{C14C9277-776A-487B-8E9A-50EAE78A0B0A}" type="presParOf" srcId="{C5E1EE03-2303-47D8-AB94-37289B19ED06}" destId="{6D36D92B-BB4C-48EF-8A22-53A7FA49DB1D}" srcOrd="0" destOrd="0" presId="urn:microsoft.com/office/officeart/2008/layout/LinedList"/>
    <dgm:cxn modelId="{EBE7C24E-75BF-46BA-A3D5-E06635ADA9F6}" type="presParOf" srcId="{C5E1EE03-2303-47D8-AB94-37289B19ED06}" destId="{8190571E-7037-4081-87CC-FC2E7FDC061E}" srcOrd="1" destOrd="0" presId="urn:microsoft.com/office/officeart/2008/layout/LinedList"/>
    <dgm:cxn modelId="{2505DD2E-2947-4383-901F-7C5C2A09DF7A}" type="presParOf" srcId="{8190571E-7037-4081-87CC-FC2E7FDC061E}" destId="{480387D0-54BC-4718-89AE-54CAF5772BC6}" srcOrd="0" destOrd="0" presId="urn:microsoft.com/office/officeart/2008/layout/LinedList"/>
    <dgm:cxn modelId="{37B5F67C-B6B4-45E7-A1AF-66DC096E3265}" type="presParOf" srcId="{8190571E-7037-4081-87CC-FC2E7FDC061E}" destId="{134ACB1E-8CAA-4891-A5CC-7D3D19005CE9}" srcOrd="1" destOrd="0" presId="urn:microsoft.com/office/officeart/2008/layout/LinedList"/>
    <dgm:cxn modelId="{A30D9297-5A44-49D3-BE6E-B7C7C5CF3946}" type="presParOf" srcId="{134ACB1E-8CAA-4891-A5CC-7D3D19005CE9}" destId="{7992F5E7-C574-4AD8-8C4D-673573B6A72F}" srcOrd="0" destOrd="0" presId="urn:microsoft.com/office/officeart/2008/layout/LinedList"/>
    <dgm:cxn modelId="{8A6AC8D6-67DD-4B50-93A2-413B1D82DF72}" type="presParOf" srcId="{134ACB1E-8CAA-4891-A5CC-7D3D19005CE9}" destId="{2F336A2D-DE30-49D8-8121-B788C1547A10}" srcOrd="1" destOrd="0" presId="urn:microsoft.com/office/officeart/2008/layout/LinedList"/>
    <dgm:cxn modelId="{A47401DD-6ED2-48C1-B0E0-B0594171DF79}" type="presParOf" srcId="{134ACB1E-8CAA-4891-A5CC-7D3D19005CE9}" destId="{CC98CF49-6494-4D17-9DB5-4B309D5156BE}" srcOrd="2" destOrd="0" presId="urn:microsoft.com/office/officeart/2008/layout/LinedList"/>
    <dgm:cxn modelId="{6C42EA30-465B-4830-9CCA-7544C9A1A8E1}" type="presParOf" srcId="{CC98CF49-6494-4D17-9DB5-4B309D5156BE}" destId="{FD9057A4-9A2B-426F-A234-166616EC39A7}" srcOrd="0" destOrd="0" presId="urn:microsoft.com/office/officeart/2008/layout/LinedList"/>
    <dgm:cxn modelId="{B19E09E2-4C11-4998-BC3B-731383DAE2ED}" type="presParOf" srcId="{FD9057A4-9A2B-426F-A234-166616EC39A7}" destId="{E9810F30-D39D-4044-827C-2906604F1DA2}" srcOrd="0" destOrd="0" presId="urn:microsoft.com/office/officeart/2008/layout/LinedList"/>
    <dgm:cxn modelId="{FA7BF7EA-88AE-47B1-8E48-3B881B8CB76F}" type="presParOf" srcId="{FD9057A4-9A2B-426F-A234-166616EC39A7}" destId="{1FC361A9-58F8-4982-BAB6-1FE835B7E412}" srcOrd="1" destOrd="0" presId="urn:microsoft.com/office/officeart/2008/layout/LinedList"/>
    <dgm:cxn modelId="{6D15DCAC-BE85-48E7-8E67-4F7EB3BB7040}" type="presParOf" srcId="{FD9057A4-9A2B-426F-A234-166616EC39A7}" destId="{C5F26D7B-86BC-4D29-98AA-B03EF41E6A6C}" srcOrd="2" destOrd="0" presId="urn:microsoft.com/office/officeart/2008/layout/LinedList"/>
    <dgm:cxn modelId="{D7F155BF-2110-423A-A21C-12EADD5CDDB7}" type="presParOf" srcId="{8190571E-7037-4081-87CC-FC2E7FDC061E}" destId="{B230D8EA-2706-4AA5-9702-3C38714A1AB1}" srcOrd="2" destOrd="0" presId="urn:microsoft.com/office/officeart/2008/layout/LinedList"/>
    <dgm:cxn modelId="{E280F4B9-A929-42B2-967E-A7F5DF573762}" type="presParOf" srcId="{8190571E-7037-4081-87CC-FC2E7FDC061E}" destId="{640C33C7-61FE-4EE2-B111-73500BACD4BC}" srcOrd="3" destOrd="0" presId="urn:microsoft.com/office/officeart/2008/layout/LinedList"/>
    <dgm:cxn modelId="{5A7EF573-B5A4-4AC3-9A93-48F163BF9F9C}" type="presParOf" srcId="{8190571E-7037-4081-87CC-FC2E7FDC061E}" destId="{E1214B5F-7149-4C0C-A0BB-49238AB780E9}" srcOrd="4" destOrd="0" presId="urn:microsoft.com/office/officeart/2008/layout/LinedList"/>
    <dgm:cxn modelId="{1E982E4A-F1F7-4CB0-878F-C4F2A224CBCE}" type="presParOf" srcId="{E1214B5F-7149-4C0C-A0BB-49238AB780E9}" destId="{C48C2AAA-70A2-4ED8-9C77-FDC32B8E18BF}" srcOrd="0" destOrd="0" presId="urn:microsoft.com/office/officeart/2008/layout/LinedList"/>
    <dgm:cxn modelId="{34394709-4505-42B6-85A1-F935C5E241E7}" type="presParOf" srcId="{E1214B5F-7149-4C0C-A0BB-49238AB780E9}" destId="{69740E21-C432-4BC7-82AC-689ED8F162C5}" srcOrd="1" destOrd="0" presId="urn:microsoft.com/office/officeart/2008/layout/LinedList"/>
    <dgm:cxn modelId="{EB2E3D89-32F5-4BC9-89F3-9A3FD7F92F27}" type="presParOf" srcId="{E1214B5F-7149-4C0C-A0BB-49238AB780E9}" destId="{1BD143C2-A517-4059-8297-F8688C33E16F}" srcOrd="2" destOrd="0" presId="urn:microsoft.com/office/officeart/2008/layout/LinedList"/>
    <dgm:cxn modelId="{01A6D06B-E637-4F7D-8869-5BA175131022}" type="presParOf" srcId="{1BD143C2-A517-4059-8297-F8688C33E16F}" destId="{06E405A9-8B4C-45D5-B8DC-2BF8012467F1}" srcOrd="0" destOrd="0" presId="urn:microsoft.com/office/officeart/2008/layout/LinedList"/>
    <dgm:cxn modelId="{0A2EE2BC-2A19-4A68-9653-D9B7FBBB04B4}" type="presParOf" srcId="{06E405A9-8B4C-45D5-B8DC-2BF8012467F1}" destId="{CA665E20-ED55-4459-B82B-E87558B29463}" srcOrd="0" destOrd="0" presId="urn:microsoft.com/office/officeart/2008/layout/LinedList"/>
    <dgm:cxn modelId="{55E389B7-7B39-4D40-B70C-B70E70EE450A}" type="presParOf" srcId="{06E405A9-8B4C-45D5-B8DC-2BF8012467F1}" destId="{67B78FED-8CD0-490A-9E96-FB592E6E71E0}" srcOrd="1" destOrd="0" presId="urn:microsoft.com/office/officeart/2008/layout/LinedList"/>
    <dgm:cxn modelId="{56B665FE-16DC-40BB-B2CB-229EFFFCCDBC}" type="presParOf" srcId="{06E405A9-8B4C-45D5-B8DC-2BF8012467F1}" destId="{92F7BC85-4704-4EB3-AFF1-41ACF9E3E6FC}" srcOrd="2" destOrd="0" presId="urn:microsoft.com/office/officeart/2008/layout/LinedList"/>
    <dgm:cxn modelId="{AA147A73-5A55-4A9D-A434-19AACC658E35}" type="presParOf" srcId="{8190571E-7037-4081-87CC-FC2E7FDC061E}" destId="{9ACDD2A3-C9B0-4A0B-A91E-2A11D7DFE815}" srcOrd="5" destOrd="0" presId="urn:microsoft.com/office/officeart/2008/layout/LinedList"/>
    <dgm:cxn modelId="{4DBC2512-8EBD-4089-91BF-E1B86BF14E51}" type="presParOf" srcId="{8190571E-7037-4081-87CC-FC2E7FDC061E}" destId="{8CF07B4C-F069-4FF3-BB57-BE71967E2032}" srcOrd="6" destOrd="0" presId="urn:microsoft.com/office/officeart/2008/layout/LinedList"/>
    <dgm:cxn modelId="{C71CD2E3-8D54-4BAF-99F7-EEFF60D42F3A}" type="presParOf" srcId="{8190571E-7037-4081-87CC-FC2E7FDC061E}" destId="{1B3537DC-8FB2-4FAF-8AEF-FBE52C5E73F1}" srcOrd="7" destOrd="0" presId="urn:microsoft.com/office/officeart/2008/layout/LinedList"/>
    <dgm:cxn modelId="{47382178-77C1-432F-AF8A-7B6FFC5F4CB2}" type="presParOf" srcId="{1B3537DC-8FB2-4FAF-8AEF-FBE52C5E73F1}" destId="{D622245E-7B4E-4431-A409-0EEC16261055}" srcOrd="0" destOrd="0" presId="urn:microsoft.com/office/officeart/2008/layout/LinedList"/>
    <dgm:cxn modelId="{3367D878-3983-4A4B-881A-42008B1EF366}" type="presParOf" srcId="{1B3537DC-8FB2-4FAF-8AEF-FBE52C5E73F1}" destId="{FE4CEB96-C9FE-444A-9D3F-1D9252E9C344}" srcOrd="1" destOrd="0" presId="urn:microsoft.com/office/officeart/2008/layout/LinedList"/>
    <dgm:cxn modelId="{FE2ACA29-E9A3-4496-8AF9-F50B3C738F25}" type="presParOf" srcId="{1B3537DC-8FB2-4FAF-8AEF-FBE52C5E73F1}" destId="{0C619890-076A-4FEE-AF84-DC975D352C41}" srcOrd="2" destOrd="0" presId="urn:microsoft.com/office/officeart/2008/layout/LinedList"/>
    <dgm:cxn modelId="{96BB3C5A-4550-441E-98E6-141BC57408AD}" type="presParOf" srcId="{0C619890-076A-4FEE-AF84-DC975D352C41}" destId="{A3BF8712-2DB3-4334-86CD-67E2B0503C4F}" srcOrd="0" destOrd="0" presId="urn:microsoft.com/office/officeart/2008/layout/LinedList"/>
    <dgm:cxn modelId="{EFB16CF8-5538-4059-971E-00632B05311D}" type="presParOf" srcId="{A3BF8712-2DB3-4334-86CD-67E2B0503C4F}" destId="{D9CCF157-5A99-4AC9-9D14-94539F3E83E8}" srcOrd="0" destOrd="0" presId="urn:microsoft.com/office/officeart/2008/layout/LinedList"/>
    <dgm:cxn modelId="{929720A6-77E0-4C8C-BEB2-626069F8BAD1}" type="presParOf" srcId="{A3BF8712-2DB3-4334-86CD-67E2B0503C4F}" destId="{8694DF0D-3EF0-475C-AB00-63714E3C043B}" srcOrd="1" destOrd="0" presId="urn:microsoft.com/office/officeart/2008/layout/LinedList"/>
    <dgm:cxn modelId="{24D773C7-305B-40DA-888E-CB70EE8CE21B}" type="presParOf" srcId="{A3BF8712-2DB3-4334-86CD-67E2B0503C4F}" destId="{57DB0EF4-C43E-4BD8-B8B5-9F1C79F484E8}" srcOrd="2" destOrd="0" presId="urn:microsoft.com/office/officeart/2008/layout/LinedList"/>
    <dgm:cxn modelId="{60AA6387-963C-499D-B757-5584933B9505}" type="presParOf" srcId="{8190571E-7037-4081-87CC-FC2E7FDC061E}" destId="{55B551C1-3956-4FB5-9FC0-72F039EDE315}" srcOrd="8" destOrd="0" presId="urn:microsoft.com/office/officeart/2008/layout/LinedList"/>
    <dgm:cxn modelId="{0610AD43-5461-4078-81E6-A63FEABC2C88}" type="presParOf" srcId="{8190571E-7037-4081-87CC-FC2E7FDC061E}" destId="{BBCA71EF-058D-490D-B79B-C85806A5D279}" srcOrd="9" destOrd="0" presId="urn:microsoft.com/office/officeart/2008/layout/LinedList"/>
    <dgm:cxn modelId="{98AA3E6C-B240-436E-B58A-2B7742EC5062}" type="presParOf" srcId="{8190571E-7037-4081-87CC-FC2E7FDC061E}" destId="{91114291-A1AD-49E3-AD48-F3FF429380BC}" srcOrd="10" destOrd="0" presId="urn:microsoft.com/office/officeart/2008/layout/LinedList"/>
    <dgm:cxn modelId="{AFA92E7D-7F19-4EE3-ABB6-82C7E61B084B}" type="presParOf" srcId="{91114291-A1AD-49E3-AD48-F3FF429380BC}" destId="{B1B17504-0DE0-43AF-A704-79238B0C1F79}" srcOrd="0" destOrd="0" presId="urn:microsoft.com/office/officeart/2008/layout/LinedList"/>
    <dgm:cxn modelId="{BC5D6BB8-C067-4BA3-913B-41A4487DDB68}" type="presParOf" srcId="{91114291-A1AD-49E3-AD48-F3FF429380BC}" destId="{EE1B3B31-C3A2-44CE-B07C-40E3BABFF200}" srcOrd="1" destOrd="0" presId="urn:microsoft.com/office/officeart/2008/layout/LinedList"/>
    <dgm:cxn modelId="{218AD5B5-4BBC-42FD-A5F0-1AF3BF73047E}" type="presParOf" srcId="{91114291-A1AD-49E3-AD48-F3FF429380BC}" destId="{AA31E6E8-BEA9-45B2-A849-222C47644B4D}" srcOrd="2" destOrd="0" presId="urn:microsoft.com/office/officeart/2008/layout/LinedList"/>
    <dgm:cxn modelId="{0DEAD796-8330-4B1D-AD18-8565CF847472}" type="presParOf" srcId="{AA31E6E8-BEA9-45B2-A849-222C47644B4D}" destId="{0E5C5569-41F3-4947-BA62-AA504A07BCA1}" srcOrd="0" destOrd="0" presId="urn:microsoft.com/office/officeart/2008/layout/LinedList"/>
    <dgm:cxn modelId="{0F9091D9-68E8-4D12-94A7-9C3262ED12E1}" type="presParOf" srcId="{0E5C5569-41F3-4947-BA62-AA504A07BCA1}" destId="{8B634869-3D6F-4F19-941F-98517CF6B527}" srcOrd="0" destOrd="0" presId="urn:microsoft.com/office/officeart/2008/layout/LinedList"/>
    <dgm:cxn modelId="{9BF758E7-7568-477C-A327-66963EEF9F2D}" type="presParOf" srcId="{0E5C5569-41F3-4947-BA62-AA504A07BCA1}" destId="{FC3C7886-424D-4780-90D1-D7C51C4E6030}" srcOrd="1" destOrd="0" presId="urn:microsoft.com/office/officeart/2008/layout/LinedList"/>
    <dgm:cxn modelId="{30491789-D6B7-44EF-A713-30DF42877ED7}" type="presParOf" srcId="{0E5C5569-41F3-4947-BA62-AA504A07BCA1}" destId="{EF4B794F-CB95-47A3-B80C-3B5CBFD8D89B}" srcOrd="2" destOrd="0" presId="urn:microsoft.com/office/officeart/2008/layout/LinedList"/>
    <dgm:cxn modelId="{0B5C0B92-E8A4-4B30-BBEB-3D5B5230E1A9}" type="presParOf" srcId="{8190571E-7037-4081-87CC-FC2E7FDC061E}" destId="{D8692E62-CB46-4B7F-AD83-10E3647E9B61}" srcOrd="11" destOrd="0" presId="urn:microsoft.com/office/officeart/2008/layout/LinedList"/>
    <dgm:cxn modelId="{CBBC44C3-5125-4930-B8AC-41D9C0813D59}" type="presParOf" srcId="{8190571E-7037-4081-87CC-FC2E7FDC061E}" destId="{AC44066D-3C00-4BD5-91E6-B595D5A4A695}" srcOrd="12" destOrd="0" presId="urn:microsoft.com/office/officeart/2008/layout/LinedList"/>
    <dgm:cxn modelId="{E366CE6A-9BC8-42C6-9A1A-63016F3D54FA}" type="presParOf" srcId="{8190571E-7037-4081-87CC-FC2E7FDC061E}" destId="{9668FD17-A892-49E2-ABB6-21093247EBCA}" srcOrd="13" destOrd="0" presId="urn:microsoft.com/office/officeart/2008/layout/LinedList"/>
    <dgm:cxn modelId="{721F53C2-749A-4C3F-AEF6-C88F82CD1DFE}" type="presParOf" srcId="{9668FD17-A892-49E2-ABB6-21093247EBCA}" destId="{7702C47E-0CA4-4300-BAAE-9FFFE77F44B7}" srcOrd="0" destOrd="0" presId="urn:microsoft.com/office/officeart/2008/layout/LinedList"/>
    <dgm:cxn modelId="{424E9139-4430-4B3F-B730-16337B351079}" type="presParOf" srcId="{9668FD17-A892-49E2-ABB6-21093247EBCA}" destId="{77A702C1-D77D-4064-982B-EBFB84B5B7C0}" srcOrd="1" destOrd="0" presId="urn:microsoft.com/office/officeart/2008/layout/LinedList"/>
    <dgm:cxn modelId="{2F708970-5ED3-4722-A3E1-310C0DC46889}" type="presParOf" srcId="{9668FD17-A892-49E2-ABB6-21093247EBCA}" destId="{9033CA31-DA60-40EF-9338-EDC2B3BC6925}" srcOrd="2" destOrd="0" presId="urn:microsoft.com/office/officeart/2008/layout/LinedList"/>
    <dgm:cxn modelId="{1E7AF16F-6371-4C2D-82BD-3CDC07510972}" type="presParOf" srcId="{9033CA31-DA60-40EF-9338-EDC2B3BC6925}" destId="{D4FF0B28-1B1F-47B0-925A-B5E0E9F51221}" srcOrd="0" destOrd="0" presId="urn:microsoft.com/office/officeart/2008/layout/LinedList"/>
    <dgm:cxn modelId="{ADEF97A1-A44B-43D2-B6E4-6B8AEDFE2BD6}" type="presParOf" srcId="{D4FF0B28-1B1F-47B0-925A-B5E0E9F51221}" destId="{B96A4A20-7FE9-4BD5-85C2-6D4681B2C2F1}" srcOrd="0" destOrd="0" presId="urn:microsoft.com/office/officeart/2008/layout/LinedList"/>
    <dgm:cxn modelId="{37271797-F666-485F-A877-542CFC36D963}" type="presParOf" srcId="{D4FF0B28-1B1F-47B0-925A-B5E0E9F51221}" destId="{70263E1B-D2DF-437E-B39F-9DFBC26EFB1B}" srcOrd="1" destOrd="0" presId="urn:microsoft.com/office/officeart/2008/layout/LinedList"/>
    <dgm:cxn modelId="{A90C3827-9DDE-479E-8413-A44E52FD80AC}" type="presParOf" srcId="{D4FF0B28-1B1F-47B0-925A-B5E0E9F51221}" destId="{D2C96178-D702-46F7-AF24-5A5A52AF6615}" srcOrd="2" destOrd="0" presId="urn:microsoft.com/office/officeart/2008/layout/LinedList"/>
    <dgm:cxn modelId="{4A63EDCF-6C4C-4110-A27D-4E7661397824}" type="presParOf" srcId="{8190571E-7037-4081-87CC-FC2E7FDC061E}" destId="{C339D601-8677-4ECF-9C84-B61B52FF6FF9}" srcOrd="14" destOrd="0" presId="urn:microsoft.com/office/officeart/2008/layout/LinedList"/>
    <dgm:cxn modelId="{5073C4DA-51FE-49B4-8082-1046510CCF2E}" type="presParOf" srcId="{8190571E-7037-4081-87CC-FC2E7FDC061E}" destId="{1F2ED8C6-0332-4224-A89D-9987D50BADA3}" srcOrd="15" destOrd="0" presId="urn:microsoft.com/office/officeart/2008/layout/LinedList"/>
    <dgm:cxn modelId="{E2078479-072A-4A91-B8BA-9CAC1FDB4C2B}" type="presParOf" srcId="{8190571E-7037-4081-87CC-FC2E7FDC061E}" destId="{38C4C796-00BC-461A-8E12-CC84CFD04D93}" srcOrd="16" destOrd="0" presId="urn:microsoft.com/office/officeart/2008/layout/LinedList"/>
    <dgm:cxn modelId="{566FE3E1-E055-4447-A4C8-AC754607D1AC}" type="presParOf" srcId="{38C4C796-00BC-461A-8E12-CC84CFD04D93}" destId="{2276B5EE-CC54-46FE-9D06-698B9F480549}" srcOrd="0" destOrd="0" presId="urn:microsoft.com/office/officeart/2008/layout/LinedList"/>
    <dgm:cxn modelId="{ED9C1E0F-C150-4E06-96BD-A51D20CAED77}" type="presParOf" srcId="{38C4C796-00BC-461A-8E12-CC84CFD04D93}" destId="{C2D6E482-38EE-4FFA-8363-F2AF0054A239}" srcOrd="1" destOrd="0" presId="urn:microsoft.com/office/officeart/2008/layout/LinedList"/>
    <dgm:cxn modelId="{921F7E48-D673-402E-B4DD-E8F51C5C7AF6}" type="presParOf" srcId="{38C4C796-00BC-461A-8E12-CC84CFD04D93}" destId="{60FEB981-F51B-4E80-849C-2DC0F014063A}" srcOrd="2" destOrd="0" presId="urn:microsoft.com/office/officeart/2008/layout/LinedList"/>
    <dgm:cxn modelId="{7887FBB7-7A33-4660-A69E-19EAEFC157ED}" type="presParOf" srcId="{60FEB981-F51B-4E80-849C-2DC0F014063A}" destId="{41BAD49E-683F-496D-A49D-1EC3F4491B75}" srcOrd="0" destOrd="0" presId="urn:microsoft.com/office/officeart/2008/layout/LinedList"/>
    <dgm:cxn modelId="{2B802C06-124A-4CC8-A3F6-F6F28BFD4D17}" type="presParOf" srcId="{41BAD49E-683F-496D-A49D-1EC3F4491B75}" destId="{EDEB85D2-8D61-45B2-991B-1CC880ABEED2}" srcOrd="0" destOrd="0" presId="urn:microsoft.com/office/officeart/2008/layout/LinedList"/>
    <dgm:cxn modelId="{8FA230AA-0710-4EAE-BE88-84445E30391A}" type="presParOf" srcId="{41BAD49E-683F-496D-A49D-1EC3F4491B75}" destId="{3F09B7CC-7A7B-4176-9759-6D9BB1E24E9A}" srcOrd="1" destOrd="0" presId="urn:microsoft.com/office/officeart/2008/layout/LinedList"/>
    <dgm:cxn modelId="{A6AE1105-9E77-4D18-94D6-AFE2D73A06AE}" type="presParOf" srcId="{41BAD49E-683F-496D-A49D-1EC3F4491B75}" destId="{A5E5557B-2D2B-4E29-B92F-3A554392A266}" srcOrd="2" destOrd="0" presId="urn:microsoft.com/office/officeart/2008/layout/LinedList"/>
    <dgm:cxn modelId="{CEAABC3C-3DFD-425B-BDCB-1C420403E795}" type="presParOf" srcId="{8190571E-7037-4081-87CC-FC2E7FDC061E}" destId="{45806D57-4082-43D3-B0C8-F88B3D2B746A}" srcOrd="17" destOrd="0" presId="urn:microsoft.com/office/officeart/2008/layout/LinedList"/>
    <dgm:cxn modelId="{CD1C773B-7948-4010-918F-DB6A290C3A9D}" type="presParOf" srcId="{8190571E-7037-4081-87CC-FC2E7FDC061E}" destId="{BBBAF750-2328-47D9-8391-1CA7171FC1EB}" srcOrd="18" destOrd="0" presId="urn:microsoft.com/office/officeart/2008/layout/LinedList"/>
    <dgm:cxn modelId="{08E4E508-1CB4-4B64-9463-BFEBDE2923CB}" type="presParOf" srcId="{8190571E-7037-4081-87CC-FC2E7FDC061E}" destId="{81510A57-7F5B-4970-B445-9ED4FE86EA1E}" srcOrd="19" destOrd="0" presId="urn:microsoft.com/office/officeart/2008/layout/LinedList"/>
    <dgm:cxn modelId="{AE9E8135-0AC8-4D2A-A776-55BE3EDD87A8}" type="presParOf" srcId="{81510A57-7F5B-4970-B445-9ED4FE86EA1E}" destId="{19D3E32E-D648-4D9B-8CAF-8243B68CA66D}" srcOrd="0" destOrd="0" presId="urn:microsoft.com/office/officeart/2008/layout/LinedList"/>
    <dgm:cxn modelId="{4A91BADA-2276-4D82-A92B-FD2BE0802751}" type="presParOf" srcId="{81510A57-7F5B-4970-B445-9ED4FE86EA1E}" destId="{BE4E65C4-97AE-4D3B-B2F0-D018B046F286}" srcOrd="1" destOrd="0" presId="urn:microsoft.com/office/officeart/2008/layout/LinedList"/>
    <dgm:cxn modelId="{A40818CA-C662-434D-BAD5-016DDE76B363}" type="presParOf" srcId="{81510A57-7F5B-4970-B445-9ED4FE86EA1E}" destId="{CE8856B2-A0B3-41D5-B131-8EBB6BA76086}" srcOrd="2" destOrd="0" presId="urn:microsoft.com/office/officeart/2008/layout/LinedList"/>
    <dgm:cxn modelId="{C587DB81-4DF7-4E80-847F-529B7822127A}" type="presParOf" srcId="{CE8856B2-A0B3-41D5-B131-8EBB6BA76086}" destId="{A2025475-6505-4902-B7A2-ABA15EBCDD6F}" srcOrd="0" destOrd="0" presId="urn:microsoft.com/office/officeart/2008/layout/LinedList"/>
    <dgm:cxn modelId="{B824BF77-B64B-4C11-BAEA-3693E7250951}" type="presParOf" srcId="{A2025475-6505-4902-B7A2-ABA15EBCDD6F}" destId="{AB4F24FE-7E54-4382-822C-4E61D1D05E29}" srcOrd="0" destOrd="0" presId="urn:microsoft.com/office/officeart/2008/layout/LinedList"/>
    <dgm:cxn modelId="{910508D8-CE4D-4AE9-BB8E-538ED8DD4D2F}" type="presParOf" srcId="{A2025475-6505-4902-B7A2-ABA15EBCDD6F}" destId="{B0B28CBF-D728-4BF3-8C20-1E93ADC2C2C4}" srcOrd="1" destOrd="0" presId="urn:microsoft.com/office/officeart/2008/layout/LinedList"/>
    <dgm:cxn modelId="{5E20734F-C8B0-4F71-A8DC-9ECA03479BB8}" type="presParOf" srcId="{A2025475-6505-4902-B7A2-ABA15EBCDD6F}" destId="{51581A63-7FF2-4825-A5E7-384ABFEDDCC5}" srcOrd="2" destOrd="0" presId="urn:microsoft.com/office/officeart/2008/layout/LinedList"/>
    <dgm:cxn modelId="{1D74C293-C2FE-446D-A539-02038F381BDC}" type="presParOf" srcId="{8190571E-7037-4081-87CC-FC2E7FDC061E}" destId="{1E1914F5-661E-445D-8E58-BFC2CE09ED4D}" srcOrd="20" destOrd="0" presId="urn:microsoft.com/office/officeart/2008/layout/LinedList"/>
    <dgm:cxn modelId="{F490C1A6-97D7-4E15-BF46-05F8AC8790B9}" type="presParOf" srcId="{8190571E-7037-4081-87CC-FC2E7FDC061E}" destId="{100B0F99-12B3-4788-B0B4-81AC08A81986}" srcOrd="21" destOrd="0" presId="urn:microsoft.com/office/officeart/2008/layout/LinedList"/>
    <dgm:cxn modelId="{A31BE5B1-473E-473E-AD56-26A53A3F2201}" type="presParOf" srcId="{8190571E-7037-4081-87CC-FC2E7FDC061E}" destId="{2CF1665C-6148-4570-ABB9-76E8B3204CEA}" srcOrd="22" destOrd="0" presId="urn:microsoft.com/office/officeart/2008/layout/LinedList"/>
    <dgm:cxn modelId="{75E7F997-3ABF-4341-999A-D9A15642FECA}" type="presParOf" srcId="{2CF1665C-6148-4570-ABB9-76E8B3204CEA}" destId="{D97277C2-AFAF-4BD0-8534-3BA3044AE581}" srcOrd="0" destOrd="0" presId="urn:microsoft.com/office/officeart/2008/layout/LinedList"/>
    <dgm:cxn modelId="{1E799169-9435-442E-A716-FF7B0F1EF9BE}" type="presParOf" srcId="{2CF1665C-6148-4570-ABB9-76E8B3204CEA}" destId="{374D6A72-3947-4D00-96AC-512A00ABB82B}" srcOrd="1" destOrd="0" presId="urn:microsoft.com/office/officeart/2008/layout/LinedList"/>
    <dgm:cxn modelId="{1A03CB48-9DD3-4168-BDD5-C81E47A7424D}" type="presParOf" srcId="{2CF1665C-6148-4570-ABB9-76E8B3204CEA}" destId="{14808FE2-1268-4D98-AC96-EBF1F5BB5B24}" srcOrd="2" destOrd="0" presId="urn:microsoft.com/office/officeart/2008/layout/LinedList"/>
    <dgm:cxn modelId="{77510966-055B-4467-89CF-B4DD0CF39C10}" type="presParOf" srcId="{14808FE2-1268-4D98-AC96-EBF1F5BB5B24}" destId="{7B636C0D-7DCB-4AF8-A68F-7965A34A3A87}" srcOrd="0" destOrd="0" presId="urn:microsoft.com/office/officeart/2008/layout/LinedList"/>
    <dgm:cxn modelId="{3E932DC4-E399-494E-A6A2-0305FD37F250}" type="presParOf" srcId="{7B636C0D-7DCB-4AF8-A68F-7965A34A3A87}" destId="{69F4C7CD-8299-42D0-8F3E-E6EADBC4C910}" srcOrd="0" destOrd="0" presId="urn:microsoft.com/office/officeart/2008/layout/LinedList"/>
    <dgm:cxn modelId="{B4907D44-29BD-444F-A27B-ADEC88F0F81E}" type="presParOf" srcId="{7B636C0D-7DCB-4AF8-A68F-7965A34A3A87}" destId="{67DA113E-2FB6-4AEF-8745-340ACF174DCB}" srcOrd="1" destOrd="0" presId="urn:microsoft.com/office/officeart/2008/layout/LinedList"/>
    <dgm:cxn modelId="{0D862219-DBD5-4C91-B954-7909DB12F5C3}" type="presParOf" srcId="{7B636C0D-7DCB-4AF8-A68F-7965A34A3A87}" destId="{E57C65AA-9050-4732-9D95-5DB820CA7D62}" srcOrd="2" destOrd="0" presId="urn:microsoft.com/office/officeart/2008/layout/LinedList"/>
    <dgm:cxn modelId="{41D3F14E-B0CF-4FD5-9691-6EEFB9F10AD3}" type="presParOf" srcId="{8190571E-7037-4081-87CC-FC2E7FDC061E}" destId="{E22C1DBF-E3C3-474F-AD8E-4FFBD8C15FE1}" srcOrd="23" destOrd="0" presId="urn:microsoft.com/office/officeart/2008/layout/LinedList"/>
    <dgm:cxn modelId="{9AD4C022-C917-4D49-A312-9EF7336487EB}" type="presParOf" srcId="{8190571E-7037-4081-87CC-FC2E7FDC061E}" destId="{6705AF36-0B06-4180-8E95-4E0326B316ED}" srcOrd="24" destOrd="0" presId="urn:microsoft.com/office/officeart/2008/layout/LinedList"/>
    <dgm:cxn modelId="{95BFF769-CCBE-4027-A44B-E69231BA2B8E}" type="presParOf" srcId="{8190571E-7037-4081-87CC-FC2E7FDC061E}" destId="{0614FAC8-A650-4791-8E61-6B3A67845F42}" srcOrd="25" destOrd="0" presId="urn:microsoft.com/office/officeart/2008/layout/LinedList"/>
    <dgm:cxn modelId="{4F4FF863-39D8-4AF9-8884-01289BB7DAD3}" type="presParOf" srcId="{0614FAC8-A650-4791-8E61-6B3A67845F42}" destId="{60D36AA5-F7E9-4FFF-9CBE-BE1F5654ACAB}" srcOrd="0" destOrd="0" presId="urn:microsoft.com/office/officeart/2008/layout/LinedList"/>
    <dgm:cxn modelId="{554218EF-4894-4469-9CA3-E55063D7425C}" type="presParOf" srcId="{0614FAC8-A650-4791-8E61-6B3A67845F42}" destId="{F525890F-EB6A-439F-93C6-D2C674E88944}" srcOrd="1" destOrd="0" presId="urn:microsoft.com/office/officeart/2008/layout/LinedList"/>
    <dgm:cxn modelId="{FE8DE743-48B3-4479-A7C7-5530A890C782}" type="presParOf" srcId="{0614FAC8-A650-4791-8E61-6B3A67845F42}" destId="{8ADB6529-226D-41F4-8B8C-498C7B5D05F1}" srcOrd="2" destOrd="0" presId="urn:microsoft.com/office/officeart/2008/layout/LinedList"/>
    <dgm:cxn modelId="{E03D4467-AF02-4EDF-8500-17FFC5E4522C}" type="presParOf" srcId="{8ADB6529-226D-41F4-8B8C-498C7B5D05F1}" destId="{F3EAD1B6-8FFF-43B7-85C7-C3B90EA554A0}" srcOrd="0" destOrd="0" presId="urn:microsoft.com/office/officeart/2008/layout/LinedList"/>
    <dgm:cxn modelId="{62A78B98-AD8C-433F-88C4-9006A3D04CF2}" type="presParOf" srcId="{F3EAD1B6-8FFF-43B7-85C7-C3B90EA554A0}" destId="{5EBC319D-70B4-4C21-A194-DC1B594F8E47}" srcOrd="0" destOrd="0" presId="urn:microsoft.com/office/officeart/2008/layout/LinedList"/>
    <dgm:cxn modelId="{A45C6DCB-159E-4EFB-9552-F899DC3186A0}" type="presParOf" srcId="{F3EAD1B6-8FFF-43B7-85C7-C3B90EA554A0}" destId="{462799D0-B34D-43D2-AA5E-972F8E8AA2C7}" srcOrd="1" destOrd="0" presId="urn:microsoft.com/office/officeart/2008/layout/LinedList"/>
    <dgm:cxn modelId="{F03918EB-36F5-48BE-8728-43C16AAEC9F6}" type="presParOf" srcId="{F3EAD1B6-8FFF-43B7-85C7-C3B90EA554A0}" destId="{70ECB9E2-B453-4441-B651-D375391A74B1}" srcOrd="2" destOrd="0" presId="urn:microsoft.com/office/officeart/2008/layout/LinedList"/>
    <dgm:cxn modelId="{0891C9C5-208C-4EA9-AFFA-C0B2B2FB18F6}" type="presParOf" srcId="{8190571E-7037-4081-87CC-FC2E7FDC061E}" destId="{41C83CB3-DEB8-437E-91DE-DF63BE27DC5D}" srcOrd="26" destOrd="0" presId="urn:microsoft.com/office/officeart/2008/layout/LinedList"/>
    <dgm:cxn modelId="{0F3610B2-46A6-4081-A162-F231BEEC150C}" type="presParOf" srcId="{8190571E-7037-4081-87CC-FC2E7FDC061E}" destId="{80B2319D-A2DC-44E1-AA74-80E17D28E9D6}" srcOrd="27" destOrd="0" presId="urn:microsoft.com/office/officeart/2008/layout/LinedList"/>
    <dgm:cxn modelId="{2D6ABF43-6CEA-4CE6-8489-6809B9DCB15A}" type="presParOf" srcId="{8190571E-7037-4081-87CC-FC2E7FDC061E}" destId="{FAD49460-4A6E-4806-8741-1CCA2FE092F2}" srcOrd="28" destOrd="0" presId="urn:microsoft.com/office/officeart/2008/layout/LinedList"/>
    <dgm:cxn modelId="{72737AC9-0F1A-471D-9DC7-36D1EBA4ADD0}" type="presParOf" srcId="{FAD49460-4A6E-4806-8741-1CCA2FE092F2}" destId="{1A6F1C39-6CE5-4D77-A5AF-E2DDA19349DB}" srcOrd="0" destOrd="0" presId="urn:microsoft.com/office/officeart/2008/layout/LinedList"/>
    <dgm:cxn modelId="{702546D4-78C7-4318-A7FA-5C5A7D7A9F0C}" type="presParOf" srcId="{FAD49460-4A6E-4806-8741-1CCA2FE092F2}" destId="{DCBA1321-4166-4FDF-85E0-A4557647107C}" srcOrd="1" destOrd="0" presId="urn:microsoft.com/office/officeart/2008/layout/LinedList"/>
    <dgm:cxn modelId="{0C96C960-48F3-42AA-A099-5102497807E8}" type="presParOf" srcId="{FAD49460-4A6E-4806-8741-1CCA2FE092F2}" destId="{08F2F743-10FA-41DA-8350-FBA01431CDF7}" srcOrd="2" destOrd="0" presId="urn:microsoft.com/office/officeart/2008/layout/LinedList"/>
    <dgm:cxn modelId="{DA570C39-EA87-4B29-814C-16042F55B957}" type="presParOf" srcId="{08F2F743-10FA-41DA-8350-FBA01431CDF7}" destId="{B3211AD3-E287-4248-B2EB-39BF56228850}" srcOrd="0" destOrd="0" presId="urn:microsoft.com/office/officeart/2008/layout/LinedList"/>
    <dgm:cxn modelId="{334731DA-F356-4CB6-8743-CB6C73A0E98D}" type="presParOf" srcId="{B3211AD3-E287-4248-B2EB-39BF56228850}" destId="{96BC1EBD-BF77-4AB6-949C-45A569E0EA62}" srcOrd="0" destOrd="0" presId="urn:microsoft.com/office/officeart/2008/layout/LinedList"/>
    <dgm:cxn modelId="{1CBE71FA-B2B0-42D9-82A0-92FB92C7D8C2}" type="presParOf" srcId="{B3211AD3-E287-4248-B2EB-39BF56228850}" destId="{BCEE2737-002D-408F-9B74-889E2EE9E74A}" srcOrd="1" destOrd="0" presId="urn:microsoft.com/office/officeart/2008/layout/LinedList"/>
    <dgm:cxn modelId="{48278879-2BB9-47F5-9D6B-A87651160335}" type="presParOf" srcId="{B3211AD3-E287-4248-B2EB-39BF56228850}" destId="{43B49599-2BDE-4041-BECA-8FD481FE0FF4}" srcOrd="2" destOrd="0" presId="urn:microsoft.com/office/officeart/2008/layout/LinedList"/>
    <dgm:cxn modelId="{3A6354D8-F250-4237-8E91-D7ED43B65251}" type="presParOf" srcId="{8190571E-7037-4081-87CC-FC2E7FDC061E}" destId="{50BFCA13-9573-4F0B-A7BE-DCC29A72E119}" srcOrd="29" destOrd="0" presId="urn:microsoft.com/office/officeart/2008/layout/LinedList"/>
    <dgm:cxn modelId="{DA8AA663-F121-4762-96CF-42C6383D527A}" type="presParOf" srcId="{8190571E-7037-4081-87CC-FC2E7FDC061E}" destId="{2B83355D-4E3F-4269-915C-30E8FAB6B044}" srcOrd="30" destOrd="0" presId="urn:microsoft.com/office/officeart/2008/layout/LinedList"/>
    <dgm:cxn modelId="{5D01921D-3304-422C-BADF-A942B78F7B2F}" type="presParOf" srcId="{8190571E-7037-4081-87CC-FC2E7FDC061E}" destId="{2A467DE1-5523-4BEF-AAF4-E2DAAF58EA9A}" srcOrd="31" destOrd="0" presId="urn:microsoft.com/office/officeart/2008/layout/LinedList"/>
    <dgm:cxn modelId="{A0D4FED2-EFA4-47F4-9D7C-AA1783492E29}" type="presParOf" srcId="{2A467DE1-5523-4BEF-AAF4-E2DAAF58EA9A}" destId="{BDA0C934-1A3F-4B47-90E7-02441D6852EF}" srcOrd="0" destOrd="0" presId="urn:microsoft.com/office/officeart/2008/layout/LinedList"/>
    <dgm:cxn modelId="{244ECABA-CD62-4DAD-8874-CFC39D110B31}" type="presParOf" srcId="{2A467DE1-5523-4BEF-AAF4-E2DAAF58EA9A}" destId="{AD5AC08B-640B-4BF3-9632-89D5B8F40CC0}" srcOrd="1" destOrd="0" presId="urn:microsoft.com/office/officeart/2008/layout/LinedList"/>
    <dgm:cxn modelId="{C9A77D16-0A21-40F5-AB56-DA46BF7DDC98}" type="presParOf" srcId="{2A467DE1-5523-4BEF-AAF4-E2DAAF58EA9A}" destId="{DF64F0F7-8709-4691-AADC-AFD248786267}" srcOrd="2" destOrd="0" presId="urn:microsoft.com/office/officeart/2008/layout/LinedList"/>
    <dgm:cxn modelId="{BF9E6649-873D-461C-8569-88AA5C4AA19D}" type="presParOf" srcId="{DF64F0F7-8709-4691-AADC-AFD248786267}" destId="{CF99770D-8C18-4CD2-8EEA-6B451E4078B0}" srcOrd="0" destOrd="0" presId="urn:microsoft.com/office/officeart/2008/layout/LinedList"/>
    <dgm:cxn modelId="{386DA3E8-F6F2-4DA9-AD1C-037167BBF421}" type="presParOf" srcId="{CF99770D-8C18-4CD2-8EEA-6B451E4078B0}" destId="{4F500191-86B1-42E7-B90C-3C4EB6C8A4A8}" srcOrd="0" destOrd="0" presId="urn:microsoft.com/office/officeart/2008/layout/LinedList"/>
    <dgm:cxn modelId="{9CAE60FF-1824-465E-86C9-372F802E9080}" type="presParOf" srcId="{CF99770D-8C18-4CD2-8EEA-6B451E4078B0}" destId="{79F03C78-9304-49B8-A52D-E06506C87DAE}" srcOrd="1" destOrd="0" presId="urn:microsoft.com/office/officeart/2008/layout/LinedList"/>
    <dgm:cxn modelId="{6317C6EE-FA36-4BF0-AD50-ABF3C342EDB7}" type="presParOf" srcId="{CF99770D-8C18-4CD2-8EEA-6B451E4078B0}" destId="{3CE92AD0-C2B8-4EF2-88D5-D52165EC8B9F}" srcOrd="2" destOrd="0" presId="urn:microsoft.com/office/officeart/2008/layout/LinedList"/>
    <dgm:cxn modelId="{62DC8236-52E4-408E-899A-0EBE4CB39446}" type="presParOf" srcId="{8190571E-7037-4081-87CC-FC2E7FDC061E}" destId="{5ADC530F-8DF8-4F12-98F0-054C354EA3B3}" srcOrd="32" destOrd="0" presId="urn:microsoft.com/office/officeart/2008/layout/LinedList"/>
    <dgm:cxn modelId="{9C652344-D91D-4D1D-894B-83851D96D74A}" type="presParOf" srcId="{8190571E-7037-4081-87CC-FC2E7FDC061E}" destId="{15E8B04D-7988-4DD4-BA4C-AE2D536F98C1}" srcOrd="33" destOrd="0" presId="urn:microsoft.com/office/officeart/2008/layout/LinedList"/>
    <dgm:cxn modelId="{59B1EEDA-D964-440A-BF32-229E4D9862E2}" type="presParOf" srcId="{8190571E-7037-4081-87CC-FC2E7FDC061E}" destId="{06974225-66EF-458A-B018-1A306E4F9725}" srcOrd="34" destOrd="0" presId="urn:microsoft.com/office/officeart/2008/layout/LinedList"/>
    <dgm:cxn modelId="{F0CFD25B-8AFA-46F4-9F53-A73B445E7A7D}" type="presParOf" srcId="{06974225-66EF-458A-B018-1A306E4F9725}" destId="{5F90ACD2-A3DF-45FF-AD2F-03FF83117CF2}" srcOrd="0" destOrd="0" presId="urn:microsoft.com/office/officeart/2008/layout/LinedList"/>
    <dgm:cxn modelId="{8241A21A-560B-4102-8018-E6E7D4CF4713}" type="presParOf" srcId="{06974225-66EF-458A-B018-1A306E4F9725}" destId="{E211ECC8-5850-41F3-AB5C-76D989040FF4}" srcOrd="1" destOrd="0" presId="urn:microsoft.com/office/officeart/2008/layout/LinedList"/>
    <dgm:cxn modelId="{AD2CFA65-7FAE-49A9-8B65-A54F2CE867D6}" type="presParOf" srcId="{06974225-66EF-458A-B018-1A306E4F9725}" destId="{45B5638A-18C8-4D7B-9BC5-18A516564B5A}" srcOrd="2" destOrd="0" presId="urn:microsoft.com/office/officeart/2008/layout/LinedList"/>
    <dgm:cxn modelId="{00333395-581B-4314-8E2D-5BEE658A9BFC}" type="presParOf" srcId="{45B5638A-18C8-4D7B-9BC5-18A516564B5A}" destId="{EC61AEAC-9127-409D-A573-885B85680BD4}" srcOrd="0" destOrd="0" presId="urn:microsoft.com/office/officeart/2008/layout/LinedList"/>
    <dgm:cxn modelId="{AB019543-9F31-4BA8-A62C-A70A73753739}" type="presParOf" srcId="{EC61AEAC-9127-409D-A573-885B85680BD4}" destId="{2284652C-EBD9-44A8-8910-A96FF332341E}" srcOrd="0" destOrd="0" presId="urn:microsoft.com/office/officeart/2008/layout/LinedList"/>
    <dgm:cxn modelId="{521CD8C2-4F67-4674-B69C-4CA475282F6F}" type="presParOf" srcId="{EC61AEAC-9127-409D-A573-885B85680BD4}" destId="{578D3DF1-1129-41F8-8F9C-0D1CC87C745D}" srcOrd="1" destOrd="0" presId="urn:microsoft.com/office/officeart/2008/layout/LinedList"/>
    <dgm:cxn modelId="{739F6BCE-2A6C-463C-A35B-A92889AF2EDD}" type="presParOf" srcId="{EC61AEAC-9127-409D-A573-885B85680BD4}" destId="{4EC4C1F3-29D3-43F9-9381-EF67000FCF3A}" srcOrd="2" destOrd="0" presId="urn:microsoft.com/office/officeart/2008/layout/LinedList"/>
    <dgm:cxn modelId="{EA1FF529-3EF8-4021-AC66-D4FF25EA7DEB}" type="presParOf" srcId="{8190571E-7037-4081-87CC-FC2E7FDC061E}" destId="{C15E3481-0C8B-431D-B0A4-3625A8C8A3D4}" srcOrd="35" destOrd="0" presId="urn:microsoft.com/office/officeart/2008/layout/LinedList"/>
    <dgm:cxn modelId="{CF3921AF-D02C-453D-ACED-450E246A1074}" type="presParOf" srcId="{8190571E-7037-4081-87CC-FC2E7FDC061E}" destId="{1DDFDA83-51F2-4C65-8AB9-DB3B31E31291}" srcOrd="36" destOrd="0" presId="urn:microsoft.com/office/officeart/2008/layout/LinedList"/>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DE378C2-1C5F-4EA8-A894-15F34AEBB012}" type="doc">
      <dgm:prSet loTypeId="urn:microsoft.com/office/officeart/2005/8/layout/vList2" loCatId="list" qsTypeId="urn:microsoft.com/office/officeart/2005/8/quickstyle/simple1" qsCatId="simple" csTypeId="urn:microsoft.com/office/officeart/2005/8/colors/accent5_2" csCatId="accent5" phldr="1"/>
      <dgm:spPr/>
      <dgm:t>
        <a:bodyPr/>
        <a:lstStyle/>
        <a:p>
          <a:endParaRPr lang="en-US"/>
        </a:p>
      </dgm:t>
    </dgm:pt>
    <dgm:pt modelId="{E3ECBD6C-3553-4120-B34A-EA120A98AFC3}">
      <dgm:prSet custT="1"/>
      <dgm:spPr/>
      <dgm:t>
        <a:bodyPr/>
        <a:lstStyle/>
        <a:p>
          <a:pPr rtl="0"/>
          <a:r>
            <a:rPr lang="en-US" sz="1200" smtClean="0"/>
            <a:t>Each Microservice Delivers A Single Complete Business Capability</a:t>
          </a:r>
          <a:endParaRPr lang="en-US" sz="1200" dirty="0"/>
        </a:p>
      </dgm:t>
    </dgm:pt>
    <dgm:pt modelId="{06854629-A61F-4DA0-8E27-18B42D97DCDA}" type="parTrans" cxnId="{1DBADD4C-B835-4C37-8EEE-4DA95E16EF22}">
      <dgm:prSet/>
      <dgm:spPr/>
      <dgm:t>
        <a:bodyPr/>
        <a:lstStyle/>
        <a:p>
          <a:endParaRPr lang="en-US"/>
        </a:p>
      </dgm:t>
    </dgm:pt>
    <dgm:pt modelId="{84E25915-2DE9-41A7-A8BD-44AADBCCCC49}" type="sibTrans" cxnId="{1DBADD4C-B835-4C37-8EEE-4DA95E16EF22}">
      <dgm:prSet/>
      <dgm:spPr/>
      <dgm:t>
        <a:bodyPr/>
        <a:lstStyle/>
        <a:p>
          <a:endParaRPr lang="en-US"/>
        </a:p>
      </dgm:t>
    </dgm:pt>
    <dgm:pt modelId="{920E1760-92B1-45D3-A47F-2F9E5FBA6D48}">
      <dgm:prSet custT="1"/>
      <dgm:spPr/>
      <dgm:t>
        <a:bodyPr/>
        <a:lstStyle/>
        <a:p>
          <a:pPr rtl="0"/>
          <a:r>
            <a:rPr lang="en-US" sz="1200" smtClean="0"/>
            <a:t>Autonomy Over Coordination</a:t>
          </a:r>
          <a:endParaRPr lang="en-US" sz="1200" dirty="0"/>
        </a:p>
      </dgm:t>
    </dgm:pt>
    <dgm:pt modelId="{02FC9BF8-BC56-4566-8C16-C00258FAD056}" type="parTrans" cxnId="{2985D9C0-72B6-4C34-94C7-7FF7CBBE93E5}">
      <dgm:prSet/>
      <dgm:spPr/>
      <dgm:t>
        <a:bodyPr/>
        <a:lstStyle/>
        <a:p>
          <a:endParaRPr lang="en-US"/>
        </a:p>
      </dgm:t>
    </dgm:pt>
    <dgm:pt modelId="{5714BD88-64EA-4259-87C8-A803C1ECFE1C}" type="sibTrans" cxnId="{2985D9C0-72B6-4C34-94C7-7FF7CBBE93E5}">
      <dgm:prSet/>
      <dgm:spPr/>
      <dgm:t>
        <a:bodyPr/>
        <a:lstStyle/>
        <a:p>
          <a:endParaRPr lang="en-US"/>
        </a:p>
      </dgm:t>
    </dgm:pt>
    <dgm:pt modelId="{7BE2B0EB-75EB-4743-B024-A44E4522E061}">
      <dgm:prSet custT="1"/>
      <dgm:spPr/>
      <dgm:t>
        <a:bodyPr/>
        <a:lstStyle/>
        <a:p>
          <a:pPr rtl="0"/>
          <a:r>
            <a:rPr lang="en-US" sz="1200" smtClean="0"/>
            <a:t>Small Bounded Contexts Over One Comprehensive Model</a:t>
          </a:r>
          <a:endParaRPr lang="en-US" sz="1200" dirty="0"/>
        </a:p>
      </dgm:t>
    </dgm:pt>
    <dgm:pt modelId="{6227D636-3224-495A-893E-7963C59A60AA}" type="parTrans" cxnId="{4BA49FB3-70C1-4F81-B52F-48E6EC0DF8B4}">
      <dgm:prSet/>
      <dgm:spPr/>
      <dgm:t>
        <a:bodyPr/>
        <a:lstStyle/>
        <a:p>
          <a:endParaRPr lang="en-US"/>
        </a:p>
      </dgm:t>
    </dgm:pt>
    <dgm:pt modelId="{115C12F1-6369-411E-82DB-9E62820C4CB6}" type="sibTrans" cxnId="{4BA49FB3-70C1-4F81-B52F-48E6EC0DF8B4}">
      <dgm:prSet/>
      <dgm:spPr/>
      <dgm:t>
        <a:bodyPr/>
        <a:lstStyle/>
        <a:p>
          <a:endParaRPr lang="en-US"/>
        </a:p>
      </dgm:t>
    </dgm:pt>
    <dgm:pt modelId="{757257F1-A16F-488E-BA1D-DC9A35ABEF3A}">
      <dgm:prSet custT="1"/>
      <dgm:spPr/>
      <dgm:t>
        <a:bodyPr/>
        <a:lstStyle/>
        <a:p>
          <a:pPr rtl="0"/>
          <a:r>
            <a:rPr lang="en-US" sz="1200" smtClean="0"/>
            <a:t>Asynchronous Communication Over Synchronous Communication</a:t>
          </a:r>
          <a:endParaRPr lang="en-US" sz="1200" dirty="0"/>
        </a:p>
      </dgm:t>
    </dgm:pt>
    <dgm:pt modelId="{7697CBC6-8E9F-46E3-BD7F-06C1E8427EEA}" type="parTrans" cxnId="{6476ED34-6C01-47EF-834F-3CC49A9CE784}">
      <dgm:prSet/>
      <dgm:spPr/>
      <dgm:t>
        <a:bodyPr/>
        <a:lstStyle/>
        <a:p>
          <a:endParaRPr lang="en-US"/>
        </a:p>
      </dgm:t>
    </dgm:pt>
    <dgm:pt modelId="{EA915D3A-45D3-4755-A07C-345E1B042FFA}" type="sibTrans" cxnId="{6476ED34-6C01-47EF-834F-3CC49A9CE784}">
      <dgm:prSet/>
      <dgm:spPr/>
      <dgm:t>
        <a:bodyPr/>
        <a:lstStyle/>
        <a:p>
          <a:endParaRPr lang="en-US"/>
        </a:p>
      </dgm:t>
    </dgm:pt>
    <dgm:pt modelId="{536928B0-0DE6-48EE-B9EA-1E499AA34C48}">
      <dgm:prSet custT="1"/>
      <dgm:spPr/>
      <dgm:t>
        <a:bodyPr/>
        <a:lstStyle/>
        <a:p>
          <a:pPr rtl="0"/>
          <a:r>
            <a:rPr lang="en-US" sz="1200" smtClean="0"/>
            <a:t>Best Technology For The Job Over One Technology For All</a:t>
          </a:r>
          <a:endParaRPr lang="en-US" sz="1200" dirty="0"/>
        </a:p>
      </dgm:t>
    </dgm:pt>
    <dgm:pt modelId="{8E3DFF00-BCDE-4B08-B45A-90FE9073C959}" type="parTrans" cxnId="{190E6DA9-908C-4EF8-A53A-36BC85437700}">
      <dgm:prSet/>
      <dgm:spPr/>
      <dgm:t>
        <a:bodyPr/>
        <a:lstStyle/>
        <a:p>
          <a:endParaRPr lang="en-US"/>
        </a:p>
      </dgm:t>
    </dgm:pt>
    <dgm:pt modelId="{49B3E0A1-F0B1-45AC-A7B6-F3457B6E71AA}" type="sibTrans" cxnId="{190E6DA9-908C-4EF8-A53A-36BC85437700}">
      <dgm:prSet/>
      <dgm:spPr/>
      <dgm:t>
        <a:bodyPr/>
        <a:lstStyle/>
        <a:p>
          <a:endParaRPr lang="en-US"/>
        </a:p>
      </dgm:t>
    </dgm:pt>
    <dgm:pt modelId="{20A91DC9-E17E-4946-B538-159A0610D72B}">
      <dgm:prSet custT="1"/>
      <dgm:spPr/>
      <dgm:t>
        <a:bodyPr/>
        <a:lstStyle/>
        <a:p>
          <a:pPr rtl="0"/>
          <a:r>
            <a:rPr lang="en-US" sz="1200" smtClean="0"/>
            <a:t>One Team Is Responsible For Full Life Cycle Of A Micro Service</a:t>
          </a:r>
          <a:endParaRPr lang="en-US" sz="1200" dirty="0"/>
        </a:p>
      </dgm:t>
    </dgm:pt>
    <dgm:pt modelId="{89F00810-C5AA-47AC-A376-8BC2849D2CC4}" type="parTrans" cxnId="{8077BABB-A86E-43EC-AE69-C18316D1A3CA}">
      <dgm:prSet/>
      <dgm:spPr/>
      <dgm:t>
        <a:bodyPr/>
        <a:lstStyle/>
        <a:p>
          <a:endParaRPr lang="en-US"/>
        </a:p>
      </dgm:t>
    </dgm:pt>
    <dgm:pt modelId="{248FF531-9FAB-4B32-BBA2-393CE59DAD34}" type="sibTrans" cxnId="{8077BABB-A86E-43EC-AE69-C18316D1A3CA}">
      <dgm:prSet/>
      <dgm:spPr/>
      <dgm:t>
        <a:bodyPr/>
        <a:lstStyle/>
        <a:p>
          <a:endParaRPr lang="en-US"/>
        </a:p>
      </dgm:t>
    </dgm:pt>
    <dgm:pt modelId="{AFCD2DDD-9843-4870-88FF-2AEF2E266B04}">
      <dgm:prSet custT="1"/>
      <dgm:spPr/>
      <dgm:t>
        <a:bodyPr/>
        <a:lstStyle/>
        <a:p>
          <a:r>
            <a:rPr lang="en-US" sz="1200" smtClean="0"/>
            <a:t> A single team can deploy and manage a service as well as create new versions and retire obsolete ones</a:t>
          </a:r>
          <a:endParaRPr lang="en-US" sz="1200" dirty="0"/>
        </a:p>
      </dgm:t>
    </dgm:pt>
    <dgm:pt modelId="{5E5F4878-0675-4AC9-BB29-D2F4B164F79D}" type="parTrans" cxnId="{DDCE6FEC-494E-4F43-8E3C-E165DB46D896}">
      <dgm:prSet/>
      <dgm:spPr/>
      <dgm:t>
        <a:bodyPr/>
        <a:lstStyle/>
        <a:p>
          <a:endParaRPr lang="en-US"/>
        </a:p>
      </dgm:t>
    </dgm:pt>
    <dgm:pt modelId="{450C110A-B984-4171-A5AA-B649B5B30D4C}" type="sibTrans" cxnId="{DDCE6FEC-494E-4F43-8E3C-E165DB46D896}">
      <dgm:prSet/>
      <dgm:spPr/>
      <dgm:t>
        <a:bodyPr/>
        <a:lstStyle/>
        <a:p>
          <a:endParaRPr lang="en-US"/>
        </a:p>
      </dgm:t>
    </dgm:pt>
    <dgm:pt modelId="{E46A2F52-5ACF-4A1E-A359-59FC7BE64A64}">
      <dgm:prSet custT="1"/>
      <dgm:spPr/>
      <dgm:t>
        <a:bodyPr/>
        <a:lstStyle/>
        <a:p>
          <a:r>
            <a:rPr lang="en-US" sz="1200" smtClean="0"/>
            <a:t>Users of the service have a single point of contact for all questions regarding the use of the service</a:t>
          </a:r>
          <a:endParaRPr lang="en-US" sz="1200" dirty="0"/>
        </a:p>
      </dgm:t>
    </dgm:pt>
    <dgm:pt modelId="{89C1DEDE-3E78-4EE3-861C-529BBAD2975A}" type="parTrans" cxnId="{5820C1C1-41BB-456A-A699-A7D21D61367C}">
      <dgm:prSet/>
      <dgm:spPr/>
      <dgm:t>
        <a:bodyPr/>
        <a:lstStyle/>
        <a:p>
          <a:endParaRPr lang="en-US"/>
        </a:p>
      </dgm:t>
    </dgm:pt>
    <dgm:pt modelId="{F17AA6F0-D184-4404-A413-1FF203FFD42D}" type="sibTrans" cxnId="{5820C1C1-41BB-456A-A699-A7D21D61367C}">
      <dgm:prSet/>
      <dgm:spPr/>
      <dgm:t>
        <a:bodyPr/>
        <a:lstStyle/>
        <a:p>
          <a:endParaRPr lang="en-US"/>
        </a:p>
      </dgm:t>
    </dgm:pt>
    <dgm:pt modelId="{B8FD3E40-BA7A-45BE-A87D-F57D5BC5CA57}">
      <dgm:prSet/>
      <dgm:spPr/>
      <dgm:t>
        <a:bodyPr/>
        <a:lstStyle/>
        <a:p>
          <a:r>
            <a:rPr lang="en-US" smtClean="0"/>
            <a:t>possibility to choose a different technology for each service</a:t>
          </a:r>
          <a:endParaRPr lang="en-US"/>
        </a:p>
      </dgm:t>
    </dgm:pt>
    <dgm:pt modelId="{31037959-0D77-41B5-B5AC-1B194F2196C7}" type="parTrans" cxnId="{C3DE5467-4576-4676-B629-8F044CA08FC4}">
      <dgm:prSet/>
      <dgm:spPr/>
      <dgm:t>
        <a:bodyPr/>
        <a:lstStyle/>
        <a:p>
          <a:endParaRPr lang="en-US"/>
        </a:p>
      </dgm:t>
    </dgm:pt>
    <dgm:pt modelId="{DD0C0B4B-9EDF-44DB-B992-DAE1F08EA3C7}" type="sibTrans" cxnId="{C3DE5467-4576-4676-B629-8F044CA08FC4}">
      <dgm:prSet/>
      <dgm:spPr/>
      <dgm:t>
        <a:bodyPr/>
        <a:lstStyle/>
        <a:p>
          <a:endParaRPr lang="en-US"/>
        </a:p>
      </dgm:t>
    </dgm:pt>
    <dgm:pt modelId="{CD524A53-83C1-4E30-947C-C9D537AACDB1}">
      <dgm:prSet/>
      <dgm:spPr/>
      <dgm:t>
        <a:bodyPr/>
        <a:lstStyle/>
        <a:p>
          <a:r>
            <a:rPr lang="en-US" smtClean="0"/>
            <a:t>use the best tool for the job</a:t>
          </a:r>
          <a:endParaRPr lang="en-US"/>
        </a:p>
      </dgm:t>
    </dgm:pt>
    <dgm:pt modelId="{9FF5B81A-DEF7-4F19-81D8-CAC20E0D34E8}" type="parTrans" cxnId="{C674324C-FD62-419D-AD0E-564484E707AE}">
      <dgm:prSet/>
      <dgm:spPr/>
      <dgm:t>
        <a:bodyPr/>
        <a:lstStyle/>
        <a:p>
          <a:endParaRPr lang="en-US"/>
        </a:p>
      </dgm:t>
    </dgm:pt>
    <dgm:pt modelId="{71C3B95B-5534-4572-A2B0-AD3A6BC285FA}" type="sibTrans" cxnId="{C674324C-FD62-419D-AD0E-564484E707AE}">
      <dgm:prSet/>
      <dgm:spPr/>
      <dgm:t>
        <a:bodyPr/>
        <a:lstStyle/>
        <a:p>
          <a:endParaRPr lang="en-US"/>
        </a:p>
      </dgm:t>
    </dgm:pt>
    <dgm:pt modelId="{B3E51991-CCA1-4068-A227-FB0AF2F07B0F}">
      <dgm:prSet/>
      <dgm:spPr/>
      <dgm:t>
        <a:bodyPr/>
        <a:lstStyle/>
        <a:p>
          <a:r>
            <a:rPr lang="en-US" smtClean="0"/>
            <a:t>Synchronous dependencies between services is tight coupling, does not scale very well, and the calling service may be impacted by errors in the called service</a:t>
          </a:r>
          <a:endParaRPr lang="en-US"/>
        </a:p>
      </dgm:t>
    </dgm:pt>
    <dgm:pt modelId="{2F0B920D-CCA2-4C1F-9514-E1E3A190B717}" type="parTrans" cxnId="{DF1DDCF2-521F-4D60-87FD-DDB77AC69DD2}">
      <dgm:prSet/>
      <dgm:spPr/>
      <dgm:t>
        <a:bodyPr/>
        <a:lstStyle/>
        <a:p>
          <a:endParaRPr lang="en-US"/>
        </a:p>
      </dgm:t>
    </dgm:pt>
    <dgm:pt modelId="{D646DB55-676C-474B-83A6-2F38AA600C76}" type="sibTrans" cxnId="{DF1DDCF2-521F-4D60-87FD-DDB77AC69DD2}">
      <dgm:prSet/>
      <dgm:spPr/>
      <dgm:t>
        <a:bodyPr/>
        <a:lstStyle/>
        <a:p>
          <a:endParaRPr lang="en-US"/>
        </a:p>
      </dgm:t>
    </dgm:pt>
    <dgm:pt modelId="{38DDED57-D4B8-46FB-B06B-9AA9A168C777}">
      <dgm:prSet/>
      <dgm:spPr/>
      <dgm:t>
        <a:bodyPr/>
        <a:lstStyle/>
        <a:p>
          <a:r>
            <a:rPr lang="en-US" smtClean="0"/>
            <a:t>In Asynchronous communication,the calling service simply publishes it's request  and continues with other work</a:t>
          </a:r>
          <a:endParaRPr lang="en-US"/>
        </a:p>
      </dgm:t>
    </dgm:pt>
    <dgm:pt modelId="{603EC008-CF6B-4DDF-B773-92A795DD2911}" type="parTrans" cxnId="{D79BE5C2-E232-4CAA-8545-420CB0964D53}">
      <dgm:prSet/>
      <dgm:spPr/>
      <dgm:t>
        <a:bodyPr/>
        <a:lstStyle/>
        <a:p>
          <a:endParaRPr lang="en-US"/>
        </a:p>
      </dgm:t>
    </dgm:pt>
    <dgm:pt modelId="{0963391F-DC5C-4C0B-877C-BB8B8BCE6982}" type="sibTrans" cxnId="{D79BE5C2-E232-4CAA-8545-420CB0964D53}">
      <dgm:prSet/>
      <dgm:spPr/>
      <dgm:t>
        <a:bodyPr/>
        <a:lstStyle/>
        <a:p>
          <a:endParaRPr lang="en-US"/>
        </a:p>
      </dgm:t>
    </dgm:pt>
    <dgm:pt modelId="{84C19DCD-6D13-41F0-835C-09C42AB90532}">
      <dgm:prSet/>
      <dgm:spPr/>
      <dgm:t>
        <a:bodyPr/>
        <a:lstStyle/>
        <a:p>
          <a:r>
            <a:rPr lang="en-US" smtClean="0"/>
            <a:t>Problems in another service will not break this service</a:t>
          </a:r>
          <a:endParaRPr lang="en-US"/>
        </a:p>
      </dgm:t>
    </dgm:pt>
    <dgm:pt modelId="{09860C3D-1AF2-41FF-8EC3-8E550C9FD106}" type="parTrans" cxnId="{9347A1C5-53EE-4035-BDF1-129F896F16D7}">
      <dgm:prSet/>
      <dgm:spPr/>
      <dgm:t>
        <a:bodyPr/>
        <a:lstStyle/>
        <a:p>
          <a:endParaRPr lang="en-US"/>
        </a:p>
      </dgm:t>
    </dgm:pt>
    <dgm:pt modelId="{7F9FC8EB-CEE0-4815-992D-41768AB6F9B9}" type="sibTrans" cxnId="{9347A1C5-53EE-4035-BDF1-129F896F16D7}">
      <dgm:prSet/>
      <dgm:spPr/>
      <dgm:t>
        <a:bodyPr/>
        <a:lstStyle/>
        <a:p>
          <a:endParaRPr lang="en-US"/>
        </a:p>
      </dgm:t>
    </dgm:pt>
    <dgm:pt modelId="{F3829547-EB20-40C7-9EC2-2E933EB7D18F}">
      <dgm:prSet/>
      <dgm:spPr/>
      <dgm:t>
        <a:bodyPr/>
        <a:lstStyle/>
        <a:p>
          <a:r>
            <a:rPr lang="en-US" smtClean="0"/>
            <a:t>A Bounded Context encapsulates the details of a single domain, such as domain model, data model, application services, etc., and defines the integration points with other bounded contexts/domains</a:t>
          </a:r>
          <a:endParaRPr lang="en-US"/>
        </a:p>
      </dgm:t>
    </dgm:pt>
    <dgm:pt modelId="{C4F4657D-8155-4EBA-B2B8-EA6CC0D48019}" type="parTrans" cxnId="{6332EEA4-EA2E-4A49-894C-3571CFB1C0BE}">
      <dgm:prSet/>
      <dgm:spPr/>
      <dgm:t>
        <a:bodyPr/>
        <a:lstStyle/>
        <a:p>
          <a:endParaRPr lang="en-US"/>
        </a:p>
      </dgm:t>
    </dgm:pt>
    <dgm:pt modelId="{A3BFC681-F6C5-42BC-9FA1-4F5716A4B7E7}" type="sibTrans" cxnId="{6332EEA4-EA2E-4A49-894C-3571CFB1C0BE}">
      <dgm:prSet/>
      <dgm:spPr/>
      <dgm:t>
        <a:bodyPr/>
        <a:lstStyle/>
        <a:p>
          <a:endParaRPr lang="en-US"/>
        </a:p>
      </dgm:t>
    </dgm:pt>
    <dgm:pt modelId="{0E31019F-9B47-4FE8-A965-6CCE5529ECFA}">
      <dgm:prSet/>
      <dgm:spPr/>
      <dgm:t>
        <a:bodyPr/>
        <a:lstStyle/>
        <a:p>
          <a:r>
            <a:rPr lang="en-US" smtClean="0"/>
            <a:t>Bounded Context make clear where we can safely use the natural domain terms and where we will need to bridge to other domain</a:t>
          </a:r>
          <a:endParaRPr lang="en-US"/>
        </a:p>
      </dgm:t>
    </dgm:pt>
    <dgm:pt modelId="{A1E47896-1987-4519-9AD8-395264315FD2}" type="parTrans" cxnId="{5C7DE2B0-409E-40AA-B9C6-FB4F18D25382}">
      <dgm:prSet/>
      <dgm:spPr/>
      <dgm:t>
        <a:bodyPr/>
        <a:lstStyle/>
        <a:p>
          <a:endParaRPr lang="en-US"/>
        </a:p>
      </dgm:t>
    </dgm:pt>
    <dgm:pt modelId="{16084039-9C34-48BB-BC81-91FBDCC8881E}" type="sibTrans" cxnId="{5C7DE2B0-409E-40AA-B9C6-FB4F18D25382}">
      <dgm:prSet/>
      <dgm:spPr/>
      <dgm:t>
        <a:bodyPr/>
        <a:lstStyle/>
        <a:p>
          <a:endParaRPr lang="en-US"/>
        </a:p>
      </dgm:t>
    </dgm:pt>
    <dgm:pt modelId="{E187A53B-4DFE-4E6C-BD53-A2E74E883554}">
      <dgm:prSet/>
      <dgm:spPr/>
      <dgm:t>
        <a:bodyPr/>
        <a:lstStyle/>
        <a:p>
          <a:r>
            <a:rPr lang="en-US" smtClean="0"/>
            <a:t>Microservices should have a well defined bounded context that will enable us to work without having to consider, or swap, between contexts.</a:t>
          </a:r>
          <a:endParaRPr lang="en-US"/>
        </a:p>
      </dgm:t>
    </dgm:pt>
    <dgm:pt modelId="{75FC7A19-D8D4-4901-A3AB-0E967F87D5C5}" type="parTrans" cxnId="{9EE993D3-D1F5-453D-87A0-FB42B3B8BC22}">
      <dgm:prSet/>
      <dgm:spPr/>
      <dgm:t>
        <a:bodyPr/>
        <a:lstStyle/>
        <a:p>
          <a:endParaRPr lang="en-US"/>
        </a:p>
      </dgm:t>
    </dgm:pt>
    <dgm:pt modelId="{98B0EE23-043D-432F-9E5A-FBBE550685F4}" type="sibTrans" cxnId="{9EE993D3-D1F5-453D-87A0-FB42B3B8BC22}">
      <dgm:prSet/>
      <dgm:spPr/>
      <dgm:t>
        <a:bodyPr/>
        <a:lstStyle/>
        <a:p>
          <a:endParaRPr lang="en-US"/>
        </a:p>
      </dgm:t>
    </dgm:pt>
    <dgm:pt modelId="{528180A2-D154-4582-8EC1-8A52AA4ED24C}">
      <dgm:prSet/>
      <dgm:spPr/>
      <dgm:t>
        <a:bodyPr/>
        <a:lstStyle/>
        <a:p>
          <a:r>
            <a:rPr lang="en-US" smtClean="0"/>
            <a:t> A business capability should not depend on other services to complete its work.</a:t>
          </a:r>
          <a:endParaRPr lang="en-US"/>
        </a:p>
      </dgm:t>
    </dgm:pt>
    <dgm:pt modelId="{745ED82A-03BA-4818-BC17-E9DA5B82A743}" type="parTrans" cxnId="{AFE1BB74-74E8-45FA-AE06-E913BAA33529}">
      <dgm:prSet/>
      <dgm:spPr/>
      <dgm:t>
        <a:bodyPr/>
        <a:lstStyle/>
        <a:p>
          <a:endParaRPr lang="en-US"/>
        </a:p>
      </dgm:t>
    </dgm:pt>
    <dgm:pt modelId="{1483D6B2-BBBF-4A05-953C-758A2CDD7DD4}" type="sibTrans" cxnId="{AFE1BB74-74E8-45FA-AE06-E913BAA33529}">
      <dgm:prSet/>
      <dgm:spPr/>
      <dgm:t>
        <a:bodyPr/>
        <a:lstStyle/>
        <a:p>
          <a:endParaRPr lang="en-US"/>
        </a:p>
      </dgm:t>
    </dgm:pt>
    <dgm:pt modelId="{C1FC1285-5191-42C5-971C-D2D0271DDB40}">
      <dgm:prSet/>
      <dgm:spPr/>
      <dgm:t>
        <a:bodyPr/>
        <a:lstStyle/>
        <a:p>
          <a:r>
            <a:rPr lang="en-US" smtClean="0"/>
            <a:t> A more robust solution would be to define a service that handles a process that makes sense to a user</a:t>
          </a:r>
          <a:endParaRPr lang="en-US"/>
        </a:p>
      </dgm:t>
    </dgm:pt>
    <dgm:pt modelId="{2F120FD8-0D21-46B5-A47E-C960F71448A7}" type="parTrans" cxnId="{AC3B0190-AF5A-423F-B198-B9F8D272CD88}">
      <dgm:prSet/>
      <dgm:spPr/>
      <dgm:t>
        <a:bodyPr/>
        <a:lstStyle/>
        <a:p>
          <a:endParaRPr lang="en-US"/>
        </a:p>
      </dgm:t>
    </dgm:pt>
    <dgm:pt modelId="{4091B136-25B9-4542-A29B-C022AB933A4F}" type="sibTrans" cxnId="{AC3B0190-AF5A-423F-B198-B9F8D272CD88}">
      <dgm:prSet/>
      <dgm:spPr/>
      <dgm:t>
        <a:bodyPr/>
        <a:lstStyle/>
        <a:p>
          <a:endParaRPr lang="en-US"/>
        </a:p>
      </dgm:t>
    </dgm:pt>
    <dgm:pt modelId="{3046F3CB-03F0-4DDC-80AD-024E4C756089}">
      <dgm:prSet/>
      <dgm:spPr/>
      <dgm:t>
        <a:bodyPr/>
        <a:lstStyle/>
        <a:p>
          <a:endParaRPr lang="en-US"/>
        </a:p>
      </dgm:t>
    </dgm:pt>
    <dgm:pt modelId="{5D10D3E4-7BE2-4739-9BDE-C3C74E86C09A}" type="parTrans" cxnId="{1199C07E-FE5B-4865-8020-68025E2FD12B}">
      <dgm:prSet/>
      <dgm:spPr/>
      <dgm:t>
        <a:bodyPr/>
        <a:lstStyle/>
        <a:p>
          <a:endParaRPr lang="en-US"/>
        </a:p>
      </dgm:t>
    </dgm:pt>
    <dgm:pt modelId="{6DA4F8F4-2E06-4C7A-A79A-42F8005C5CCF}" type="sibTrans" cxnId="{1199C07E-FE5B-4865-8020-68025E2FD12B}">
      <dgm:prSet/>
      <dgm:spPr/>
      <dgm:t>
        <a:bodyPr/>
        <a:lstStyle/>
        <a:p>
          <a:endParaRPr lang="en-US"/>
        </a:p>
      </dgm:t>
    </dgm:pt>
    <dgm:pt modelId="{0206BA8C-F74E-417B-A644-B6A6D7993C74}">
      <dgm:prSet/>
      <dgm:spPr/>
      <dgm:t>
        <a:bodyPr/>
        <a:lstStyle/>
        <a:p>
          <a:r>
            <a:rPr lang="en-US" smtClean="0"/>
            <a:t> Minimal coordination between capabilities leads to optimal autonomy</a:t>
          </a:r>
          <a:endParaRPr lang="en-US"/>
        </a:p>
      </dgm:t>
    </dgm:pt>
    <dgm:pt modelId="{EFF5315B-40E8-494E-A86E-15DDFC396FB4}" type="parTrans" cxnId="{CF92C060-3B3F-4BAD-A847-BC4A95B8EC32}">
      <dgm:prSet/>
      <dgm:spPr/>
      <dgm:t>
        <a:bodyPr/>
        <a:lstStyle/>
        <a:p>
          <a:endParaRPr lang="en-US"/>
        </a:p>
      </dgm:t>
    </dgm:pt>
    <dgm:pt modelId="{B67C05C4-7626-4580-8543-AC15FA2C0536}" type="sibTrans" cxnId="{CF92C060-3B3F-4BAD-A847-BC4A95B8EC32}">
      <dgm:prSet/>
      <dgm:spPr/>
      <dgm:t>
        <a:bodyPr/>
        <a:lstStyle/>
        <a:p>
          <a:endParaRPr lang="en-US"/>
        </a:p>
      </dgm:t>
    </dgm:pt>
    <dgm:pt modelId="{01FAD0EA-31ED-4CF2-8143-FD519EFCC04C}">
      <dgm:prSet/>
      <dgm:spPr/>
      <dgm:t>
        <a:bodyPr/>
        <a:lstStyle/>
        <a:p>
          <a:r>
            <a:rPr lang="en-US" smtClean="0"/>
            <a:t>Increased autonomy for a microservice gives it freedom to evolve without impacting other services</a:t>
          </a:r>
          <a:endParaRPr lang="en-US"/>
        </a:p>
      </dgm:t>
    </dgm:pt>
    <dgm:pt modelId="{BC84293F-55B4-4A72-8754-06F4E33AA6BA}" type="parTrans" cxnId="{36B134A0-3706-4A62-8596-584D1D323B7A}">
      <dgm:prSet/>
      <dgm:spPr/>
      <dgm:t>
        <a:bodyPr/>
        <a:lstStyle/>
        <a:p>
          <a:endParaRPr lang="en-US"/>
        </a:p>
      </dgm:t>
    </dgm:pt>
    <dgm:pt modelId="{21915816-430B-4837-88ED-AF83DB6F895E}" type="sibTrans" cxnId="{36B134A0-3706-4A62-8596-584D1D323B7A}">
      <dgm:prSet/>
      <dgm:spPr/>
      <dgm:t>
        <a:bodyPr/>
        <a:lstStyle/>
        <a:p>
          <a:endParaRPr lang="en-US"/>
        </a:p>
      </dgm:t>
    </dgm:pt>
    <dgm:pt modelId="{B291292E-1963-456B-A4EE-490E93524A1F}">
      <dgm:prSet/>
      <dgm:spPr/>
      <dgm:t>
        <a:bodyPr/>
        <a:lstStyle/>
        <a:p>
          <a:r>
            <a:rPr lang="en-US" smtClean="0"/>
            <a:t> it will give both organisational and technical advantages.</a:t>
          </a:r>
          <a:endParaRPr lang="en-US"/>
        </a:p>
      </dgm:t>
    </dgm:pt>
    <dgm:pt modelId="{33E10ED6-BC6C-43CC-985A-B85E2804666B}" type="parTrans" cxnId="{4CC76003-F196-414A-9EF5-C6E9A878A849}">
      <dgm:prSet/>
      <dgm:spPr/>
      <dgm:t>
        <a:bodyPr/>
        <a:lstStyle/>
        <a:p>
          <a:endParaRPr lang="en-US"/>
        </a:p>
      </dgm:t>
    </dgm:pt>
    <dgm:pt modelId="{CB1C3C21-2B0C-4B74-8BA2-FC56358FE1B9}" type="sibTrans" cxnId="{4CC76003-F196-414A-9EF5-C6E9A878A849}">
      <dgm:prSet/>
      <dgm:spPr/>
      <dgm:t>
        <a:bodyPr/>
        <a:lstStyle/>
        <a:p>
          <a:endParaRPr lang="en-US"/>
        </a:p>
      </dgm:t>
    </dgm:pt>
    <dgm:pt modelId="{A62D2B58-08ED-4E4F-BEBE-2A894E5F342D}" type="pres">
      <dgm:prSet presAssocID="{0DE378C2-1C5F-4EA8-A894-15F34AEBB012}" presName="linear" presStyleCnt="0">
        <dgm:presLayoutVars>
          <dgm:animLvl val="lvl"/>
          <dgm:resizeHandles val="exact"/>
        </dgm:presLayoutVars>
      </dgm:prSet>
      <dgm:spPr/>
      <dgm:t>
        <a:bodyPr/>
        <a:lstStyle/>
        <a:p>
          <a:endParaRPr lang="en-US"/>
        </a:p>
      </dgm:t>
    </dgm:pt>
    <dgm:pt modelId="{9708EF52-62F8-405F-A0C0-1CF6E8D23D1D}" type="pres">
      <dgm:prSet presAssocID="{E3ECBD6C-3553-4120-B34A-EA120A98AFC3}" presName="parentText" presStyleLbl="node1" presStyleIdx="0" presStyleCnt="6">
        <dgm:presLayoutVars>
          <dgm:chMax val="0"/>
          <dgm:bulletEnabled val="1"/>
        </dgm:presLayoutVars>
      </dgm:prSet>
      <dgm:spPr/>
      <dgm:t>
        <a:bodyPr/>
        <a:lstStyle/>
        <a:p>
          <a:endParaRPr lang="en-US"/>
        </a:p>
      </dgm:t>
    </dgm:pt>
    <dgm:pt modelId="{8F8E7F55-AB97-4A81-AC23-E5ABD0F5F8A5}" type="pres">
      <dgm:prSet presAssocID="{E3ECBD6C-3553-4120-B34A-EA120A98AFC3}" presName="childText" presStyleLbl="revTx" presStyleIdx="0" presStyleCnt="6">
        <dgm:presLayoutVars>
          <dgm:bulletEnabled val="1"/>
        </dgm:presLayoutVars>
      </dgm:prSet>
      <dgm:spPr/>
      <dgm:t>
        <a:bodyPr/>
        <a:lstStyle/>
        <a:p>
          <a:endParaRPr lang="en-US"/>
        </a:p>
      </dgm:t>
    </dgm:pt>
    <dgm:pt modelId="{2D9C56A3-7996-44A8-B304-DDF62DBA12B1}" type="pres">
      <dgm:prSet presAssocID="{920E1760-92B1-45D3-A47F-2F9E5FBA6D48}" presName="parentText" presStyleLbl="node1" presStyleIdx="1" presStyleCnt="6">
        <dgm:presLayoutVars>
          <dgm:chMax val="0"/>
          <dgm:bulletEnabled val="1"/>
        </dgm:presLayoutVars>
      </dgm:prSet>
      <dgm:spPr/>
      <dgm:t>
        <a:bodyPr/>
        <a:lstStyle/>
        <a:p>
          <a:endParaRPr lang="en-US"/>
        </a:p>
      </dgm:t>
    </dgm:pt>
    <dgm:pt modelId="{E67A0B89-2416-4567-A871-63124CF4B856}" type="pres">
      <dgm:prSet presAssocID="{920E1760-92B1-45D3-A47F-2F9E5FBA6D48}" presName="childText" presStyleLbl="revTx" presStyleIdx="1" presStyleCnt="6">
        <dgm:presLayoutVars>
          <dgm:bulletEnabled val="1"/>
        </dgm:presLayoutVars>
      </dgm:prSet>
      <dgm:spPr/>
      <dgm:t>
        <a:bodyPr/>
        <a:lstStyle/>
        <a:p>
          <a:endParaRPr lang="en-US"/>
        </a:p>
      </dgm:t>
    </dgm:pt>
    <dgm:pt modelId="{BC022D59-5E4B-4191-BBE5-7E2215BBDF03}" type="pres">
      <dgm:prSet presAssocID="{7BE2B0EB-75EB-4743-B024-A44E4522E061}" presName="parentText" presStyleLbl="node1" presStyleIdx="2" presStyleCnt="6">
        <dgm:presLayoutVars>
          <dgm:chMax val="0"/>
          <dgm:bulletEnabled val="1"/>
        </dgm:presLayoutVars>
      </dgm:prSet>
      <dgm:spPr/>
      <dgm:t>
        <a:bodyPr/>
        <a:lstStyle/>
        <a:p>
          <a:endParaRPr lang="en-US"/>
        </a:p>
      </dgm:t>
    </dgm:pt>
    <dgm:pt modelId="{FAE2483A-723E-43E9-A06B-30D504E734C9}" type="pres">
      <dgm:prSet presAssocID="{7BE2B0EB-75EB-4743-B024-A44E4522E061}" presName="childText" presStyleLbl="revTx" presStyleIdx="2" presStyleCnt="6">
        <dgm:presLayoutVars>
          <dgm:bulletEnabled val="1"/>
        </dgm:presLayoutVars>
      </dgm:prSet>
      <dgm:spPr/>
      <dgm:t>
        <a:bodyPr/>
        <a:lstStyle/>
        <a:p>
          <a:endParaRPr lang="en-US"/>
        </a:p>
      </dgm:t>
    </dgm:pt>
    <dgm:pt modelId="{C8D5D686-54A1-4A09-BC47-A8AE14A03D88}" type="pres">
      <dgm:prSet presAssocID="{757257F1-A16F-488E-BA1D-DC9A35ABEF3A}" presName="parentText" presStyleLbl="node1" presStyleIdx="3" presStyleCnt="6">
        <dgm:presLayoutVars>
          <dgm:chMax val="0"/>
          <dgm:bulletEnabled val="1"/>
        </dgm:presLayoutVars>
      </dgm:prSet>
      <dgm:spPr/>
      <dgm:t>
        <a:bodyPr/>
        <a:lstStyle/>
        <a:p>
          <a:endParaRPr lang="en-US"/>
        </a:p>
      </dgm:t>
    </dgm:pt>
    <dgm:pt modelId="{B00BAE43-0153-4F64-A8F8-6CD39167B2D3}" type="pres">
      <dgm:prSet presAssocID="{757257F1-A16F-488E-BA1D-DC9A35ABEF3A}" presName="childText" presStyleLbl="revTx" presStyleIdx="3" presStyleCnt="6">
        <dgm:presLayoutVars>
          <dgm:bulletEnabled val="1"/>
        </dgm:presLayoutVars>
      </dgm:prSet>
      <dgm:spPr/>
      <dgm:t>
        <a:bodyPr/>
        <a:lstStyle/>
        <a:p>
          <a:endParaRPr lang="en-US"/>
        </a:p>
      </dgm:t>
    </dgm:pt>
    <dgm:pt modelId="{F1658D2C-20B1-4166-BB81-928269386BE4}" type="pres">
      <dgm:prSet presAssocID="{536928B0-0DE6-48EE-B9EA-1E499AA34C48}" presName="parentText" presStyleLbl="node1" presStyleIdx="4" presStyleCnt="6">
        <dgm:presLayoutVars>
          <dgm:chMax val="0"/>
          <dgm:bulletEnabled val="1"/>
        </dgm:presLayoutVars>
      </dgm:prSet>
      <dgm:spPr/>
      <dgm:t>
        <a:bodyPr/>
        <a:lstStyle/>
        <a:p>
          <a:endParaRPr lang="en-US"/>
        </a:p>
      </dgm:t>
    </dgm:pt>
    <dgm:pt modelId="{163927B9-F169-4EBB-9513-B1A56D020A1E}" type="pres">
      <dgm:prSet presAssocID="{536928B0-0DE6-48EE-B9EA-1E499AA34C48}" presName="childText" presStyleLbl="revTx" presStyleIdx="4" presStyleCnt="6">
        <dgm:presLayoutVars>
          <dgm:bulletEnabled val="1"/>
        </dgm:presLayoutVars>
      </dgm:prSet>
      <dgm:spPr/>
      <dgm:t>
        <a:bodyPr/>
        <a:lstStyle/>
        <a:p>
          <a:endParaRPr lang="en-US"/>
        </a:p>
      </dgm:t>
    </dgm:pt>
    <dgm:pt modelId="{3D8D6E4D-E537-465E-9D04-EF6DC1C33EF4}" type="pres">
      <dgm:prSet presAssocID="{20A91DC9-E17E-4946-B538-159A0610D72B}" presName="parentText" presStyleLbl="node1" presStyleIdx="5" presStyleCnt="6">
        <dgm:presLayoutVars>
          <dgm:chMax val="0"/>
          <dgm:bulletEnabled val="1"/>
        </dgm:presLayoutVars>
      </dgm:prSet>
      <dgm:spPr/>
      <dgm:t>
        <a:bodyPr/>
        <a:lstStyle/>
        <a:p>
          <a:endParaRPr lang="en-US"/>
        </a:p>
      </dgm:t>
    </dgm:pt>
    <dgm:pt modelId="{F8A99662-C625-4B14-8F35-B4B2CC8786D2}" type="pres">
      <dgm:prSet presAssocID="{20A91DC9-E17E-4946-B538-159A0610D72B}" presName="childText" presStyleLbl="revTx" presStyleIdx="5" presStyleCnt="6">
        <dgm:presLayoutVars>
          <dgm:bulletEnabled val="1"/>
        </dgm:presLayoutVars>
      </dgm:prSet>
      <dgm:spPr/>
      <dgm:t>
        <a:bodyPr/>
        <a:lstStyle/>
        <a:p>
          <a:endParaRPr lang="en-US"/>
        </a:p>
      </dgm:t>
    </dgm:pt>
  </dgm:ptLst>
  <dgm:cxnLst>
    <dgm:cxn modelId="{4BA5E285-3BFE-4A8E-9795-DA7E7EAF1E13}" type="presOf" srcId="{38DDED57-D4B8-46FB-B06B-9AA9A168C777}" destId="{B00BAE43-0153-4F64-A8F8-6CD39167B2D3}" srcOrd="0" destOrd="1" presId="urn:microsoft.com/office/officeart/2005/8/layout/vList2"/>
    <dgm:cxn modelId="{944A8F3D-8726-47CE-992A-A129972FA260}" type="presOf" srcId="{CD524A53-83C1-4E30-947C-C9D537AACDB1}" destId="{163927B9-F169-4EBB-9513-B1A56D020A1E}" srcOrd="0" destOrd="1" presId="urn:microsoft.com/office/officeart/2005/8/layout/vList2"/>
    <dgm:cxn modelId="{C674324C-FD62-419D-AD0E-564484E707AE}" srcId="{536928B0-0DE6-48EE-B9EA-1E499AA34C48}" destId="{CD524A53-83C1-4E30-947C-C9D537AACDB1}" srcOrd="1" destOrd="0" parTransId="{9FF5B81A-DEF7-4F19-81D8-CAC20E0D34E8}" sibTransId="{71C3B95B-5534-4572-A2B0-AD3A6BC285FA}"/>
    <dgm:cxn modelId="{6332EEA4-EA2E-4A49-894C-3571CFB1C0BE}" srcId="{7BE2B0EB-75EB-4743-B024-A44E4522E061}" destId="{F3829547-EB20-40C7-9EC2-2E933EB7D18F}" srcOrd="0" destOrd="0" parTransId="{C4F4657D-8155-4EBA-B2B8-EA6CC0D48019}" sibTransId="{A3BFC681-F6C5-42BC-9FA1-4F5716A4B7E7}"/>
    <dgm:cxn modelId="{3E6963EC-DA12-47E6-9EC8-C2A03F27EE26}" type="presOf" srcId="{C1FC1285-5191-42C5-971C-D2D0271DDB40}" destId="{E67A0B89-2416-4567-A871-63124CF4B856}" srcOrd="0" destOrd="1" presId="urn:microsoft.com/office/officeart/2005/8/layout/vList2"/>
    <dgm:cxn modelId="{2CA241A6-8B65-420E-BBE5-B715805A9C7D}" type="presOf" srcId="{B3E51991-CCA1-4068-A227-FB0AF2F07B0F}" destId="{B00BAE43-0153-4F64-A8F8-6CD39167B2D3}" srcOrd="0" destOrd="0" presId="urn:microsoft.com/office/officeart/2005/8/layout/vList2"/>
    <dgm:cxn modelId="{4BA49FB3-70C1-4F81-B52F-48E6EC0DF8B4}" srcId="{0DE378C2-1C5F-4EA8-A894-15F34AEBB012}" destId="{7BE2B0EB-75EB-4743-B024-A44E4522E061}" srcOrd="2" destOrd="0" parTransId="{6227D636-3224-495A-893E-7963C59A60AA}" sibTransId="{115C12F1-6369-411E-82DB-9E62820C4CB6}"/>
    <dgm:cxn modelId="{B10C7D97-20C8-450D-BC04-F549811E697C}" type="presOf" srcId="{20A91DC9-E17E-4946-B538-159A0610D72B}" destId="{3D8D6E4D-E537-465E-9D04-EF6DC1C33EF4}" srcOrd="0" destOrd="0" presId="urn:microsoft.com/office/officeart/2005/8/layout/vList2"/>
    <dgm:cxn modelId="{D79BE5C2-E232-4CAA-8545-420CB0964D53}" srcId="{757257F1-A16F-488E-BA1D-DC9A35ABEF3A}" destId="{38DDED57-D4B8-46FB-B06B-9AA9A168C777}" srcOrd="1" destOrd="0" parTransId="{603EC008-CF6B-4DDF-B773-92A795DD2911}" sibTransId="{0963391F-DC5C-4C0B-877C-BB8B8BCE6982}"/>
    <dgm:cxn modelId="{CF92C060-3B3F-4BAD-A847-BC4A95B8EC32}" srcId="{E3ECBD6C-3553-4120-B34A-EA120A98AFC3}" destId="{0206BA8C-F74E-417B-A644-B6A6D7993C74}" srcOrd="0" destOrd="0" parTransId="{EFF5315B-40E8-494E-A86E-15DDFC396FB4}" sibTransId="{B67C05C4-7626-4580-8543-AC15FA2C0536}"/>
    <dgm:cxn modelId="{DDCE6FEC-494E-4F43-8E3C-E165DB46D896}" srcId="{20A91DC9-E17E-4946-B538-159A0610D72B}" destId="{AFCD2DDD-9843-4870-88FF-2AEF2E266B04}" srcOrd="0" destOrd="0" parTransId="{5E5F4878-0675-4AC9-BB29-D2F4B164F79D}" sibTransId="{450C110A-B984-4171-A5AA-B649B5B30D4C}"/>
    <dgm:cxn modelId="{36B134A0-3706-4A62-8596-584D1D323B7A}" srcId="{E3ECBD6C-3553-4120-B34A-EA120A98AFC3}" destId="{01FAD0EA-31ED-4CF2-8143-FD519EFCC04C}" srcOrd="1" destOrd="0" parTransId="{BC84293F-55B4-4A72-8754-06F4E33AA6BA}" sibTransId="{21915816-430B-4837-88ED-AF83DB6F895E}"/>
    <dgm:cxn modelId="{78598B28-2119-4851-AB4E-96318BC26D82}" type="presOf" srcId="{E3ECBD6C-3553-4120-B34A-EA120A98AFC3}" destId="{9708EF52-62F8-405F-A0C0-1CF6E8D23D1D}" srcOrd="0" destOrd="0" presId="urn:microsoft.com/office/officeart/2005/8/layout/vList2"/>
    <dgm:cxn modelId="{1DBADD4C-B835-4C37-8EEE-4DA95E16EF22}" srcId="{0DE378C2-1C5F-4EA8-A894-15F34AEBB012}" destId="{E3ECBD6C-3553-4120-B34A-EA120A98AFC3}" srcOrd="0" destOrd="0" parTransId="{06854629-A61F-4DA0-8E27-18B42D97DCDA}" sibTransId="{84E25915-2DE9-41A7-A8BD-44AADBCCCC49}"/>
    <dgm:cxn modelId="{9347A1C5-53EE-4035-BDF1-129F896F16D7}" srcId="{757257F1-A16F-488E-BA1D-DC9A35ABEF3A}" destId="{84C19DCD-6D13-41F0-835C-09C42AB90532}" srcOrd="2" destOrd="0" parTransId="{09860C3D-1AF2-41FF-8EC3-8E550C9FD106}" sibTransId="{7F9FC8EB-CEE0-4815-992D-41768AB6F9B9}"/>
    <dgm:cxn modelId="{AC807D12-9355-4CA4-8F77-2B64DC528AE9}" type="presOf" srcId="{84C19DCD-6D13-41F0-835C-09C42AB90532}" destId="{B00BAE43-0153-4F64-A8F8-6CD39167B2D3}" srcOrd="0" destOrd="2" presId="urn:microsoft.com/office/officeart/2005/8/layout/vList2"/>
    <dgm:cxn modelId="{8AB05899-53CE-4197-A4DF-F97B7BE5959D}" type="presOf" srcId="{536928B0-0DE6-48EE-B9EA-1E499AA34C48}" destId="{F1658D2C-20B1-4166-BB81-928269386BE4}" srcOrd="0" destOrd="0" presId="urn:microsoft.com/office/officeart/2005/8/layout/vList2"/>
    <dgm:cxn modelId="{4091487D-D230-43CA-8506-6D96371319FE}" type="presOf" srcId="{528180A2-D154-4582-8EC1-8A52AA4ED24C}" destId="{E67A0B89-2416-4567-A871-63124CF4B856}" srcOrd="0" destOrd="0" presId="urn:microsoft.com/office/officeart/2005/8/layout/vList2"/>
    <dgm:cxn modelId="{6476ED34-6C01-47EF-834F-3CC49A9CE784}" srcId="{0DE378C2-1C5F-4EA8-A894-15F34AEBB012}" destId="{757257F1-A16F-488E-BA1D-DC9A35ABEF3A}" srcOrd="3" destOrd="0" parTransId="{7697CBC6-8E9F-46E3-BD7F-06C1E8427EEA}" sibTransId="{EA915D3A-45D3-4755-A07C-345E1B042FFA}"/>
    <dgm:cxn modelId="{4EA9441B-577D-4ED7-BFA3-C680E43DAA88}" type="presOf" srcId="{757257F1-A16F-488E-BA1D-DC9A35ABEF3A}" destId="{C8D5D686-54A1-4A09-BC47-A8AE14A03D88}" srcOrd="0" destOrd="0" presId="urn:microsoft.com/office/officeart/2005/8/layout/vList2"/>
    <dgm:cxn modelId="{190E6DA9-908C-4EF8-A53A-36BC85437700}" srcId="{0DE378C2-1C5F-4EA8-A894-15F34AEBB012}" destId="{536928B0-0DE6-48EE-B9EA-1E499AA34C48}" srcOrd="4" destOrd="0" parTransId="{8E3DFF00-BCDE-4B08-B45A-90FE9073C959}" sibTransId="{49B3E0A1-F0B1-45AC-A7B6-F3457B6E71AA}"/>
    <dgm:cxn modelId="{DF1DDCF2-521F-4D60-87FD-DDB77AC69DD2}" srcId="{757257F1-A16F-488E-BA1D-DC9A35ABEF3A}" destId="{B3E51991-CCA1-4068-A227-FB0AF2F07B0F}" srcOrd="0" destOrd="0" parTransId="{2F0B920D-CCA2-4C1F-9514-E1E3A190B717}" sibTransId="{D646DB55-676C-474B-83A6-2F38AA600C76}"/>
    <dgm:cxn modelId="{AFE1BB74-74E8-45FA-AE06-E913BAA33529}" srcId="{920E1760-92B1-45D3-A47F-2F9E5FBA6D48}" destId="{528180A2-D154-4582-8EC1-8A52AA4ED24C}" srcOrd="0" destOrd="0" parTransId="{745ED82A-03BA-4818-BC17-E9DA5B82A743}" sibTransId="{1483D6B2-BBBF-4A05-953C-758A2CDD7DD4}"/>
    <dgm:cxn modelId="{A927C11E-764C-414F-8DB9-F2706F833BAE}" type="presOf" srcId="{0E31019F-9B47-4FE8-A965-6CCE5529ECFA}" destId="{FAE2483A-723E-43E9-A06B-30D504E734C9}" srcOrd="0" destOrd="1" presId="urn:microsoft.com/office/officeart/2005/8/layout/vList2"/>
    <dgm:cxn modelId="{1199C07E-FE5B-4865-8020-68025E2FD12B}" srcId="{920E1760-92B1-45D3-A47F-2F9E5FBA6D48}" destId="{3046F3CB-03F0-4DDC-80AD-024E4C756089}" srcOrd="2" destOrd="0" parTransId="{5D10D3E4-7BE2-4739-9BDE-C3C74E86C09A}" sibTransId="{6DA4F8F4-2E06-4C7A-A79A-42F8005C5CCF}"/>
    <dgm:cxn modelId="{49567224-A076-417F-88C0-146378B79952}" type="presOf" srcId="{7BE2B0EB-75EB-4743-B024-A44E4522E061}" destId="{BC022D59-5E4B-4191-BBE5-7E2215BBDF03}" srcOrd="0" destOrd="0" presId="urn:microsoft.com/office/officeart/2005/8/layout/vList2"/>
    <dgm:cxn modelId="{5C7DE2B0-409E-40AA-B9C6-FB4F18D25382}" srcId="{7BE2B0EB-75EB-4743-B024-A44E4522E061}" destId="{0E31019F-9B47-4FE8-A965-6CCE5529ECFA}" srcOrd="1" destOrd="0" parTransId="{A1E47896-1987-4519-9AD8-395264315FD2}" sibTransId="{16084039-9C34-48BB-BC81-91FBDCC8881E}"/>
    <dgm:cxn modelId="{8097E254-B200-472E-B84D-5C8CFBF39E5E}" type="presOf" srcId="{920E1760-92B1-45D3-A47F-2F9E5FBA6D48}" destId="{2D9C56A3-7996-44A8-B304-DDF62DBA12B1}" srcOrd="0" destOrd="0" presId="urn:microsoft.com/office/officeart/2005/8/layout/vList2"/>
    <dgm:cxn modelId="{E39F955E-67C8-4285-A111-1EBE0EBE03EC}" type="presOf" srcId="{F3829547-EB20-40C7-9EC2-2E933EB7D18F}" destId="{FAE2483A-723E-43E9-A06B-30D504E734C9}" srcOrd="0" destOrd="0" presId="urn:microsoft.com/office/officeart/2005/8/layout/vList2"/>
    <dgm:cxn modelId="{9B025605-F56F-4C25-BDB1-E6321FA0F2E7}" type="presOf" srcId="{B8FD3E40-BA7A-45BE-A87D-F57D5BC5CA57}" destId="{163927B9-F169-4EBB-9513-B1A56D020A1E}" srcOrd="0" destOrd="0" presId="urn:microsoft.com/office/officeart/2005/8/layout/vList2"/>
    <dgm:cxn modelId="{2697CCC5-D587-4271-9F54-38260C015DEB}" type="presOf" srcId="{0206BA8C-F74E-417B-A644-B6A6D7993C74}" destId="{8F8E7F55-AB97-4A81-AC23-E5ABD0F5F8A5}" srcOrd="0" destOrd="0" presId="urn:microsoft.com/office/officeart/2005/8/layout/vList2"/>
    <dgm:cxn modelId="{262B2EB9-506D-444F-BBA8-E2ED4F099524}" type="presOf" srcId="{0DE378C2-1C5F-4EA8-A894-15F34AEBB012}" destId="{A62D2B58-08ED-4E4F-BEBE-2A894E5F342D}" srcOrd="0" destOrd="0" presId="urn:microsoft.com/office/officeart/2005/8/layout/vList2"/>
    <dgm:cxn modelId="{9EE993D3-D1F5-453D-87A0-FB42B3B8BC22}" srcId="{7BE2B0EB-75EB-4743-B024-A44E4522E061}" destId="{E187A53B-4DFE-4E6C-BD53-A2E74E883554}" srcOrd="2" destOrd="0" parTransId="{75FC7A19-D8D4-4901-A3AB-0E967F87D5C5}" sibTransId="{98B0EE23-043D-432F-9E5A-FBBE550685F4}"/>
    <dgm:cxn modelId="{12EA023B-8474-477C-BD44-BAE0AE58114B}" type="presOf" srcId="{E46A2F52-5ACF-4A1E-A359-59FC7BE64A64}" destId="{F8A99662-C625-4B14-8F35-B4B2CC8786D2}" srcOrd="0" destOrd="1" presId="urn:microsoft.com/office/officeart/2005/8/layout/vList2"/>
    <dgm:cxn modelId="{AC3B0190-AF5A-423F-B198-B9F8D272CD88}" srcId="{920E1760-92B1-45D3-A47F-2F9E5FBA6D48}" destId="{C1FC1285-5191-42C5-971C-D2D0271DDB40}" srcOrd="1" destOrd="0" parTransId="{2F120FD8-0D21-46B5-A47E-C960F71448A7}" sibTransId="{4091B136-25B9-4542-A29B-C022AB933A4F}"/>
    <dgm:cxn modelId="{2985D9C0-72B6-4C34-94C7-7FF7CBBE93E5}" srcId="{0DE378C2-1C5F-4EA8-A894-15F34AEBB012}" destId="{920E1760-92B1-45D3-A47F-2F9E5FBA6D48}" srcOrd="1" destOrd="0" parTransId="{02FC9BF8-BC56-4566-8C16-C00258FAD056}" sibTransId="{5714BD88-64EA-4259-87C8-A803C1ECFE1C}"/>
    <dgm:cxn modelId="{4CC76003-F196-414A-9EF5-C6E9A878A849}" srcId="{E3ECBD6C-3553-4120-B34A-EA120A98AFC3}" destId="{B291292E-1963-456B-A4EE-490E93524A1F}" srcOrd="2" destOrd="0" parTransId="{33E10ED6-BC6C-43CC-985A-B85E2804666B}" sibTransId="{CB1C3C21-2B0C-4B74-8BA2-FC56358FE1B9}"/>
    <dgm:cxn modelId="{25AC1AEB-89B0-4F36-8BC7-70362642D2EF}" type="presOf" srcId="{E187A53B-4DFE-4E6C-BD53-A2E74E883554}" destId="{FAE2483A-723E-43E9-A06B-30D504E734C9}" srcOrd="0" destOrd="2" presId="urn:microsoft.com/office/officeart/2005/8/layout/vList2"/>
    <dgm:cxn modelId="{5820C1C1-41BB-456A-A699-A7D21D61367C}" srcId="{20A91DC9-E17E-4946-B538-159A0610D72B}" destId="{E46A2F52-5ACF-4A1E-A359-59FC7BE64A64}" srcOrd="1" destOrd="0" parTransId="{89C1DEDE-3E78-4EE3-861C-529BBAD2975A}" sibTransId="{F17AA6F0-D184-4404-A413-1FF203FFD42D}"/>
    <dgm:cxn modelId="{204B722F-302B-4F1D-A3B1-68348DAD03D9}" type="presOf" srcId="{AFCD2DDD-9843-4870-88FF-2AEF2E266B04}" destId="{F8A99662-C625-4B14-8F35-B4B2CC8786D2}" srcOrd="0" destOrd="0" presId="urn:microsoft.com/office/officeart/2005/8/layout/vList2"/>
    <dgm:cxn modelId="{73EE8715-BBC0-4A9A-8FF4-8EFEDDEDFCA7}" type="presOf" srcId="{3046F3CB-03F0-4DDC-80AD-024E4C756089}" destId="{E67A0B89-2416-4567-A871-63124CF4B856}" srcOrd="0" destOrd="2" presId="urn:microsoft.com/office/officeart/2005/8/layout/vList2"/>
    <dgm:cxn modelId="{69779E4B-3B52-4258-86E9-C0FE2D800368}" type="presOf" srcId="{01FAD0EA-31ED-4CF2-8143-FD519EFCC04C}" destId="{8F8E7F55-AB97-4A81-AC23-E5ABD0F5F8A5}" srcOrd="0" destOrd="1" presId="urn:microsoft.com/office/officeart/2005/8/layout/vList2"/>
    <dgm:cxn modelId="{F83998E1-76D4-4DBA-97B1-1242FECAB2DE}" type="presOf" srcId="{B291292E-1963-456B-A4EE-490E93524A1F}" destId="{8F8E7F55-AB97-4A81-AC23-E5ABD0F5F8A5}" srcOrd="0" destOrd="2" presId="urn:microsoft.com/office/officeart/2005/8/layout/vList2"/>
    <dgm:cxn modelId="{8077BABB-A86E-43EC-AE69-C18316D1A3CA}" srcId="{0DE378C2-1C5F-4EA8-A894-15F34AEBB012}" destId="{20A91DC9-E17E-4946-B538-159A0610D72B}" srcOrd="5" destOrd="0" parTransId="{89F00810-C5AA-47AC-A376-8BC2849D2CC4}" sibTransId="{248FF531-9FAB-4B32-BBA2-393CE59DAD34}"/>
    <dgm:cxn modelId="{C3DE5467-4576-4676-B629-8F044CA08FC4}" srcId="{536928B0-0DE6-48EE-B9EA-1E499AA34C48}" destId="{B8FD3E40-BA7A-45BE-A87D-F57D5BC5CA57}" srcOrd="0" destOrd="0" parTransId="{31037959-0D77-41B5-B5AC-1B194F2196C7}" sibTransId="{DD0C0B4B-9EDF-44DB-B992-DAE1F08EA3C7}"/>
    <dgm:cxn modelId="{32A457DF-D81A-4999-A34D-88A102EE93AC}" type="presParOf" srcId="{A62D2B58-08ED-4E4F-BEBE-2A894E5F342D}" destId="{9708EF52-62F8-405F-A0C0-1CF6E8D23D1D}" srcOrd="0" destOrd="0" presId="urn:microsoft.com/office/officeart/2005/8/layout/vList2"/>
    <dgm:cxn modelId="{5AC32D29-DBDB-4058-9702-9784D6F12DF0}" type="presParOf" srcId="{A62D2B58-08ED-4E4F-BEBE-2A894E5F342D}" destId="{8F8E7F55-AB97-4A81-AC23-E5ABD0F5F8A5}" srcOrd="1" destOrd="0" presId="urn:microsoft.com/office/officeart/2005/8/layout/vList2"/>
    <dgm:cxn modelId="{3D30DFD5-6A30-48F8-AFF0-A026E6B6F5FB}" type="presParOf" srcId="{A62D2B58-08ED-4E4F-BEBE-2A894E5F342D}" destId="{2D9C56A3-7996-44A8-B304-DDF62DBA12B1}" srcOrd="2" destOrd="0" presId="urn:microsoft.com/office/officeart/2005/8/layout/vList2"/>
    <dgm:cxn modelId="{F86B3F97-7D40-4D80-A3A1-F62A71AD6CF6}" type="presParOf" srcId="{A62D2B58-08ED-4E4F-BEBE-2A894E5F342D}" destId="{E67A0B89-2416-4567-A871-63124CF4B856}" srcOrd="3" destOrd="0" presId="urn:microsoft.com/office/officeart/2005/8/layout/vList2"/>
    <dgm:cxn modelId="{3F8E97DD-972A-48A0-80B7-45FFF0609385}" type="presParOf" srcId="{A62D2B58-08ED-4E4F-BEBE-2A894E5F342D}" destId="{BC022D59-5E4B-4191-BBE5-7E2215BBDF03}" srcOrd="4" destOrd="0" presId="urn:microsoft.com/office/officeart/2005/8/layout/vList2"/>
    <dgm:cxn modelId="{54D6C2DF-949D-474C-AF16-1224424DBE82}" type="presParOf" srcId="{A62D2B58-08ED-4E4F-BEBE-2A894E5F342D}" destId="{FAE2483A-723E-43E9-A06B-30D504E734C9}" srcOrd="5" destOrd="0" presId="urn:microsoft.com/office/officeart/2005/8/layout/vList2"/>
    <dgm:cxn modelId="{5E4B9E3A-75D2-4024-9044-B040B9AB4AB7}" type="presParOf" srcId="{A62D2B58-08ED-4E4F-BEBE-2A894E5F342D}" destId="{C8D5D686-54A1-4A09-BC47-A8AE14A03D88}" srcOrd="6" destOrd="0" presId="urn:microsoft.com/office/officeart/2005/8/layout/vList2"/>
    <dgm:cxn modelId="{E26861BD-C40C-4CC5-8FA2-7B754A7ABB8B}" type="presParOf" srcId="{A62D2B58-08ED-4E4F-BEBE-2A894E5F342D}" destId="{B00BAE43-0153-4F64-A8F8-6CD39167B2D3}" srcOrd="7" destOrd="0" presId="urn:microsoft.com/office/officeart/2005/8/layout/vList2"/>
    <dgm:cxn modelId="{D7491557-F6E3-4975-9100-2BAD68566907}" type="presParOf" srcId="{A62D2B58-08ED-4E4F-BEBE-2A894E5F342D}" destId="{F1658D2C-20B1-4166-BB81-928269386BE4}" srcOrd="8" destOrd="0" presId="urn:microsoft.com/office/officeart/2005/8/layout/vList2"/>
    <dgm:cxn modelId="{A223378F-D884-46DE-952F-E81C7428BBFD}" type="presParOf" srcId="{A62D2B58-08ED-4E4F-BEBE-2A894E5F342D}" destId="{163927B9-F169-4EBB-9513-B1A56D020A1E}" srcOrd="9" destOrd="0" presId="urn:microsoft.com/office/officeart/2005/8/layout/vList2"/>
    <dgm:cxn modelId="{BA4F6D2F-9FFE-444A-A2EC-D6EC6CB4ED4D}" type="presParOf" srcId="{A62D2B58-08ED-4E4F-BEBE-2A894E5F342D}" destId="{3D8D6E4D-E537-465E-9D04-EF6DC1C33EF4}" srcOrd="10" destOrd="0" presId="urn:microsoft.com/office/officeart/2005/8/layout/vList2"/>
    <dgm:cxn modelId="{EDFE79F5-8941-4402-BFD6-8EC116BB40BC}" type="presParOf" srcId="{A62D2B58-08ED-4E4F-BEBE-2A894E5F342D}" destId="{F8A99662-C625-4B14-8F35-B4B2CC8786D2}" srcOrd="11" destOrd="0" presId="urn:microsoft.com/office/officeart/2005/8/layout/vList2"/>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4FC90CDB-ACF6-43DD-A70A-F583B9F23EB2}" type="doc">
      <dgm:prSet loTypeId="urn:microsoft.com/office/officeart/2005/8/layout/vList2" loCatId="list" qsTypeId="urn:microsoft.com/office/officeart/2005/8/quickstyle/simple1" qsCatId="simple" csTypeId="urn:microsoft.com/office/officeart/2005/8/colors/accent5_1" csCatId="accent5" phldr="1"/>
      <dgm:spPr/>
      <dgm:t>
        <a:bodyPr/>
        <a:lstStyle/>
        <a:p>
          <a:endParaRPr lang="en-US"/>
        </a:p>
      </dgm:t>
    </dgm:pt>
    <dgm:pt modelId="{EB9379ED-4C7D-443B-A6D2-D1F2E0D032AC}">
      <dgm:prSet/>
      <dgm:spPr/>
      <dgm:t>
        <a:bodyPr/>
        <a:lstStyle/>
        <a:p>
          <a:pPr algn="ctr" rtl="0"/>
          <a:r>
            <a:rPr lang="en-US" dirty="0" smtClean="0"/>
            <a:t>Pivotal Cloud Foundry</a:t>
          </a:r>
          <a:endParaRPr lang="en-US" dirty="0"/>
        </a:p>
      </dgm:t>
    </dgm:pt>
    <dgm:pt modelId="{F9A9309C-7156-4E4B-8B4F-4636F712A6A8}" type="parTrans" cxnId="{8949AC55-109B-4FDA-BE7B-799BFBA2C338}">
      <dgm:prSet/>
      <dgm:spPr/>
      <dgm:t>
        <a:bodyPr/>
        <a:lstStyle/>
        <a:p>
          <a:endParaRPr lang="en-US"/>
        </a:p>
      </dgm:t>
    </dgm:pt>
    <dgm:pt modelId="{71D1776B-94CB-4233-95BA-F42385A60F68}" type="sibTrans" cxnId="{8949AC55-109B-4FDA-BE7B-799BFBA2C338}">
      <dgm:prSet/>
      <dgm:spPr/>
      <dgm:t>
        <a:bodyPr/>
        <a:lstStyle/>
        <a:p>
          <a:endParaRPr lang="en-US"/>
        </a:p>
      </dgm:t>
    </dgm:pt>
    <dgm:pt modelId="{0B6B125E-CDF4-4493-A940-B2765217DC73}">
      <dgm:prSet/>
      <dgm:spPr/>
      <dgm:t>
        <a:bodyPr/>
        <a:lstStyle/>
        <a:p>
          <a:pPr algn="ctr" rtl="0"/>
          <a:r>
            <a:rPr lang="en-US" smtClean="0"/>
            <a:t>IBM Bluemix</a:t>
          </a:r>
          <a:endParaRPr lang="en-US" dirty="0"/>
        </a:p>
      </dgm:t>
    </dgm:pt>
    <dgm:pt modelId="{454B9A8E-4E41-4834-881B-149A3174B220}" type="parTrans" cxnId="{4C3424DB-CA88-48CE-8C85-864BBCFD11F3}">
      <dgm:prSet/>
      <dgm:spPr/>
      <dgm:t>
        <a:bodyPr/>
        <a:lstStyle/>
        <a:p>
          <a:endParaRPr lang="en-US"/>
        </a:p>
      </dgm:t>
    </dgm:pt>
    <dgm:pt modelId="{26BC1EFD-D240-4A63-B066-4CCA6B9ACA17}" type="sibTrans" cxnId="{4C3424DB-CA88-48CE-8C85-864BBCFD11F3}">
      <dgm:prSet/>
      <dgm:spPr/>
      <dgm:t>
        <a:bodyPr/>
        <a:lstStyle/>
        <a:p>
          <a:endParaRPr lang="en-US"/>
        </a:p>
      </dgm:t>
    </dgm:pt>
    <dgm:pt modelId="{AD9D0069-E16F-4815-9E95-1B036449695E}">
      <dgm:prSet/>
      <dgm:spPr/>
      <dgm:t>
        <a:bodyPr/>
        <a:lstStyle/>
        <a:p>
          <a:pPr algn="ctr" rtl="0"/>
          <a:r>
            <a:rPr lang="en-US" smtClean="0"/>
            <a:t>Heroku</a:t>
          </a:r>
          <a:endParaRPr lang="en-US" dirty="0"/>
        </a:p>
      </dgm:t>
    </dgm:pt>
    <dgm:pt modelId="{98B2630B-8BBE-4866-9FB3-D229F170BCD7}" type="parTrans" cxnId="{D19F8D39-A803-4078-B8AF-377A5CAAA3B1}">
      <dgm:prSet/>
      <dgm:spPr/>
      <dgm:t>
        <a:bodyPr/>
        <a:lstStyle/>
        <a:p>
          <a:endParaRPr lang="en-US"/>
        </a:p>
      </dgm:t>
    </dgm:pt>
    <dgm:pt modelId="{B8851CB1-C870-4A80-B325-069B2D26B400}" type="sibTrans" cxnId="{D19F8D39-A803-4078-B8AF-377A5CAAA3B1}">
      <dgm:prSet/>
      <dgm:spPr/>
      <dgm:t>
        <a:bodyPr/>
        <a:lstStyle/>
        <a:p>
          <a:endParaRPr lang="en-US"/>
        </a:p>
      </dgm:t>
    </dgm:pt>
    <dgm:pt modelId="{701D2308-1DEB-4752-A936-9E129C3DBC72}">
      <dgm:prSet/>
      <dgm:spPr/>
      <dgm:t>
        <a:bodyPr/>
        <a:lstStyle/>
        <a:p>
          <a:pPr algn="ctr" rtl="0"/>
          <a:r>
            <a:rPr lang="en-US" dirty="0" err="1" smtClean="0"/>
            <a:t>Stackato</a:t>
          </a:r>
          <a:endParaRPr lang="en-US" dirty="0"/>
        </a:p>
      </dgm:t>
    </dgm:pt>
    <dgm:pt modelId="{BA4D11B4-7771-42CF-A408-636CC7CFE34F}" type="parTrans" cxnId="{62CEC83D-1FC9-4D58-B919-41E3A072B96A}">
      <dgm:prSet/>
      <dgm:spPr/>
      <dgm:t>
        <a:bodyPr/>
        <a:lstStyle/>
        <a:p>
          <a:endParaRPr lang="en-US"/>
        </a:p>
      </dgm:t>
    </dgm:pt>
    <dgm:pt modelId="{8F30F6E3-013B-4B00-ADBA-BD4ED3F27C39}" type="sibTrans" cxnId="{62CEC83D-1FC9-4D58-B919-41E3A072B96A}">
      <dgm:prSet/>
      <dgm:spPr/>
      <dgm:t>
        <a:bodyPr/>
        <a:lstStyle/>
        <a:p>
          <a:endParaRPr lang="en-US"/>
        </a:p>
      </dgm:t>
    </dgm:pt>
    <dgm:pt modelId="{7701F961-8A55-4864-B0D0-5285502CE0A2}">
      <dgm:prSet/>
      <dgm:spPr/>
      <dgm:t>
        <a:bodyPr/>
        <a:lstStyle/>
        <a:p>
          <a:pPr algn="ctr" rtl="0"/>
          <a:r>
            <a:rPr lang="en-US" smtClean="0"/>
            <a:t>Azure</a:t>
          </a:r>
          <a:endParaRPr lang="en-US" dirty="0"/>
        </a:p>
      </dgm:t>
    </dgm:pt>
    <dgm:pt modelId="{82E91DBA-E57C-4009-B7E3-892F4C227B32}" type="parTrans" cxnId="{AEC96352-681F-4733-9B00-034607FBEAB8}">
      <dgm:prSet/>
      <dgm:spPr/>
      <dgm:t>
        <a:bodyPr/>
        <a:lstStyle/>
        <a:p>
          <a:endParaRPr lang="en-US"/>
        </a:p>
      </dgm:t>
    </dgm:pt>
    <dgm:pt modelId="{FC2F572C-927B-4D3B-823F-49F4FADE481D}" type="sibTrans" cxnId="{AEC96352-681F-4733-9B00-034607FBEAB8}">
      <dgm:prSet/>
      <dgm:spPr/>
      <dgm:t>
        <a:bodyPr/>
        <a:lstStyle/>
        <a:p>
          <a:endParaRPr lang="en-US"/>
        </a:p>
      </dgm:t>
    </dgm:pt>
    <dgm:pt modelId="{A95D3BA4-3BA1-48E5-A24B-6B65BE821D36}">
      <dgm:prSet/>
      <dgm:spPr/>
      <dgm:t>
        <a:bodyPr/>
        <a:lstStyle/>
        <a:p>
          <a:pPr algn="ctr" rtl="0"/>
          <a:r>
            <a:rPr lang="en-US" smtClean="0"/>
            <a:t>Google App Engine</a:t>
          </a:r>
          <a:endParaRPr lang="en-US" dirty="0"/>
        </a:p>
      </dgm:t>
    </dgm:pt>
    <dgm:pt modelId="{C2162F95-72F1-4443-9752-8FAB59B81B52}" type="parTrans" cxnId="{C2474E53-FC34-4AC7-9A88-15C741F610AD}">
      <dgm:prSet/>
      <dgm:spPr/>
      <dgm:t>
        <a:bodyPr/>
        <a:lstStyle/>
        <a:p>
          <a:endParaRPr lang="en-US"/>
        </a:p>
      </dgm:t>
    </dgm:pt>
    <dgm:pt modelId="{EB3438CE-8E2E-4598-869F-E156A3FA4FF9}" type="sibTrans" cxnId="{C2474E53-FC34-4AC7-9A88-15C741F610AD}">
      <dgm:prSet/>
      <dgm:spPr/>
      <dgm:t>
        <a:bodyPr/>
        <a:lstStyle/>
        <a:p>
          <a:endParaRPr lang="en-US"/>
        </a:p>
      </dgm:t>
    </dgm:pt>
    <dgm:pt modelId="{D5A8CF50-52DF-4656-9278-773E1C3DD727}">
      <dgm:prSet/>
      <dgm:spPr/>
      <dgm:t>
        <a:bodyPr/>
        <a:lstStyle/>
        <a:p>
          <a:pPr algn="ctr" rtl="0"/>
          <a:r>
            <a:rPr lang="en-US" smtClean="0"/>
            <a:t>AppFog</a:t>
          </a:r>
          <a:endParaRPr lang="en-US" dirty="0"/>
        </a:p>
      </dgm:t>
    </dgm:pt>
    <dgm:pt modelId="{8EB36CAF-154A-4FEF-991D-2D5E23136021}" type="parTrans" cxnId="{22F3248D-6E93-41AD-BEA7-A44278EF4861}">
      <dgm:prSet/>
      <dgm:spPr/>
      <dgm:t>
        <a:bodyPr/>
        <a:lstStyle/>
        <a:p>
          <a:endParaRPr lang="en-US"/>
        </a:p>
      </dgm:t>
    </dgm:pt>
    <dgm:pt modelId="{F63AF48D-A82E-4FB8-8CC3-72E67A2BC7D2}" type="sibTrans" cxnId="{22F3248D-6E93-41AD-BEA7-A44278EF4861}">
      <dgm:prSet/>
      <dgm:spPr/>
      <dgm:t>
        <a:bodyPr/>
        <a:lstStyle/>
        <a:p>
          <a:endParaRPr lang="en-US"/>
        </a:p>
      </dgm:t>
    </dgm:pt>
    <dgm:pt modelId="{F77A5F42-25A5-424B-8A32-9AF0569778CF}">
      <dgm:prSet/>
      <dgm:spPr/>
      <dgm:t>
        <a:bodyPr/>
        <a:lstStyle/>
        <a:p>
          <a:pPr algn="ctr" rtl="0"/>
          <a:r>
            <a:rPr lang="en-US" dirty="0" err="1" smtClean="0"/>
            <a:t>RedHat</a:t>
          </a:r>
          <a:r>
            <a:rPr lang="en-US" dirty="0" smtClean="0"/>
            <a:t> </a:t>
          </a:r>
          <a:r>
            <a:rPr lang="en-US" dirty="0" err="1" smtClean="0"/>
            <a:t>Openshift</a:t>
          </a:r>
          <a:endParaRPr lang="en-US" dirty="0"/>
        </a:p>
      </dgm:t>
    </dgm:pt>
    <dgm:pt modelId="{E36E9F11-465C-4B4C-9194-9871C474A2D8}" type="parTrans" cxnId="{7A0F9A37-1830-45C5-8C10-992522E9BC6F}">
      <dgm:prSet/>
      <dgm:spPr/>
      <dgm:t>
        <a:bodyPr/>
        <a:lstStyle/>
        <a:p>
          <a:endParaRPr lang="en-US"/>
        </a:p>
      </dgm:t>
    </dgm:pt>
    <dgm:pt modelId="{17C8DD2E-6B05-43E1-8EEB-5CF5D54C3415}" type="sibTrans" cxnId="{7A0F9A37-1830-45C5-8C10-992522E9BC6F}">
      <dgm:prSet/>
      <dgm:spPr/>
      <dgm:t>
        <a:bodyPr/>
        <a:lstStyle/>
        <a:p>
          <a:endParaRPr lang="en-US"/>
        </a:p>
      </dgm:t>
    </dgm:pt>
    <dgm:pt modelId="{62E3036E-D047-47FA-8919-D701E7D57840}">
      <dgm:prSet/>
      <dgm:spPr/>
      <dgm:t>
        <a:bodyPr/>
        <a:lstStyle/>
        <a:p>
          <a:pPr algn="ctr" rtl="0"/>
          <a:r>
            <a:rPr lang="en-US" smtClean="0"/>
            <a:t>AppHarbor</a:t>
          </a:r>
          <a:endParaRPr lang="en-US" dirty="0"/>
        </a:p>
      </dgm:t>
    </dgm:pt>
    <dgm:pt modelId="{6D2F7044-28A4-4BD0-835B-CB4D86C5FDC9}" type="parTrans" cxnId="{42920CA6-8FEE-4F40-B40D-95EBCEF06953}">
      <dgm:prSet/>
      <dgm:spPr/>
    </dgm:pt>
    <dgm:pt modelId="{6C758B24-59D7-48B6-98BF-44CE618B1E50}" type="sibTrans" cxnId="{42920CA6-8FEE-4F40-B40D-95EBCEF06953}">
      <dgm:prSet/>
      <dgm:spPr/>
    </dgm:pt>
    <dgm:pt modelId="{597166BD-A09E-4F90-9317-3F59D0909E0B}">
      <dgm:prSet/>
      <dgm:spPr/>
      <dgm:t>
        <a:bodyPr/>
        <a:lstStyle/>
        <a:p>
          <a:pPr algn="ctr" rtl="0"/>
          <a:r>
            <a:rPr lang="en-US" dirty="0" smtClean="0"/>
            <a:t>Amazon AWS</a:t>
          </a:r>
          <a:endParaRPr lang="en-US" dirty="0"/>
        </a:p>
      </dgm:t>
    </dgm:pt>
    <dgm:pt modelId="{C3C8804D-7EA8-4C73-9EF8-8C3A4E58BAE6}" type="parTrans" cxnId="{3EE6749B-C6AF-496C-A6B6-E8A688E69053}">
      <dgm:prSet/>
      <dgm:spPr/>
    </dgm:pt>
    <dgm:pt modelId="{541853CF-8692-4988-A99F-A1EAF80B58A6}" type="sibTrans" cxnId="{3EE6749B-C6AF-496C-A6B6-E8A688E69053}">
      <dgm:prSet/>
      <dgm:spPr/>
    </dgm:pt>
    <dgm:pt modelId="{2A19DF49-D735-4F29-9E23-ECF5F9433245}" type="pres">
      <dgm:prSet presAssocID="{4FC90CDB-ACF6-43DD-A70A-F583B9F23EB2}" presName="linear" presStyleCnt="0">
        <dgm:presLayoutVars>
          <dgm:animLvl val="lvl"/>
          <dgm:resizeHandles val="exact"/>
        </dgm:presLayoutVars>
      </dgm:prSet>
      <dgm:spPr/>
      <dgm:t>
        <a:bodyPr/>
        <a:lstStyle/>
        <a:p>
          <a:endParaRPr lang="en-US"/>
        </a:p>
      </dgm:t>
    </dgm:pt>
    <dgm:pt modelId="{C5850138-829C-4923-B7A9-5412B15936F9}" type="pres">
      <dgm:prSet presAssocID="{EB9379ED-4C7D-443B-A6D2-D1F2E0D032AC}" presName="parentText" presStyleLbl="node1" presStyleIdx="0" presStyleCnt="10">
        <dgm:presLayoutVars>
          <dgm:chMax val="0"/>
          <dgm:bulletEnabled val="1"/>
        </dgm:presLayoutVars>
      </dgm:prSet>
      <dgm:spPr/>
      <dgm:t>
        <a:bodyPr/>
        <a:lstStyle/>
        <a:p>
          <a:endParaRPr lang="en-US"/>
        </a:p>
      </dgm:t>
    </dgm:pt>
    <dgm:pt modelId="{3646ED3E-CDB1-449F-89B7-52F1FF403100}" type="pres">
      <dgm:prSet presAssocID="{71D1776B-94CB-4233-95BA-F42385A60F68}" presName="spacer" presStyleCnt="0"/>
      <dgm:spPr/>
      <dgm:t>
        <a:bodyPr/>
        <a:lstStyle/>
        <a:p>
          <a:endParaRPr lang="en-US"/>
        </a:p>
      </dgm:t>
    </dgm:pt>
    <dgm:pt modelId="{9620CBC9-6C97-4AE4-BC57-8E0149900491}" type="pres">
      <dgm:prSet presAssocID="{0B6B125E-CDF4-4493-A940-B2765217DC73}" presName="parentText" presStyleLbl="node1" presStyleIdx="1" presStyleCnt="10">
        <dgm:presLayoutVars>
          <dgm:chMax val="0"/>
          <dgm:bulletEnabled val="1"/>
        </dgm:presLayoutVars>
      </dgm:prSet>
      <dgm:spPr/>
      <dgm:t>
        <a:bodyPr/>
        <a:lstStyle/>
        <a:p>
          <a:endParaRPr lang="en-US"/>
        </a:p>
      </dgm:t>
    </dgm:pt>
    <dgm:pt modelId="{2B69A265-FA23-4C7C-A143-CD5283A89EC5}" type="pres">
      <dgm:prSet presAssocID="{26BC1EFD-D240-4A63-B066-4CCA6B9ACA17}" presName="spacer" presStyleCnt="0"/>
      <dgm:spPr/>
      <dgm:t>
        <a:bodyPr/>
        <a:lstStyle/>
        <a:p>
          <a:endParaRPr lang="en-US"/>
        </a:p>
      </dgm:t>
    </dgm:pt>
    <dgm:pt modelId="{6FBDB00D-8AEF-4F1C-A762-C2BFBA1C11C3}" type="pres">
      <dgm:prSet presAssocID="{AD9D0069-E16F-4815-9E95-1B036449695E}" presName="parentText" presStyleLbl="node1" presStyleIdx="2" presStyleCnt="10">
        <dgm:presLayoutVars>
          <dgm:chMax val="0"/>
          <dgm:bulletEnabled val="1"/>
        </dgm:presLayoutVars>
      </dgm:prSet>
      <dgm:spPr/>
      <dgm:t>
        <a:bodyPr/>
        <a:lstStyle/>
        <a:p>
          <a:endParaRPr lang="en-US"/>
        </a:p>
      </dgm:t>
    </dgm:pt>
    <dgm:pt modelId="{F066AEB1-5F21-48CF-A34E-D06EC89E3C3F}" type="pres">
      <dgm:prSet presAssocID="{B8851CB1-C870-4A80-B325-069B2D26B400}" presName="spacer" presStyleCnt="0"/>
      <dgm:spPr/>
      <dgm:t>
        <a:bodyPr/>
        <a:lstStyle/>
        <a:p>
          <a:endParaRPr lang="en-US"/>
        </a:p>
      </dgm:t>
    </dgm:pt>
    <dgm:pt modelId="{FA3B1C12-63B7-486D-9433-16A183FD41CE}" type="pres">
      <dgm:prSet presAssocID="{701D2308-1DEB-4752-A936-9E129C3DBC72}" presName="parentText" presStyleLbl="node1" presStyleIdx="3" presStyleCnt="10">
        <dgm:presLayoutVars>
          <dgm:chMax val="0"/>
          <dgm:bulletEnabled val="1"/>
        </dgm:presLayoutVars>
      </dgm:prSet>
      <dgm:spPr/>
      <dgm:t>
        <a:bodyPr/>
        <a:lstStyle/>
        <a:p>
          <a:endParaRPr lang="en-US"/>
        </a:p>
      </dgm:t>
    </dgm:pt>
    <dgm:pt modelId="{FDE034F5-EB66-45AB-87D8-42662EBC623D}" type="pres">
      <dgm:prSet presAssocID="{8F30F6E3-013B-4B00-ADBA-BD4ED3F27C39}" presName="spacer" presStyleCnt="0"/>
      <dgm:spPr/>
      <dgm:t>
        <a:bodyPr/>
        <a:lstStyle/>
        <a:p>
          <a:endParaRPr lang="en-US"/>
        </a:p>
      </dgm:t>
    </dgm:pt>
    <dgm:pt modelId="{9C3B77DC-83D6-48B2-80E7-0267AD164402}" type="pres">
      <dgm:prSet presAssocID="{7701F961-8A55-4864-B0D0-5285502CE0A2}" presName="parentText" presStyleLbl="node1" presStyleIdx="4" presStyleCnt="10">
        <dgm:presLayoutVars>
          <dgm:chMax val="0"/>
          <dgm:bulletEnabled val="1"/>
        </dgm:presLayoutVars>
      </dgm:prSet>
      <dgm:spPr/>
      <dgm:t>
        <a:bodyPr/>
        <a:lstStyle/>
        <a:p>
          <a:endParaRPr lang="en-US"/>
        </a:p>
      </dgm:t>
    </dgm:pt>
    <dgm:pt modelId="{0C04935E-8C66-41DD-A7C3-EAFD06130D89}" type="pres">
      <dgm:prSet presAssocID="{FC2F572C-927B-4D3B-823F-49F4FADE481D}" presName="spacer" presStyleCnt="0"/>
      <dgm:spPr/>
      <dgm:t>
        <a:bodyPr/>
        <a:lstStyle/>
        <a:p>
          <a:endParaRPr lang="en-US"/>
        </a:p>
      </dgm:t>
    </dgm:pt>
    <dgm:pt modelId="{34FB7E0C-46E7-4917-980A-DF293961186E}" type="pres">
      <dgm:prSet presAssocID="{A95D3BA4-3BA1-48E5-A24B-6B65BE821D36}" presName="parentText" presStyleLbl="node1" presStyleIdx="5" presStyleCnt="10">
        <dgm:presLayoutVars>
          <dgm:chMax val="0"/>
          <dgm:bulletEnabled val="1"/>
        </dgm:presLayoutVars>
      </dgm:prSet>
      <dgm:spPr/>
      <dgm:t>
        <a:bodyPr/>
        <a:lstStyle/>
        <a:p>
          <a:endParaRPr lang="en-US"/>
        </a:p>
      </dgm:t>
    </dgm:pt>
    <dgm:pt modelId="{90413580-1A1E-4486-AAAA-92EB6936D8BD}" type="pres">
      <dgm:prSet presAssocID="{EB3438CE-8E2E-4598-869F-E156A3FA4FF9}" presName="spacer" presStyleCnt="0"/>
      <dgm:spPr/>
      <dgm:t>
        <a:bodyPr/>
        <a:lstStyle/>
        <a:p>
          <a:endParaRPr lang="en-US"/>
        </a:p>
      </dgm:t>
    </dgm:pt>
    <dgm:pt modelId="{71F5E236-A052-484E-B999-82B96DE1A206}" type="pres">
      <dgm:prSet presAssocID="{D5A8CF50-52DF-4656-9278-773E1C3DD727}" presName="parentText" presStyleLbl="node1" presStyleIdx="6" presStyleCnt="10">
        <dgm:presLayoutVars>
          <dgm:chMax val="0"/>
          <dgm:bulletEnabled val="1"/>
        </dgm:presLayoutVars>
      </dgm:prSet>
      <dgm:spPr/>
      <dgm:t>
        <a:bodyPr/>
        <a:lstStyle/>
        <a:p>
          <a:endParaRPr lang="en-US"/>
        </a:p>
      </dgm:t>
    </dgm:pt>
    <dgm:pt modelId="{82101A8A-C91D-4036-9430-F8F84ED115C3}" type="pres">
      <dgm:prSet presAssocID="{F63AF48D-A82E-4FB8-8CC3-72E67A2BC7D2}" presName="spacer" presStyleCnt="0"/>
      <dgm:spPr/>
      <dgm:t>
        <a:bodyPr/>
        <a:lstStyle/>
        <a:p>
          <a:endParaRPr lang="en-US"/>
        </a:p>
      </dgm:t>
    </dgm:pt>
    <dgm:pt modelId="{683ACA0F-77AB-4041-85DE-F82B481F7F6E}" type="pres">
      <dgm:prSet presAssocID="{F77A5F42-25A5-424B-8A32-9AF0569778CF}" presName="parentText" presStyleLbl="node1" presStyleIdx="7" presStyleCnt="10">
        <dgm:presLayoutVars>
          <dgm:chMax val="0"/>
          <dgm:bulletEnabled val="1"/>
        </dgm:presLayoutVars>
      </dgm:prSet>
      <dgm:spPr/>
      <dgm:t>
        <a:bodyPr/>
        <a:lstStyle/>
        <a:p>
          <a:endParaRPr lang="en-US"/>
        </a:p>
      </dgm:t>
    </dgm:pt>
    <dgm:pt modelId="{2B73BFBA-1ACB-4D70-9AA6-DAC5D9432408}" type="pres">
      <dgm:prSet presAssocID="{17C8DD2E-6B05-43E1-8EEB-5CF5D54C3415}" presName="spacer" presStyleCnt="0"/>
      <dgm:spPr/>
    </dgm:pt>
    <dgm:pt modelId="{2F569386-1E75-4C83-8ABD-756060DAB4A9}" type="pres">
      <dgm:prSet presAssocID="{62E3036E-D047-47FA-8919-D701E7D57840}" presName="parentText" presStyleLbl="node1" presStyleIdx="8" presStyleCnt="10">
        <dgm:presLayoutVars>
          <dgm:chMax val="0"/>
          <dgm:bulletEnabled val="1"/>
        </dgm:presLayoutVars>
      </dgm:prSet>
      <dgm:spPr/>
      <dgm:t>
        <a:bodyPr/>
        <a:lstStyle/>
        <a:p>
          <a:endParaRPr lang="en-US"/>
        </a:p>
      </dgm:t>
    </dgm:pt>
    <dgm:pt modelId="{CFEB557A-3BDE-4A15-9D7C-E675A803E446}" type="pres">
      <dgm:prSet presAssocID="{6C758B24-59D7-48B6-98BF-44CE618B1E50}" presName="spacer" presStyleCnt="0"/>
      <dgm:spPr/>
    </dgm:pt>
    <dgm:pt modelId="{08D96BA9-1F08-4A81-B691-5C84D91A5B8B}" type="pres">
      <dgm:prSet presAssocID="{597166BD-A09E-4F90-9317-3F59D0909E0B}" presName="parentText" presStyleLbl="node1" presStyleIdx="9" presStyleCnt="10">
        <dgm:presLayoutVars>
          <dgm:chMax val="0"/>
          <dgm:bulletEnabled val="1"/>
        </dgm:presLayoutVars>
      </dgm:prSet>
      <dgm:spPr/>
      <dgm:t>
        <a:bodyPr/>
        <a:lstStyle/>
        <a:p>
          <a:endParaRPr lang="en-US"/>
        </a:p>
      </dgm:t>
    </dgm:pt>
  </dgm:ptLst>
  <dgm:cxnLst>
    <dgm:cxn modelId="{10040EBC-B103-40C1-BFA4-B76F776FBE4E}" type="presOf" srcId="{62E3036E-D047-47FA-8919-D701E7D57840}" destId="{2F569386-1E75-4C83-8ABD-756060DAB4A9}" srcOrd="0" destOrd="0" presId="urn:microsoft.com/office/officeart/2005/8/layout/vList2"/>
    <dgm:cxn modelId="{10227C43-3060-4CB9-95DA-EA70FE14F569}" type="presOf" srcId="{AD9D0069-E16F-4815-9E95-1B036449695E}" destId="{6FBDB00D-8AEF-4F1C-A762-C2BFBA1C11C3}" srcOrd="0" destOrd="0" presId="urn:microsoft.com/office/officeart/2005/8/layout/vList2"/>
    <dgm:cxn modelId="{7A0F9A37-1830-45C5-8C10-992522E9BC6F}" srcId="{4FC90CDB-ACF6-43DD-A70A-F583B9F23EB2}" destId="{F77A5F42-25A5-424B-8A32-9AF0569778CF}" srcOrd="7" destOrd="0" parTransId="{E36E9F11-465C-4B4C-9194-9871C474A2D8}" sibTransId="{17C8DD2E-6B05-43E1-8EEB-5CF5D54C3415}"/>
    <dgm:cxn modelId="{D19F8D39-A803-4078-B8AF-377A5CAAA3B1}" srcId="{4FC90CDB-ACF6-43DD-A70A-F583B9F23EB2}" destId="{AD9D0069-E16F-4815-9E95-1B036449695E}" srcOrd="2" destOrd="0" parTransId="{98B2630B-8BBE-4866-9FB3-D229F170BCD7}" sibTransId="{B8851CB1-C870-4A80-B325-069B2D26B400}"/>
    <dgm:cxn modelId="{22F3248D-6E93-41AD-BEA7-A44278EF4861}" srcId="{4FC90CDB-ACF6-43DD-A70A-F583B9F23EB2}" destId="{D5A8CF50-52DF-4656-9278-773E1C3DD727}" srcOrd="6" destOrd="0" parTransId="{8EB36CAF-154A-4FEF-991D-2D5E23136021}" sibTransId="{F63AF48D-A82E-4FB8-8CC3-72E67A2BC7D2}"/>
    <dgm:cxn modelId="{846DFB6A-B721-4B2E-ADC3-C57054478296}" type="presOf" srcId="{701D2308-1DEB-4752-A936-9E129C3DBC72}" destId="{FA3B1C12-63B7-486D-9433-16A183FD41CE}" srcOrd="0" destOrd="0" presId="urn:microsoft.com/office/officeart/2005/8/layout/vList2"/>
    <dgm:cxn modelId="{3EE6749B-C6AF-496C-A6B6-E8A688E69053}" srcId="{4FC90CDB-ACF6-43DD-A70A-F583B9F23EB2}" destId="{597166BD-A09E-4F90-9317-3F59D0909E0B}" srcOrd="9" destOrd="0" parTransId="{C3C8804D-7EA8-4C73-9EF8-8C3A4E58BAE6}" sibTransId="{541853CF-8692-4988-A99F-A1EAF80B58A6}"/>
    <dgm:cxn modelId="{AEC96352-681F-4733-9B00-034607FBEAB8}" srcId="{4FC90CDB-ACF6-43DD-A70A-F583B9F23EB2}" destId="{7701F961-8A55-4864-B0D0-5285502CE0A2}" srcOrd="4" destOrd="0" parTransId="{82E91DBA-E57C-4009-B7E3-892F4C227B32}" sibTransId="{FC2F572C-927B-4D3B-823F-49F4FADE481D}"/>
    <dgm:cxn modelId="{07E11AE0-4C36-4368-8773-CD0B53EA813B}" type="presOf" srcId="{597166BD-A09E-4F90-9317-3F59D0909E0B}" destId="{08D96BA9-1F08-4A81-B691-5C84D91A5B8B}" srcOrd="0" destOrd="0" presId="urn:microsoft.com/office/officeart/2005/8/layout/vList2"/>
    <dgm:cxn modelId="{3AEEF1E2-0B05-4251-9C1A-F522D01B3312}" type="presOf" srcId="{EB9379ED-4C7D-443B-A6D2-D1F2E0D032AC}" destId="{C5850138-829C-4923-B7A9-5412B15936F9}" srcOrd="0" destOrd="0" presId="urn:microsoft.com/office/officeart/2005/8/layout/vList2"/>
    <dgm:cxn modelId="{95FB1649-2D96-42C2-AACE-4E064670090E}" type="presOf" srcId="{A95D3BA4-3BA1-48E5-A24B-6B65BE821D36}" destId="{34FB7E0C-46E7-4917-980A-DF293961186E}" srcOrd="0" destOrd="0" presId="urn:microsoft.com/office/officeart/2005/8/layout/vList2"/>
    <dgm:cxn modelId="{8BEE2B34-AF3F-493E-B753-C75EFAADB15A}" type="presOf" srcId="{0B6B125E-CDF4-4493-A940-B2765217DC73}" destId="{9620CBC9-6C97-4AE4-BC57-8E0149900491}" srcOrd="0" destOrd="0" presId="urn:microsoft.com/office/officeart/2005/8/layout/vList2"/>
    <dgm:cxn modelId="{8949AC55-109B-4FDA-BE7B-799BFBA2C338}" srcId="{4FC90CDB-ACF6-43DD-A70A-F583B9F23EB2}" destId="{EB9379ED-4C7D-443B-A6D2-D1F2E0D032AC}" srcOrd="0" destOrd="0" parTransId="{F9A9309C-7156-4E4B-8B4F-4636F712A6A8}" sibTransId="{71D1776B-94CB-4233-95BA-F42385A60F68}"/>
    <dgm:cxn modelId="{4C3424DB-CA88-48CE-8C85-864BBCFD11F3}" srcId="{4FC90CDB-ACF6-43DD-A70A-F583B9F23EB2}" destId="{0B6B125E-CDF4-4493-A940-B2765217DC73}" srcOrd="1" destOrd="0" parTransId="{454B9A8E-4E41-4834-881B-149A3174B220}" sibTransId="{26BC1EFD-D240-4A63-B066-4CCA6B9ACA17}"/>
    <dgm:cxn modelId="{299AE8B8-AEBD-4081-9A58-95A504021648}" type="presOf" srcId="{7701F961-8A55-4864-B0D0-5285502CE0A2}" destId="{9C3B77DC-83D6-48B2-80E7-0267AD164402}" srcOrd="0" destOrd="0" presId="urn:microsoft.com/office/officeart/2005/8/layout/vList2"/>
    <dgm:cxn modelId="{0564F6C8-017D-433A-9921-64AFC8653B42}" type="presOf" srcId="{4FC90CDB-ACF6-43DD-A70A-F583B9F23EB2}" destId="{2A19DF49-D735-4F29-9E23-ECF5F9433245}" srcOrd="0" destOrd="0" presId="urn:microsoft.com/office/officeart/2005/8/layout/vList2"/>
    <dgm:cxn modelId="{42920CA6-8FEE-4F40-B40D-95EBCEF06953}" srcId="{4FC90CDB-ACF6-43DD-A70A-F583B9F23EB2}" destId="{62E3036E-D047-47FA-8919-D701E7D57840}" srcOrd="8" destOrd="0" parTransId="{6D2F7044-28A4-4BD0-835B-CB4D86C5FDC9}" sibTransId="{6C758B24-59D7-48B6-98BF-44CE618B1E50}"/>
    <dgm:cxn modelId="{469BEBAA-3FF0-4CAD-819A-9B11C386D85C}" type="presOf" srcId="{D5A8CF50-52DF-4656-9278-773E1C3DD727}" destId="{71F5E236-A052-484E-B999-82B96DE1A206}" srcOrd="0" destOrd="0" presId="urn:microsoft.com/office/officeart/2005/8/layout/vList2"/>
    <dgm:cxn modelId="{EE58A274-512E-4DC2-BA40-6FAB1E277AA3}" type="presOf" srcId="{F77A5F42-25A5-424B-8A32-9AF0569778CF}" destId="{683ACA0F-77AB-4041-85DE-F82B481F7F6E}" srcOrd="0" destOrd="0" presId="urn:microsoft.com/office/officeart/2005/8/layout/vList2"/>
    <dgm:cxn modelId="{C2474E53-FC34-4AC7-9A88-15C741F610AD}" srcId="{4FC90CDB-ACF6-43DD-A70A-F583B9F23EB2}" destId="{A95D3BA4-3BA1-48E5-A24B-6B65BE821D36}" srcOrd="5" destOrd="0" parTransId="{C2162F95-72F1-4443-9752-8FAB59B81B52}" sibTransId="{EB3438CE-8E2E-4598-869F-E156A3FA4FF9}"/>
    <dgm:cxn modelId="{62CEC83D-1FC9-4D58-B919-41E3A072B96A}" srcId="{4FC90CDB-ACF6-43DD-A70A-F583B9F23EB2}" destId="{701D2308-1DEB-4752-A936-9E129C3DBC72}" srcOrd="3" destOrd="0" parTransId="{BA4D11B4-7771-42CF-A408-636CC7CFE34F}" sibTransId="{8F30F6E3-013B-4B00-ADBA-BD4ED3F27C39}"/>
    <dgm:cxn modelId="{174AC7A4-F4EC-4CD8-8120-5DBBF9831136}" type="presParOf" srcId="{2A19DF49-D735-4F29-9E23-ECF5F9433245}" destId="{C5850138-829C-4923-B7A9-5412B15936F9}" srcOrd="0" destOrd="0" presId="urn:microsoft.com/office/officeart/2005/8/layout/vList2"/>
    <dgm:cxn modelId="{D03CFC55-617D-4235-879C-723B8B94A946}" type="presParOf" srcId="{2A19DF49-D735-4F29-9E23-ECF5F9433245}" destId="{3646ED3E-CDB1-449F-89B7-52F1FF403100}" srcOrd="1" destOrd="0" presId="urn:microsoft.com/office/officeart/2005/8/layout/vList2"/>
    <dgm:cxn modelId="{D9180BB3-1511-44E7-ACB0-C53C99B00DEC}" type="presParOf" srcId="{2A19DF49-D735-4F29-9E23-ECF5F9433245}" destId="{9620CBC9-6C97-4AE4-BC57-8E0149900491}" srcOrd="2" destOrd="0" presId="urn:microsoft.com/office/officeart/2005/8/layout/vList2"/>
    <dgm:cxn modelId="{8AA66731-488B-4335-BCD2-877CCCD122D3}" type="presParOf" srcId="{2A19DF49-D735-4F29-9E23-ECF5F9433245}" destId="{2B69A265-FA23-4C7C-A143-CD5283A89EC5}" srcOrd="3" destOrd="0" presId="urn:microsoft.com/office/officeart/2005/8/layout/vList2"/>
    <dgm:cxn modelId="{BC8092C8-ADD0-4483-BAB5-9307C4536C23}" type="presParOf" srcId="{2A19DF49-D735-4F29-9E23-ECF5F9433245}" destId="{6FBDB00D-8AEF-4F1C-A762-C2BFBA1C11C3}" srcOrd="4" destOrd="0" presId="urn:microsoft.com/office/officeart/2005/8/layout/vList2"/>
    <dgm:cxn modelId="{909B32AA-C1B2-4044-8FB3-8B5468004ADE}" type="presParOf" srcId="{2A19DF49-D735-4F29-9E23-ECF5F9433245}" destId="{F066AEB1-5F21-48CF-A34E-D06EC89E3C3F}" srcOrd="5" destOrd="0" presId="urn:microsoft.com/office/officeart/2005/8/layout/vList2"/>
    <dgm:cxn modelId="{AFBD047B-A79C-402B-9DDC-DFB841A0799B}" type="presParOf" srcId="{2A19DF49-D735-4F29-9E23-ECF5F9433245}" destId="{FA3B1C12-63B7-486D-9433-16A183FD41CE}" srcOrd="6" destOrd="0" presId="urn:microsoft.com/office/officeart/2005/8/layout/vList2"/>
    <dgm:cxn modelId="{F633C691-1E0F-4CEE-A3E6-065C7E9A49D3}" type="presParOf" srcId="{2A19DF49-D735-4F29-9E23-ECF5F9433245}" destId="{FDE034F5-EB66-45AB-87D8-42662EBC623D}" srcOrd="7" destOrd="0" presId="urn:microsoft.com/office/officeart/2005/8/layout/vList2"/>
    <dgm:cxn modelId="{9E5954AE-8CD7-4F04-AA4C-83F7CE29141E}" type="presParOf" srcId="{2A19DF49-D735-4F29-9E23-ECF5F9433245}" destId="{9C3B77DC-83D6-48B2-80E7-0267AD164402}" srcOrd="8" destOrd="0" presId="urn:microsoft.com/office/officeart/2005/8/layout/vList2"/>
    <dgm:cxn modelId="{AAC67DEF-5D5B-415F-A11C-5E17A4069482}" type="presParOf" srcId="{2A19DF49-D735-4F29-9E23-ECF5F9433245}" destId="{0C04935E-8C66-41DD-A7C3-EAFD06130D89}" srcOrd="9" destOrd="0" presId="urn:microsoft.com/office/officeart/2005/8/layout/vList2"/>
    <dgm:cxn modelId="{B6D15930-33CC-4EF1-8FAB-1BB956F19646}" type="presParOf" srcId="{2A19DF49-D735-4F29-9E23-ECF5F9433245}" destId="{34FB7E0C-46E7-4917-980A-DF293961186E}" srcOrd="10" destOrd="0" presId="urn:microsoft.com/office/officeart/2005/8/layout/vList2"/>
    <dgm:cxn modelId="{58AF0C43-92FA-4A94-9365-5D241A765520}" type="presParOf" srcId="{2A19DF49-D735-4F29-9E23-ECF5F9433245}" destId="{90413580-1A1E-4486-AAAA-92EB6936D8BD}" srcOrd="11" destOrd="0" presId="urn:microsoft.com/office/officeart/2005/8/layout/vList2"/>
    <dgm:cxn modelId="{EBA1CE61-A353-4AC1-92A6-90674545A0BF}" type="presParOf" srcId="{2A19DF49-D735-4F29-9E23-ECF5F9433245}" destId="{71F5E236-A052-484E-B999-82B96DE1A206}" srcOrd="12" destOrd="0" presId="urn:microsoft.com/office/officeart/2005/8/layout/vList2"/>
    <dgm:cxn modelId="{215CD225-4FEE-42CF-90A7-5A6EE7E0E808}" type="presParOf" srcId="{2A19DF49-D735-4F29-9E23-ECF5F9433245}" destId="{82101A8A-C91D-4036-9430-F8F84ED115C3}" srcOrd="13" destOrd="0" presId="urn:microsoft.com/office/officeart/2005/8/layout/vList2"/>
    <dgm:cxn modelId="{931F96DD-8A86-4362-84F0-DD1556AF5650}" type="presParOf" srcId="{2A19DF49-D735-4F29-9E23-ECF5F9433245}" destId="{683ACA0F-77AB-4041-85DE-F82B481F7F6E}" srcOrd="14" destOrd="0" presId="urn:microsoft.com/office/officeart/2005/8/layout/vList2"/>
    <dgm:cxn modelId="{491F5EA1-4991-4326-8134-0F49F48A803C}" type="presParOf" srcId="{2A19DF49-D735-4F29-9E23-ECF5F9433245}" destId="{2B73BFBA-1ACB-4D70-9AA6-DAC5D9432408}" srcOrd="15" destOrd="0" presId="urn:microsoft.com/office/officeart/2005/8/layout/vList2"/>
    <dgm:cxn modelId="{6CD2BE8D-365A-4696-8DF6-FA1488548AF9}" type="presParOf" srcId="{2A19DF49-D735-4F29-9E23-ECF5F9433245}" destId="{2F569386-1E75-4C83-8ABD-756060DAB4A9}" srcOrd="16" destOrd="0" presId="urn:microsoft.com/office/officeart/2005/8/layout/vList2"/>
    <dgm:cxn modelId="{EC013FE8-97CE-4C3F-B24B-6E87BE703E75}" type="presParOf" srcId="{2A19DF49-D735-4F29-9E23-ECF5F9433245}" destId="{CFEB557A-3BDE-4A15-9D7C-E675A803E446}" srcOrd="17" destOrd="0" presId="urn:microsoft.com/office/officeart/2005/8/layout/vList2"/>
    <dgm:cxn modelId="{77CE815E-7545-4A0D-8B7D-E19D303C0CC2}" type="presParOf" srcId="{2A19DF49-D735-4F29-9E23-ECF5F9433245}" destId="{08D96BA9-1F08-4A81-B691-5C84D91A5B8B}" srcOrd="18" destOrd="0" presId="urn:microsoft.com/office/officeart/2005/8/layout/vList2"/>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6B34A80F-7E2F-48B3-90EE-799DABA7EB67}" type="doc">
      <dgm:prSet loTypeId="urn:microsoft.com/office/officeart/2005/8/layout/vList2" loCatId="list" qsTypeId="urn:microsoft.com/office/officeart/2005/8/quickstyle/simple1" qsCatId="simple" csTypeId="urn:microsoft.com/office/officeart/2005/8/colors/accent5_1" csCatId="accent5"/>
      <dgm:spPr/>
      <dgm:t>
        <a:bodyPr/>
        <a:lstStyle/>
        <a:p>
          <a:endParaRPr lang="en-US"/>
        </a:p>
      </dgm:t>
    </dgm:pt>
    <dgm:pt modelId="{D18F42C0-75C2-489C-8EA5-0A969EC330B0}">
      <dgm:prSet/>
      <dgm:spPr/>
      <dgm:t>
        <a:bodyPr/>
        <a:lstStyle/>
        <a:p>
          <a:pPr rtl="0"/>
          <a:r>
            <a:rPr lang="en-US" dirty="0" smtClean="0"/>
            <a:t>Cloud Foundry is an open source platform as a service (</a:t>
          </a:r>
          <a:r>
            <a:rPr lang="en-US" dirty="0" err="1" smtClean="0"/>
            <a:t>PaaS</a:t>
          </a:r>
          <a:r>
            <a:rPr lang="en-US" dirty="0" smtClean="0"/>
            <a:t>) that lets you quickly create and deploy applications on the cloud.</a:t>
          </a:r>
          <a:endParaRPr lang="en-US" dirty="0"/>
        </a:p>
      </dgm:t>
    </dgm:pt>
    <dgm:pt modelId="{96E302BF-7D8B-45F3-A022-121098B42469}" type="parTrans" cxnId="{C91F335A-6A12-48CB-80EC-01A986E27425}">
      <dgm:prSet/>
      <dgm:spPr/>
      <dgm:t>
        <a:bodyPr/>
        <a:lstStyle/>
        <a:p>
          <a:endParaRPr lang="en-US"/>
        </a:p>
      </dgm:t>
    </dgm:pt>
    <dgm:pt modelId="{E91C3A38-F4C1-44C2-831A-5202560F0A7F}" type="sibTrans" cxnId="{C91F335A-6A12-48CB-80EC-01A986E27425}">
      <dgm:prSet/>
      <dgm:spPr/>
      <dgm:t>
        <a:bodyPr/>
        <a:lstStyle/>
        <a:p>
          <a:endParaRPr lang="en-US"/>
        </a:p>
      </dgm:t>
    </dgm:pt>
    <dgm:pt modelId="{DE2D0BD1-CFCE-4A13-B2A9-5E9518A3D24B}">
      <dgm:prSet/>
      <dgm:spPr/>
      <dgm:t>
        <a:bodyPr/>
        <a:lstStyle/>
        <a:p>
          <a:pPr rtl="0"/>
          <a:r>
            <a:rPr lang="en-US" dirty="0" smtClean="0"/>
            <a:t>Cloud Foundry is not vendor specific and does not lock you into proprietary software or cloud infrastructure</a:t>
          </a:r>
          <a:endParaRPr lang="en-US" dirty="0"/>
        </a:p>
      </dgm:t>
    </dgm:pt>
    <dgm:pt modelId="{9188788F-29C7-4DD7-8484-7B32F7DEDCE2}" type="parTrans" cxnId="{C112323D-92A4-48B2-8B3D-4E10BFD6F977}">
      <dgm:prSet/>
      <dgm:spPr/>
      <dgm:t>
        <a:bodyPr/>
        <a:lstStyle/>
        <a:p>
          <a:endParaRPr lang="en-US"/>
        </a:p>
      </dgm:t>
    </dgm:pt>
    <dgm:pt modelId="{46A96D0F-E910-433C-8E7C-990A32F2D6D5}" type="sibTrans" cxnId="{C112323D-92A4-48B2-8B3D-4E10BFD6F977}">
      <dgm:prSet/>
      <dgm:spPr/>
      <dgm:t>
        <a:bodyPr/>
        <a:lstStyle/>
        <a:p>
          <a:endParaRPr lang="en-US"/>
        </a:p>
      </dgm:t>
    </dgm:pt>
    <dgm:pt modelId="{3A3E9803-7121-432A-BDE5-263B72F6D2A3}">
      <dgm:prSet/>
      <dgm:spPr/>
      <dgm:t>
        <a:bodyPr/>
        <a:lstStyle/>
        <a:p>
          <a:pPr rtl="0"/>
          <a:r>
            <a:rPr lang="en-US" dirty="0" smtClean="0"/>
            <a:t>Cloud Foundry abstracts the underlying infrastructure needed to run a cloud, letting you focus on the business of building cloud applications</a:t>
          </a:r>
          <a:endParaRPr lang="en-US" dirty="0"/>
        </a:p>
      </dgm:t>
    </dgm:pt>
    <dgm:pt modelId="{7153C922-2F25-4E50-A84C-B912FAE0FA21}" type="parTrans" cxnId="{D925DE3E-081A-4748-9D9C-FA84DDC62CB2}">
      <dgm:prSet/>
      <dgm:spPr/>
      <dgm:t>
        <a:bodyPr/>
        <a:lstStyle/>
        <a:p>
          <a:endParaRPr lang="en-US"/>
        </a:p>
      </dgm:t>
    </dgm:pt>
    <dgm:pt modelId="{D5551A53-A341-4FA3-A0BE-43BE9B4AF5DC}" type="sibTrans" cxnId="{D925DE3E-081A-4748-9D9C-FA84DDC62CB2}">
      <dgm:prSet/>
      <dgm:spPr/>
      <dgm:t>
        <a:bodyPr/>
        <a:lstStyle/>
        <a:p>
          <a:endParaRPr lang="en-US"/>
        </a:p>
      </dgm:t>
    </dgm:pt>
    <dgm:pt modelId="{DD7D7AD5-BDDF-4431-97C9-029BD8DC3531}">
      <dgm:prSet/>
      <dgm:spPr/>
      <dgm:t>
        <a:bodyPr/>
        <a:lstStyle/>
        <a:p>
          <a:pPr rtl="0"/>
          <a:r>
            <a:rPr lang="en-US" dirty="0" smtClean="0"/>
            <a:t>The beauty of Cloud Foundry is that it provides choice.</a:t>
          </a:r>
          <a:endParaRPr lang="en-US" dirty="0"/>
        </a:p>
      </dgm:t>
    </dgm:pt>
    <dgm:pt modelId="{4AB3EC8A-AEDC-4D80-B1B4-94CC5DB2986B}" type="parTrans" cxnId="{19145D43-2627-4709-B19E-21F4637316C7}">
      <dgm:prSet/>
      <dgm:spPr/>
      <dgm:t>
        <a:bodyPr/>
        <a:lstStyle/>
        <a:p>
          <a:endParaRPr lang="en-US"/>
        </a:p>
      </dgm:t>
    </dgm:pt>
    <dgm:pt modelId="{91869538-EFC2-42E7-97EA-3173AA80D40E}" type="sibTrans" cxnId="{19145D43-2627-4709-B19E-21F4637316C7}">
      <dgm:prSet/>
      <dgm:spPr/>
      <dgm:t>
        <a:bodyPr/>
        <a:lstStyle/>
        <a:p>
          <a:endParaRPr lang="en-US"/>
        </a:p>
      </dgm:t>
    </dgm:pt>
    <dgm:pt modelId="{394D937E-8B8F-4C16-9FC8-05505AB23F6E}" type="pres">
      <dgm:prSet presAssocID="{6B34A80F-7E2F-48B3-90EE-799DABA7EB67}" presName="linear" presStyleCnt="0">
        <dgm:presLayoutVars>
          <dgm:animLvl val="lvl"/>
          <dgm:resizeHandles val="exact"/>
        </dgm:presLayoutVars>
      </dgm:prSet>
      <dgm:spPr/>
      <dgm:t>
        <a:bodyPr/>
        <a:lstStyle/>
        <a:p>
          <a:endParaRPr lang="en-US"/>
        </a:p>
      </dgm:t>
    </dgm:pt>
    <dgm:pt modelId="{8D7D40CD-6903-4ABD-9776-ACA5AEE63E2B}" type="pres">
      <dgm:prSet presAssocID="{D18F42C0-75C2-489C-8EA5-0A969EC330B0}" presName="parentText" presStyleLbl="node1" presStyleIdx="0" presStyleCnt="4">
        <dgm:presLayoutVars>
          <dgm:chMax val="0"/>
          <dgm:bulletEnabled val="1"/>
        </dgm:presLayoutVars>
      </dgm:prSet>
      <dgm:spPr/>
      <dgm:t>
        <a:bodyPr/>
        <a:lstStyle/>
        <a:p>
          <a:endParaRPr lang="en-US"/>
        </a:p>
      </dgm:t>
    </dgm:pt>
    <dgm:pt modelId="{2A19C5BE-89E0-4AA1-8878-C90F88E6C272}" type="pres">
      <dgm:prSet presAssocID="{E91C3A38-F4C1-44C2-831A-5202560F0A7F}" presName="spacer" presStyleCnt="0"/>
      <dgm:spPr/>
      <dgm:t>
        <a:bodyPr/>
        <a:lstStyle/>
        <a:p>
          <a:endParaRPr lang="en-US"/>
        </a:p>
      </dgm:t>
    </dgm:pt>
    <dgm:pt modelId="{60DCFF2F-C9D9-40D1-9872-A00F604F271F}" type="pres">
      <dgm:prSet presAssocID="{DE2D0BD1-CFCE-4A13-B2A9-5E9518A3D24B}" presName="parentText" presStyleLbl="node1" presStyleIdx="1" presStyleCnt="4">
        <dgm:presLayoutVars>
          <dgm:chMax val="0"/>
          <dgm:bulletEnabled val="1"/>
        </dgm:presLayoutVars>
      </dgm:prSet>
      <dgm:spPr/>
      <dgm:t>
        <a:bodyPr/>
        <a:lstStyle/>
        <a:p>
          <a:endParaRPr lang="en-US"/>
        </a:p>
      </dgm:t>
    </dgm:pt>
    <dgm:pt modelId="{E399D914-13FD-4044-9E7A-FA7C3F814E2A}" type="pres">
      <dgm:prSet presAssocID="{46A96D0F-E910-433C-8E7C-990A32F2D6D5}" presName="spacer" presStyleCnt="0"/>
      <dgm:spPr/>
      <dgm:t>
        <a:bodyPr/>
        <a:lstStyle/>
        <a:p>
          <a:endParaRPr lang="en-US"/>
        </a:p>
      </dgm:t>
    </dgm:pt>
    <dgm:pt modelId="{9D5C0C59-8B26-4A8F-89F4-3669DE79CF07}" type="pres">
      <dgm:prSet presAssocID="{3A3E9803-7121-432A-BDE5-263B72F6D2A3}" presName="parentText" presStyleLbl="node1" presStyleIdx="2" presStyleCnt="4">
        <dgm:presLayoutVars>
          <dgm:chMax val="0"/>
          <dgm:bulletEnabled val="1"/>
        </dgm:presLayoutVars>
      </dgm:prSet>
      <dgm:spPr/>
      <dgm:t>
        <a:bodyPr/>
        <a:lstStyle/>
        <a:p>
          <a:endParaRPr lang="en-US"/>
        </a:p>
      </dgm:t>
    </dgm:pt>
    <dgm:pt modelId="{1D84C3EE-9B64-44AB-9A07-00F896D60400}" type="pres">
      <dgm:prSet presAssocID="{D5551A53-A341-4FA3-A0BE-43BE9B4AF5DC}" presName="spacer" presStyleCnt="0"/>
      <dgm:spPr/>
      <dgm:t>
        <a:bodyPr/>
        <a:lstStyle/>
        <a:p>
          <a:endParaRPr lang="en-US"/>
        </a:p>
      </dgm:t>
    </dgm:pt>
    <dgm:pt modelId="{FD189704-E3C9-4A05-A5C7-31E6ADEA964C}" type="pres">
      <dgm:prSet presAssocID="{DD7D7AD5-BDDF-4431-97C9-029BD8DC3531}" presName="parentText" presStyleLbl="node1" presStyleIdx="3" presStyleCnt="4">
        <dgm:presLayoutVars>
          <dgm:chMax val="0"/>
          <dgm:bulletEnabled val="1"/>
        </dgm:presLayoutVars>
      </dgm:prSet>
      <dgm:spPr/>
      <dgm:t>
        <a:bodyPr/>
        <a:lstStyle/>
        <a:p>
          <a:endParaRPr lang="en-US"/>
        </a:p>
      </dgm:t>
    </dgm:pt>
  </dgm:ptLst>
  <dgm:cxnLst>
    <dgm:cxn modelId="{B30B95EA-0034-43DA-927D-F47F16F4CEB2}" type="presOf" srcId="{DD7D7AD5-BDDF-4431-97C9-029BD8DC3531}" destId="{FD189704-E3C9-4A05-A5C7-31E6ADEA964C}" srcOrd="0" destOrd="0" presId="urn:microsoft.com/office/officeart/2005/8/layout/vList2"/>
    <dgm:cxn modelId="{19145D43-2627-4709-B19E-21F4637316C7}" srcId="{6B34A80F-7E2F-48B3-90EE-799DABA7EB67}" destId="{DD7D7AD5-BDDF-4431-97C9-029BD8DC3531}" srcOrd="3" destOrd="0" parTransId="{4AB3EC8A-AEDC-4D80-B1B4-94CC5DB2986B}" sibTransId="{91869538-EFC2-42E7-97EA-3173AA80D40E}"/>
    <dgm:cxn modelId="{CF94F030-C0D5-4670-91BF-39D794CC3B5F}" type="presOf" srcId="{6B34A80F-7E2F-48B3-90EE-799DABA7EB67}" destId="{394D937E-8B8F-4C16-9FC8-05505AB23F6E}" srcOrd="0" destOrd="0" presId="urn:microsoft.com/office/officeart/2005/8/layout/vList2"/>
    <dgm:cxn modelId="{3C10EC49-0BB8-4BA6-A618-47AE4357EEA0}" type="presOf" srcId="{DE2D0BD1-CFCE-4A13-B2A9-5E9518A3D24B}" destId="{60DCFF2F-C9D9-40D1-9872-A00F604F271F}" srcOrd="0" destOrd="0" presId="urn:microsoft.com/office/officeart/2005/8/layout/vList2"/>
    <dgm:cxn modelId="{C91F335A-6A12-48CB-80EC-01A986E27425}" srcId="{6B34A80F-7E2F-48B3-90EE-799DABA7EB67}" destId="{D18F42C0-75C2-489C-8EA5-0A969EC330B0}" srcOrd="0" destOrd="0" parTransId="{96E302BF-7D8B-45F3-A022-121098B42469}" sibTransId="{E91C3A38-F4C1-44C2-831A-5202560F0A7F}"/>
    <dgm:cxn modelId="{7CBCB76C-40CE-48D4-BF49-224D3578F12C}" type="presOf" srcId="{D18F42C0-75C2-489C-8EA5-0A969EC330B0}" destId="{8D7D40CD-6903-4ABD-9776-ACA5AEE63E2B}" srcOrd="0" destOrd="0" presId="urn:microsoft.com/office/officeart/2005/8/layout/vList2"/>
    <dgm:cxn modelId="{C112323D-92A4-48B2-8B3D-4E10BFD6F977}" srcId="{6B34A80F-7E2F-48B3-90EE-799DABA7EB67}" destId="{DE2D0BD1-CFCE-4A13-B2A9-5E9518A3D24B}" srcOrd="1" destOrd="0" parTransId="{9188788F-29C7-4DD7-8484-7B32F7DEDCE2}" sibTransId="{46A96D0F-E910-433C-8E7C-990A32F2D6D5}"/>
    <dgm:cxn modelId="{41D405B6-A94E-4031-9213-E3CCE8B434D0}" type="presOf" srcId="{3A3E9803-7121-432A-BDE5-263B72F6D2A3}" destId="{9D5C0C59-8B26-4A8F-89F4-3669DE79CF07}" srcOrd="0" destOrd="0" presId="urn:microsoft.com/office/officeart/2005/8/layout/vList2"/>
    <dgm:cxn modelId="{D925DE3E-081A-4748-9D9C-FA84DDC62CB2}" srcId="{6B34A80F-7E2F-48B3-90EE-799DABA7EB67}" destId="{3A3E9803-7121-432A-BDE5-263B72F6D2A3}" srcOrd="2" destOrd="0" parTransId="{7153C922-2F25-4E50-A84C-B912FAE0FA21}" sibTransId="{D5551A53-A341-4FA3-A0BE-43BE9B4AF5DC}"/>
    <dgm:cxn modelId="{706EFA0C-B345-4249-87A5-1B5338B03B30}" type="presParOf" srcId="{394D937E-8B8F-4C16-9FC8-05505AB23F6E}" destId="{8D7D40CD-6903-4ABD-9776-ACA5AEE63E2B}" srcOrd="0" destOrd="0" presId="urn:microsoft.com/office/officeart/2005/8/layout/vList2"/>
    <dgm:cxn modelId="{2579CB29-AC07-4ABB-8CED-F40D3987A79C}" type="presParOf" srcId="{394D937E-8B8F-4C16-9FC8-05505AB23F6E}" destId="{2A19C5BE-89E0-4AA1-8878-C90F88E6C272}" srcOrd="1" destOrd="0" presId="urn:microsoft.com/office/officeart/2005/8/layout/vList2"/>
    <dgm:cxn modelId="{F959F6AC-3E18-486E-9E3C-16241083AEAC}" type="presParOf" srcId="{394D937E-8B8F-4C16-9FC8-05505AB23F6E}" destId="{60DCFF2F-C9D9-40D1-9872-A00F604F271F}" srcOrd="2" destOrd="0" presId="urn:microsoft.com/office/officeart/2005/8/layout/vList2"/>
    <dgm:cxn modelId="{1E827AFF-65E2-4739-B430-436DF2CC0C53}" type="presParOf" srcId="{394D937E-8B8F-4C16-9FC8-05505AB23F6E}" destId="{E399D914-13FD-4044-9E7A-FA7C3F814E2A}" srcOrd="3" destOrd="0" presId="urn:microsoft.com/office/officeart/2005/8/layout/vList2"/>
    <dgm:cxn modelId="{B6FD3BB3-CA6B-4E9D-BDEC-392573EC6283}" type="presParOf" srcId="{394D937E-8B8F-4C16-9FC8-05505AB23F6E}" destId="{9D5C0C59-8B26-4A8F-89F4-3669DE79CF07}" srcOrd="4" destOrd="0" presId="urn:microsoft.com/office/officeart/2005/8/layout/vList2"/>
    <dgm:cxn modelId="{DD859B19-3AB5-46E8-A173-7ACF2D2386E1}" type="presParOf" srcId="{394D937E-8B8F-4C16-9FC8-05505AB23F6E}" destId="{1D84C3EE-9B64-44AB-9A07-00F896D60400}" srcOrd="5" destOrd="0" presId="urn:microsoft.com/office/officeart/2005/8/layout/vList2"/>
    <dgm:cxn modelId="{FB59C90D-5A4D-41FE-82F8-024FF9BEC9E1}" type="presParOf" srcId="{394D937E-8B8F-4C16-9FC8-05505AB23F6E}" destId="{FD189704-E3C9-4A05-A5C7-31E6ADEA964C}" srcOrd="6" destOrd="0" presId="urn:microsoft.com/office/officeart/2005/8/layout/vList2"/>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630220AC-8E80-4217-AB75-BD57AADA6B85}" type="doc">
      <dgm:prSet loTypeId="urn:microsoft.com/office/officeart/2005/8/layout/hierarchy4" loCatId="list" qsTypeId="urn:microsoft.com/office/officeart/2005/8/quickstyle/simple1" qsCatId="simple" csTypeId="urn:microsoft.com/office/officeart/2005/8/colors/accent5_1" csCatId="accent5" phldr="1"/>
      <dgm:spPr/>
      <dgm:t>
        <a:bodyPr/>
        <a:lstStyle/>
        <a:p>
          <a:endParaRPr lang="en-US"/>
        </a:p>
      </dgm:t>
    </dgm:pt>
    <dgm:pt modelId="{8BE5AB1E-3DE0-478C-9DCC-478BBA4C73E8}">
      <dgm:prSet custT="1"/>
      <dgm:spPr/>
      <dgm:t>
        <a:bodyPr/>
        <a:lstStyle/>
        <a:p>
          <a:pPr algn="l" rtl="0"/>
          <a:r>
            <a:rPr lang="en-US" sz="2000" dirty="0" smtClean="0"/>
            <a:t>Cloud Foundry's ability to provide choice comes through </a:t>
          </a:r>
          <a:r>
            <a:rPr lang="en-US" sz="2000" dirty="0" err="1" smtClean="0"/>
            <a:t>buildpacks</a:t>
          </a:r>
          <a:r>
            <a:rPr lang="en-US" sz="2000" dirty="0" smtClean="0"/>
            <a:t>, a convenient way to package frameworks and runtimes.</a:t>
          </a:r>
        </a:p>
        <a:p>
          <a:pPr algn="l" rtl="0"/>
          <a:r>
            <a:rPr lang="en-US" sz="2000" dirty="0" err="1" smtClean="0"/>
            <a:t>Buildpacks</a:t>
          </a:r>
          <a:r>
            <a:rPr lang="en-US" sz="2000" dirty="0" smtClean="0"/>
            <a:t> can be community based, custom built, or built from scratch.</a:t>
          </a:r>
        </a:p>
        <a:p>
          <a:pPr algn="l" rtl="0"/>
          <a:r>
            <a:rPr lang="en-US" sz="2000" dirty="0" smtClean="0"/>
            <a:t>In other words, if you cannot find a framework or service </a:t>
          </a:r>
          <a:r>
            <a:rPr lang="en-US" sz="2000" dirty="0" err="1" smtClean="0"/>
            <a:t>buildpack</a:t>
          </a:r>
          <a:r>
            <a:rPr lang="en-US" sz="2000" dirty="0" smtClean="0"/>
            <a:t> that suits your needs, you could modify an existing </a:t>
          </a:r>
          <a:r>
            <a:rPr lang="en-US" sz="2000" dirty="0" err="1" smtClean="0"/>
            <a:t>buildpack</a:t>
          </a:r>
          <a:r>
            <a:rPr lang="en-US" sz="2000" dirty="0" smtClean="0"/>
            <a:t> or create your own.</a:t>
          </a:r>
        </a:p>
        <a:p>
          <a:pPr algn="l" rtl="0"/>
          <a:r>
            <a:rPr lang="en-US" sz="2000" dirty="0" smtClean="0"/>
            <a:t>By using </a:t>
          </a:r>
          <a:r>
            <a:rPr lang="en-US" sz="2000" dirty="0" err="1" smtClean="0"/>
            <a:t>buildpacks</a:t>
          </a:r>
          <a:r>
            <a:rPr lang="en-US" sz="2000" dirty="0" smtClean="0"/>
            <a:t>, companies are able to provide enterprise-level services like the </a:t>
          </a:r>
          <a:r>
            <a:rPr lang="en-US" sz="2000" dirty="0" err="1" smtClean="0"/>
            <a:t>Bluemix</a:t>
          </a:r>
          <a:r>
            <a:rPr lang="en-US" sz="2000" dirty="0" smtClean="0"/>
            <a:t> cloud offering.</a:t>
          </a:r>
          <a:endParaRPr lang="en-US" sz="2000" dirty="0"/>
        </a:p>
      </dgm:t>
    </dgm:pt>
    <dgm:pt modelId="{C5C09F26-EDFA-4B28-9B46-DC872F305946}" type="parTrans" cxnId="{4E73F3C8-F9F2-488D-93DE-7DE91C24210C}">
      <dgm:prSet/>
      <dgm:spPr/>
      <dgm:t>
        <a:bodyPr/>
        <a:lstStyle/>
        <a:p>
          <a:endParaRPr lang="en-US"/>
        </a:p>
      </dgm:t>
    </dgm:pt>
    <dgm:pt modelId="{2F8AA177-FB58-4E42-9F78-E88EFFC1B17E}" type="sibTrans" cxnId="{4E73F3C8-F9F2-488D-93DE-7DE91C24210C}">
      <dgm:prSet/>
      <dgm:spPr/>
      <dgm:t>
        <a:bodyPr/>
        <a:lstStyle/>
        <a:p>
          <a:endParaRPr lang="en-US"/>
        </a:p>
      </dgm:t>
    </dgm:pt>
    <dgm:pt modelId="{ECFCF8A2-58EE-4175-836A-C51567A205A9}" type="pres">
      <dgm:prSet presAssocID="{630220AC-8E80-4217-AB75-BD57AADA6B85}" presName="Name0" presStyleCnt="0">
        <dgm:presLayoutVars>
          <dgm:chPref val="1"/>
          <dgm:dir/>
          <dgm:animOne val="branch"/>
          <dgm:animLvl val="lvl"/>
          <dgm:resizeHandles/>
        </dgm:presLayoutVars>
      </dgm:prSet>
      <dgm:spPr/>
      <dgm:t>
        <a:bodyPr/>
        <a:lstStyle/>
        <a:p>
          <a:endParaRPr lang="en-US"/>
        </a:p>
      </dgm:t>
    </dgm:pt>
    <dgm:pt modelId="{8E1DAFF7-9326-4B55-A1D5-E4E996B5F526}" type="pres">
      <dgm:prSet presAssocID="{8BE5AB1E-3DE0-478C-9DCC-478BBA4C73E8}" presName="vertOne" presStyleCnt="0"/>
      <dgm:spPr/>
    </dgm:pt>
    <dgm:pt modelId="{B102ECF9-8637-4843-AD3D-5166F1F6CC8D}" type="pres">
      <dgm:prSet presAssocID="{8BE5AB1E-3DE0-478C-9DCC-478BBA4C73E8}" presName="txOne" presStyleLbl="node0" presStyleIdx="0" presStyleCnt="1">
        <dgm:presLayoutVars>
          <dgm:chPref val="3"/>
        </dgm:presLayoutVars>
      </dgm:prSet>
      <dgm:spPr/>
      <dgm:t>
        <a:bodyPr/>
        <a:lstStyle/>
        <a:p>
          <a:endParaRPr lang="en-US"/>
        </a:p>
      </dgm:t>
    </dgm:pt>
    <dgm:pt modelId="{9A5A204A-2EB0-434B-8F71-2E87426F6184}" type="pres">
      <dgm:prSet presAssocID="{8BE5AB1E-3DE0-478C-9DCC-478BBA4C73E8}" presName="horzOne" presStyleCnt="0"/>
      <dgm:spPr/>
    </dgm:pt>
  </dgm:ptLst>
  <dgm:cxnLst>
    <dgm:cxn modelId="{4E73F3C8-F9F2-488D-93DE-7DE91C24210C}" srcId="{630220AC-8E80-4217-AB75-BD57AADA6B85}" destId="{8BE5AB1E-3DE0-478C-9DCC-478BBA4C73E8}" srcOrd="0" destOrd="0" parTransId="{C5C09F26-EDFA-4B28-9B46-DC872F305946}" sibTransId="{2F8AA177-FB58-4E42-9F78-E88EFFC1B17E}"/>
    <dgm:cxn modelId="{3B2B8D51-E0F8-4EB7-BDEA-5E329FC50292}" type="presOf" srcId="{8BE5AB1E-3DE0-478C-9DCC-478BBA4C73E8}" destId="{B102ECF9-8637-4843-AD3D-5166F1F6CC8D}" srcOrd="0" destOrd="0" presId="urn:microsoft.com/office/officeart/2005/8/layout/hierarchy4"/>
    <dgm:cxn modelId="{FCDC391F-CF6C-44BC-AB64-45AECF77678E}" type="presOf" srcId="{630220AC-8E80-4217-AB75-BD57AADA6B85}" destId="{ECFCF8A2-58EE-4175-836A-C51567A205A9}" srcOrd="0" destOrd="0" presId="urn:microsoft.com/office/officeart/2005/8/layout/hierarchy4"/>
    <dgm:cxn modelId="{AA3D2B10-F896-416F-A88C-58E31E9CAF10}" type="presParOf" srcId="{ECFCF8A2-58EE-4175-836A-C51567A205A9}" destId="{8E1DAFF7-9326-4B55-A1D5-E4E996B5F526}" srcOrd="0" destOrd="0" presId="urn:microsoft.com/office/officeart/2005/8/layout/hierarchy4"/>
    <dgm:cxn modelId="{2FD99B82-48AA-40E3-A96A-06FAAC43C92A}" type="presParOf" srcId="{8E1DAFF7-9326-4B55-A1D5-E4E996B5F526}" destId="{B102ECF9-8637-4843-AD3D-5166F1F6CC8D}" srcOrd="0" destOrd="0" presId="urn:microsoft.com/office/officeart/2005/8/layout/hierarchy4"/>
    <dgm:cxn modelId="{E7A6F94C-B01A-4671-B877-7FDC0B85866B}" type="presParOf" srcId="{8E1DAFF7-9326-4B55-A1D5-E4E996B5F526}" destId="{9A5A204A-2EB0-434B-8F71-2E87426F6184}" srcOrd="1" destOrd="0" presId="urn:microsoft.com/office/officeart/2005/8/layout/hierarchy4"/>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538779E5-2AD6-418F-8D76-424B2DFC14E4}">
      <dsp:nvSpPr>
        <dsp:cNvPr id="0" name=""/>
        <dsp:cNvSpPr/>
      </dsp:nvSpPr>
      <dsp:spPr>
        <a:xfrm>
          <a:off x="0" y="93317"/>
          <a:ext cx="4872251" cy="2047500"/>
        </a:xfrm>
        <a:prstGeom prst="roundRect">
          <a:avLst/>
        </a:prstGeom>
        <a:gradFill rotWithShape="0">
          <a:gsLst>
            <a:gs pos="0">
              <a:schemeClr val="accent5">
                <a:shade val="80000"/>
                <a:hueOff val="0"/>
                <a:satOff val="0"/>
                <a:lumOff val="0"/>
                <a:alphaOff val="0"/>
                <a:tint val="50000"/>
                <a:satMod val="300000"/>
              </a:schemeClr>
            </a:gs>
            <a:gs pos="35000">
              <a:schemeClr val="accent5">
                <a:shade val="80000"/>
                <a:hueOff val="0"/>
                <a:satOff val="0"/>
                <a:lumOff val="0"/>
                <a:alphaOff val="0"/>
                <a:tint val="37000"/>
                <a:satMod val="300000"/>
              </a:schemeClr>
            </a:gs>
            <a:gs pos="100000">
              <a:schemeClr val="accent5">
                <a:shade val="8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5250" tIns="95250" rIns="95250" bIns="95250" numCol="1" spcCol="1270" anchor="ctr" anchorCtr="0">
          <a:noAutofit/>
        </a:bodyPr>
        <a:lstStyle/>
        <a:p>
          <a:pPr lvl="0" algn="l" defTabSz="1111250" rtl="0">
            <a:lnSpc>
              <a:spcPct val="90000"/>
            </a:lnSpc>
            <a:spcBef>
              <a:spcPct val="0"/>
            </a:spcBef>
            <a:spcAft>
              <a:spcPct val="35000"/>
            </a:spcAft>
          </a:pPr>
          <a:r>
            <a:rPr lang="en-US" sz="2500" kern="1200" dirty="0" smtClean="0"/>
            <a:t>Delivery of on-demand computing resources everything from applications to data centers over the Internet on a pay-for-use basis</a:t>
          </a:r>
          <a:endParaRPr lang="en-US" sz="2500" kern="1200" dirty="0"/>
        </a:p>
      </dsp:txBody>
      <dsp:txXfrm>
        <a:off x="0" y="93317"/>
        <a:ext cx="4872251" cy="2047500"/>
      </dsp:txXfrm>
    </dsp:sp>
    <dsp:sp modelId="{C393669E-1306-44BE-8DC8-1E935B0A37C3}">
      <dsp:nvSpPr>
        <dsp:cNvPr id="0" name=""/>
        <dsp:cNvSpPr/>
      </dsp:nvSpPr>
      <dsp:spPr>
        <a:xfrm>
          <a:off x="0" y="2212818"/>
          <a:ext cx="4872251" cy="2047500"/>
        </a:xfrm>
        <a:prstGeom prst="roundRect">
          <a:avLst/>
        </a:prstGeom>
        <a:gradFill rotWithShape="0">
          <a:gsLst>
            <a:gs pos="0">
              <a:schemeClr val="accent5">
                <a:shade val="80000"/>
                <a:hueOff val="554578"/>
                <a:satOff val="-51893"/>
                <a:lumOff val="36590"/>
                <a:alphaOff val="0"/>
                <a:tint val="50000"/>
                <a:satMod val="300000"/>
              </a:schemeClr>
            </a:gs>
            <a:gs pos="35000">
              <a:schemeClr val="accent5">
                <a:shade val="80000"/>
                <a:hueOff val="554578"/>
                <a:satOff val="-51893"/>
                <a:lumOff val="36590"/>
                <a:alphaOff val="0"/>
                <a:tint val="37000"/>
                <a:satMod val="300000"/>
              </a:schemeClr>
            </a:gs>
            <a:gs pos="100000">
              <a:schemeClr val="accent5">
                <a:shade val="80000"/>
                <a:hueOff val="554578"/>
                <a:satOff val="-51893"/>
                <a:lumOff val="3659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5250" tIns="95250" rIns="95250" bIns="95250" numCol="1" spcCol="1270" anchor="ctr" anchorCtr="0">
          <a:noAutofit/>
        </a:bodyPr>
        <a:lstStyle/>
        <a:p>
          <a:pPr lvl="0" algn="l" defTabSz="1111250" rtl="0">
            <a:lnSpc>
              <a:spcPct val="90000"/>
            </a:lnSpc>
            <a:spcBef>
              <a:spcPct val="0"/>
            </a:spcBef>
            <a:spcAft>
              <a:spcPct val="35000"/>
            </a:spcAft>
          </a:pPr>
          <a:r>
            <a:rPr lang="en-US" sz="2500" kern="1200" smtClean="0"/>
            <a:t>Relies on sharing computing resources rather than having local servers or personal devices to handle applications</a:t>
          </a:r>
          <a:endParaRPr lang="en-US" sz="2500" kern="1200" dirty="0"/>
        </a:p>
      </dsp:txBody>
      <dsp:txXfrm>
        <a:off x="0" y="2212818"/>
        <a:ext cx="4872251" cy="2047500"/>
      </dsp:txXfrm>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D282022D-1AAB-49AC-93CC-7231AEAF502C}">
      <dsp:nvSpPr>
        <dsp:cNvPr id="0" name=""/>
        <dsp:cNvSpPr/>
      </dsp:nvSpPr>
      <dsp:spPr>
        <a:xfrm>
          <a:off x="0" y="29658"/>
          <a:ext cx="4057385" cy="1017900"/>
        </a:xfrm>
        <a:prstGeom prst="roundRect">
          <a:avLst/>
        </a:prstGeom>
        <a:solidFill>
          <a:schemeClr val="lt1">
            <a:hueOff val="0"/>
            <a:satOff val="0"/>
            <a:lumOff val="0"/>
            <a:alphaOff val="0"/>
          </a:schemeClr>
        </a:solidFill>
        <a:ln w="25400" cap="flat" cmpd="sng" algn="ctr">
          <a:solidFill>
            <a:schemeClr val="accent5">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rtl="0">
            <a:lnSpc>
              <a:spcPct val="90000"/>
            </a:lnSpc>
            <a:spcBef>
              <a:spcPct val="0"/>
            </a:spcBef>
            <a:spcAft>
              <a:spcPct val="35000"/>
            </a:spcAft>
          </a:pPr>
          <a:r>
            <a:rPr lang="en-US" sz="1500" kern="1200" dirty="0" smtClean="0"/>
            <a:t>A </a:t>
          </a:r>
          <a:r>
            <a:rPr lang="en-US" sz="1500" b="1" kern="1200" dirty="0" smtClean="0"/>
            <a:t>cloud</a:t>
          </a:r>
          <a:r>
            <a:rPr lang="en-US" sz="1500" kern="1200" dirty="0" smtClean="0"/>
            <a:t> refers to a distinct IT environment that is designed for the purpose of remotely provisioning scalable and measured IT resources</a:t>
          </a:r>
          <a:endParaRPr lang="en-US" sz="1500" b="1" kern="1200" dirty="0"/>
        </a:p>
      </dsp:txBody>
      <dsp:txXfrm>
        <a:off x="0" y="29658"/>
        <a:ext cx="4057385" cy="1017900"/>
      </dsp:txXfrm>
    </dsp:sp>
  </dsp:spTree>
</dsp:drawing>
</file>

<file path=ppt/diagrams/drawing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B469A577-F739-4F51-B1AE-26BD2E525A10}">
      <dsp:nvSpPr>
        <dsp:cNvPr id="0" name=""/>
        <dsp:cNvSpPr/>
      </dsp:nvSpPr>
      <dsp:spPr>
        <a:xfrm>
          <a:off x="2821519" y="1155909"/>
          <a:ext cx="1480799" cy="1480981"/>
        </a:xfrm>
        <a:prstGeom prst="ellipse">
          <a:avLst/>
        </a:prstGeom>
        <a:solidFill>
          <a:schemeClr val="accent5">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B9618C3C-53AC-4F60-9AB1-E808BA68E446}">
      <dsp:nvSpPr>
        <dsp:cNvPr id="0" name=""/>
        <dsp:cNvSpPr/>
      </dsp:nvSpPr>
      <dsp:spPr>
        <a:xfrm>
          <a:off x="2713544" y="0"/>
          <a:ext cx="1696749" cy="908020"/>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lvl="0" algn="ctr" defTabSz="977900" rtl="0">
            <a:lnSpc>
              <a:spcPct val="90000"/>
            </a:lnSpc>
            <a:spcBef>
              <a:spcPct val="0"/>
            </a:spcBef>
            <a:spcAft>
              <a:spcPct val="35000"/>
            </a:spcAft>
          </a:pPr>
          <a:r>
            <a:rPr lang="en-US" sz="2200" kern="1200" dirty="0" smtClean="0"/>
            <a:t>Shared Resources</a:t>
          </a:r>
          <a:endParaRPr lang="en-US" sz="2200" kern="1200" dirty="0"/>
        </a:p>
      </dsp:txBody>
      <dsp:txXfrm>
        <a:off x="2713544" y="0"/>
        <a:ext cx="1696749" cy="908020"/>
      </dsp:txXfrm>
    </dsp:sp>
    <dsp:sp modelId="{DFB66475-500F-42A8-81F7-AEED8AA7CD3E}">
      <dsp:nvSpPr>
        <dsp:cNvPr id="0" name=""/>
        <dsp:cNvSpPr/>
      </dsp:nvSpPr>
      <dsp:spPr>
        <a:xfrm>
          <a:off x="3255887" y="1364754"/>
          <a:ext cx="1480799" cy="1480981"/>
        </a:xfrm>
        <a:prstGeom prst="ellipse">
          <a:avLst/>
        </a:prstGeom>
        <a:solidFill>
          <a:schemeClr val="accent5">
            <a:alpha val="50000"/>
            <a:hueOff val="-1316705"/>
            <a:satOff val="-3458"/>
            <a:lumOff val="42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4492965C-0726-42A8-B4A6-CAF6D8F36B95}">
      <dsp:nvSpPr>
        <dsp:cNvPr id="0" name=""/>
        <dsp:cNvSpPr/>
      </dsp:nvSpPr>
      <dsp:spPr>
        <a:xfrm>
          <a:off x="4919318" y="862619"/>
          <a:ext cx="1604199" cy="998822"/>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lvl="0" algn="ctr" defTabSz="977900" rtl="0">
            <a:lnSpc>
              <a:spcPct val="90000"/>
            </a:lnSpc>
            <a:spcBef>
              <a:spcPct val="0"/>
            </a:spcBef>
            <a:spcAft>
              <a:spcPct val="35000"/>
            </a:spcAft>
          </a:pPr>
          <a:r>
            <a:rPr lang="en-US" sz="2200" kern="1200" dirty="0" smtClean="0"/>
            <a:t>Dynamic Scaling</a:t>
          </a:r>
          <a:endParaRPr lang="en-US" sz="2200" kern="1200" dirty="0"/>
        </a:p>
      </dsp:txBody>
      <dsp:txXfrm>
        <a:off x="4919318" y="862619"/>
        <a:ext cx="1604199" cy="998822"/>
      </dsp:txXfrm>
    </dsp:sp>
    <dsp:sp modelId="{DE55D4FE-374F-4DBB-B454-711B474801DF}">
      <dsp:nvSpPr>
        <dsp:cNvPr id="0" name=""/>
        <dsp:cNvSpPr/>
      </dsp:nvSpPr>
      <dsp:spPr>
        <a:xfrm>
          <a:off x="3362628" y="1834655"/>
          <a:ext cx="1480799" cy="1480981"/>
        </a:xfrm>
        <a:prstGeom prst="ellipse">
          <a:avLst/>
        </a:prstGeom>
        <a:solidFill>
          <a:schemeClr val="accent5">
            <a:alpha val="50000"/>
            <a:hueOff val="-2633410"/>
            <a:satOff val="-6917"/>
            <a:lumOff val="85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A9DD5467-E724-4B5D-859E-B08E60676E38}">
      <dsp:nvSpPr>
        <dsp:cNvPr id="0" name=""/>
        <dsp:cNvSpPr/>
      </dsp:nvSpPr>
      <dsp:spPr>
        <a:xfrm>
          <a:off x="5073568" y="2133847"/>
          <a:ext cx="1573349" cy="1066923"/>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lvl="0" algn="ctr" defTabSz="977900" rtl="0">
            <a:lnSpc>
              <a:spcPct val="90000"/>
            </a:lnSpc>
            <a:spcBef>
              <a:spcPct val="0"/>
            </a:spcBef>
            <a:spcAft>
              <a:spcPct val="35000"/>
            </a:spcAft>
          </a:pPr>
          <a:r>
            <a:rPr lang="en-US" sz="2200" kern="1200" dirty="0" smtClean="0"/>
            <a:t>Pay as you Use</a:t>
          </a:r>
          <a:endParaRPr lang="en-US" sz="2200" kern="1200" dirty="0"/>
        </a:p>
      </dsp:txBody>
      <dsp:txXfrm>
        <a:off x="5073568" y="2133847"/>
        <a:ext cx="1573349" cy="1066923"/>
      </dsp:txXfrm>
    </dsp:sp>
    <dsp:sp modelId="{CD9EC061-4362-4C99-8F62-E820335CC632}">
      <dsp:nvSpPr>
        <dsp:cNvPr id="0" name=""/>
        <dsp:cNvSpPr/>
      </dsp:nvSpPr>
      <dsp:spPr>
        <a:xfrm>
          <a:off x="3062149" y="2211483"/>
          <a:ext cx="1480799" cy="1480981"/>
        </a:xfrm>
        <a:prstGeom prst="ellipse">
          <a:avLst/>
        </a:prstGeom>
        <a:solidFill>
          <a:schemeClr val="accent5">
            <a:alpha val="50000"/>
            <a:hueOff val="-3950115"/>
            <a:satOff val="-10375"/>
            <a:lumOff val="127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71717596-74AE-4E89-8C66-2F9BE4013664}">
      <dsp:nvSpPr>
        <dsp:cNvPr id="0" name=""/>
        <dsp:cNvSpPr/>
      </dsp:nvSpPr>
      <dsp:spPr>
        <a:xfrm>
          <a:off x="4394868" y="3563980"/>
          <a:ext cx="1696749" cy="976121"/>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lvl="0" algn="ctr" defTabSz="977900" rtl="0">
            <a:lnSpc>
              <a:spcPct val="90000"/>
            </a:lnSpc>
            <a:spcBef>
              <a:spcPct val="0"/>
            </a:spcBef>
            <a:spcAft>
              <a:spcPct val="35000"/>
            </a:spcAft>
          </a:pPr>
          <a:r>
            <a:rPr lang="en-US" sz="2200" kern="1200" dirty="0" smtClean="0"/>
            <a:t>High Availability</a:t>
          </a:r>
          <a:endParaRPr lang="en-US" sz="2200" kern="1200" dirty="0"/>
        </a:p>
      </dsp:txBody>
      <dsp:txXfrm>
        <a:off x="4394868" y="3563980"/>
        <a:ext cx="1696749" cy="976121"/>
      </dsp:txXfrm>
    </dsp:sp>
    <dsp:sp modelId="{3F0AD8C3-8A15-4413-8399-CBF1C800F9AD}">
      <dsp:nvSpPr>
        <dsp:cNvPr id="0" name=""/>
        <dsp:cNvSpPr/>
      </dsp:nvSpPr>
      <dsp:spPr>
        <a:xfrm>
          <a:off x="2580889" y="2211483"/>
          <a:ext cx="1480799" cy="1480981"/>
        </a:xfrm>
        <a:prstGeom prst="ellipse">
          <a:avLst/>
        </a:prstGeom>
        <a:solidFill>
          <a:schemeClr val="accent5">
            <a:alpha val="50000"/>
            <a:hueOff val="-5266820"/>
            <a:satOff val="-13833"/>
            <a:lumOff val="169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63A54FD8-193A-421D-B84D-CA0535C3F386}">
      <dsp:nvSpPr>
        <dsp:cNvPr id="0" name=""/>
        <dsp:cNvSpPr/>
      </dsp:nvSpPr>
      <dsp:spPr>
        <a:xfrm>
          <a:off x="1032219" y="3563980"/>
          <a:ext cx="1696749" cy="976121"/>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lvl="0" algn="ctr" defTabSz="977900" rtl="0">
            <a:lnSpc>
              <a:spcPct val="90000"/>
            </a:lnSpc>
            <a:spcBef>
              <a:spcPct val="0"/>
            </a:spcBef>
            <a:spcAft>
              <a:spcPct val="35000"/>
            </a:spcAft>
          </a:pPr>
          <a:r>
            <a:rPr lang="en-US" sz="2200" kern="1200" dirty="0" smtClean="0"/>
            <a:t>High Productivity</a:t>
          </a:r>
          <a:endParaRPr lang="en-US" sz="2200" kern="1200" dirty="0"/>
        </a:p>
      </dsp:txBody>
      <dsp:txXfrm>
        <a:off x="1032219" y="3563980"/>
        <a:ext cx="1696749" cy="976121"/>
      </dsp:txXfrm>
    </dsp:sp>
    <dsp:sp modelId="{09702C5A-4853-43C7-9132-FAE7199B819E}">
      <dsp:nvSpPr>
        <dsp:cNvPr id="0" name=""/>
        <dsp:cNvSpPr/>
      </dsp:nvSpPr>
      <dsp:spPr>
        <a:xfrm>
          <a:off x="2280410" y="1834655"/>
          <a:ext cx="1480799" cy="1480981"/>
        </a:xfrm>
        <a:prstGeom prst="ellipse">
          <a:avLst/>
        </a:prstGeom>
        <a:solidFill>
          <a:schemeClr val="accent5">
            <a:alpha val="50000"/>
            <a:hueOff val="-6583524"/>
            <a:satOff val="-17292"/>
            <a:lumOff val="212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0E8B9054-5098-4752-9960-C42AF6A77C32}">
      <dsp:nvSpPr>
        <dsp:cNvPr id="0" name=""/>
        <dsp:cNvSpPr/>
      </dsp:nvSpPr>
      <dsp:spPr>
        <a:xfrm>
          <a:off x="476919" y="2133847"/>
          <a:ext cx="1573349" cy="1066923"/>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lvl="0" algn="ctr" defTabSz="977900" rtl="0">
            <a:lnSpc>
              <a:spcPct val="90000"/>
            </a:lnSpc>
            <a:spcBef>
              <a:spcPct val="0"/>
            </a:spcBef>
            <a:spcAft>
              <a:spcPct val="35000"/>
            </a:spcAft>
          </a:pPr>
          <a:r>
            <a:rPr lang="en-US" sz="2200" kern="1200" dirty="0" smtClean="0"/>
            <a:t>Environment friendly</a:t>
          </a:r>
          <a:endParaRPr lang="en-US" sz="2200" kern="1200" dirty="0"/>
        </a:p>
      </dsp:txBody>
      <dsp:txXfrm>
        <a:off x="476919" y="2133847"/>
        <a:ext cx="1573349" cy="1066923"/>
      </dsp:txXfrm>
    </dsp:sp>
    <dsp:sp modelId="{C138A083-EFB3-4486-B69F-0FAE958B2244}">
      <dsp:nvSpPr>
        <dsp:cNvPr id="0" name=""/>
        <dsp:cNvSpPr/>
      </dsp:nvSpPr>
      <dsp:spPr>
        <a:xfrm>
          <a:off x="2387151" y="1364754"/>
          <a:ext cx="1480799" cy="1480981"/>
        </a:xfrm>
        <a:prstGeom prst="ellipse">
          <a:avLst/>
        </a:prstGeom>
        <a:solidFill>
          <a:schemeClr val="accent5">
            <a:alpha val="50000"/>
            <a:hueOff val="-7900229"/>
            <a:satOff val="-20750"/>
            <a:lumOff val="254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8DD6306D-6155-45A6-BC0F-4095725FC0D0}">
      <dsp:nvSpPr>
        <dsp:cNvPr id="0" name=""/>
        <dsp:cNvSpPr/>
      </dsp:nvSpPr>
      <dsp:spPr>
        <a:xfrm>
          <a:off x="600319" y="862619"/>
          <a:ext cx="1604199" cy="998822"/>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lvl="0" algn="ctr" defTabSz="977900" rtl="0">
            <a:lnSpc>
              <a:spcPct val="90000"/>
            </a:lnSpc>
            <a:spcBef>
              <a:spcPct val="0"/>
            </a:spcBef>
            <a:spcAft>
              <a:spcPct val="35000"/>
            </a:spcAft>
          </a:pPr>
          <a:r>
            <a:rPr lang="en-US" sz="2200" kern="1200" dirty="0" smtClean="0"/>
            <a:t>Less Deployment Time</a:t>
          </a:r>
          <a:endParaRPr lang="en-US" sz="2200" kern="1200" dirty="0"/>
        </a:p>
      </dsp:txBody>
      <dsp:txXfrm>
        <a:off x="600319" y="862619"/>
        <a:ext cx="1604199" cy="998822"/>
      </dsp:txXfrm>
    </dsp:sp>
  </dsp:spTree>
</dsp:drawing>
</file>

<file path=ppt/diagrams/drawing4.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FD632726-0A68-400F-A2DB-57C986B242FA}">
      <dsp:nvSpPr>
        <dsp:cNvPr id="0" name=""/>
        <dsp:cNvSpPr/>
      </dsp:nvSpPr>
      <dsp:spPr>
        <a:xfrm rot="16200000">
          <a:off x="1333" y="-1333"/>
          <a:ext cx="2200940" cy="2203607"/>
        </a:xfrm>
        <a:prstGeom prst="flowChartManualOperation">
          <a:avLst/>
        </a:prstGeom>
        <a:solidFill>
          <a:schemeClr val="lt1">
            <a:hueOff val="0"/>
            <a:satOff val="0"/>
            <a:lumOff val="0"/>
            <a:alphaOff val="0"/>
          </a:schemeClr>
        </a:solidFill>
        <a:ln>
          <a:noFill/>
        </a:ln>
        <a:effectLst>
          <a:outerShdw blurRad="40000" dist="23000" dir="5400000" rotWithShape="0">
            <a:srgbClr val="000000">
              <a:alpha val="35000"/>
            </a:srgbClr>
          </a:outerShdw>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298450" tIns="0" rIns="297577" bIns="0" numCol="1" spcCol="1270" anchor="ctr" anchorCtr="0">
          <a:noAutofit/>
          <a:sp3d extrusionH="28000" prstMaterial="matte"/>
        </a:bodyPr>
        <a:lstStyle/>
        <a:p>
          <a:pPr lvl="0" algn="ctr" defTabSz="2089150" rtl="0">
            <a:lnSpc>
              <a:spcPct val="90000"/>
            </a:lnSpc>
            <a:spcBef>
              <a:spcPct val="0"/>
            </a:spcBef>
            <a:spcAft>
              <a:spcPct val="35000"/>
            </a:spcAft>
          </a:pPr>
          <a:r>
            <a:rPr lang="en-US" sz="4700" kern="1200" dirty="0" smtClean="0"/>
            <a:t>IAAS</a:t>
          </a:r>
          <a:endParaRPr lang="en-US" sz="4700" kern="1200" dirty="0"/>
        </a:p>
      </dsp:txBody>
      <dsp:txXfrm rot="16200000">
        <a:off x="1333" y="-1333"/>
        <a:ext cx="2200940" cy="2203607"/>
      </dsp:txXfrm>
    </dsp:sp>
    <dsp:sp modelId="{F2BD6456-6370-4C31-8633-656A9BE0DAA4}">
      <dsp:nvSpPr>
        <dsp:cNvPr id="0" name=""/>
        <dsp:cNvSpPr/>
      </dsp:nvSpPr>
      <dsp:spPr>
        <a:xfrm rot="16200000">
          <a:off x="2371060" y="-1333"/>
          <a:ext cx="2200940" cy="2203607"/>
        </a:xfrm>
        <a:prstGeom prst="flowChartManualOperation">
          <a:avLst/>
        </a:prstGeom>
        <a:solidFill>
          <a:schemeClr val="lt1">
            <a:hueOff val="0"/>
            <a:satOff val="0"/>
            <a:lumOff val="0"/>
            <a:alphaOff val="0"/>
          </a:schemeClr>
        </a:solidFill>
        <a:ln>
          <a:noFill/>
        </a:ln>
        <a:effectLst>
          <a:outerShdw blurRad="40000" dist="23000" dir="5400000" rotWithShape="0">
            <a:srgbClr val="000000">
              <a:alpha val="35000"/>
            </a:srgbClr>
          </a:outerShdw>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298450" tIns="0" rIns="297577" bIns="0" numCol="1" spcCol="1270" anchor="ctr" anchorCtr="0">
          <a:noAutofit/>
          <a:sp3d extrusionH="28000" prstMaterial="matte"/>
        </a:bodyPr>
        <a:lstStyle/>
        <a:p>
          <a:pPr lvl="0" algn="ctr" defTabSz="2089150" rtl="0">
            <a:lnSpc>
              <a:spcPct val="90000"/>
            </a:lnSpc>
            <a:spcBef>
              <a:spcPct val="0"/>
            </a:spcBef>
            <a:spcAft>
              <a:spcPct val="35000"/>
            </a:spcAft>
          </a:pPr>
          <a:r>
            <a:rPr lang="en-US" sz="4700" kern="1200" dirty="0" smtClean="0"/>
            <a:t>PAAS</a:t>
          </a:r>
          <a:endParaRPr lang="en-US" sz="4700" kern="1200" dirty="0"/>
        </a:p>
      </dsp:txBody>
      <dsp:txXfrm rot="16200000">
        <a:off x="2371060" y="-1333"/>
        <a:ext cx="2200940" cy="2203607"/>
      </dsp:txXfrm>
    </dsp:sp>
    <dsp:sp modelId="{FED0CD5D-C864-42D3-818A-547CEA0E4259}">
      <dsp:nvSpPr>
        <dsp:cNvPr id="0" name=""/>
        <dsp:cNvSpPr/>
      </dsp:nvSpPr>
      <dsp:spPr>
        <a:xfrm rot="16200000">
          <a:off x="4739938" y="-1333"/>
          <a:ext cx="2200940" cy="2203607"/>
        </a:xfrm>
        <a:prstGeom prst="flowChartManualOperation">
          <a:avLst/>
        </a:prstGeom>
        <a:solidFill>
          <a:schemeClr val="lt1">
            <a:hueOff val="0"/>
            <a:satOff val="0"/>
            <a:lumOff val="0"/>
            <a:alphaOff val="0"/>
          </a:schemeClr>
        </a:solidFill>
        <a:ln>
          <a:noFill/>
        </a:ln>
        <a:effectLst>
          <a:outerShdw blurRad="40000" dist="23000" dir="5400000" rotWithShape="0">
            <a:srgbClr val="000000">
              <a:alpha val="35000"/>
            </a:srgbClr>
          </a:outerShdw>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298450" tIns="0" rIns="297577" bIns="0" numCol="1" spcCol="1270" anchor="ctr" anchorCtr="0">
          <a:noAutofit/>
          <a:sp3d extrusionH="28000" prstMaterial="matte"/>
        </a:bodyPr>
        <a:lstStyle/>
        <a:p>
          <a:pPr lvl="0" algn="ctr" defTabSz="2089150" rtl="0">
            <a:lnSpc>
              <a:spcPct val="90000"/>
            </a:lnSpc>
            <a:spcBef>
              <a:spcPct val="0"/>
            </a:spcBef>
            <a:spcAft>
              <a:spcPct val="35000"/>
            </a:spcAft>
          </a:pPr>
          <a:r>
            <a:rPr lang="en-US" sz="4700" kern="1200" dirty="0" smtClean="0"/>
            <a:t>SAAS</a:t>
          </a:r>
          <a:endParaRPr lang="en-US" sz="4700" kern="1200" dirty="0"/>
        </a:p>
      </dsp:txBody>
      <dsp:txXfrm rot="16200000">
        <a:off x="4739938" y="-1333"/>
        <a:ext cx="2200940" cy="2203607"/>
      </dsp:txXfrm>
    </dsp:sp>
  </dsp:spTree>
</dsp:drawing>
</file>

<file path=ppt/diagrams/drawing5.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FD632726-0A68-400F-A2DB-57C986B242FA}">
      <dsp:nvSpPr>
        <dsp:cNvPr id="0" name=""/>
        <dsp:cNvSpPr/>
      </dsp:nvSpPr>
      <dsp:spPr>
        <a:xfrm rot="16200000">
          <a:off x="2181" y="-1333"/>
          <a:ext cx="2200940" cy="2203607"/>
        </a:xfrm>
        <a:prstGeom prst="flowChartManualOperation">
          <a:avLst/>
        </a:prstGeom>
        <a:solidFill>
          <a:schemeClr val="lt1">
            <a:hueOff val="0"/>
            <a:satOff val="0"/>
            <a:lumOff val="0"/>
            <a:alphaOff val="0"/>
          </a:schemeClr>
        </a:solidFill>
        <a:ln>
          <a:noFill/>
        </a:ln>
        <a:effectLst>
          <a:outerShdw blurRad="40000" dist="23000" dir="5400000" rotWithShape="0">
            <a:srgbClr val="000000">
              <a:alpha val="35000"/>
            </a:srgbClr>
          </a:outerShdw>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266700" tIns="0" rIns="269131" bIns="0" numCol="1" spcCol="1270" anchor="ctr" anchorCtr="0">
          <a:noAutofit/>
          <a:sp3d extrusionH="28000" prstMaterial="matte"/>
        </a:bodyPr>
        <a:lstStyle/>
        <a:p>
          <a:pPr lvl="0" algn="ctr" defTabSz="1866900" rtl="0">
            <a:lnSpc>
              <a:spcPct val="90000"/>
            </a:lnSpc>
            <a:spcBef>
              <a:spcPct val="0"/>
            </a:spcBef>
            <a:spcAft>
              <a:spcPct val="35000"/>
            </a:spcAft>
          </a:pPr>
          <a:r>
            <a:rPr lang="en-US" sz="4200" kern="1200" dirty="0" smtClean="0"/>
            <a:t>Public</a:t>
          </a:r>
          <a:endParaRPr lang="en-US" sz="4200" kern="1200" dirty="0"/>
        </a:p>
      </dsp:txBody>
      <dsp:txXfrm rot="16200000">
        <a:off x="2181" y="-1333"/>
        <a:ext cx="2200940" cy="2203607"/>
      </dsp:txXfrm>
    </dsp:sp>
    <dsp:sp modelId="{F2BD6456-6370-4C31-8633-656A9BE0DAA4}">
      <dsp:nvSpPr>
        <dsp:cNvPr id="0" name=""/>
        <dsp:cNvSpPr/>
      </dsp:nvSpPr>
      <dsp:spPr>
        <a:xfrm rot="16200000">
          <a:off x="2371060" y="-1333"/>
          <a:ext cx="2200940" cy="2203607"/>
        </a:xfrm>
        <a:prstGeom prst="flowChartManualOperation">
          <a:avLst/>
        </a:prstGeom>
        <a:solidFill>
          <a:schemeClr val="lt1">
            <a:hueOff val="0"/>
            <a:satOff val="0"/>
            <a:lumOff val="0"/>
            <a:alphaOff val="0"/>
          </a:schemeClr>
        </a:solidFill>
        <a:ln>
          <a:noFill/>
        </a:ln>
        <a:effectLst>
          <a:outerShdw blurRad="40000" dist="23000" dir="5400000" rotWithShape="0">
            <a:srgbClr val="000000">
              <a:alpha val="35000"/>
            </a:srgbClr>
          </a:outerShdw>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266700" tIns="0" rIns="269131" bIns="0" numCol="1" spcCol="1270" anchor="ctr" anchorCtr="0">
          <a:noAutofit/>
          <a:sp3d extrusionH="28000" prstMaterial="matte"/>
        </a:bodyPr>
        <a:lstStyle/>
        <a:p>
          <a:pPr lvl="0" algn="ctr" defTabSz="1866900" rtl="0">
            <a:lnSpc>
              <a:spcPct val="90000"/>
            </a:lnSpc>
            <a:spcBef>
              <a:spcPct val="0"/>
            </a:spcBef>
            <a:spcAft>
              <a:spcPct val="35000"/>
            </a:spcAft>
          </a:pPr>
          <a:r>
            <a:rPr lang="en-US" sz="4200" kern="1200" dirty="0" smtClean="0"/>
            <a:t>Private</a:t>
          </a:r>
          <a:endParaRPr lang="en-US" sz="4200" kern="1200" dirty="0"/>
        </a:p>
      </dsp:txBody>
      <dsp:txXfrm rot="16200000">
        <a:off x="2371060" y="-1333"/>
        <a:ext cx="2200940" cy="2203607"/>
      </dsp:txXfrm>
    </dsp:sp>
    <dsp:sp modelId="{FED0CD5D-C864-42D3-818A-547CEA0E4259}">
      <dsp:nvSpPr>
        <dsp:cNvPr id="0" name=""/>
        <dsp:cNvSpPr/>
      </dsp:nvSpPr>
      <dsp:spPr>
        <a:xfrm rot="16200000">
          <a:off x="4739938" y="-1333"/>
          <a:ext cx="2200940" cy="2203607"/>
        </a:xfrm>
        <a:prstGeom prst="flowChartManualOperation">
          <a:avLst/>
        </a:prstGeom>
        <a:solidFill>
          <a:schemeClr val="lt1">
            <a:hueOff val="0"/>
            <a:satOff val="0"/>
            <a:lumOff val="0"/>
            <a:alphaOff val="0"/>
          </a:schemeClr>
        </a:solidFill>
        <a:ln>
          <a:noFill/>
        </a:ln>
        <a:effectLst>
          <a:outerShdw blurRad="40000" dist="23000" dir="5400000" rotWithShape="0">
            <a:srgbClr val="000000">
              <a:alpha val="35000"/>
            </a:srgbClr>
          </a:outerShdw>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266700" tIns="0" rIns="269131" bIns="0" numCol="1" spcCol="1270" anchor="ctr" anchorCtr="0">
          <a:noAutofit/>
          <a:sp3d extrusionH="28000" prstMaterial="matte"/>
        </a:bodyPr>
        <a:lstStyle/>
        <a:p>
          <a:pPr lvl="0" algn="ctr" defTabSz="1866900" rtl="0">
            <a:lnSpc>
              <a:spcPct val="90000"/>
            </a:lnSpc>
            <a:spcBef>
              <a:spcPct val="0"/>
            </a:spcBef>
            <a:spcAft>
              <a:spcPct val="35000"/>
            </a:spcAft>
          </a:pPr>
          <a:r>
            <a:rPr lang="en-US" sz="4200" kern="1200" dirty="0" smtClean="0"/>
            <a:t>Hybrid</a:t>
          </a:r>
          <a:endParaRPr lang="en-US" sz="4200" kern="1200" dirty="0"/>
        </a:p>
      </dsp:txBody>
      <dsp:txXfrm rot="16200000">
        <a:off x="4739938" y="-1333"/>
        <a:ext cx="2200940" cy="2203607"/>
      </dsp:txXfrm>
    </dsp:sp>
  </dsp:spTree>
</dsp:drawing>
</file>

<file path=ppt/diagrams/drawing6.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FCD09278-1E4F-49AC-8D42-0C94E7D4BCC4}">
      <dsp:nvSpPr>
        <dsp:cNvPr id="0" name=""/>
        <dsp:cNvSpPr/>
      </dsp:nvSpPr>
      <dsp:spPr>
        <a:xfrm>
          <a:off x="0" y="43362"/>
          <a:ext cx="10132827" cy="680953"/>
        </a:xfrm>
        <a:prstGeom prst="roundRect">
          <a:avLst/>
        </a:prstGeom>
        <a:solidFill>
          <a:schemeClr val="lt1">
            <a:hueOff val="0"/>
            <a:satOff val="0"/>
            <a:lumOff val="0"/>
            <a:alphaOff val="0"/>
          </a:schemeClr>
        </a:solidFill>
        <a:ln w="25400" cap="flat" cmpd="sng" algn="ctr">
          <a:solidFill>
            <a:schemeClr val="accent5">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l" defTabSz="622300" rtl="0">
            <a:lnSpc>
              <a:spcPct val="90000"/>
            </a:lnSpc>
            <a:spcBef>
              <a:spcPct val="0"/>
            </a:spcBef>
            <a:spcAft>
              <a:spcPct val="35000"/>
            </a:spcAft>
          </a:pPr>
          <a:r>
            <a:rPr lang="en-US" sz="1400" b="1" kern="1200" dirty="0" smtClean="0"/>
            <a:t>What Is 12 Factor? </a:t>
          </a:r>
          <a:endParaRPr lang="en-US" sz="1400" b="1" kern="1200" dirty="0"/>
        </a:p>
      </dsp:txBody>
      <dsp:txXfrm>
        <a:off x="0" y="43362"/>
        <a:ext cx="10132827" cy="680953"/>
      </dsp:txXfrm>
    </dsp:sp>
    <dsp:sp modelId="{49B53DC7-FD5C-40CD-882D-E1547E86832C}">
      <dsp:nvSpPr>
        <dsp:cNvPr id="0" name=""/>
        <dsp:cNvSpPr/>
      </dsp:nvSpPr>
      <dsp:spPr>
        <a:xfrm>
          <a:off x="0" y="695232"/>
          <a:ext cx="10132827" cy="680953"/>
        </a:xfrm>
        <a:prstGeom prst="roundRect">
          <a:avLst/>
        </a:prstGeom>
        <a:solidFill>
          <a:schemeClr val="lt1">
            <a:hueOff val="0"/>
            <a:satOff val="0"/>
            <a:lumOff val="0"/>
            <a:alphaOff val="0"/>
          </a:schemeClr>
        </a:solidFill>
        <a:ln w="25400" cap="flat" cmpd="sng" algn="ctr">
          <a:solidFill>
            <a:schemeClr val="accent5">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l" defTabSz="622300" rtl="0">
            <a:lnSpc>
              <a:spcPct val="90000"/>
            </a:lnSpc>
            <a:spcBef>
              <a:spcPct val="0"/>
            </a:spcBef>
            <a:spcAft>
              <a:spcPct val="35000"/>
            </a:spcAft>
          </a:pPr>
          <a:r>
            <a:rPr lang="en-US" sz="1400" kern="1200" dirty="0" smtClean="0"/>
            <a:t>The twelve-factor app is a methodology for building Cloud Native apps that has clean contract with underlying operating system, enable continuous deployment with maximum agility, significant scale up capability, and Independent of programming languages and back end services</a:t>
          </a:r>
          <a:endParaRPr lang="en-US" sz="1400" kern="1200" dirty="0"/>
        </a:p>
      </dsp:txBody>
      <dsp:txXfrm>
        <a:off x="0" y="695232"/>
        <a:ext cx="10132827" cy="680953"/>
      </dsp:txXfrm>
    </dsp:sp>
    <dsp:sp modelId="{B6C1AFA0-ABC5-4D6D-9A1A-4DF4673F4F63}">
      <dsp:nvSpPr>
        <dsp:cNvPr id="0" name=""/>
        <dsp:cNvSpPr/>
      </dsp:nvSpPr>
      <dsp:spPr>
        <a:xfrm>
          <a:off x="0" y="1389489"/>
          <a:ext cx="10132827" cy="680953"/>
        </a:xfrm>
        <a:prstGeom prst="roundRect">
          <a:avLst/>
        </a:prstGeom>
        <a:solidFill>
          <a:schemeClr val="lt1">
            <a:hueOff val="0"/>
            <a:satOff val="0"/>
            <a:lumOff val="0"/>
            <a:alphaOff val="0"/>
          </a:schemeClr>
        </a:solidFill>
        <a:ln w="25400" cap="flat" cmpd="sng" algn="ctr">
          <a:solidFill>
            <a:schemeClr val="accent5">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l" defTabSz="622300" rtl="0">
            <a:lnSpc>
              <a:spcPct val="90000"/>
            </a:lnSpc>
            <a:spcBef>
              <a:spcPct val="0"/>
            </a:spcBef>
            <a:spcAft>
              <a:spcPct val="35000"/>
            </a:spcAft>
          </a:pPr>
          <a:r>
            <a:rPr lang="en-US" sz="1400" kern="1200" dirty="0" smtClean="0"/>
            <a:t>This is derived by </a:t>
          </a:r>
          <a:r>
            <a:rPr lang="en-US" sz="1400" kern="1200" dirty="0" err="1" smtClean="0"/>
            <a:t>Heroku</a:t>
          </a:r>
          <a:r>
            <a:rPr lang="en-US" sz="1400" kern="1200" dirty="0" smtClean="0"/>
            <a:t> (a Sales Force </a:t>
          </a:r>
          <a:r>
            <a:rPr lang="en-US" sz="1400" kern="1200" dirty="0" err="1" smtClean="0"/>
            <a:t>PaaS</a:t>
          </a:r>
          <a:r>
            <a:rPr lang="en-US" sz="1400" kern="1200" dirty="0" smtClean="0"/>
            <a:t> platform) after witnessing thousands of applications development &amp; deployments in cloud.</a:t>
          </a:r>
          <a:endParaRPr lang="en-US" sz="1400" kern="1200" dirty="0"/>
        </a:p>
      </dsp:txBody>
      <dsp:txXfrm>
        <a:off x="0" y="1389489"/>
        <a:ext cx="10132827" cy="680953"/>
      </dsp:txXfrm>
    </dsp:sp>
    <dsp:sp modelId="{12AFA56D-D7A5-458F-A84D-31AACD01CD07}">
      <dsp:nvSpPr>
        <dsp:cNvPr id="0" name=""/>
        <dsp:cNvSpPr/>
      </dsp:nvSpPr>
      <dsp:spPr>
        <a:xfrm>
          <a:off x="0" y="2083746"/>
          <a:ext cx="10132827" cy="680953"/>
        </a:xfrm>
        <a:prstGeom prst="roundRect">
          <a:avLst/>
        </a:prstGeom>
        <a:solidFill>
          <a:schemeClr val="lt1">
            <a:hueOff val="0"/>
            <a:satOff val="0"/>
            <a:lumOff val="0"/>
            <a:alphaOff val="0"/>
          </a:schemeClr>
        </a:solidFill>
        <a:ln w="25400" cap="flat" cmpd="sng" algn="ctr">
          <a:solidFill>
            <a:schemeClr val="accent5">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l" defTabSz="622300" rtl="0">
            <a:lnSpc>
              <a:spcPct val="90000"/>
            </a:lnSpc>
            <a:spcBef>
              <a:spcPct val="0"/>
            </a:spcBef>
            <a:spcAft>
              <a:spcPct val="35000"/>
            </a:spcAft>
          </a:pPr>
          <a:r>
            <a:rPr lang="en-US" sz="1400" kern="1200" dirty="0" smtClean="0"/>
            <a:t>Read more @http://12factor.net/</a:t>
          </a:r>
          <a:endParaRPr lang="en-US" sz="1400" kern="1200" dirty="0"/>
        </a:p>
      </dsp:txBody>
      <dsp:txXfrm>
        <a:off x="0" y="2083746"/>
        <a:ext cx="10132827" cy="680953"/>
      </dsp:txXfrm>
    </dsp:sp>
    <dsp:sp modelId="{4ADEDA7A-DC3E-488B-8E9A-4157232B2311}">
      <dsp:nvSpPr>
        <dsp:cNvPr id="0" name=""/>
        <dsp:cNvSpPr/>
      </dsp:nvSpPr>
      <dsp:spPr>
        <a:xfrm>
          <a:off x="0" y="2778003"/>
          <a:ext cx="10132827" cy="680953"/>
        </a:xfrm>
        <a:prstGeom prst="roundRect">
          <a:avLst/>
        </a:prstGeom>
        <a:solidFill>
          <a:schemeClr val="lt1">
            <a:hueOff val="0"/>
            <a:satOff val="0"/>
            <a:lumOff val="0"/>
            <a:alphaOff val="0"/>
          </a:schemeClr>
        </a:solidFill>
        <a:ln w="25400" cap="flat" cmpd="sng" algn="ctr">
          <a:solidFill>
            <a:schemeClr val="accent5">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l" defTabSz="622300" rtl="0">
            <a:lnSpc>
              <a:spcPct val="90000"/>
            </a:lnSpc>
            <a:spcBef>
              <a:spcPct val="0"/>
            </a:spcBef>
            <a:spcAft>
              <a:spcPct val="35000"/>
            </a:spcAft>
          </a:pPr>
          <a:r>
            <a:rPr lang="en-US" sz="1400" b="1" kern="1200" dirty="0" smtClean="0"/>
            <a:t>Why 12 Factor?</a:t>
          </a:r>
          <a:endParaRPr lang="en-US" sz="1400" b="1" kern="1200" dirty="0"/>
        </a:p>
      </dsp:txBody>
      <dsp:txXfrm>
        <a:off x="0" y="2778003"/>
        <a:ext cx="10132827" cy="680953"/>
      </dsp:txXfrm>
    </dsp:sp>
    <dsp:sp modelId="{63F5A3BB-ADB9-448B-945D-4B65469FEEFE}">
      <dsp:nvSpPr>
        <dsp:cNvPr id="0" name=""/>
        <dsp:cNvSpPr/>
      </dsp:nvSpPr>
      <dsp:spPr>
        <a:xfrm>
          <a:off x="0" y="3472260"/>
          <a:ext cx="10132827" cy="680953"/>
        </a:xfrm>
        <a:prstGeom prst="roundRect">
          <a:avLst/>
        </a:prstGeom>
        <a:solidFill>
          <a:schemeClr val="lt1">
            <a:hueOff val="0"/>
            <a:satOff val="0"/>
            <a:lumOff val="0"/>
            <a:alphaOff val="0"/>
          </a:schemeClr>
        </a:solidFill>
        <a:ln w="25400" cap="flat" cmpd="sng" algn="ctr">
          <a:solidFill>
            <a:schemeClr val="accent5">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l" defTabSz="622300" rtl="0">
            <a:lnSpc>
              <a:spcPct val="90000"/>
            </a:lnSpc>
            <a:spcBef>
              <a:spcPct val="0"/>
            </a:spcBef>
            <a:spcAft>
              <a:spcPct val="35000"/>
            </a:spcAft>
          </a:pPr>
          <a:r>
            <a:rPr lang="en-US" sz="1400" kern="1200" dirty="0" smtClean="0"/>
            <a:t>Good code fails if you don’t have a process and platforms. Complexity increases if you have diverse programming environments. Applying certain constraints will help adequately track, use and share the applications easily – that’s why 12 factor app is popular in cloud development.</a:t>
          </a:r>
          <a:endParaRPr lang="en-US" sz="1400" kern="1200" dirty="0"/>
        </a:p>
      </dsp:txBody>
      <dsp:txXfrm>
        <a:off x="0" y="3472260"/>
        <a:ext cx="10132827" cy="680953"/>
      </dsp:txXfrm>
    </dsp:sp>
    <dsp:sp modelId="{F9EF2214-B512-4069-A6FB-E5C4278F793B}">
      <dsp:nvSpPr>
        <dsp:cNvPr id="0" name=""/>
        <dsp:cNvSpPr/>
      </dsp:nvSpPr>
      <dsp:spPr>
        <a:xfrm>
          <a:off x="0" y="4166517"/>
          <a:ext cx="10132827" cy="680953"/>
        </a:xfrm>
        <a:prstGeom prst="roundRect">
          <a:avLst/>
        </a:prstGeom>
        <a:solidFill>
          <a:schemeClr val="lt1">
            <a:hueOff val="0"/>
            <a:satOff val="0"/>
            <a:lumOff val="0"/>
            <a:alphaOff val="0"/>
          </a:schemeClr>
        </a:solidFill>
        <a:ln w="25400" cap="flat" cmpd="sng" algn="ctr">
          <a:solidFill>
            <a:schemeClr val="accent5">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l" defTabSz="622300" rtl="0">
            <a:lnSpc>
              <a:spcPct val="90000"/>
            </a:lnSpc>
            <a:spcBef>
              <a:spcPct val="0"/>
            </a:spcBef>
            <a:spcAft>
              <a:spcPct val="35000"/>
            </a:spcAft>
          </a:pPr>
          <a:r>
            <a:rPr lang="en-US" sz="1400" kern="1200" dirty="0" smtClean="0"/>
            <a:t>Its build to exploit the modern cloud platforms principles with agility in mind and so easy for new developers to join with less time, less tooling and low cost </a:t>
          </a:r>
          <a:endParaRPr lang="en-US" sz="1400" kern="1200" dirty="0"/>
        </a:p>
      </dsp:txBody>
      <dsp:txXfrm>
        <a:off x="0" y="4166517"/>
        <a:ext cx="10132827" cy="680953"/>
      </dsp:txXfrm>
    </dsp:sp>
  </dsp:spTree>
</dsp:drawing>
</file>

<file path=ppt/diagrams/drawing7.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306DBF75-F2A1-4FB6-9E8F-65A648D27EA3}">
      <dsp:nvSpPr>
        <dsp:cNvPr id="0" name=""/>
        <dsp:cNvSpPr/>
      </dsp:nvSpPr>
      <dsp:spPr>
        <a:xfrm>
          <a:off x="0" y="0"/>
          <a:ext cx="9875520" cy="0"/>
        </a:xfrm>
        <a:prstGeom prst="line">
          <a:avLst/>
        </a:prstGeom>
        <a:solidFill>
          <a:schemeClr val="accent3">
            <a:shade val="80000"/>
            <a:hueOff val="0"/>
            <a:satOff val="0"/>
            <a:lumOff val="0"/>
            <a:alphaOff val="0"/>
          </a:schemeClr>
        </a:solidFill>
        <a:ln w="25400" cap="flat" cmpd="sng" algn="ctr">
          <a:solidFill>
            <a:schemeClr val="accent3">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D36D92B-BB4C-48EF-8A22-53A7FA49DB1D}">
      <dsp:nvSpPr>
        <dsp:cNvPr id="0" name=""/>
        <dsp:cNvSpPr/>
      </dsp:nvSpPr>
      <dsp:spPr>
        <a:xfrm>
          <a:off x="0" y="0"/>
          <a:ext cx="1975104" cy="56689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lvl="0" algn="l" defTabSz="1155700">
            <a:lnSpc>
              <a:spcPct val="90000"/>
            </a:lnSpc>
            <a:spcBef>
              <a:spcPct val="0"/>
            </a:spcBef>
            <a:spcAft>
              <a:spcPct val="35000"/>
            </a:spcAft>
          </a:pPr>
          <a:r>
            <a:rPr lang="en-US" sz="2600" b="1" kern="1200" dirty="0" smtClean="0"/>
            <a:t>12 factors </a:t>
          </a:r>
          <a:r>
            <a:rPr lang="en-US" sz="2600" kern="1200" dirty="0" smtClean="0"/>
            <a:t>(Solid principle for Cloud Native Architecture)</a:t>
          </a:r>
          <a:endParaRPr lang="en-US" sz="2600" kern="1200" dirty="0"/>
        </a:p>
      </dsp:txBody>
      <dsp:txXfrm>
        <a:off x="0" y="0"/>
        <a:ext cx="1975104" cy="5668963"/>
      </dsp:txXfrm>
    </dsp:sp>
    <dsp:sp modelId="{2F336A2D-DE30-49D8-8121-B788C1547A10}">
      <dsp:nvSpPr>
        <dsp:cNvPr id="0" name=""/>
        <dsp:cNvSpPr/>
      </dsp:nvSpPr>
      <dsp:spPr>
        <a:xfrm>
          <a:off x="2123236" y="22386"/>
          <a:ext cx="3802075" cy="4477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b="1" i="0" kern="1200" dirty="0" smtClean="0">
              <a:hlinkClick xmlns:r="http://schemas.openxmlformats.org/officeDocument/2006/relationships" r:id=""/>
            </a:rPr>
            <a:t>Codebase</a:t>
          </a:r>
          <a:endParaRPr lang="en-US" sz="2000" kern="1200" dirty="0"/>
        </a:p>
      </dsp:txBody>
      <dsp:txXfrm>
        <a:off x="2123236" y="22386"/>
        <a:ext cx="3802075" cy="447731"/>
      </dsp:txXfrm>
    </dsp:sp>
    <dsp:sp modelId="{1FC361A9-58F8-4982-BAB6-1FE835B7E412}">
      <dsp:nvSpPr>
        <dsp:cNvPr id="0" name=""/>
        <dsp:cNvSpPr/>
      </dsp:nvSpPr>
      <dsp:spPr>
        <a:xfrm>
          <a:off x="6073444" y="22386"/>
          <a:ext cx="3802075" cy="4477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lvl="0" algn="l" defTabSz="533400">
            <a:lnSpc>
              <a:spcPct val="90000"/>
            </a:lnSpc>
            <a:spcBef>
              <a:spcPct val="0"/>
            </a:spcBef>
            <a:spcAft>
              <a:spcPct val="35000"/>
            </a:spcAft>
          </a:pPr>
          <a:r>
            <a:rPr lang="en-US" sz="1200" b="0" i="0" kern="1200" dirty="0" smtClean="0"/>
            <a:t>One codebase tracked in revision control, many deploys</a:t>
          </a:r>
          <a:endParaRPr lang="en-US" sz="1200" kern="1200" dirty="0"/>
        </a:p>
      </dsp:txBody>
      <dsp:txXfrm>
        <a:off x="6073444" y="22386"/>
        <a:ext cx="3802075" cy="447731"/>
      </dsp:txXfrm>
    </dsp:sp>
    <dsp:sp modelId="{B230D8EA-2706-4AA5-9702-3C38714A1AB1}">
      <dsp:nvSpPr>
        <dsp:cNvPr id="0" name=""/>
        <dsp:cNvSpPr/>
      </dsp:nvSpPr>
      <dsp:spPr>
        <a:xfrm>
          <a:off x="1975104" y="470118"/>
          <a:ext cx="7900416"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9740E21-C432-4BC7-82AC-689ED8F162C5}">
      <dsp:nvSpPr>
        <dsp:cNvPr id="0" name=""/>
        <dsp:cNvSpPr/>
      </dsp:nvSpPr>
      <dsp:spPr>
        <a:xfrm>
          <a:off x="2123236" y="492505"/>
          <a:ext cx="3802075" cy="4477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b="1" i="0" kern="1200" dirty="0" smtClean="0">
              <a:hlinkClick xmlns:r="http://schemas.openxmlformats.org/officeDocument/2006/relationships" r:id=""/>
            </a:rPr>
            <a:t>Dependencies</a:t>
          </a:r>
          <a:endParaRPr lang="en-US" sz="2000" kern="1200" dirty="0"/>
        </a:p>
      </dsp:txBody>
      <dsp:txXfrm>
        <a:off x="2123236" y="492505"/>
        <a:ext cx="3802075" cy="447731"/>
      </dsp:txXfrm>
    </dsp:sp>
    <dsp:sp modelId="{67B78FED-8CD0-490A-9E96-FB592E6E71E0}">
      <dsp:nvSpPr>
        <dsp:cNvPr id="0" name=""/>
        <dsp:cNvSpPr/>
      </dsp:nvSpPr>
      <dsp:spPr>
        <a:xfrm>
          <a:off x="6073444" y="492505"/>
          <a:ext cx="3802075" cy="4477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lvl="0" algn="l" defTabSz="533400">
            <a:lnSpc>
              <a:spcPct val="90000"/>
            </a:lnSpc>
            <a:spcBef>
              <a:spcPct val="0"/>
            </a:spcBef>
            <a:spcAft>
              <a:spcPct val="35000"/>
            </a:spcAft>
          </a:pPr>
          <a:r>
            <a:rPr lang="en-US" sz="1200" b="0" i="0" kern="1200" dirty="0" smtClean="0"/>
            <a:t>Explicitly declare and isolate dependencies</a:t>
          </a:r>
          <a:endParaRPr lang="en-US" sz="1200" kern="1200" dirty="0"/>
        </a:p>
      </dsp:txBody>
      <dsp:txXfrm>
        <a:off x="6073444" y="492505"/>
        <a:ext cx="3802075" cy="447731"/>
      </dsp:txXfrm>
    </dsp:sp>
    <dsp:sp modelId="{9ACDD2A3-C9B0-4A0B-A91E-2A11D7DFE815}">
      <dsp:nvSpPr>
        <dsp:cNvPr id="0" name=""/>
        <dsp:cNvSpPr/>
      </dsp:nvSpPr>
      <dsp:spPr>
        <a:xfrm>
          <a:off x="1975104" y="940236"/>
          <a:ext cx="7900416"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E4CEB96-C9FE-444A-9D3F-1D9252E9C344}">
      <dsp:nvSpPr>
        <dsp:cNvPr id="0" name=""/>
        <dsp:cNvSpPr/>
      </dsp:nvSpPr>
      <dsp:spPr>
        <a:xfrm>
          <a:off x="2123236" y="962623"/>
          <a:ext cx="3802075" cy="4477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b="1" i="0" kern="1200" dirty="0" smtClean="0">
              <a:hlinkClick xmlns:r="http://schemas.openxmlformats.org/officeDocument/2006/relationships" r:id=""/>
            </a:rPr>
            <a:t>Config</a:t>
          </a:r>
          <a:endParaRPr lang="en-US" sz="2000" kern="1200" dirty="0"/>
        </a:p>
      </dsp:txBody>
      <dsp:txXfrm>
        <a:off x="2123236" y="962623"/>
        <a:ext cx="3802075" cy="447731"/>
      </dsp:txXfrm>
    </dsp:sp>
    <dsp:sp modelId="{8694DF0D-3EF0-475C-AB00-63714E3C043B}">
      <dsp:nvSpPr>
        <dsp:cNvPr id="0" name=""/>
        <dsp:cNvSpPr/>
      </dsp:nvSpPr>
      <dsp:spPr>
        <a:xfrm>
          <a:off x="6073444" y="962623"/>
          <a:ext cx="3802075" cy="4477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lvl="0" algn="l" defTabSz="533400">
            <a:lnSpc>
              <a:spcPct val="90000"/>
            </a:lnSpc>
            <a:spcBef>
              <a:spcPct val="0"/>
            </a:spcBef>
            <a:spcAft>
              <a:spcPct val="35000"/>
            </a:spcAft>
          </a:pPr>
          <a:r>
            <a:rPr lang="en-US" sz="1200" b="0" i="0" kern="1200" dirty="0" smtClean="0"/>
            <a:t>Store configuration in the environment</a:t>
          </a:r>
          <a:endParaRPr lang="en-US" sz="1200" kern="1200" dirty="0"/>
        </a:p>
      </dsp:txBody>
      <dsp:txXfrm>
        <a:off x="6073444" y="962623"/>
        <a:ext cx="3802075" cy="447731"/>
      </dsp:txXfrm>
    </dsp:sp>
    <dsp:sp modelId="{55B551C1-3956-4FB5-9FC0-72F039EDE315}">
      <dsp:nvSpPr>
        <dsp:cNvPr id="0" name=""/>
        <dsp:cNvSpPr/>
      </dsp:nvSpPr>
      <dsp:spPr>
        <a:xfrm>
          <a:off x="1975104" y="1410355"/>
          <a:ext cx="7900416"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E1B3B31-C3A2-44CE-B07C-40E3BABFF200}">
      <dsp:nvSpPr>
        <dsp:cNvPr id="0" name=""/>
        <dsp:cNvSpPr/>
      </dsp:nvSpPr>
      <dsp:spPr>
        <a:xfrm>
          <a:off x="2123236" y="1432741"/>
          <a:ext cx="3802075" cy="4477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b="1" i="0" kern="1200" dirty="0" smtClean="0">
              <a:hlinkClick xmlns:r="http://schemas.openxmlformats.org/officeDocument/2006/relationships" r:id=""/>
            </a:rPr>
            <a:t>Backing Services</a:t>
          </a:r>
          <a:endParaRPr lang="en-US" sz="2000" kern="1200" dirty="0"/>
        </a:p>
      </dsp:txBody>
      <dsp:txXfrm>
        <a:off x="2123236" y="1432741"/>
        <a:ext cx="3802075" cy="447731"/>
      </dsp:txXfrm>
    </dsp:sp>
    <dsp:sp modelId="{FC3C7886-424D-4780-90D1-D7C51C4E6030}">
      <dsp:nvSpPr>
        <dsp:cNvPr id="0" name=""/>
        <dsp:cNvSpPr/>
      </dsp:nvSpPr>
      <dsp:spPr>
        <a:xfrm>
          <a:off x="6073444" y="1432741"/>
          <a:ext cx="3802075" cy="4477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lvl="0" algn="l" defTabSz="533400">
            <a:lnSpc>
              <a:spcPct val="90000"/>
            </a:lnSpc>
            <a:spcBef>
              <a:spcPct val="0"/>
            </a:spcBef>
            <a:spcAft>
              <a:spcPct val="35000"/>
            </a:spcAft>
          </a:pPr>
          <a:r>
            <a:rPr lang="en-US" sz="1200" b="0" i="0" kern="1200" dirty="0" smtClean="0"/>
            <a:t>Treat backing services as attached resources</a:t>
          </a:r>
          <a:endParaRPr lang="en-US" sz="1200" kern="1200" dirty="0"/>
        </a:p>
      </dsp:txBody>
      <dsp:txXfrm>
        <a:off x="6073444" y="1432741"/>
        <a:ext cx="3802075" cy="447731"/>
      </dsp:txXfrm>
    </dsp:sp>
    <dsp:sp modelId="{D8692E62-CB46-4B7F-AD83-10E3647E9B61}">
      <dsp:nvSpPr>
        <dsp:cNvPr id="0" name=""/>
        <dsp:cNvSpPr/>
      </dsp:nvSpPr>
      <dsp:spPr>
        <a:xfrm>
          <a:off x="1975104" y="1880473"/>
          <a:ext cx="7900416"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7A702C1-D77D-4064-982B-EBFB84B5B7C0}">
      <dsp:nvSpPr>
        <dsp:cNvPr id="0" name=""/>
        <dsp:cNvSpPr/>
      </dsp:nvSpPr>
      <dsp:spPr>
        <a:xfrm>
          <a:off x="2123236" y="1902860"/>
          <a:ext cx="3802075" cy="4477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b="1" i="0" kern="1200" dirty="0" smtClean="0">
              <a:hlinkClick xmlns:r="http://schemas.openxmlformats.org/officeDocument/2006/relationships" r:id=""/>
            </a:rPr>
            <a:t>Build, release, run</a:t>
          </a:r>
          <a:endParaRPr lang="en-US" sz="2000" kern="1200" dirty="0"/>
        </a:p>
      </dsp:txBody>
      <dsp:txXfrm>
        <a:off x="2123236" y="1902860"/>
        <a:ext cx="3802075" cy="447731"/>
      </dsp:txXfrm>
    </dsp:sp>
    <dsp:sp modelId="{70263E1B-D2DF-437E-B39F-9DFBC26EFB1B}">
      <dsp:nvSpPr>
        <dsp:cNvPr id="0" name=""/>
        <dsp:cNvSpPr/>
      </dsp:nvSpPr>
      <dsp:spPr>
        <a:xfrm>
          <a:off x="6073444" y="1902860"/>
          <a:ext cx="3802075" cy="4477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lvl="0" algn="l" defTabSz="533400">
            <a:lnSpc>
              <a:spcPct val="90000"/>
            </a:lnSpc>
            <a:spcBef>
              <a:spcPct val="0"/>
            </a:spcBef>
            <a:spcAft>
              <a:spcPct val="35000"/>
            </a:spcAft>
          </a:pPr>
          <a:r>
            <a:rPr lang="en-US" sz="1200" b="0" i="0" kern="1200" dirty="0" smtClean="0"/>
            <a:t>Strictly separate build and run stages</a:t>
          </a:r>
          <a:endParaRPr lang="en-US" sz="1200" kern="1200" dirty="0"/>
        </a:p>
      </dsp:txBody>
      <dsp:txXfrm>
        <a:off x="6073444" y="1902860"/>
        <a:ext cx="3802075" cy="447731"/>
      </dsp:txXfrm>
    </dsp:sp>
    <dsp:sp modelId="{C339D601-8677-4ECF-9C84-B61B52FF6FF9}">
      <dsp:nvSpPr>
        <dsp:cNvPr id="0" name=""/>
        <dsp:cNvSpPr/>
      </dsp:nvSpPr>
      <dsp:spPr>
        <a:xfrm>
          <a:off x="1975104" y="2350592"/>
          <a:ext cx="7900416"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2D6E482-38EE-4FFA-8363-F2AF0054A239}">
      <dsp:nvSpPr>
        <dsp:cNvPr id="0" name=""/>
        <dsp:cNvSpPr/>
      </dsp:nvSpPr>
      <dsp:spPr>
        <a:xfrm>
          <a:off x="2123236" y="2372978"/>
          <a:ext cx="3802075" cy="4477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b="1" i="0" kern="1200" dirty="0" smtClean="0">
              <a:hlinkClick xmlns:r="http://schemas.openxmlformats.org/officeDocument/2006/relationships" r:id=""/>
            </a:rPr>
            <a:t>Processes</a:t>
          </a:r>
          <a:endParaRPr lang="en-US" sz="2000" kern="1200" dirty="0"/>
        </a:p>
      </dsp:txBody>
      <dsp:txXfrm>
        <a:off x="2123236" y="2372978"/>
        <a:ext cx="3802075" cy="447731"/>
      </dsp:txXfrm>
    </dsp:sp>
    <dsp:sp modelId="{3F09B7CC-7A7B-4176-9759-6D9BB1E24E9A}">
      <dsp:nvSpPr>
        <dsp:cNvPr id="0" name=""/>
        <dsp:cNvSpPr/>
      </dsp:nvSpPr>
      <dsp:spPr>
        <a:xfrm>
          <a:off x="6073444" y="2372978"/>
          <a:ext cx="3802075" cy="4477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lvl="0" algn="l" defTabSz="533400">
            <a:lnSpc>
              <a:spcPct val="90000"/>
            </a:lnSpc>
            <a:spcBef>
              <a:spcPct val="0"/>
            </a:spcBef>
            <a:spcAft>
              <a:spcPct val="35000"/>
            </a:spcAft>
          </a:pPr>
          <a:r>
            <a:rPr lang="en-US" sz="1200" b="0" i="0" kern="1200" dirty="0" smtClean="0"/>
            <a:t>Execute the app as one or more stateless processes</a:t>
          </a:r>
          <a:endParaRPr lang="en-US" sz="1200" kern="1200" dirty="0"/>
        </a:p>
      </dsp:txBody>
      <dsp:txXfrm>
        <a:off x="6073444" y="2372978"/>
        <a:ext cx="3802075" cy="447731"/>
      </dsp:txXfrm>
    </dsp:sp>
    <dsp:sp modelId="{45806D57-4082-43D3-B0C8-F88B3D2B746A}">
      <dsp:nvSpPr>
        <dsp:cNvPr id="0" name=""/>
        <dsp:cNvSpPr/>
      </dsp:nvSpPr>
      <dsp:spPr>
        <a:xfrm>
          <a:off x="1975104" y="2820710"/>
          <a:ext cx="7900416"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E4E65C4-97AE-4D3B-B2F0-D018B046F286}">
      <dsp:nvSpPr>
        <dsp:cNvPr id="0" name=""/>
        <dsp:cNvSpPr/>
      </dsp:nvSpPr>
      <dsp:spPr>
        <a:xfrm>
          <a:off x="2123236" y="2843097"/>
          <a:ext cx="3802075" cy="4477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b="1" i="0" kern="1200" dirty="0" smtClean="0">
              <a:hlinkClick xmlns:r="http://schemas.openxmlformats.org/officeDocument/2006/relationships" r:id=""/>
            </a:rPr>
            <a:t>Port binding</a:t>
          </a:r>
          <a:endParaRPr lang="en-US" sz="2000" kern="1200" dirty="0"/>
        </a:p>
      </dsp:txBody>
      <dsp:txXfrm>
        <a:off x="2123236" y="2843097"/>
        <a:ext cx="3802075" cy="447731"/>
      </dsp:txXfrm>
    </dsp:sp>
    <dsp:sp modelId="{B0B28CBF-D728-4BF3-8C20-1E93ADC2C2C4}">
      <dsp:nvSpPr>
        <dsp:cNvPr id="0" name=""/>
        <dsp:cNvSpPr/>
      </dsp:nvSpPr>
      <dsp:spPr>
        <a:xfrm>
          <a:off x="6073444" y="2843097"/>
          <a:ext cx="3802075" cy="4477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lvl="0" algn="l" defTabSz="533400">
            <a:lnSpc>
              <a:spcPct val="90000"/>
            </a:lnSpc>
            <a:spcBef>
              <a:spcPct val="0"/>
            </a:spcBef>
            <a:spcAft>
              <a:spcPct val="35000"/>
            </a:spcAft>
          </a:pPr>
          <a:r>
            <a:rPr lang="fr-FR" sz="1200" b="0" i="0" kern="1200" dirty="0" smtClean="0"/>
            <a:t>Export services via port binding</a:t>
          </a:r>
          <a:endParaRPr lang="en-US" sz="1200" kern="1200" dirty="0"/>
        </a:p>
      </dsp:txBody>
      <dsp:txXfrm>
        <a:off x="6073444" y="2843097"/>
        <a:ext cx="3802075" cy="447731"/>
      </dsp:txXfrm>
    </dsp:sp>
    <dsp:sp modelId="{1E1914F5-661E-445D-8E58-BFC2CE09ED4D}">
      <dsp:nvSpPr>
        <dsp:cNvPr id="0" name=""/>
        <dsp:cNvSpPr/>
      </dsp:nvSpPr>
      <dsp:spPr>
        <a:xfrm>
          <a:off x="1975104" y="3290828"/>
          <a:ext cx="7900416"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74D6A72-3947-4D00-96AC-512A00ABB82B}">
      <dsp:nvSpPr>
        <dsp:cNvPr id="0" name=""/>
        <dsp:cNvSpPr/>
      </dsp:nvSpPr>
      <dsp:spPr>
        <a:xfrm>
          <a:off x="2123236" y="3313215"/>
          <a:ext cx="3802075" cy="4477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b="1" i="0" kern="1200" dirty="0" smtClean="0">
              <a:hlinkClick xmlns:r="http://schemas.openxmlformats.org/officeDocument/2006/relationships" r:id=""/>
            </a:rPr>
            <a:t>Concurrency</a:t>
          </a:r>
          <a:endParaRPr lang="en-US" sz="2000" kern="1200" dirty="0"/>
        </a:p>
      </dsp:txBody>
      <dsp:txXfrm>
        <a:off x="2123236" y="3313215"/>
        <a:ext cx="3802075" cy="447731"/>
      </dsp:txXfrm>
    </dsp:sp>
    <dsp:sp modelId="{67DA113E-2FB6-4AEF-8745-340ACF174DCB}">
      <dsp:nvSpPr>
        <dsp:cNvPr id="0" name=""/>
        <dsp:cNvSpPr/>
      </dsp:nvSpPr>
      <dsp:spPr>
        <a:xfrm>
          <a:off x="6073444" y="3313215"/>
          <a:ext cx="3802075" cy="4477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lvl="0" algn="l" defTabSz="533400">
            <a:lnSpc>
              <a:spcPct val="90000"/>
            </a:lnSpc>
            <a:spcBef>
              <a:spcPct val="0"/>
            </a:spcBef>
            <a:spcAft>
              <a:spcPct val="35000"/>
            </a:spcAft>
          </a:pPr>
          <a:r>
            <a:rPr lang="en-US" sz="1200" b="0" i="0" kern="1200" dirty="0" smtClean="0"/>
            <a:t>Scale out via the process model</a:t>
          </a:r>
          <a:endParaRPr lang="en-US" sz="1200" kern="1200" dirty="0"/>
        </a:p>
      </dsp:txBody>
      <dsp:txXfrm>
        <a:off x="6073444" y="3313215"/>
        <a:ext cx="3802075" cy="447731"/>
      </dsp:txXfrm>
    </dsp:sp>
    <dsp:sp modelId="{E22C1DBF-E3C3-474F-AD8E-4FFBD8C15FE1}">
      <dsp:nvSpPr>
        <dsp:cNvPr id="0" name=""/>
        <dsp:cNvSpPr/>
      </dsp:nvSpPr>
      <dsp:spPr>
        <a:xfrm>
          <a:off x="1975104" y="3760947"/>
          <a:ext cx="7900416"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525890F-EB6A-439F-93C6-D2C674E88944}">
      <dsp:nvSpPr>
        <dsp:cNvPr id="0" name=""/>
        <dsp:cNvSpPr/>
      </dsp:nvSpPr>
      <dsp:spPr>
        <a:xfrm>
          <a:off x="2123236" y="3783333"/>
          <a:ext cx="3802075" cy="4477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b="1" i="0" kern="1200" dirty="0" smtClean="0">
              <a:hlinkClick xmlns:r="http://schemas.openxmlformats.org/officeDocument/2006/relationships" r:id=""/>
            </a:rPr>
            <a:t>Disposability</a:t>
          </a:r>
          <a:endParaRPr lang="en-US" sz="2000" kern="1200" dirty="0"/>
        </a:p>
      </dsp:txBody>
      <dsp:txXfrm>
        <a:off x="2123236" y="3783333"/>
        <a:ext cx="3802075" cy="447731"/>
      </dsp:txXfrm>
    </dsp:sp>
    <dsp:sp modelId="{462799D0-B34D-43D2-AA5E-972F8E8AA2C7}">
      <dsp:nvSpPr>
        <dsp:cNvPr id="0" name=""/>
        <dsp:cNvSpPr/>
      </dsp:nvSpPr>
      <dsp:spPr>
        <a:xfrm>
          <a:off x="6073444" y="3783333"/>
          <a:ext cx="3802075" cy="4477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lvl="0" algn="l" defTabSz="533400">
            <a:lnSpc>
              <a:spcPct val="90000"/>
            </a:lnSpc>
            <a:spcBef>
              <a:spcPct val="0"/>
            </a:spcBef>
            <a:spcAft>
              <a:spcPct val="35000"/>
            </a:spcAft>
          </a:pPr>
          <a:r>
            <a:rPr lang="en-US" sz="1200" b="0" i="0" kern="1200" dirty="0" smtClean="0"/>
            <a:t>Maximize robustness with fast startup and graceful shutdown</a:t>
          </a:r>
          <a:endParaRPr lang="en-US" sz="1200" kern="1200" dirty="0"/>
        </a:p>
      </dsp:txBody>
      <dsp:txXfrm>
        <a:off x="6073444" y="3783333"/>
        <a:ext cx="3802075" cy="447731"/>
      </dsp:txXfrm>
    </dsp:sp>
    <dsp:sp modelId="{41C83CB3-DEB8-437E-91DE-DF63BE27DC5D}">
      <dsp:nvSpPr>
        <dsp:cNvPr id="0" name=""/>
        <dsp:cNvSpPr/>
      </dsp:nvSpPr>
      <dsp:spPr>
        <a:xfrm>
          <a:off x="1975104" y="4231065"/>
          <a:ext cx="7900416"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CBA1321-4166-4FDF-85E0-A4557647107C}">
      <dsp:nvSpPr>
        <dsp:cNvPr id="0" name=""/>
        <dsp:cNvSpPr/>
      </dsp:nvSpPr>
      <dsp:spPr>
        <a:xfrm>
          <a:off x="2123236" y="4253452"/>
          <a:ext cx="3802075" cy="4477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b="1" i="0" kern="1200" dirty="0" smtClean="0">
              <a:hlinkClick xmlns:r="http://schemas.openxmlformats.org/officeDocument/2006/relationships" r:id=""/>
            </a:rPr>
            <a:t>Dev/prod parity</a:t>
          </a:r>
          <a:endParaRPr lang="en-US" sz="2000" kern="1200" dirty="0"/>
        </a:p>
      </dsp:txBody>
      <dsp:txXfrm>
        <a:off x="2123236" y="4253452"/>
        <a:ext cx="3802075" cy="447731"/>
      </dsp:txXfrm>
    </dsp:sp>
    <dsp:sp modelId="{BCEE2737-002D-408F-9B74-889E2EE9E74A}">
      <dsp:nvSpPr>
        <dsp:cNvPr id="0" name=""/>
        <dsp:cNvSpPr/>
      </dsp:nvSpPr>
      <dsp:spPr>
        <a:xfrm>
          <a:off x="6073444" y="4253452"/>
          <a:ext cx="3802075" cy="4477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lvl="0" algn="l" defTabSz="533400">
            <a:lnSpc>
              <a:spcPct val="90000"/>
            </a:lnSpc>
            <a:spcBef>
              <a:spcPct val="0"/>
            </a:spcBef>
            <a:spcAft>
              <a:spcPct val="35000"/>
            </a:spcAft>
          </a:pPr>
          <a:r>
            <a:rPr lang="en-US" sz="1200" b="0" i="0" kern="1200" dirty="0" smtClean="0"/>
            <a:t>Keep development, staging, and production as similar as possible</a:t>
          </a:r>
          <a:endParaRPr lang="en-US" sz="1200" kern="1200" dirty="0"/>
        </a:p>
      </dsp:txBody>
      <dsp:txXfrm>
        <a:off x="6073444" y="4253452"/>
        <a:ext cx="3802075" cy="447731"/>
      </dsp:txXfrm>
    </dsp:sp>
    <dsp:sp modelId="{50BFCA13-9573-4F0B-A7BE-DCC29A72E119}">
      <dsp:nvSpPr>
        <dsp:cNvPr id="0" name=""/>
        <dsp:cNvSpPr/>
      </dsp:nvSpPr>
      <dsp:spPr>
        <a:xfrm>
          <a:off x="1975104" y="4701184"/>
          <a:ext cx="7900416"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D5AC08B-640B-4BF3-9632-89D5B8F40CC0}">
      <dsp:nvSpPr>
        <dsp:cNvPr id="0" name=""/>
        <dsp:cNvSpPr/>
      </dsp:nvSpPr>
      <dsp:spPr>
        <a:xfrm>
          <a:off x="2123236" y="4723570"/>
          <a:ext cx="3802075" cy="4477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b="1" i="0" kern="1200" dirty="0" smtClean="0">
              <a:hlinkClick xmlns:r="http://schemas.openxmlformats.org/officeDocument/2006/relationships" r:id=""/>
            </a:rPr>
            <a:t>Logs</a:t>
          </a:r>
          <a:endParaRPr lang="en-US" sz="2000" kern="1200" dirty="0"/>
        </a:p>
      </dsp:txBody>
      <dsp:txXfrm>
        <a:off x="2123236" y="4723570"/>
        <a:ext cx="3802075" cy="447731"/>
      </dsp:txXfrm>
    </dsp:sp>
    <dsp:sp modelId="{79F03C78-9304-49B8-A52D-E06506C87DAE}">
      <dsp:nvSpPr>
        <dsp:cNvPr id="0" name=""/>
        <dsp:cNvSpPr/>
      </dsp:nvSpPr>
      <dsp:spPr>
        <a:xfrm>
          <a:off x="6073444" y="4723570"/>
          <a:ext cx="3802075" cy="4477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lvl="0" algn="l" defTabSz="533400">
            <a:lnSpc>
              <a:spcPct val="90000"/>
            </a:lnSpc>
            <a:spcBef>
              <a:spcPct val="0"/>
            </a:spcBef>
            <a:spcAft>
              <a:spcPct val="35000"/>
            </a:spcAft>
          </a:pPr>
          <a:r>
            <a:rPr lang="en-US" sz="1200" b="0" i="0" kern="1200" dirty="0" smtClean="0"/>
            <a:t>Treat logs as event streams</a:t>
          </a:r>
          <a:endParaRPr lang="en-US" sz="1200" kern="1200" dirty="0"/>
        </a:p>
      </dsp:txBody>
      <dsp:txXfrm>
        <a:off x="6073444" y="4723570"/>
        <a:ext cx="3802075" cy="447731"/>
      </dsp:txXfrm>
    </dsp:sp>
    <dsp:sp modelId="{5ADC530F-8DF8-4F12-98F0-054C354EA3B3}">
      <dsp:nvSpPr>
        <dsp:cNvPr id="0" name=""/>
        <dsp:cNvSpPr/>
      </dsp:nvSpPr>
      <dsp:spPr>
        <a:xfrm>
          <a:off x="1975104" y="5171302"/>
          <a:ext cx="7900416"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211ECC8-5850-41F3-AB5C-76D989040FF4}">
      <dsp:nvSpPr>
        <dsp:cNvPr id="0" name=""/>
        <dsp:cNvSpPr/>
      </dsp:nvSpPr>
      <dsp:spPr>
        <a:xfrm>
          <a:off x="2123236" y="5193689"/>
          <a:ext cx="3802075" cy="4477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b="1" i="0" kern="1200" dirty="0" smtClean="0">
              <a:hlinkClick xmlns:r="http://schemas.openxmlformats.org/officeDocument/2006/relationships" r:id=""/>
            </a:rPr>
            <a:t>Admin processes</a:t>
          </a:r>
          <a:endParaRPr lang="en-US" sz="2000" kern="1200" dirty="0"/>
        </a:p>
      </dsp:txBody>
      <dsp:txXfrm>
        <a:off x="2123236" y="5193689"/>
        <a:ext cx="3802075" cy="447731"/>
      </dsp:txXfrm>
    </dsp:sp>
    <dsp:sp modelId="{578D3DF1-1129-41F8-8F9C-0D1CC87C745D}">
      <dsp:nvSpPr>
        <dsp:cNvPr id="0" name=""/>
        <dsp:cNvSpPr/>
      </dsp:nvSpPr>
      <dsp:spPr>
        <a:xfrm>
          <a:off x="6073444" y="5193689"/>
          <a:ext cx="3802075" cy="4477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lvl="0" algn="l" defTabSz="533400">
            <a:lnSpc>
              <a:spcPct val="90000"/>
            </a:lnSpc>
            <a:spcBef>
              <a:spcPct val="0"/>
            </a:spcBef>
            <a:spcAft>
              <a:spcPct val="35000"/>
            </a:spcAft>
          </a:pPr>
          <a:r>
            <a:rPr lang="en-US" sz="1200" b="0" i="0" kern="1200" dirty="0" smtClean="0"/>
            <a:t>Run admin/management tasks as one-off processes</a:t>
          </a:r>
          <a:endParaRPr lang="en-US" sz="1200" kern="1200" dirty="0"/>
        </a:p>
      </dsp:txBody>
      <dsp:txXfrm>
        <a:off x="6073444" y="5193689"/>
        <a:ext cx="3802075" cy="447731"/>
      </dsp:txXfrm>
    </dsp:sp>
    <dsp:sp modelId="{C15E3481-0C8B-431D-B0A4-3625A8C8A3D4}">
      <dsp:nvSpPr>
        <dsp:cNvPr id="0" name=""/>
        <dsp:cNvSpPr/>
      </dsp:nvSpPr>
      <dsp:spPr>
        <a:xfrm>
          <a:off x="1975104" y="5641420"/>
          <a:ext cx="7900416"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8.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9708EF52-62F8-405F-A0C0-1CF6E8D23D1D}">
      <dsp:nvSpPr>
        <dsp:cNvPr id="0" name=""/>
        <dsp:cNvSpPr/>
      </dsp:nvSpPr>
      <dsp:spPr>
        <a:xfrm>
          <a:off x="0" y="49524"/>
          <a:ext cx="10515600" cy="27846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l" defTabSz="533400" rtl="0">
            <a:lnSpc>
              <a:spcPct val="90000"/>
            </a:lnSpc>
            <a:spcBef>
              <a:spcPct val="0"/>
            </a:spcBef>
            <a:spcAft>
              <a:spcPct val="35000"/>
            </a:spcAft>
          </a:pPr>
          <a:r>
            <a:rPr lang="en-US" sz="1200" kern="1200" smtClean="0"/>
            <a:t>Each Microservice Delivers A Single Complete Business Capability</a:t>
          </a:r>
          <a:endParaRPr lang="en-US" sz="1200" kern="1200" dirty="0"/>
        </a:p>
      </dsp:txBody>
      <dsp:txXfrm>
        <a:off x="0" y="49524"/>
        <a:ext cx="10515600" cy="278460"/>
      </dsp:txXfrm>
    </dsp:sp>
    <dsp:sp modelId="{8F8E7F55-AB97-4A81-AC23-E5ABD0F5F8A5}">
      <dsp:nvSpPr>
        <dsp:cNvPr id="0" name=""/>
        <dsp:cNvSpPr/>
      </dsp:nvSpPr>
      <dsp:spPr>
        <a:xfrm>
          <a:off x="0" y="327984"/>
          <a:ext cx="10515600" cy="5361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17780" rIns="99568" bIns="17780" numCol="1" spcCol="1270" anchor="t" anchorCtr="0">
          <a:noAutofit/>
        </a:bodyPr>
        <a:lstStyle/>
        <a:p>
          <a:pPr marL="57150" lvl="1" indent="-57150" algn="l" defTabSz="488950">
            <a:lnSpc>
              <a:spcPct val="90000"/>
            </a:lnSpc>
            <a:spcBef>
              <a:spcPct val="0"/>
            </a:spcBef>
            <a:spcAft>
              <a:spcPct val="20000"/>
            </a:spcAft>
            <a:buChar char="••"/>
          </a:pPr>
          <a:r>
            <a:rPr lang="en-US" sz="1100" kern="1200" smtClean="0"/>
            <a:t> Minimal coordination between capabilities leads to optimal autonomy</a:t>
          </a:r>
          <a:endParaRPr lang="en-US" sz="1100" kern="1200"/>
        </a:p>
        <a:p>
          <a:pPr marL="57150" lvl="1" indent="-57150" algn="l" defTabSz="488950">
            <a:lnSpc>
              <a:spcPct val="90000"/>
            </a:lnSpc>
            <a:spcBef>
              <a:spcPct val="0"/>
            </a:spcBef>
            <a:spcAft>
              <a:spcPct val="20000"/>
            </a:spcAft>
            <a:buChar char="••"/>
          </a:pPr>
          <a:r>
            <a:rPr lang="en-US" sz="1100" kern="1200" smtClean="0"/>
            <a:t>Increased autonomy for a microservice gives it freedom to evolve without impacting other services</a:t>
          </a:r>
          <a:endParaRPr lang="en-US" sz="1100" kern="1200"/>
        </a:p>
        <a:p>
          <a:pPr marL="57150" lvl="1" indent="-57150" algn="l" defTabSz="488950">
            <a:lnSpc>
              <a:spcPct val="90000"/>
            </a:lnSpc>
            <a:spcBef>
              <a:spcPct val="0"/>
            </a:spcBef>
            <a:spcAft>
              <a:spcPct val="20000"/>
            </a:spcAft>
            <a:buChar char="••"/>
          </a:pPr>
          <a:r>
            <a:rPr lang="en-US" sz="1100" kern="1200" smtClean="0"/>
            <a:t> it will give both organisational and technical advantages.</a:t>
          </a:r>
          <a:endParaRPr lang="en-US" sz="1100" kern="1200"/>
        </a:p>
      </dsp:txBody>
      <dsp:txXfrm>
        <a:off x="0" y="327984"/>
        <a:ext cx="10515600" cy="536130"/>
      </dsp:txXfrm>
    </dsp:sp>
    <dsp:sp modelId="{2D9C56A3-7996-44A8-B304-DDF62DBA12B1}">
      <dsp:nvSpPr>
        <dsp:cNvPr id="0" name=""/>
        <dsp:cNvSpPr/>
      </dsp:nvSpPr>
      <dsp:spPr>
        <a:xfrm>
          <a:off x="0" y="864114"/>
          <a:ext cx="10515600" cy="27846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l" defTabSz="533400" rtl="0">
            <a:lnSpc>
              <a:spcPct val="90000"/>
            </a:lnSpc>
            <a:spcBef>
              <a:spcPct val="0"/>
            </a:spcBef>
            <a:spcAft>
              <a:spcPct val="35000"/>
            </a:spcAft>
          </a:pPr>
          <a:r>
            <a:rPr lang="en-US" sz="1200" kern="1200" smtClean="0"/>
            <a:t>Autonomy Over Coordination</a:t>
          </a:r>
          <a:endParaRPr lang="en-US" sz="1200" kern="1200" dirty="0"/>
        </a:p>
      </dsp:txBody>
      <dsp:txXfrm>
        <a:off x="0" y="864114"/>
        <a:ext cx="10515600" cy="278460"/>
      </dsp:txXfrm>
    </dsp:sp>
    <dsp:sp modelId="{E67A0B89-2416-4567-A871-63124CF4B856}">
      <dsp:nvSpPr>
        <dsp:cNvPr id="0" name=""/>
        <dsp:cNvSpPr/>
      </dsp:nvSpPr>
      <dsp:spPr>
        <a:xfrm>
          <a:off x="0" y="1142574"/>
          <a:ext cx="10515600" cy="5361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17780" rIns="99568" bIns="17780" numCol="1" spcCol="1270" anchor="t" anchorCtr="0">
          <a:noAutofit/>
        </a:bodyPr>
        <a:lstStyle/>
        <a:p>
          <a:pPr marL="57150" lvl="1" indent="-57150" algn="l" defTabSz="488950">
            <a:lnSpc>
              <a:spcPct val="90000"/>
            </a:lnSpc>
            <a:spcBef>
              <a:spcPct val="0"/>
            </a:spcBef>
            <a:spcAft>
              <a:spcPct val="20000"/>
            </a:spcAft>
            <a:buChar char="••"/>
          </a:pPr>
          <a:r>
            <a:rPr lang="en-US" sz="1100" kern="1200" smtClean="0"/>
            <a:t> A business capability should not depend on other services to complete its work.</a:t>
          </a:r>
          <a:endParaRPr lang="en-US" sz="1100" kern="1200"/>
        </a:p>
        <a:p>
          <a:pPr marL="57150" lvl="1" indent="-57150" algn="l" defTabSz="488950">
            <a:lnSpc>
              <a:spcPct val="90000"/>
            </a:lnSpc>
            <a:spcBef>
              <a:spcPct val="0"/>
            </a:spcBef>
            <a:spcAft>
              <a:spcPct val="20000"/>
            </a:spcAft>
            <a:buChar char="••"/>
          </a:pPr>
          <a:r>
            <a:rPr lang="en-US" sz="1100" kern="1200" smtClean="0"/>
            <a:t> A more robust solution would be to define a service that handles a process that makes sense to a user</a:t>
          </a:r>
          <a:endParaRPr lang="en-US" sz="1100" kern="1200"/>
        </a:p>
        <a:p>
          <a:pPr marL="57150" lvl="1" indent="-57150" algn="l" defTabSz="488950">
            <a:lnSpc>
              <a:spcPct val="90000"/>
            </a:lnSpc>
            <a:spcBef>
              <a:spcPct val="0"/>
            </a:spcBef>
            <a:spcAft>
              <a:spcPct val="20000"/>
            </a:spcAft>
            <a:buChar char="••"/>
          </a:pPr>
          <a:endParaRPr lang="en-US" sz="1100" kern="1200"/>
        </a:p>
      </dsp:txBody>
      <dsp:txXfrm>
        <a:off x="0" y="1142574"/>
        <a:ext cx="10515600" cy="536130"/>
      </dsp:txXfrm>
    </dsp:sp>
    <dsp:sp modelId="{BC022D59-5E4B-4191-BBE5-7E2215BBDF03}">
      <dsp:nvSpPr>
        <dsp:cNvPr id="0" name=""/>
        <dsp:cNvSpPr/>
      </dsp:nvSpPr>
      <dsp:spPr>
        <a:xfrm>
          <a:off x="0" y="1678704"/>
          <a:ext cx="10515600" cy="27846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l" defTabSz="533400" rtl="0">
            <a:lnSpc>
              <a:spcPct val="90000"/>
            </a:lnSpc>
            <a:spcBef>
              <a:spcPct val="0"/>
            </a:spcBef>
            <a:spcAft>
              <a:spcPct val="35000"/>
            </a:spcAft>
          </a:pPr>
          <a:r>
            <a:rPr lang="en-US" sz="1200" kern="1200" smtClean="0"/>
            <a:t>Small Bounded Contexts Over One Comprehensive Model</a:t>
          </a:r>
          <a:endParaRPr lang="en-US" sz="1200" kern="1200" dirty="0"/>
        </a:p>
      </dsp:txBody>
      <dsp:txXfrm>
        <a:off x="0" y="1678704"/>
        <a:ext cx="10515600" cy="278460"/>
      </dsp:txXfrm>
    </dsp:sp>
    <dsp:sp modelId="{FAE2483A-723E-43E9-A06B-30D504E734C9}">
      <dsp:nvSpPr>
        <dsp:cNvPr id="0" name=""/>
        <dsp:cNvSpPr/>
      </dsp:nvSpPr>
      <dsp:spPr>
        <a:xfrm>
          <a:off x="0" y="1957164"/>
          <a:ext cx="10515600" cy="6810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17780" rIns="99568" bIns="17780" numCol="1" spcCol="1270" anchor="t" anchorCtr="0">
          <a:noAutofit/>
        </a:bodyPr>
        <a:lstStyle/>
        <a:p>
          <a:pPr marL="57150" lvl="1" indent="-57150" algn="l" defTabSz="488950">
            <a:lnSpc>
              <a:spcPct val="90000"/>
            </a:lnSpc>
            <a:spcBef>
              <a:spcPct val="0"/>
            </a:spcBef>
            <a:spcAft>
              <a:spcPct val="20000"/>
            </a:spcAft>
            <a:buChar char="••"/>
          </a:pPr>
          <a:r>
            <a:rPr lang="en-US" sz="1100" kern="1200" smtClean="0"/>
            <a:t>A Bounded Context encapsulates the details of a single domain, such as domain model, data model, application services, etc., and defines the integration points with other bounded contexts/domains</a:t>
          </a:r>
          <a:endParaRPr lang="en-US" sz="1100" kern="1200"/>
        </a:p>
        <a:p>
          <a:pPr marL="57150" lvl="1" indent="-57150" algn="l" defTabSz="488950">
            <a:lnSpc>
              <a:spcPct val="90000"/>
            </a:lnSpc>
            <a:spcBef>
              <a:spcPct val="0"/>
            </a:spcBef>
            <a:spcAft>
              <a:spcPct val="20000"/>
            </a:spcAft>
            <a:buChar char="••"/>
          </a:pPr>
          <a:r>
            <a:rPr lang="en-US" sz="1100" kern="1200" smtClean="0"/>
            <a:t>Bounded Context make clear where we can safely use the natural domain terms and where we will need to bridge to other domain</a:t>
          </a:r>
          <a:endParaRPr lang="en-US" sz="1100" kern="1200"/>
        </a:p>
        <a:p>
          <a:pPr marL="57150" lvl="1" indent="-57150" algn="l" defTabSz="488950">
            <a:lnSpc>
              <a:spcPct val="90000"/>
            </a:lnSpc>
            <a:spcBef>
              <a:spcPct val="0"/>
            </a:spcBef>
            <a:spcAft>
              <a:spcPct val="20000"/>
            </a:spcAft>
            <a:buChar char="••"/>
          </a:pPr>
          <a:r>
            <a:rPr lang="en-US" sz="1100" kern="1200" smtClean="0"/>
            <a:t>Microservices should have a well defined bounded context that will enable us to work without having to consider, or swap, between contexts.</a:t>
          </a:r>
          <a:endParaRPr lang="en-US" sz="1100" kern="1200"/>
        </a:p>
      </dsp:txBody>
      <dsp:txXfrm>
        <a:off x="0" y="1957164"/>
        <a:ext cx="10515600" cy="681030"/>
      </dsp:txXfrm>
    </dsp:sp>
    <dsp:sp modelId="{C8D5D686-54A1-4A09-BC47-A8AE14A03D88}">
      <dsp:nvSpPr>
        <dsp:cNvPr id="0" name=""/>
        <dsp:cNvSpPr/>
      </dsp:nvSpPr>
      <dsp:spPr>
        <a:xfrm>
          <a:off x="0" y="2638194"/>
          <a:ext cx="10515600" cy="27846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l" defTabSz="533400" rtl="0">
            <a:lnSpc>
              <a:spcPct val="90000"/>
            </a:lnSpc>
            <a:spcBef>
              <a:spcPct val="0"/>
            </a:spcBef>
            <a:spcAft>
              <a:spcPct val="35000"/>
            </a:spcAft>
          </a:pPr>
          <a:r>
            <a:rPr lang="en-US" sz="1200" kern="1200" smtClean="0"/>
            <a:t>Asynchronous Communication Over Synchronous Communication</a:t>
          </a:r>
          <a:endParaRPr lang="en-US" sz="1200" kern="1200" dirty="0"/>
        </a:p>
      </dsp:txBody>
      <dsp:txXfrm>
        <a:off x="0" y="2638194"/>
        <a:ext cx="10515600" cy="278460"/>
      </dsp:txXfrm>
    </dsp:sp>
    <dsp:sp modelId="{B00BAE43-0153-4F64-A8F8-6CD39167B2D3}">
      <dsp:nvSpPr>
        <dsp:cNvPr id="0" name=""/>
        <dsp:cNvSpPr/>
      </dsp:nvSpPr>
      <dsp:spPr>
        <a:xfrm>
          <a:off x="0" y="2916654"/>
          <a:ext cx="10515600" cy="5361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17780" rIns="99568" bIns="17780" numCol="1" spcCol="1270" anchor="t" anchorCtr="0">
          <a:noAutofit/>
        </a:bodyPr>
        <a:lstStyle/>
        <a:p>
          <a:pPr marL="57150" lvl="1" indent="-57150" algn="l" defTabSz="488950">
            <a:lnSpc>
              <a:spcPct val="90000"/>
            </a:lnSpc>
            <a:spcBef>
              <a:spcPct val="0"/>
            </a:spcBef>
            <a:spcAft>
              <a:spcPct val="20000"/>
            </a:spcAft>
            <a:buChar char="••"/>
          </a:pPr>
          <a:r>
            <a:rPr lang="en-US" sz="1100" kern="1200" smtClean="0"/>
            <a:t>Synchronous dependencies between services is tight coupling, does not scale very well, and the calling service may be impacted by errors in the called service</a:t>
          </a:r>
          <a:endParaRPr lang="en-US" sz="1100" kern="1200"/>
        </a:p>
        <a:p>
          <a:pPr marL="57150" lvl="1" indent="-57150" algn="l" defTabSz="488950">
            <a:lnSpc>
              <a:spcPct val="90000"/>
            </a:lnSpc>
            <a:spcBef>
              <a:spcPct val="0"/>
            </a:spcBef>
            <a:spcAft>
              <a:spcPct val="20000"/>
            </a:spcAft>
            <a:buChar char="••"/>
          </a:pPr>
          <a:r>
            <a:rPr lang="en-US" sz="1100" kern="1200" smtClean="0"/>
            <a:t>In Asynchronous communication,the calling service simply publishes it's request  and continues with other work</a:t>
          </a:r>
          <a:endParaRPr lang="en-US" sz="1100" kern="1200"/>
        </a:p>
        <a:p>
          <a:pPr marL="57150" lvl="1" indent="-57150" algn="l" defTabSz="488950">
            <a:lnSpc>
              <a:spcPct val="90000"/>
            </a:lnSpc>
            <a:spcBef>
              <a:spcPct val="0"/>
            </a:spcBef>
            <a:spcAft>
              <a:spcPct val="20000"/>
            </a:spcAft>
            <a:buChar char="••"/>
          </a:pPr>
          <a:r>
            <a:rPr lang="en-US" sz="1100" kern="1200" smtClean="0"/>
            <a:t>Problems in another service will not break this service</a:t>
          </a:r>
          <a:endParaRPr lang="en-US" sz="1100" kern="1200"/>
        </a:p>
      </dsp:txBody>
      <dsp:txXfrm>
        <a:off x="0" y="2916654"/>
        <a:ext cx="10515600" cy="536130"/>
      </dsp:txXfrm>
    </dsp:sp>
    <dsp:sp modelId="{F1658D2C-20B1-4166-BB81-928269386BE4}">
      <dsp:nvSpPr>
        <dsp:cNvPr id="0" name=""/>
        <dsp:cNvSpPr/>
      </dsp:nvSpPr>
      <dsp:spPr>
        <a:xfrm>
          <a:off x="0" y="3452784"/>
          <a:ext cx="10515600" cy="27846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l" defTabSz="533400" rtl="0">
            <a:lnSpc>
              <a:spcPct val="90000"/>
            </a:lnSpc>
            <a:spcBef>
              <a:spcPct val="0"/>
            </a:spcBef>
            <a:spcAft>
              <a:spcPct val="35000"/>
            </a:spcAft>
          </a:pPr>
          <a:r>
            <a:rPr lang="en-US" sz="1200" kern="1200" smtClean="0"/>
            <a:t>Best Technology For The Job Over One Technology For All</a:t>
          </a:r>
          <a:endParaRPr lang="en-US" sz="1200" kern="1200" dirty="0"/>
        </a:p>
      </dsp:txBody>
      <dsp:txXfrm>
        <a:off x="0" y="3452784"/>
        <a:ext cx="10515600" cy="278460"/>
      </dsp:txXfrm>
    </dsp:sp>
    <dsp:sp modelId="{163927B9-F169-4EBB-9513-B1A56D020A1E}">
      <dsp:nvSpPr>
        <dsp:cNvPr id="0" name=""/>
        <dsp:cNvSpPr/>
      </dsp:nvSpPr>
      <dsp:spPr>
        <a:xfrm>
          <a:off x="0" y="3731244"/>
          <a:ext cx="10515600" cy="362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17780" rIns="99568" bIns="17780" numCol="1" spcCol="1270" anchor="t" anchorCtr="0">
          <a:noAutofit/>
        </a:bodyPr>
        <a:lstStyle/>
        <a:p>
          <a:pPr marL="57150" lvl="1" indent="-57150" algn="l" defTabSz="488950">
            <a:lnSpc>
              <a:spcPct val="90000"/>
            </a:lnSpc>
            <a:spcBef>
              <a:spcPct val="0"/>
            </a:spcBef>
            <a:spcAft>
              <a:spcPct val="20000"/>
            </a:spcAft>
            <a:buChar char="••"/>
          </a:pPr>
          <a:r>
            <a:rPr lang="en-US" sz="1100" kern="1200" smtClean="0"/>
            <a:t>possibility to choose a different technology for each service</a:t>
          </a:r>
          <a:endParaRPr lang="en-US" sz="1100" kern="1200"/>
        </a:p>
        <a:p>
          <a:pPr marL="57150" lvl="1" indent="-57150" algn="l" defTabSz="488950">
            <a:lnSpc>
              <a:spcPct val="90000"/>
            </a:lnSpc>
            <a:spcBef>
              <a:spcPct val="0"/>
            </a:spcBef>
            <a:spcAft>
              <a:spcPct val="20000"/>
            </a:spcAft>
            <a:buChar char="••"/>
          </a:pPr>
          <a:r>
            <a:rPr lang="en-US" sz="1100" kern="1200" smtClean="0"/>
            <a:t>use the best tool for the job</a:t>
          </a:r>
          <a:endParaRPr lang="en-US" sz="1100" kern="1200"/>
        </a:p>
      </dsp:txBody>
      <dsp:txXfrm>
        <a:off x="0" y="3731244"/>
        <a:ext cx="10515600" cy="362250"/>
      </dsp:txXfrm>
    </dsp:sp>
    <dsp:sp modelId="{3D8D6E4D-E537-465E-9D04-EF6DC1C33EF4}">
      <dsp:nvSpPr>
        <dsp:cNvPr id="0" name=""/>
        <dsp:cNvSpPr/>
      </dsp:nvSpPr>
      <dsp:spPr>
        <a:xfrm>
          <a:off x="0" y="4093494"/>
          <a:ext cx="10515600" cy="27846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l" defTabSz="533400" rtl="0">
            <a:lnSpc>
              <a:spcPct val="90000"/>
            </a:lnSpc>
            <a:spcBef>
              <a:spcPct val="0"/>
            </a:spcBef>
            <a:spcAft>
              <a:spcPct val="35000"/>
            </a:spcAft>
          </a:pPr>
          <a:r>
            <a:rPr lang="en-US" sz="1200" kern="1200" smtClean="0"/>
            <a:t>One Team Is Responsible For Full Life Cycle Of A Micro Service</a:t>
          </a:r>
          <a:endParaRPr lang="en-US" sz="1200" kern="1200" dirty="0"/>
        </a:p>
      </dsp:txBody>
      <dsp:txXfrm>
        <a:off x="0" y="4093494"/>
        <a:ext cx="10515600" cy="278460"/>
      </dsp:txXfrm>
    </dsp:sp>
    <dsp:sp modelId="{F8A99662-C625-4B14-8F35-B4B2CC8786D2}">
      <dsp:nvSpPr>
        <dsp:cNvPr id="0" name=""/>
        <dsp:cNvSpPr/>
      </dsp:nvSpPr>
      <dsp:spPr>
        <a:xfrm>
          <a:off x="0" y="4371954"/>
          <a:ext cx="10515600" cy="383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15240" rIns="85344" bIns="15240" numCol="1" spcCol="1270" anchor="t" anchorCtr="0">
          <a:noAutofit/>
        </a:bodyPr>
        <a:lstStyle/>
        <a:p>
          <a:pPr marL="114300" lvl="1" indent="-114300" algn="l" defTabSz="533400">
            <a:lnSpc>
              <a:spcPct val="90000"/>
            </a:lnSpc>
            <a:spcBef>
              <a:spcPct val="0"/>
            </a:spcBef>
            <a:spcAft>
              <a:spcPct val="20000"/>
            </a:spcAft>
            <a:buChar char="••"/>
          </a:pPr>
          <a:r>
            <a:rPr lang="en-US" sz="1200" kern="1200" smtClean="0"/>
            <a:t> A single team can deploy and manage a service as well as create new versions and retire obsolete ones</a:t>
          </a:r>
          <a:endParaRPr lang="en-US" sz="1200" kern="1200" dirty="0"/>
        </a:p>
        <a:p>
          <a:pPr marL="114300" lvl="1" indent="-114300" algn="l" defTabSz="533400">
            <a:lnSpc>
              <a:spcPct val="90000"/>
            </a:lnSpc>
            <a:spcBef>
              <a:spcPct val="0"/>
            </a:spcBef>
            <a:spcAft>
              <a:spcPct val="20000"/>
            </a:spcAft>
            <a:buChar char="••"/>
          </a:pPr>
          <a:r>
            <a:rPr lang="en-US" sz="1200" kern="1200" smtClean="0"/>
            <a:t>Users of the service have a single point of contact for all questions regarding the use of the service</a:t>
          </a:r>
          <a:endParaRPr lang="en-US" sz="1200" kern="1200" dirty="0"/>
        </a:p>
      </dsp:txBody>
      <dsp:txXfrm>
        <a:off x="0" y="4371954"/>
        <a:ext cx="10515600" cy="383985"/>
      </dsp:txXfrm>
    </dsp:sp>
  </dsp:spTree>
</dsp:drawing>
</file>

<file path=ppt/diagrams/drawing9.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drawing10.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drawing1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9">
  <dgm:title val=""/>
  <dgm:desc val=""/>
  <dgm:catLst>
    <dgm:cat type="3D" pri="11900"/>
  </dgm:catLst>
  <dgm:scene3d>
    <a:camera prst="perspectiveRelaxed">
      <a:rot lat="19149996" lon="20104178" rev="1577324"/>
    </a:camera>
    <a:lightRig rig="soft" dir="t"/>
    <a:backdrop>
      <a:anchor x="0" y="0" z="-210000"/>
      <a:norm dx="0" dy="0" dz="914400"/>
      <a:up dx="0" dy="914400" dz="0"/>
    </a:backdrop>
  </dgm:scene3d>
  <dgm:styleLbl name="node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52250" prstMaterial="matte">
      <a:bevelT w="165100" prst="coolSlant"/>
    </dgm:sp3d>
    <dgm:txPr>
      <a:sp3d extrusionH="28000" prstMaterial="matte"/>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152250" prstMaterial="matte">
      <a:bevelT w="165100" prst="coolSlant"/>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prstMaterial="matte"/>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22735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2D4">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1D1">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prstMaterial="matte"/>
    <dgm:txPr/>
    <dgm:style>
      <a:lnRef idx="0">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a:sp3d extrusionH="28000" prstMaterial="matte"/>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9">
  <dgm:title val=""/>
  <dgm:desc val=""/>
  <dgm:catLst>
    <dgm:cat type="3D" pri="11900"/>
  </dgm:catLst>
  <dgm:scene3d>
    <a:camera prst="perspectiveRelaxed">
      <a:rot lat="19149996" lon="20104178" rev="1577324"/>
    </a:camera>
    <a:lightRig rig="soft" dir="t"/>
    <a:backdrop>
      <a:anchor x="0" y="0" z="-210000"/>
      <a:norm dx="0" dy="0" dz="914400"/>
      <a:up dx="0" dy="914400" dz="0"/>
    </a:backdrop>
  </dgm:scene3d>
  <dgm:styleLbl name="node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52250" prstMaterial="matte">
      <a:bevelT w="165100" prst="coolSlant"/>
    </dgm:sp3d>
    <dgm:txPr>
      <a:sp3d extrusionH="28000" prstMaterial="matte"/>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152250" prstMaterial="matte">
      <a:bevelT w="165100" prst="coolSlant"/>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prstMaterial="matte"/>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22735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2D4">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1D1">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prstMaterial="matte"/>
    <dgm:txPr/>
    <dgm:style>
      <a:lnRef idx="0">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a:sp3d extrusionH="28000" prstMaterial="matte"/>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6797675" cy="493176"/>
          </a:xfrm>
          <a:prstGeom prst="rect">
            <a:avLst/>
          </a:prstGeom>
        </p:spPr>
        <p:txBody>
          <a:bodyPr vert="horz" lIns="34625" tIns="34625" rIns="242374" bIns="34625" rtlCol="0" anchor="ctr"/>
          <a:lstStyle>
            <a:lvl1pPr algn="l">
              <a:defRPr sz="1200"/>
            </a:lvl1pPr>
          </a:lstStyle>
          <a:p>
            <a:pPr algn="r"/>
            <a:endParaRPr lang="de-DE" sz="1500" dirty="0">
              <a:latin typeface="Arial" pitchFamily="34" charset="0"/>
              <a:cs typeface="Arial" pitchFamily="34" charset="0"/>
            </a:endParaRPr>
          </a:p>
        </p:txBody>
      </p:sp>
      <p:sp>
        <p:nvSpPr>
          <p:cNvPr id="4" name="Footer Placeholder 3"/>
          <p:cNvSpPr>
            <a:spLocks noGrp="1"/>
          </p:cNvSpPr>
          <p:nvPr>
            <p:ph type="ftr" sz="quarter" idx="2"/>
          </p:nvPr>
        </p:nvSpPr>
        <p:spPr>
          <a:xfrm>
            <a:off x="0" y="9379542"/>
            <a:ext cx="2945862" cy="493176"/>
          </a:xfrm>
          <a:prstGeom prst="rect">
            <a:avLst/>
          </a:prstGeom>
        </p:spPr>
        <p:txBody>
          <a:bodyPr vert="horz" lIns="87947" tIns="43973" rIns="87947" bIns="43973" rtlCol="0" anchor="b"/>
          <a:lstStyle>
            <a:lvl1pPr algn="l">
              <a:defRPr sz="1200"/>
            </a:lvl1pPr>
          </a:lstStyle>
          <a:p>
            <a:r>
              <a:rPr lang="de-DE" sz="800" dirty="0" smtClean="0">
                <a:latin typeface="Arial" pitchFamily="34" charset="0"/>
                <a:cs typeface="Arial" pitchFamily="34" charset="0"/>
              </a:rPr>
              <a:t>© 2013 Capgemini. All </a:t>
            </a:r>
            <a:r>
              <a:rPr lang="de-DE" sz="800" dirty="0" err="1" smtClean="0">
                <a:latin typeface="Arial" pitchFamily="34" charset="0"/>
                <a:cs typeface="Arial" pitchFamily="34" charset="0"/>
              </a:rPr>
              <a:t>rights</a:t>
            </a:r>
            <a:r>
              <a:rPr lang="de-DE" sz="800" dirty="0" smtClean="0">
                <a:latin typeface="Arial" pitchFamily="34" charset="0"/>
                <a:cs typeface="Arial" pitchFamily="34" charset="0"/>
              </a:rPr>
              <a:t> </a:t>
            </a:r>
            <a:r>
              <a:rPr lang="de-DE" sz="800" dirty="0" err="1" smtClean="0">
                <a:latin typeface="Arial" pitchFamily="34" charset="0"/>
                <a:cs typeface="Arial" pitchFamily="34" charset="0"/>
              </a:rPr>
              <a:t>reserved</a:t>
            </a:r>
            <a:r>
              <a:rPr lang="de-DE" sz="800" dirty="0" smtClean="0">
                <a:latin typeface="Arial" pitchFamily="34" charset="0"/>
                <a:cs typeface="Arial" pitchFamily="34" charset="0"/>
              </a:rPr>
              <a:t>.</a:t>
            </a:r>
            <a:endParaRPr lang="de-DE" sz="800" dirty="0">
              <a:latin typeface="Arial" pitchFamily="34" charset="0"/>
              <a:cs typeface="Arial" pitchFamily="34" charset="0"/>
            </a:endParaRPr>
          </a:p>
        </p:txBody>
      </p:sp>
      <p:sp>
        <p:nvSpPr>
          <p:cNvPr id="5" name="Slide Number Placeholder 4"/>
          <p:cNvSpPr>
            <a:spLocks noGrp="1"/>
          </p:cNvSpPr>
          <p:nvPr>
            <p:ph type="sldNum" sz="quarter" idx="3"/>
          </p:nvPr>
        </p:nvSpPr>
        <p:spPr>
          <a:xfrm>
            <a:off x="3850294" y="9379542"/>
            <a:ext cx="2945862" cy="493176"/>
          </a:xfrm>
          <a:prstGeom prst="rect">
            <a:avLst/>
          </a:prstGeom>
        </p:spPr>
        <p:txBody>
          <a:bodyPr vert="horz" lIns="87947" tIns="43973" rIns="87947" bIns="43973" rtlCol="0" anchor="b"/>
          <a:lstStyle>
            <a:lvl1pPr algn="r">
              <a:defRPr sz="1200"/>
            </a:lvl1pPr>
          </a:lstStyle>
          <a:p>
            <a:fld id="{9EC16AE0-9542-4D5B-AF70-A50F5AFBFBE0}" type="slidenum">
              <a:rPr lang="de-DE" sz="800" smtClean="0">
                <a:latin typeface="Arial" pitchFamily="34" charset="0"/>
                <a:cs typeface="Arial" pitchFamily="34" charset="0"/>
              </a:rPr>
              <a:pPr/>
              <a:t>‹#›</a:t>
            </a:fld>
            <a:endParaRPr lang="de-DE" sz="800" dirty="0">
              <a:latin typeface="Arial" pitchFamily="34" charset="0"/>
              <a:cs typeface="Arial" pitchFamily="34" charset="0"/>
            </a:endParaRPr>
          </a:p>
        </p:txBody>
      </p:sp>
    </p:spTree>
    <p:extLst>
      <p:ext uri="{BB962C8B-B14F-4D97-AF65-F5344CB8AC3E}">
        <p14:creationId xmlns="" xmlns:p14="http://schemas.microsoft.com/office/powerpoint/2010/main" val="21399251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3713"/>
          </a:xfrm>
          <a:prstGeom prst="rect">
            <a:avLst/>
          </a:prstGeom>
        </p:spPr>
        <p:txBody>
          <a:bodyPr vert="horz" lIns="95264" tIns="47632" rIns="95264" bIns="47632" rtlCol="0"/>
          <a:lstStyle>
            <a:lvl1pPr algn="l">
              <a:defRPr sz="1200">
                <a:latin typeface="Arial" pitchFamily="34" charset="0"/>
                <a:cs typeface="Arial" pitchFamily="34" charset="0"/>
              </a:defRPr>
            </a:lvl1pPr>
          </a:lstStyle>
          <a:p>
            <a:endParaRPr lang="en-US" dirty="0"/>
          </a:p>
        </p:txBody>
      </p:sp>
      <p:sp>
        <p:nvSpPr>
          <p:cNvPr id="3" name="Date Placeholder 2"/>
          <p:cNvSpPr>
            <a:spLocks noGrp="1"/>
          </p:cNvSpPr>
          <p:nvPr>
            <p:ph type="dt" idx="1"/>
          </p:nvPr>
        </p:nvSpPr>
        <p:spPr>
          <a:xfrm>
            <a:off x="3850443" y="0"/>
            <a:ext cx="2945659" cy="493713"/>
          </a:xfrm>
          <a:prstGeom prst="rect">
            <a:avLst/>
          </a:prstGeom>
        </p:spPr>
        <p:txBody>
          <a:bodyPr vert="horz" lIns="95264" tIns="47632" rIns="95264" bIns="47632" rtlCol="0"/>
          <a:lstStyle>
            <a:lvl1pPr algn="r">
              <a:defRPr sz="1200">
                <a:latin typeface="Arial" pitchFamily="34" charset="0"/>
                <a:cs typeface="Arial" pitchFamily="34" charset="0"/>
              </a:defRPr>
            </a:lvl1pPr>
          </a:lstStyle>
          <a:p>
            <a:fld id="{2FB4FF29-EE9A-4D47-9F1A-289A80693C0F}" type="datetimeFigureOut">
              <a:rPr lang="en-US" smtClean="0"/>
              <a:pPr/>
              <a:t>5/8/2017</a:t>
            </a:fld>
            <a:endParaRPr lang="en-US" dirty="0"/>
          </a:p>
        </p:txBody>
      </p:sp>
      <p:sp>
        <p:nvSpPr>
          <p:cNvPr id="4" name="Slide Image Placeholder 3"/>
          <p:cNvSpPr>
            <a:spLocks noGrp="1" noRot="1" noChangeAspect="1"/>
          </p:cNvSpPr>
          <p:nvPr>
            <p:ph type="sldImg" idx="2"/>
          </p:nvPr>
        </p:nvSpPr>
        <p:spPr>
          <a:xfrm>
            <a:off x="438150" y="741363"/>
            <a:ext cx="5921375" cy="3702050"/>
          </a:xfrm>
          <a:prstGeom prst="rect">
            <a:avLst/>
          </a:prstGeom>
          <a:noFill/>
          <a:ln w="12700">
            <a:solidFill>
              <a:prstClr val="black"/>
            </a:solidFill>
          </a:ln>
        </p:spPr>
        <p:txBody>
          <a:bodyPr vert="horz" lIns="95264" tIns="47632" rIns="95264" bIns="47632" rtlCol="0" anchor="ctr"/>
          <a:lstStyle/>
          <a:p>
            <a:endParaRPr lang="de-DE"/>
          </a:p>
        </p:txBody>
      </p:sp>
      <p:sp>
        <p:nvSpPr>
          <p:cNvPr id="5" name="Notes Placeholder 4"/>
          <p:cNvSpPr>
            <a:spLocks noGrp="1"/>
          </p:cNvSpPr>
          <p:nvPr>
            <p:ph type="body" sz="quarter" idx="3"/>
          </p:nvPr>
        </p:nvSpPr>
        <p:spPr>
          <a:xfrm>
            <a:off x="679768" y="4690268"/>
            <a:ext cx="5438140" cy="4443413"/>
          </a:xfrm>
          <a:prstGeom prst="rect">
            <a:avLst/>
          </a:prstGeom>
        </p:spPr>
        <p:txBody>
          <a:bodyPr vert="horz" lIns="95264" tIns="47632" rIns="95264" bIns="47632"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378824"/>
            <a:ext cx="2945659" cy="493713"/>
          </a:xfrm>
          <a:prstGeom prst="rect">
            <a:avLst/>
          </a:prstGeom>
        </p:spPr>
        <p:txBody>
          <a:bodyPr vert="horz" lIns="95264" tIns="47632" rIns="95264" bIns="47632" rtlCol="0" anchor="b"/>
          <a:lstStyle>
            <a:lvl1pPr algn="l">
              <a:defRPr sz="1200">
                <a:latin typeface="Arial" pitchFamily="34" charset="0"/>
                <a:cs typeface="Arial" pitchFamily="34" charset="0"/>
              </a:defRPr>
            </a:lvl1pPr>
          </a:lstStyle>
          <a:p>
            <a:endParaRPr lang="en-US" dirty="0"/>
          </a:p>
        </p:txBody>
      </p:sp>
      <p:sp>
        <p:nvSpPr>
          <p:cNvPr id="7" name="Slide Number Placeholder 6"/>
          <p:cNvSpPr>
            <a:spLocks noGrp="1"/>
          </p:cNvSpPr>
          <p:nvPr>
            <p:ph type="sldNum" sz="quarter" idx="5"/>
          </p:nvPr>
        </p:nvSpPr>
        <p:spPr>
          <a:xfrm>
            <a:off x="3850443" y="9378824"/>
            <a:ext cx="2945659" cy="493713"/>
          </a:xfrm>
          <a:prstGeom prst="rect">
            <a:avLst/>
          </a:prstGeom>
        </p:spPr>
        <p:txBody>
          <a:bodyPr vert="horz" lIns="95264" tIns="47632" rIns="95264" bIns="47632" rtlCol="0" anchor="b"/>
          <a:lstStyle>
            <a:lvl1pPr algn="r">
              <a:defRPr sz="1200">
                <a:latin typeface="Arial" pitchFamily="34" charset="0"/>
                <a:cs typeface="Arial" pitchFamily="34" charset="0"/>
              </a:defRPr>
            </a:lvl1pPr>
          </a:lstStyle>
          <a:p>
            <a:fld id="{71E7D22E-2FCF-4181-8686-08BDCDF94062}" type="slidenum">
              <a:rPr lang="en-US" smtClean="0"/>
              <a:pPr/>
              <a:t>‹#›</a:t>
            </a:fld>
            <a:endParaRPr lang="en-US" dirty="0"/>
          </a:p>
        </p:txBody>
      </p:sp>
    </p:spTree>
    <p:extLst>
      <p:ext uri="{BB962C8B-B14F-4D97-AF65-F5344CB8AC3E}">
        <p14:creationId xmlns="" xmlns:p14="http://schemas.microsoft.com/office/powerpoint/2010/main" val="637692172"/>
      </p:ext>
    </p:extLst>
  </p:cSld>
  <p:clrMap bg1="lt1" tx1="dk1" bg2="lt2" tx2="dk2" accent1="accent1" accent2="accent2" accent3="accent3" accent4="accent4" accent5="accent5" accent6="accent6" hlink="hlink" folHlink="folHlink"/>
  <p:notesStyle>
    <a:lvl1pPr marL="0" algn="l" defTabSz="914342" rtl="0" eaLnBrk="1" latinLnBrk="0" hangingPunct="1">
      <a:defRPr sz="1200" kern="1200">
        <a:solidFill>
          <a:schemeClr val="tx1"/>
        </a:solidFill>
        <a:latin typeface="+mn-lt"/>
        <a:ea typeface="+mn-ea"/>
        <a:cs typeface="+mn-cs"/>
      </a:defRPr>
    </a:lvl1pPr>
    <a:lvl2pPr marL="457171" algn="l" defTabSz="914342" rtl="0" eaLnBrk="1" latinLnBrk="0" hangingPunct="1">
      <a:defRPr sz="1200" kern="1200">
        <a:solidFill>
          <a:schemeClr val="tx1"/>
        </a:solidFill>
        <a:latin typeface="+mn-lt"/>
        <a:ea typeface="+mn-ea"/>
        <a:cs typeface="+mn-cs"/>
      </a:defRPr>
    </a:lvl2pPr>
    <a:lvl3pPr marL="914342" algn="l" defTabSz="914342" rtl="0" eaLnBrk="1" latinLnBrk="0" hangingPunct="1">
      <a:defRPr sz="1200" kern="1200">
        <a:solidFill>
          <a:schemeClr val="tx1"/>
        </a:solidFill>
        <a:latin typeface="+mn-lt"/>
        <a:ea typeface="+mn-ea"/>
        <a:cs typeface="+mn-cs"/>
      </a:defRPr>
    </a:lvl3pPr>
    <a:lvl4pPr marL="1371513" algn="l" defTabSz="914342" rtl="0" eaLnBrk="1" latinLnBrk="0" hangingPunct="1">
      <a:defRPr sz="1200" kern="1200">
        <a:solidFill>
          <a:schemeClr val="tx1"/>
        </a:solidFill>
        <a:latin typeface="+mn-lt"/>
        <a:ea typeface="+mn-ea"/>
        <a:cs typeface="+mn-cs"/>
      </a:defRPr>
    </a:lvl4pPr>
    <a:lvl5pPr marL="1828684" algn="l" defTabSz="914342" rtl="0" eaLnBrk="1" latinLnBrk="0" hangingPunct="1">
      <a:defRPr sz="1200" kern="1200">
        <a:solidFill>
          <a:schemeClr val="tx1"/>
        </a:solidFill>
        <a:latin typeface="+mn-lt"/>
        <a:ea typeface="+mn-ea"/>
        <a:cs typeface="+mn-cs"/>
      </a:defRPr>
    </a:lvl5pPr>
    <a:lvl6pPr marL="2285855" algn="l" defTabSz="914342" rtl="0" eaLnBrk="1" latinLnBrk="0" hangingPunct="1">
      <a:defRPr sz="1200" kern="1200">
        <a:solidFill>
          <a:schemeClr val="tx1"/>
        </a:solidFill>
        <a:latin typeface="+mn-lt"/>
        <a:ea typeface="+mn-ea"/>
        <a:cs typeface="+mn-cs"/>
      </a:defRPr>
    </a:lvl6pPr>
    <a:lvl7pPr marL="2743026" algn="l" defTabSz="914342" rtl="0" eaLnBrk="1" latinLnBrk="0" hangingPunct="1">
      <a:defRPr sz="1200" kern="1200">
        <a:solidFill>
          <a:schemeClr val="tx1"/>
        </a:solidFill>
        <a:latin typeface="+mn-lt"/>
        <a:ea typeface="+mn-ea"/>
        <a:cs typeface="+mn-cs"/>
      </a:defRPr>
    </a:lvl7pPr>
    <a:lvl8pPr marL="3200198" algn="l" defTabSz="914342" rtl="0" eaLnBrk="1" latinLnBrk="0" hangingPunct="1">
      <a:defRPr sz="1200" kern="1200">
        <a:solidFill>
          <a:schemeClr val="tx1"/>
        </a:solidFill>
        <a:latin typeface="+mn-lt"/>
        <a:ea typeface="+mn-ea"/>
        <a:cs typeface="+mn-cs"/>
      </a:defRPr>
    </a:lvl8pPr>
    <a:lvl9pPr marL="3657369" algn="l" defTabSz="9143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741363"/>
            <a:ext cx="5921375" cy="370205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1E7D22E-2FCF-4181-8686-08BDCDF94062}"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741363"/>
            <a:ext cx="5921375" cy="3702050"/>
          </a:xfrm>
        </p:spPr>
      </p:sp>
      <p:sp>
        <p:nvSpPr>
          <p:cNvPr id="3" name="Notes Placeholder 2"/>
          <p:cNvSpPr>
            <a:spLocks noGrp="1"/>
          </p:cNvSpPr>
          <p:nvPr>
            <p:ph type="body" idx="1"/>
          </p:nvPr>
        </p:nvSpPr>
        <p:spPr/>
        <p:txBody>
          <a:bodyPr>
            <a:normAutofit/>
          </a:bodyPr>
          <a:lstStyle/>
          <a:p>
            <a:endParaRPr lang="en-US" baseline="0" dirty="0" smtClean="0"/>
          </a:p>
        </p:txBody>
      </p:sp>
      <p:sp>
        <p:nvSpPr>
          <p:cNvPr id="4" name="Slide Number Placeholder 3"/>
          <p:cNvSpPr>
            <a:spLocks noGrp="1"/>
          </p:cNvSpPr>
          <p:nvPr>
            <p:ph type="sldNum" sz="quarter" idx="10"/>
          </p:nvPr>
        </p:nvSpPr>
        <p:spPr/>
        <p:txBody>
          <a:bodyPr/>
          <a:lstStyle/>
          <a:p>
            <a:fld id="{71E7D22E-2FCF-4181-8686-08BDCDF94062}"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741363"/>
            <a:ext cx="5921375" cy="3702050"/>
          </a:xfrm>
        </p:spPr>
      </p:sp>
      <p:sp>
        <p:nvSpPr>
          <p:cNvPr id="3" name="Notes Placeholder 2"/>
          <p:cNvSpPr>
            <a:spLocks noGrp="1"/>
          </p:cNvSpPr>
          <p:nvPr>
            <p:ph type="body" idx="1"/>
          </p:nvPr>
        </p:nvSpPr>
        <p:spPr/>
        <p:txBody>
          <a:bodyPr>
            <a:normAutofit/>
          </a:bodyPr>
          <a:lstStyle/>
          <a:p>
            <a:endParaRPr lang="en-US" baseline="0" dirty="0" smtClean="0"/>
          </a:p>
        </p:txBody>
      </p:sp>
      <p:sp>
        <p:nvSpPr>
          <p:cNvPr id="4" name="Slide Number Placeholder 3"/>
          <p:cNvSpPr>
            <a:spLocks noGrp="1"/>
          </p:cNvSpPr>
          <p:nvPr>
            <p:ph type="sldNum" sz="quarter" idx="10"/>
          </p:nvPr>
        </p:nvSpPr>
        <p:spPr/>
        <p:txBody>
          <a:bodyPr/>
          <a:lstStyle/>
          <a:p>
            <a:fld id="{71E7D22E-2FCF-4181-8686-08BDCDF94062}" type="slidenum">
              <a:rPr lang="en-US" smtClean="0"/>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741363"/>
            <a:ext cx="5921375" cy="3702050"/>
          </a:xfrm>
        </p:spPr>
      </p:sp>
      <p:sp>
        <p:nvSpPr>
          <p:cNvPr id="3" name="Notes Placeholder 2"/>
          <p:cNvSpPr>
            <a:spLocks noGrp="1"/>
          </p:cNvSpPr>
          <p:nvPr>
            <p:ph type="body" idx="1"/>
          </p:nvPr>
        </p:nvSpPr>
        <p:spPr/>
        <p:txBody>
          <a:bodyPr>
            <a:normAutofit/>
          </a:bodyPr>
          <a:lstStyle/>
          <a:p>
            <a:endParaRPr lang="en-US" baseline="0" dirty="0" smtClean="0"/>
          </a:p>
        </p:txBody>
      </p:sp>
      <p:sp>
        <p:nvSpPr>
          <p:cNvPr id="4" name="Slide Number Placeholder 3"/>
          <p:cNvSpPr>
            <a:spLocks noGrp="1"/>
          </p:cNvSpPr>
          <p:nvPr>
            <p:ph type="sldNum" sz="quarter" idx="10"/>
          </p:nvPr>
        </p:nvSpPr>
        <p:spPr/>
        <p:txBody>
          <a:bodyPr/>
          <a:lstStyle/>
          <a:p>
            <a:fld id="{71E7D22E-2FCF-4181-8686-08BDCDF94062}" type="slidenum">
              <a:rPr lang="en-US" smtClean="0"/>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741363"/>
            <a:ext cx="5921375" cy="3702050"/>
          </a:xfrm>
        </p:spPr>
      </p:sp>
      <p:sp>
        <p:nvSpPr>
          <p:cNvPr id="3" name="Notes Placeholder 2"/>
          <p:cNvSpPr>
            <a:spLocks noGrp="1"/>
          </p:cNvSpPr>
          <p:nvPr>
            <p:ph type="body" idx="1"/>
          </p:nvPr>
        </p:nvSpPr>
        <p:spPr/>
        <p:txBody>
          <a:bodyPr>
            <a:normAutofit/>
          </a:bodyPr>
          <a:lstStyle/>
          <a:p>
            <a:endParaRPr lang="en-US" baseline="0" dirty="0" smtClean="0"/>
          </a:p>
        </p:txBody>
      </p:sp>
      <p:sp>
        <p:nvSpPr>
          <p:cNvPr id="4" name="Slide Number Placeholder 3"/>
          <p:cNvSpPr>
            <a:spLocks noGrp="1"/>
          </p:cNvSpPr>
          <p:nvPr>
            <p:ph type="sldNum" sz="quarter" idx="10"/>
          </p:nvPr>
        </p:nvSpPr>
        <p:spPr/>
        <p:txBody>
          <a:bodyPr/>
          <a:lstStyle/>
          <a:p>
            <a:fld id="{71E7D22E-2FCF-4181-8686-08BDCDF94062}" type="slidenum">
              <a:rPr lang="en-US" smtClean="0"/>
              <a:pPr/>
              <a:t>6</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741363"/>
            <a:ext cx="5921375" cy="37020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E7D22E-2FCF-4181-8686-08BDCDF94062}" type="slidenum">
              <a:rPr lang="en-US" smtClean="0">
                <a:solidFill>
                  <a:prstClr val="black"/>
                </a:solidFill>
              </a:rPr>
              <a:pPr/>
              <a:t>10</a:t>
            </a:fld>
            <a:endParaRPr lang="en-US" dirty="0">
              <a:solidFill>
                <a:prstClr val="black"/>
              </a:solidFill>
            </a:endParaRPr>
          </a:p>
        </p:txBody>
      </p:sp>
    </p:spTree>
    <p:extLst>
      <p:ext uri="{BB962C8B-B14F-4D97-AF65-F5344CB8AC3E}">
        <p14:creationId xmlns="" xmlns:p14="http://schemas.microsoft.com/office/powerpoint/2010/main" val="5487398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741363"/>
            <a:ext cx="5921375" cy="37020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E7D22E-2FCF-4181-8686-08BDCDF94062}" type="slidenum">
              <a:rPr lang="en-US" smtClean="0">
                <a:solidFill>
                  <a:prstClr val="black"/>
                </a:solidFill>
              </a:rPr>
              <a:pPr/>
              <a:t>11</a:t>
            </a:fld>
            <a:endParaRPr lang="en-US" dirty="0">
              <a:solidFill>
                <a:prstClr val="black"/>
              </a:solidFill>
            </a:endParaRPr>
          </a:p>
        </p:txBody>
      </p:sp>
    </p:spTree>
    <p:extLst>
      <p:ext uri="{BB962C8B-B14F-4D97-AF65-F5344CB8AC3E}">
        <p14:creationId xmlns="" xmlns:p14="http://schemas.microsoft.com/office/powerpoint/2010/main" val="38526590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741363"/>
            <a:ext cx="5921375" cy="37020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E7D22E-2FCF-4181-8686-08BDCDF94062}" type="slidenum">
              <a:rPr lang="en-US" smtClean="0">
                <a:solidFill>
                  <a:prstClr val="black"/>
                </a:solidFill>
              </a:rPr>
              <a:pPr/>
              <a:t>12</a:t>
            </a:fld>
            <a:endParaRPr lang="en-US" dirty="0">
              <a:solidFill>
                <a:prstClr val="black"/>
              </a:solidFill>
            </a:endParaRPr>
          </a:p>
        </p:txBody>
      </p:sp>
    </p:spTree>
    <p:extLst>
      <p:ext uri="{BB962C8B-B14F-4D97-AF65-F5344CB8AC3E}">
        <p14:creationId xmlns="" xmlns:p14="http://schemas.microsoft.com/office/powerpoint/2010/main" val="29168791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741363"/>
            <a:ext cx="5921375" cy="37020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E7D22E-2FCF-4181-8686-08BDCDF94062}" type="slidenum">
              <a:rPr lang="en-US" smtClean="0">
                <a:solidFill>
                  <a:prstClr val="black"/>
                </a:solidFill>
              </a:rPr>
              <a:pPr/>
              <a:t>14</a:t>
            </a:fld>
            <a:endParaRPr lang="en-US" dirty="0">
              <a:solidFill>
                <a:prstClr val="black"/>
              </a:solidFill>
            </a:endParaRPr>
          </a:p>
        </p:txBody>
      </p:sp>
    </p:spTree>
    <p:extLst>
      <p:ext uri="{BB962C8B-B14F-4D97-AF65-F5344CB8AC3E}">
        <p14:creationId xmlns="" xmlns:p14="http://schemas.microsoft.com/office/powerpoint/2010/main" val="35729876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741363"/>
            <a:ext cx="5921375" cy="37020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E7D22E-2FCF-4181-8686-08BDCDF94062}" type="slidenum">
              <a:rPr lang="en-US" smtClean="0">
                <a:solidFill>
                  <a:prstClr val="black"/>
                </a:solidFill>
              </a:rPr>
              <a:pPr/>
              <a:t>15</a:t>
            </a:fld>
            <a:endParaRPr lang="en-US" dirty="0">
              <a:solidFill>
                <a:prstClr val="black"/>
              </a:solidFill>
            </a:endParaRPr>
          </a:p>
        </p:txBody>
      </p:sp>
    </p:spTree>
    <p:extLst>
      <p:ext uri="{BB962C8B-B14F-4D97-AF65-F5344CB8AC3E}">
        <p14:creationId xmlns="" xmlns:p14="http://schemas.microsoft.com/office/powerpoint/2010/main" val="32516291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741363"/>
            <a:ext cx="5921375" cy="37020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E7D22E-2FCF-4181-8686-08BDCDF94062}" type="slidenum">
              <a:rPr lang="en-US" smtClean="0">
                <a:solidFill>
                  <a:prstClr val="black"/>
                </a:solidFill>
              </a:rPr>
              <a:pPr/>
              <a:t>16</a:t>
            </a:fld>
            <a:endParaRPr lang="en-US" dirty="0">
              <a:solidFill>
                <a:prstClr val="black"/>
              </a:solidFill>
            </a:endParaRPr>
          </a:p>
        </p:txBody>
      </p:sp>
    </p:spTree>
    <p:extLst>
      <p:ext uri="{BB962C8B-B14F-4D97-AF65-F5344CB8AC3E}">
        <p14:creationId xmlns="" xmlns:p14="http://schemas.microsoft.com/office/powerpoint/2010/main" val="12578437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741363"/>
            <a:ext cx="5921375" cy="37020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E7D22E-2FCF-4181-8686-08BDCDF94062}" type="slidenum">
              <a:rPr lang="en-US" smtClean="0">
                <a:solidFill>
                  <a:prstClr val="black"/>
                </a:solidFill>
              </a:rPr>
              <a:pPr/>
              <a:t>17</a:t>
            </a:fld>
            <a:endParaRPr lang="en-US" dirty="0">
              <a:solidFill>
                <a:prstClr val="black"/>
              </a:solidFill>
            </a:endParaRPr>
          </a:p>
        </p:txBody>
      </p:sp>
    </p:spTree>
    <p:extLst>
      <p:ext uri="{BB962C8B-B14F-4D97-AF65-F5344CB8AC3E}">
        <p14:creationId xmlns="" xmlns:p14="http://schemas.microsoft.com/office/powerpoint/2010/main" val="33799294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741363"/>
            <a:ext cx="5921375" cy="37020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E7D22E-2FCF-4181-8686-08BDCDF94062}" type="slidenum">
              <a:rPr lang="en-US" smtClean="0">
                <a:solidFill>
                  <a:prstClr val="black"/>
                </a:solidFill>
              </a:rPr>
              <a:pPr/>
              <a:t>18</a:t>
            </a:fld>
            <a:endParaRPr lang="en-US" dirty="0">
              <a:solidFill>
                <a:prstClr val="black"/>
              </a:solidFill>
            </a:endParaRPr>
          </a:p>
        </p:txBody>
      </p:sp>
    </p:spTree>
    <p:extLst>
      <p:ext uri="{BB962C8B-B14F-4D97-AF65-F5344CB8AC3E}">
        <p14:creationId xmlns="" xmlns:p14="http://schemas.microsoft.com/office/powerpoint/2010/main" val="11947913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741363"/>
            <a:ext cx="5921375" cy="37020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E7D22E-2FCF-4181-8686-08BDCDF94062}" type="slidenum">
              <a:rPr lang="en-US" smtClean="0">
                <a:solidFill>
                  <a:prstClr val="black"/>
                </a:solidFill>
              </a:rPr>
              <a:pPr/>
              <a:t>20</a:t>
            </a:fld>
            <a:endParaRPr lang="en-US" dirty="0">
              <a:solidFill>
                <a:prstClr val="black"/>
              </a:solidFill>
            </a:endParaRPr>
          </a:p>
        </p:txBody>
      </p:sp>
    </p:spTree>
    <p:extLst>
      <p:ext uri="{BB962C8B-B14F-4D97-AF65-F5344CB8AC3E}">
        <p14:creationId xmlns="" xmlns:p14="http://schemas.microsoft.com/office/powerpoint/2010/main" val="34039629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741363"/>
            <a:ext cx="5921375" cy="37020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E7D22E-2FCF-4181-8686-08BDCDF94062}" type="slidenum">
              <a:rPr lang="en-US" smtClean="0">
                <a:solidFill>
                  <a:prstClr val="black"/>
                </a:solidFill>
              </a:rPr>
              <a:pPr/>
              <a:t>21</a:t>
            </a:fld>
            <a:endParaRPr lang="en-US" dirty="0">
              <a:solidFill>
                <a:prstClr val="black"/>
              </a:solidFill>
            </a:endParaRPr>
          </a:p>
        </p:txBody>
      </p:sp>
    </p:spTree>
    <p:extLst>
      <p:ext uri="{BB962C8B-B14F-4D97-AF65-F5344CB8AC3E}">
        <p14:creationId xmlns="" xmlns:p14="http://schemas.microsoft.com/office/powerpoint/2010/main" val="21818267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741363"/>
            <a:ext cx="5921375" cy="37020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E7D22E-2FCF-4181-8686-08BDCDF94062}" type="slidenum">
              <a:rPr lang="en-US" smtClean="0">
                <a:solidFill>
                  <a:prstClr val="black"/>
                </a:solidFill>
              </a:rPr>
              <a:pPr/>
              <a:t>22</a:t>
            </a:fld>
            <a:endParaRPr lang="en-US" dirty="0">
              <a:solidFill>
                <a:prstClr val="black"/>
              </a:solidFill>
            </a:endParaRPr>
          </a:p>
        </p:txBody>
      </p:sp>
    </p:spTree>
    <p:extLst>
      <p:ext uri="{BB962C8B-B14F-4D97-AF65-F5344CB8AC3E}">
        <p14:creationId xmlns="" xmlns:p14="http://schemas.microsoft.com/office/powerpoint/2010/main" val="14372698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741363"/>
            <a:ext cx="5921375" cy="37020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E7D22E-2FCF-4181-8686-08BDCDF94062}" type="slidenum">
              <a:rPr lang="en-US" smtClean="0">
                <a:solidFill>
                  <a:prstClr val="black"/>
                </a:solidFill>
              </a:rPr>
              <a:pPr/>
              <a:t>23</a:t>
            </a:fld>
            <a:endParaRPr lang="en-US" dirty="0">
              <a:solidFill>
                <a:prstClr val="black"/>
              </a:solidFill>
            </a:endParaRPr>
          </a:p>
        </p:txBody>
      </p:sp>
    </p:spTree>
    <p:extLst>
      <p:ext uri="{BB962C8B-B14F-4D97-AF65-F5344CB8AC3E}">
        <p14:creationId xmlns="" xmlns:p14="http://schemas.microsoft.com/office/powerpoint/2010/main" val="20957140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741363"/>
            <a:ext cx="5921375" cy="37020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E7D22E-2FCF-4181-8686-08BDCDF94062}" type="slidenum">
              <a:rPr lang="en-US" smtClean="0">
                <a:solidFill>
                  <a:prstClr val="black"/>
                </a:solidFill>
              </a:rPr>
              <a:pPr/>
              <a:t>24</a:t>
            </a:fld>
            <a:endParaRPr lang="en-US" dirty="0">
              <a:solidFill>
                <a:prstClr val="black"/>
              </a:solidFill>
            </a:endParaRPr>
          </a:p>
        </p:txBody>
      </p:sp>
    </p:spTree>
    <p:extLst>
      <p:ext uri="{BB962C8B-B14F-4D97-AF65-F5344CB8AC3E}">
        <p14:creationId xmlns="" xmlns:p14="http://schemas.microsoft.com/office/powerpoint/2010/main" val="35130607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741363"/>
            <a:ext cx="5921375" cy="37020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E7D22E-2FCF-4181-8686-08BDCDF94062}" type="slidenum">
              <a:rPr lang="en-US" smtClean="0">
                <a:solidFill>
                  <a:prstClr val="black"/>
                </a:solidFill>
              </a:rPr>
              <a:pPr/>
              <a:t>25</a:t>
            </a:fld>
            <a:endParaRPr lang="en-US" dirty="0">
              <a:solidFill>
                <a:prstClr val="black"/>
              </a:solidFill>
            </a:endParaRPr>
          </a:p>
        </p:txBody>
      </p:sp>
    </p:spTree>
    <p:extLst>
      <p:ext uri="{BB962C8B-B14F-4D97-AF65-F5344CB8AC3E}">
        <p14:creationId xmlns="" xmlns:p14="http://schemas.microsoft.com/office/powerpoint/2010/main" val="12927086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741363"/>
            <a:ext cx="5921375" cy="37020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E7D22E-2FCF-4181-8686-08BDCDF94062}" type="slidenum">
              <a:rPr lang="en-US" smtClean="0">
                <a:solidFill>
                  <a:prstClr val="black"/>
                </a:solidFill>
              </a:rPr>
              <a:pPr/>
              <a:t>26</a:t>
            </a:fld>
            <a:endParaRPr lang="en-US" dirty="0">
              <a:solidFill>
                <a:prstClr val="black"/>
              </a:solidFill>
            </a:endParaRPr>
          </a:p>
        </p:txBody>
      </p:sp>
    </p:spTree>
    <p:extLst>
      <p:ext uri="{BB962C8B-B14F-4D97-AF65-F5344CB8AC3E}">
        <p14:creationId xmlns="" xmlns:p14="http://schemas.microsoft.com/office/powerpoint/2010/main" val="3206629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741363"/>
            <a:ext cx="5921375" cy="37020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E7D22E-2FCF-4181-8686-08BDCDF94062}" type="slidenum">
              <a:rPr lang="en-US" smtClean="0">
                <a:solidFill>
                  <a:prstClr val="black"/>
                </a:solidFill>
              </a:rPr>
              <a:pPr/>
              <a:t>27</a:t>
            </a:fld>
            <a:endParaRPr lang="en-US" dirty="0">
              <a:solidFill>
                <a:prstClr val="black"/>
              </a:solidFill>
            </a:endParaRPr>
          </a:p>
        </p:txBody>
      </p:sp>
    </p:spTree>
    <p:extLst>
      <p:ext uri="{BB962C8B-B14F-4D97-AF65-F5344CB8AC3E}">
        <p14:creationId xmlns="" xmlns:p14="http://schemas.microsoft.com/office/powerpoint/2010/main" val="4789838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741363"/>
            <a:ext cx="5921375" cy="37020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E7D22E-2FCF-4181-8686-08BDCDF94062}" type="slidenum">
              <a:rPr lang="en-US" smtClean="0">
                <a:solidFill>
                  <a:prstClr val="black"/>
                </a:solidFill>
              </a:rPr>
              <a:pPr/>
              <a:t>28</a:t>
            </a:fld>
            <a:endParaRPr lang="en-US" dirty="0">
              <a:solidFill>
                <a:prstClr val="black"/>
              </a:solidFill>
            </a:endParaRPr>
          </a:p>
        </p:txBody>
      </p:sp>
    </p:spTree>
    <p:extLst>
      <p:ext uri="{BB962C8B-B14F-4D97-AF65-F5344CB8AC3E}">
        <p14:creationId xmlns="" xmlns:p14="http://schemas.microsoft.com/office/powerpoint/2010/main" val="36015367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741363"/>
            <a:ext cx="5921375" cy="37020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E7D22E-2FCF-4181-8686-08BDCDF94062}" type="slidenum">
              <a:rPr lang="en-US" smtClean="0">
                <a:solidFill>
                  <a:prstClr val="black"/>
                </a:solidFill>
              </a:rPr>
              <a:pPr/>
              <a:t>29</a:t>
            </a:fld>
            <a:endParaRPr lang="en-US" dirty="0">
              <a:solidFill>
                <a:prstClr val="black"/>
              </a:solidFill>
            </a:endParaRPr>
          </a:p>
        </p:txBody>
      </p:sp>
    </p:spTree>
    <p:extLst>
      <p:ext uri="{BB962C8B-B14F-4D97-AF65-F5344CB8AC3E}">
        <p14:creationId xmlns="" xmlns:p14="http://schemas.microsoft.com/office/powerpoint/2010/main" val="17978977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741363"/>
            <a:ext cx="5921375" cy="37020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E7D22E-2FCF-4181-8686-08BDCDF94062}" type="slidenum">
              <a:rPr lang="en-US" smtClean="0">
                <a:solidFill>
                  <a:prstClr val="black"/>
                </a:solidFill>
              </a:rPr>
              <a:pPr/>
              <a:t>30</a:t>
            </a:fld>
            <a:endParaRPr lang="en-US" dirty="0">
              <a:solidFill>
                <a:prstClr val="black"/>
              </a:solidFill>
            </a:endParaRPr>
          </a:p>
        </p:txBody>
      </p:sp>
    </p:spTree>
    <p:extLst>
      <p:ext uri="{BB962C8B-B14F-4D97-AF65-F5344CB8AC3E}">
        <p14:creationId xmlns="" xmlns:p14="http://schemas.microsoft.com/office/powerpoint/2010/main" val="33670885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E7D22E-2FCF-4181-8686-08BDCDF94062}" type="slidenum">
              <a:rPr lang="en-US" smtClean="0"/>
              <a:pPr/>
              <a:t>33</a:t>
            </a:fld>
            <a:endParaRPr lang="en-US" dirty="0"/>
          </a:p>
        </p:txBody>
      </p:sp>
    </p:spTree>
    <p:extLst>
      <p:ext uri="{BB962C8B-B14F-4D97-AF65-F5344CB8AC3E}">
        <p14:creationId xmlns:p14="http://schemas.microsoft.com/office/powerpoint/2010/main" xmlns="" val="22605284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741363"/>
            <a:ext cx="5921375" cy="37020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E7D22E-2FCF-4181-8686-08BDCDF94062}" type="slidenum">
              <a:rPr lang="en-US" smtClean="0">
                <a:solidFill>
                  <a:prstClr val="black"/>
                </a:solidFill>
              </a:rPr>
              <a:pPr/>
              <a:t>34</a:t>
            </a:fld>
            <a:endParaRPr lang="en-US" dirty="0">
              <a:solidFill>
                <a:prstClr val="black"/>
              </a:solidFill>
            </a:endParaRPr>
          </a:p>
        </p:txBody>
      </p:sp>
    </p:spTree>
    <p:extLst>
      <p:ext uri="{BB962C8B-B14F-4D97-AF65-F5344CB8AC3E}">
        <p14:creationId xmlns="" xmlns:p14="http://schemas.microsoft.com/office/powerpoint/2010/main" val="33670885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741363"/>
            <a:ext cx="5921375" cy="3702050"/>
          </a:xfrm>
        </p:spPr>
      </p:sp>
      <p:sp>
        <p:nvSpPr>
          <p:cNvPr id="3" name="Notes Placeholder 2"/>
          <p:cNvSpPr>
            <a:spLocks noGrp="1"/>
          </p:cNvSpPr>
          <p:nvPr>
            <p:ph type="body" idx="1"/>
          </p:nvPr>
        </p:nvSpPr>
        <p:spPr/>
        <p:txBody>
          <a:bodyPr>
            <a:normAutofit/>
          </a:bodyPr>
          <a:lstStyle/>
          <a:p>
            <a:pPr marL="0" marR="0" indent="0" algn="l" defTabSz="914342"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latin typeface="+mn-lt"/>
                <a:ea typeface="+mn-ea"/>
                <a:cs typeface="+mn-cs"/>
              </a:rPr>
              <a:t>All of this makes </a:t>
            </a:r>
            <a:r>
              <a:rPr lang="en-US" sz="1200" b="0" i="0" kern="1200" dirty="0" err="1" smtClean="0">
                <a:solidFill>
                  <a:schemeClr val="tx1"/>
                </a:solidFill>
                <a:latin typeface="+mn-lt"/>
                <a:ea typeface="+mn-ea"/>
                <a:cs typeface="+mn-cs"/>
              </a:rPr>
              <a:t>microservices</a:t>
            </a:r>
            <a:r>
              <a:rPr lang="en-US" sz="1200" b="0" i="0" kern="1200" dirty="0" smtClean="0">
                <a:solidFill>
                  <a:schemeClr val="tx1"/>
                </a:solidFill>
                <a:latin typeface="+mn-lt"/>
                <a:ea typeface="+mn-ea"/>
                <a:cs typeface="+mn-cs"/>
              </a:rPr>
              <a:t> useful for </a:t>
            </a:r>
            <a:r>
              <a:rPr lang="en-US" sz="1200" b="0" i="0" kern="1200" dirty="0" err="1" smtClean="0">
                <a:solidFill>
                  <a:schemeClr val="tx1"/>
                </a:solidFill>
                <a:latin typeface="+mn-lt"/>
                <a:ea typeface="+mn-ea"/>
                <a:cs typeface="+mn-cs"/>
              </a:rPr>
              <a:t>cloudnative</a:t>
            </a:r>
            <a:r>
              <a:rPr lang="en-US" sz="1200" b="0" i="0" kern="1200" dirty="0" smtClean="0">
                <a:solidFill>
                  <a:schemeClr val="tx1"/>
                </a:solidFill>
                <a:latin typeface="+mn-lt"/>
                <a:ea typeface="+mn-ea"/>
                <a:cs typeface="+mn-cs"/>
              </a:rPr>
              <a:t> applications, which are designed to run in cloud environments with lots of commodity hardware resources that can dynamically respond to fluctuations in demand for certain applications</a:t>
            </a:r>
            <a:endParaRPr lang="en-US" dirty="0" smtClean="0"/>
          </a:p>
          <a:p>
            <a:endParaRPr lang="en-US" dirty="0" smtClean="0"/>
          </a:p>
          <a:p>
            <a:r>
              <a:rPr lang="en-US" dirty="0" smtClean="0"/>
              <a:t>Benefits of </a:t>
            </a:r>
            <a:r>
              <a:rPr lang="en-US" dirty="0" err="1" smtClean="0"/>
              <a:t>Microservices</a:t>
            </a:r>
            <a:endParaRPr lang="en-US" dirty="0" smtClean="0"/>
          </a:p>
          <a:p>
            <a:endParaRPr lang="en-US" baseline="0" dirty="0" smtClean="0"/>
          </a:p>
          <a:p>
            <a:pPr lvl="0" rtl="0">
              <a:buFont typeface="Wingdings" pitchFamily="2" charset="2"/>
              <a:buChar char="§"/>
            </a:pPr>
            <a:r>
              <a:rPr lang="en-US" sz="1200" dirty="0" smtClean="0"/>
              <a:t>Quicker App development cycle</a:t>
            </a:r>
          </a:p>
          <a:p>
            <a:pPr lvl="0" rtl="0">
              <a:buFont typeface="Wingdings" pitchFamily="2" charset="2"/>
              <a:buChar char="§"/>
            </a:pPr>
            <a:r>
              <a:rPr lang="en-US" sz="1200" dirty="0" smtClean="0"/>
              <a:t>Resilient/Flexible – failure in one service does not impact other services</a:t>
            </a:r>
          </a:p>
          <a:p>
            <a:pPr lvl="0" rtl="0">
              <a:buFont typeface="Wingdings" pitchFamily="2" charset="2"/>
              <a:buChar char="§"/>
            </a:pPr>
            <a:r>
              <a:rPr lang="en-US" sz="1200" dirty="0" smtClean="0"/>
              <a:t>High scalability – scaling </a:t>
            </a:r>
            <a:r>
              <a:rPr lang="en-US" sz="1200" dirty="0" err="1" smtClean="0"/>
              <a:t>microservices</a:t>
            </a:r>
            <a:r>
              <a:rPr lang="en-US" sz="1200" dirty="0" smtClean="0"/>
              <a:t> on demand</a:t>
            </a:r>
          </a:p>
          <a:p>
            <a:pPr lvl="0" rtl="0">
              <a:buFont typeface="Wingdings" pitchFamily="2" charset="2"/>
              <a:buChar char="§"/>
            </a:pPr>
            <a:r>
              <a:rPr lang="en-US" sz="1200" dirty="0" smtClean="0"/>
              <a:t>Easy to enhance – less dependency and easy to change and test</a:t>
            </a:r>
          </a:p>
          <a:p>
            <a:pPr lvl="0" rtl="0">
              <a:buFont typeface="Wingdings" pitchFamily="2" charset="2"/>
              <a:buChar char="§"/>
            </a:pPr>
            <a:r>
              <a:rPr lang="en-US" sz="1200" dirty="0" smtClean="0"/>
              <a:t>Low impact on other services –easy to throw away</a:t>
            </a:r>
          </a:p>
          <a:p>
            <a:pPr lvl="0" rtl="0">
              <a:buFont typeface="Wingdings" pitchFamily="2" charset="2"/>
              <a:buChar char="§"/>
            </a:pPr>
            <a:r>
              <a:rPr lang="en-US" sz="1200" dirty="0" smtClean="0"/>
              <a:t>Small, easy to understand code base</a:t>
            </a:r>
          </a:p>
          <a:p>
            <a:pPr lvl="0" rtl="0">
              <a:buFont typeface="Wingdings" pitchFamily="2" charset="2"/>
              <a:buChar char="§"/>
            </a:pPr>
            <a:r>
              <a:rPr lang="en-US" sz="1200" dirty="0" smtClean="0"/>
              <a:t>Ease of deployment</a:t>
            </a:r>
          </a:p>
          <a:p>
            <a:pPr lvl="0" rtl="0">
              <a:buFont typeface="Wingdings" pitchFamily="2" charset="2"/>
              <a:buChar char="§"/>
            </a:pPr>
            <a:r>
              <a:rPr lang="en-US" sz="1200" dirty="0" smtClean="0"/>
              <a:t>Ability to use a different technology stack </a:t>
            </a:r>
            <a:br>
              <a:rPr lang="en-US" sz="1200" dirty="0" smtClean="0"/>
            </a:br>
            <a:endParaRPr lang="en-US" sz="1200" dirty="0" smtClean="0"/>
          </a:p>
          <a:p>
            <a:pPr>
              <a:buFont typeface="Wingdings" pitchFamily="2" charset="2"/>
              <a:buChar char="§"/>
            </a:pPr>
            <a:endParaRPr lang="en-US" baseline="0" dirty="0" smtClean="0"/>
          </a:p>
        </p:txBody>
      </p:sp>
      <p:sp>
        <p:nvSpPr>
          <p:cNvPr id="4" name="Slide Number Placeholder 3"/>
          <p:cNvSpPr>
            <a:spLocks noGrp="1"/>
          </p:cNvSpPr>
          <p:nvPr>
            <p:ph type="sldNum" sz="quarter" idx="10"/>
          </p:nvPr>
        </p:nvSpPr>
        <p:spPr/>
        <p:txBody>
          <a:bodyPr/>
          <a:lstStyle/>
          <a:p>
            <a:fld id="{71E7D22E-2FCF-4181-8686-08BDCDF94062}" type="slidenum">
              <a:rPr lang="en-US" smtClean="0"/>
              <a:pPr/>
              <a:t>36</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741363"/>
            <a:ext cx="5921375" cy="3702050"/>
          </a:xfrm>
        </p:spPr>
      </p:sp>
      <p:sp>
        <p:nvSpPr>
          <p:cNvPr id="3" name="Notes Placeholder 2"/>
          <p:cNvSpPr>
            <a:spLocks noGrp="1"/>
          </p:cNvSpPr>
          <p:nvPr>
            <p:ph type="body" idx="1"/>
          </p:nvPr>
        </p:nvSpPr>
        <p:spPr/>
        <p:txBody>
          <a:bodyPr>
            <a:normAutofit/>
          </a:bodyPr>
          <a:lstStyle/>
          <a:p>
            <a:endParaRPr lang="en-US" baseline="0" dirty="0" smtClean="0"/>
          </a:p>
        </p:txBody>
      </p:sp>
      <p:sp>
        <p:nvSpPr>
          <p:cNvPr id="4" name="Slide Number Placeholder 3"/>
          <p:cNvSpPr>
            <a:spLocks noGrp="1"/>
          </p:cNvSpPr>
          <p:nvPr>
            <p:ph type="sldNum" sz="quarter" idx="10"/>
          </p:nvPr>
        </p:nvSpPr>
        <p:spPr/>
        <p:txBody>
          <a:bodyPr/>
          <a:lstStyle/>
          <a:p>
            <a:fld id="{71E7D22E-2FCF-4181-8686-08BDCDF94062}" type="slidenum">
              <a:rPr lang="en-US" smtClean="0"/>
              <a:pPr/>
              <a:t>38</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741363"/>
            <a:ext cx="5921375" cy="3702050"/>
          </a:xfrm>
        </p:spPr>
      </p:sp>
      <p:sp>
        <p:nvSpPr>
          <p:cNvPr id="3" name="Notes Placeholder 2"/>
          <p:cNvSpPr>
            <a:spLocks noGrp="1"/>
          </p:cNvSpPr>
          <p:nvPr>
            <p:ph type="body" idx="1"/>
          </p:nvPr>
        </p:nvSpPr>
        <p:spPr/>
        <p:txBody>
          <a:bodyPr>
            <a:normAutofit/>
          </a:bodyPr>
          <a:lstStyle/>
          <a:p>
            <a:endParaRPr lang="en-US" baseline="0" dirty="0" smtClean="0"/>
          </a:p>
        </p:txBody>
      </p:sp>
      <p:sp>
        <p:nvSpPr>
          <p:cNvPr id="4" name="Slide Number Placeholder 3"/>
          <p:cNvSpPr>
            <a:spLocks noGrp="1"/>
          </p:cNvSpPr>
          <p:nvPr>
            <p:ph type="sldNum" sz="quarter" idx="10"/>
          </p:nvPr>
        </p:nvSpPr>
        <p:spPr/>
        <p:txBody>
          <a:bodyPr/>
          <a:lstStyle/>
          <a:p>
            <a:fld id="{71E7D22E-2FCF-4181-8686-08BDCDF94062}" type="slidenum">
              <a:rPr lang="en-US" smtClean="0"/>
              <a:pPr/>
              <a:t>39</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741363"/>
            <a:ext cx="5921375" cy="3702050"/>
          </a:xfrm>
        </p:spPr>
      </p:sp>
      <p:sp>
        <p:nvSpPr>
          <p:cNvPr id="3" name="Notes Placeholder 2"/>
          <p:cNvSpPr>
            <a:spLocks noGrp="1"/>
          </p:cNvSpPr>
          <p:nvPr>
            <p:ph type="body" idx="1"/>
          </p:nvPr>
        </p:nvSpPr>
        <p:spPr/>
        <p:txBody>
          <a:bodyPr>
            <a:normAutofit/>
          </a:bodyPr>
          <a:lstStyle/>
          <a:p>
            <a:endParaRPr lang="en-US" baseline="0" dirty="0" smtClean="0"/>
          </a:p>
        </p:txBody>
      </p:sp>
      <p:sp>
        <p:nvSpPr>
          <p:cNvPr id="4" name="Slide Number Placeholder 3"/>
          <p:cNvSpPr>
            <a:spLocks noGrp="1"/>
          </p:cNvSpPr>
          <p:nvPr>
            <p:ph type="sldNum" sz="quarter" idx="10"/>
          </p:nvPr>
        </p:nvSpPr>
        <p:spPr/>
        <p:txBody>
          <a:bodyPr/>
          <a:lstStyle/>
          <a:p>
            <a:fld id="{71E7D22E-2FCF-4181-8686-08BDCDF94062}" type="slidenum">
              <a:rPr lang="en-US" smtClean="0"/>
              <a:pPr/>
              <a:t>40</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741363"/>
            <a:ext cx="5921375" cy="3702050"/>
          </a:xfrm>
        </p:spPr>
      </p:sp>
      <p:sp>
        <p:nvSpPr>
          <p:cNvPr id="3" name="Notes Placeholder 2"/>
          <p:cNvSpPr>
            <a:spLocks noGrp="1"/>
          </p:cNvSpPr>
          <p:nvPr>
            <p:ph type="body" idx="1"/>
          </p:nvPr>
        </p:nvSpPr>
        <p:spPr/>
        <p:txBody>
          <a:bodyPr>
            <a:normAutofit/>
          </a:bodyPr>
          <a:lstStyle/>
          <a:p>
            <a:endParaRPr lang="en-US" baseline="0" dirty="0" smtClean="0"/>
          </a:p>
        </p:txBody>
      </p:sp>
      <p:sp>
        <p:nvSpPr>
          <p:cNvPr id="4" name="Slide Number Placeholder 3"/>
          <p:cNvSpPr>
            <a:spLocks noGrp="1"/>
          </p:cNvSpPr>
          <p:nvPr>
            <p:ph type="sldNum" sz="quarter" idx="10"/>
          </p:nvPr>
        </p:nvSpPr>
        <p:spPr/>
        <p:txBody>
          <a:bodyPr/>
          <a:lstStyle/>
          <a:p>
            <a:fld id="{71E7D22E-2FCF-4181-8686-08BDCDF94062}" type="slidenum">
              <a:rPr lang="en-US" smtClean="0"/>
              <a:pPr/>
              <a:t>41</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l"/>
            <a:r>
              <a:rPr lang="en-US" sz="1050" dirty="0" smtClean="0">
                <a:solidFill>
                  <a:schemeClr val="tx1"/>
                </a:solidFill>
              </a:rPr>
              <a:t>Any Language that is supported in the cloud environment can be used to develop </a:t>
            </a:r>
            <a:r>
              <a:rPr lang="en-US" sz="1050" dirty="0" err="1" smtClean="0">
                <a:solidFill>
                  <a:schemeClr val="tx1"/>
                </a:solidFill>
              </a:rPr>
              <a:t>microservices</a:t>
            </a:r>
            <a:endParaRPr lang="en-US" sz="1050" dirty="0" smtClean="0">
              <a:solidFill>
                <a:schemeClr val="tx1"/>
              </a:solidFill>
            </a:endParaRPr>
          </a:p>
          <a:p>
            <a:pPr algn="l"/>
            <a:endParaRPr lang="en-US" sz="1050" dirty="0" smtClean="0">
              <a:solidFill>
                <a:schemeClr val="tx1"/>
              </a:solidFill>
            </a:endParaRPr>
          </a:p>
          <a:p>
            <a:pPr algn="l"/>
            <a:r>
              <a:rPr lang="en-US" sz="1050" dirty="0" smtClean="0">
                <a:solidFill>
                  <a:schemeClr val="tx1"/>
                </a:solidFill>
              </a:rPr>
              <a:t>When designing how services will communicate, we need to consider various issues: how services interact, how to specify the API for each service, how to evolve the APIs, and how to handle partial failure. There are two kinds of IPC mechanisms that </a:t>
            </a:r>
            <a:r>
              <a:rPr lang="en-US" sz="1050" dirty="0" err="1" smtClean="0">
                <a:solidFill>
                  <a:schemeClr val="tx1"/>
                </a:solidFill>
              </a:rPr>
              <a:t>microservices</a:t>
            </a:r>
            <a:r>
              <a:rPr lang="en-US" sz="1050" dirty="0" smtClean="0">
                <a:solidFill>
                  <a:schemeClr val="tx1"/>
                </a:solidFill>
              </a:rPr>
              <a:t> can use, asynchronous messaging and synchronous request/response</a:t>
            </a:r>
          </a:p>
          <a:p>
            <a:pPr algn="l"/>
            <a:endParaRPr lang="en-US" sz="1050" dirty="0"/>
          </a:p>
        </p:txBody>
      </p:sp>
      <p:sp>
        <p:nvSpPr>
          <p:cNvPr id="4" name="Slide Number Placeholder 3"/>
          <p:cNvSpPr>
            <a:spLocks noGrp="1"/>
          </p:cNvSpPr>
          <p:nvPr>
            <p:ph type="sldNum" sz="quarter" idx="10"/>
          </p:nvPr>
        </p:nvSpPr>
        <p:spPr/>
        <p:txBody>
          <a:bodyPr/>
          <a:lstStyle/>
          <a:p>
            <a:fld id="{71E7D22E-2FCF-4181-8686-08BDCDF94062}" type="slidenum">
              <a:rPr lang="en-US" smtClean="0"/>
              <a:pPr/>
              <a:t>44</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E7D22E-2FCF-4181-8686-08BDCDF94062}" type="slidenum">
              <a:rPr lang="en-US" smtClean="0"/>
              <a:pPr/>
              <a:t>45</a:t>
            </a:fld>
            <a:endParaRPr lang="en-US" dirty="0"/>
          </a:p>
        </p:txBody>
      </p:sp>
    </p:spTree>
    <p:extLst>
      <p:ext uri="{BB962C8B-B14F-4D97-AF65-F5344CB8AC3E}">
        <p14:creationId xmlns="" xmlns:p14="http://schemas.microsoft.com/office/powerpoint/2010/main" val="226052844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E7D22E-2FCF-4181-8686-08BDCDF94062}" type="slidenum">
              <a:rPr lang="en-US" smtClean="0"/>
              <a:pPr/>
              <a:t>46</a:t>
            </a:fld>
            <a:endParaRPr lang="en-US" dirty="0"/>
          </a:p>
        </p:txBody>
      </p:sp>
    </p:spTree>
    <p:extLst>
      <p:ext uri="{BB962C8B-B14F-4D97-AF65-F5344CB8AC3E}">
        <p14:creationId xmlns:p14="http://schemas.microsoft.com/office/powerpoint/2010/main" xmlns="" val="226052844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741363"/>
            <a:ext cx="5921375" cy="3702050"/>
          </a:xfrm>
        </p:spPr>
      </p:sp>
      <p:sp>
        <p:nvSpPr>
          <p:cNvPr id="3" name="Notes Placeholder 2"/>
          <p:cNvSpPr>
            <a:spLocks noGrp="1"/>
          </p:cNvSpPr>
          <p:nvPr>
            <p:ph type="body" idx="1"/>
          </p:nvPr>
        </p:nvSpPr>
        <p:spPr/>
        <p:txBody>
          <a:bodyPr>
            <a:normAutofit/>
          </a:bodyPr>
          <a:lstStyle/>
          <a:p>
            <a:endParaRPr lang="en-US" baseline="0" dirty="0" smtClean="0"/>
          </a:p>
        </p:txBody>
      </p:sp>
      <p:sp>
        <p:nvSpPr>
          <p:cNvPr id="4" name="Slide Number Placeholder 3"/>
          <p:cNvSpPr>
            <a:spLocks noGrp="1"/>
          </p:cNvSpPr>
          <p:nvPr>
            <p:ph type="sldNum" sz="quarter" idx="10"/>
          </p:nvPr>
        </p:nvSpPr>
        <p:spPr/>
        <p:txBody>
          <a:bodyPr/>
          <a:lstStyle/>
          <a:p>
            <a:fld id="{71E7D22E-2FCF-4181-8686-08BDCDF94062}" type="slidenum">
              <a:rPr lang="en-US" smtClean="0"/>
              <a:pPr/>
              <a:t>47</a:t>
            </a:fld>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741363"/>
            <a:ext cx="5921375" cy="37020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E7D22E-2FCF-4181-8686-08BDCDF94062}" type="slidenum">
              <a:rPr lang="en-US" smtClean="0"/>
              <a:pPr/>
              <a:t>52</a:t>
            </a:fld>
            <a:endParaRPr lang="en-US" dirty="0"/>
          </a:p>
        </p:txBody>
      </p:sp>
    </p:spTree>
    <p:extLst>
      <p:ext uri="{BB962C8B-B14F-4D97-AF65-F5344CB8AC3E}">
        <p14:creationId xmlns="" xmlns:p14="http://schemas.microsoft.com/office/powerpoint/2010/main" val="1024057116"/>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11.xml"/><Relationship Id="rId7" Type="http://schemas.openxmlformats.org/officeDocument/2006/relationships/tags" Target="../tags/tag15.xml"/><Relationship Id="rId12" Type="http://schemas.openxmlformats.org/officeDocument/2006/relationships/image" Target="../media/image5.png"/><Relationship Id="rId2" Type="http://schemas.openxmlformats.org/officeDocument/2006/relationships/tags" Target="../tags/tag10.xml"/><Relationship Id="rId1" Type="http://schemas.openxmlformats.org/officeDocument/2006/relationships/vmlDrawing" Target="../drawings/vmlDrawing2.vml"/><Relationship Id="rId6" Type="http://schemas.openxmlformats.org/officeDocument/2006/relationships/tags" Target="../tags/tag14.xml"/><Relationship Id="rId11" Type="http://schemas.openxmlformats.org/officeDocument/2006/relationships/image" Target="../media/image4.emf"/><Relationship Id="rId5" Type="http://schemas.openxmlformats.org/officeDocument/2006/relationships/tags" Target="../tags/tag13.xml"/><Relationship Id="rId10" Type="http://schemas.openxmlformats.org/officeDocument/2006/relationships/oleObject" Target="../embeddings/oleObject2.bin"/><Relationship Id="rId4" Type="http://schemas.openxmlformats.org/officeDocument/2006/relationships/tags" Target="../tags/tag12.xml"/><Relationship Id="rId9"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vmlDrawing" Target="../drawings/vmlDrawing3.vml"/></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6.xml"/><Relationship Id="rId1" Type="http://schemas.openxmlformats.org/officeDocument/2006/relationships/vmlDrawing" Target="../drawings/vmlDrawing4.vml"/><Relationship Id="rId4" Type="http://schemas.openxmlformats.org/officeDocument/2006/relationships/oleObject" Target="../embeddings/oleObject4.bin"/></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tags" Target="../tags/tag28.xml"/><Relationship Id="rId7" Type="http://schemas.openxmlformats.org/officeDocument/2006/relationships/oleObject" Target="../embeddings/oleObject6.bin"/><Relationship Id="rId2" Type="http://schemas.openxmlformats.org/officeDocument/2006/relationships/tags" Target="../tags/tag27.xml"/><Relationship Id="rId1" Type="http://schemas.openxmlformats.org/officeDocument/2006/relationships/vmlDrawing" Target="../drawings/vmlDrawing6.vml"/><Relationship Id="rId6" Type="http://schemas.openxmlformats.org/officeDocument/2006/relationships/slideMaster" Target="../slideMasters/slideMaster2.xml"/><Relationship Id="rId5" Type="http://schemas.openxmlformats.org/officeDocument/2006/relationships/tags" Target="../tags/tag30.xml"/><Relationship Id="rId4" Type="http://schemas.openxmlformats.org/officeDocument/2006/relationships/tags" Target="../tags/tag29.xml"/></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1.xml"/><Relationship Id="rId1" Type="http://schemas.openxmlformats.org/officeDocument/2006/relationships/vmlDrawing" Target="../drawings/vmlDrawing7.vml"/><Relationship Id="rId5" Type="http://schemas.openxmlformats.org/officeDocument/2006/relationships/image" Target="../media/image12.png"/><Relationship Id="rId4" Type="http://schemas.openxmlformats.org/officeDocument/2006/relationships/oleObject" Target="../embeddings/oleObject7.bin"/></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2.xml"/><Relationship Id="rId1" Type="http://schemas.openxmlformats.org/officeDocument/2006/relationships/vmlDrawing" Target="../drawings/vmlDrawing8.v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vmlDrawing" Target="../drawings/vmlDrawing10.vml"/><Relationship Id="rId6" Type="http://schemas.openxmlformats.org/officeDocument/2006/relationships/image" Target="../media/image13.png"/><Relationship Id="rId5" Type="http://schemas.openxmlformats.org/officeDocument/2006/relationships/oleObject" Target="../embeddings/oleObject10.bin"/><Relationship Id="rId4"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vmlDrawing" Target="../drawings/vmlDrawing11.vml"/><Relationship Id="rId6" Type="http://schemas.openxmlformats.org/officeDocument/2006/relationships/oleObject" Target="../embeddings/oleObject11.bin"/><Relationship Id="rId5" Type="http://schemas.openxmlformats.org/officeDocument/2006/relationships/image" Target="../media/image14.jpeg"/><Relationship Id="rId4"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8" Type="http://schemas.openxmlformats.org/officeDocument/2006/relationships/slideMaster" Target="../slideMasters/slideMaster6.xml"/><Relationship Id="rId3" Type="http://schemas.openxmlformats.org/officeDocument/2006/relationships/tags" Target="../tags/tag45.xml"/><Relationship Id="rId7" Type="http://schemas.openxmlformats.org/officeDocument/2006/relationships/tags" Target="../tags/tag49.xml"/><Relationship Id="rId12" Type="http://schemas.openxmlformats.org/officeDocument/2006/relationships/image" Target="../media/image5.png"/><Relationship Id="rId2" Type="http://schemas.openxmlformats.org/officeDocument/2006/relationships/tags" Target="../tags/tag44.xml"/><Relationship Id="rId1" Type="http://schemas.openxmlformats.org/officeDocument/2006/relationships/vmlDrawing" Target="../drawings/vmlDrawing13.vml"/><Relationship Id="rId6" Type="http://schemas.openxmlformats.org/officeDocument/2006/relationships/tags" Target="../tags/tag48.xml"/><Relationship Id="rId11" Type="http://schemas.openxmlformats.org/officeDocument/2006/relationships/image" Target="../media/image4.emf"/><Relationship Id="rId5" Type="http://schemas.openxmlformats.org/officeDocument/2006/relationships/tags" Target="../tags/tag47.xml"/><Relationship Id="rId10" Type="http://schemas.openxmlformats.org/officeDocument/2006/relationships/oleObject" Target="../embeddings/oleObject13.bin"/><Relationship Id="rId4" Type="http://schemas.openxmlformats.org/officeDocument/2006/relationships/tags" Target="../tags/tag46.xml"/><Relationship Id="rId9" Type="http://schemas.openxmlformats.org/officeDocument/2006/relationships/image" Target="../media/image15.jpeg"/></Relationships>
</file>

<file path=ppt/slideLayouts/_rels/slideLayout33.xml.rels><?xml version="1.0" encoding="UTF-8" standalone="yes"?>
<Relationships xmlns="http://schemas.openxmlformats.org/package/2006/relationships"><Relationship Id="rId8" Type="http://schemas.openxmlformats.org/officeDocument/2006/relationships/slideMaster" Target="../slideMasters/slideMaster6.xml"/><Relationship Id="rId3" Type="http://schemas.openxmlformats.org/officeDocument/2006/relationships/tags" Target="../tags/tag51.xml"/><Relationship Id="rId7" Type="http://schemas.openxmlformats.org/officeDocument/2006/relationships/tags" Target="../tags/tag55.xml"/><Relationship Id="rId12" Type="http://schemas.openxmlformats.org/officeDocument/2006/relationships/image" Target="../media/image4.emf"/><Relationship Id="rId2" Type="http://schemas.openxmlformats.org/officeDocument/2006/relationships/tags" Target="../tags/tag50.xml"/><Relationship Id="rId1" Type="http://schemas.openxmlformats.org/officeDocument/2006/relationships/vmlDrawing" Target="../drawings/vmlDrawing14.vml"/><Relationship Id="rId6" Type="http://schemas.openxmlformats.org/officeDocument/2006/relationships/tags" Target="../tags/tag54.xml"/><Relationship Id="rId11" Type="http://schemas.openxmlformats.org/officeDocument/2006/relationships/image" Target="../media/image5.png"/><Relationship Id="rId5" Type="http://schemas.openxmlformats.org/officeDocument/2006/relationships/tags" Target="../tags/tag53.xml"/><Relationship Id="rId10" Type="http://schemas.openxmlformats.org/officeDocument/2006/relationships/oleObject" Target="../embeddings/oleObject14.bin"/><Relationship Id="rId4" Type="http://schemas.openxmlformats.org/officeDocument/2006/relationships/tags" Target="../tags/tag52.xml"/><Relationship Id="rId9" Type="http://schemas.openxmlformats.org/officeDocument/2006/relationships/image" Target="../media/image14.jpeg"/></Relationships>
</file>

<file path=ppt/slideLayouts/_rels/slideLayout34.xml.rels><?xml version="1.0" encoding="UTF-8" standalone="yes"?>
<Relationships xmlns="http://schemas.openxmlformats.org/package/2006/relationships"><Relationship Id="rId3" Type="http://schemas.openxmlformats.org/officeDocument/2006/relationships/tags" Target="../tags/tag57.xml"/><Relationship Id="rId7" Type="http://schemas.openxmlformats.org/officeDocument/2006/relationships/oleObject" Target="../embeddings/oleObject15.bin"/><Relationship Id="rId2" Type="http://schemas.openxmlformats.org/officeDocument/2006/relationships/tags" Target="../tags/tag56.xml"/><Relationship Id="rId1" Type="http://schemas.openxmlformats.org/officeDocument/2006/relationships/vmlDrawing" Target="../drawings/vmlDrawing15.vml"/><Relationship Id="rId6" Type="http://schemas.openxmlformats.org/officeDocument/2006/relationships/image" Target="../media/image16.jpeg"/><Relationship Id="rId5" Type="http://schemas.openxmlformats.org/officeDocument/2006/relationships/slideMaster" Target="../slideMasters/slideMaster6.xml"/><Relationship Id="rId4" Type="http://schemas.openxmlformats.org/officeDocument/2006/relationships/tags" Target="../tags/tag58.xml"/></Relationships>
</file>

<file path=ppt/slideLayouts/_rels/slideLayout35.xml.rels><?xml version="1.0" encoding="UTF-8" standalone="yes"?>
<Relationships xmlns="http://schemas.openxmlformats.org/package/2006/relationships"><Relationship Id="rId3" Type="http://schemas.openxmlformats.org/officeDocument/2006/relationships/slideMaster" Target="../slideMasters/slideMaster6.xml"/><Relationship Id="rId2" Type="http://schemas.openxmlformats.org/officeDocument/2006/relationships/tags" Target="../tags/tag59.xml"/><Relationship Id="rId1" Type="http://schemas.openxmlformats.org/officeDocument/2006/relationships/vmlDrawing" Target="../drawings/vmlDrawing16.vml"/><Relationship Id="rId4" Type="http://schemas.openxmlformats.org/officeDocument/2006/relationships/oleObject" Target="../embeddings/oleObject16.bin"/></Relationships>
</file>

<file path=ppt/slideLayouts/_rels/slideLayout36.xml.rels><?xml version="1.0" encoding="UTF-8" standalone="yes"?>
<Relationships xmlns="http://schemas.openxmlformats.org/package/2006/relationships"><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vmlDrawing" Target="../drawings/vmlDrawing17.vml"/><Relationship Id="rId6" Type="http://schemas.openxmlformats.org/officeDocument/2006/relationships/oleObject" Target="../embeddings/oleObject17.bin"/><Relationship Id="rId5" Type="http://schemas.openxmlformats.org/officeDocument/2006/relationships/slideMaster" Target="../slideMasters/slideMaster6.xml"/><Relationship Id="rId4" Type="http://schemas.openxmlformats.org/officeDocument/2006/relationships/tags" Target="../tags/tag62.xml"/></Relationships>
</file>

<file path=ppt/slideLayouts/_rels/slideLayout37.xml.rels><?xml version="1.0" encoding="UTF-8" standalone="yes"?>
<Relationships xmlns="http://schemas.openxmlformats.org/package/2006/relationships"><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vmlDrawing" Target="../drawings/vmlDrawing18.vml"/><Relationship Id="rId6" Type="http://schemas.openxmlformats.org/officeDocument/2006/relationships/oleObject" Target="../embeddings/oleObject18.bin"/><Relationship Id="rId5" Type="http://schemas.openxmlformats.org/officeDocument/2006/relationships/slideMaster" Target="../slideMasters/slideMaster6.xml"/><Relationship Id="rId4" Type="http://schemas.openxmlformats.org/officeDocument/2006/relationships/tags" Target="../tags/tag65.xml"/></Relationships>
</file>

<file path=ppt/slideLayouts/_rels/slideLayout38.xml.rels><?xml version="1.0" encoding="UTF-8" standalone="yes"?>
<Relationships xmlns="http://schemas.openxmlformats.org/package/2006/relationships"><Relationship Id="rId8" Type="http://schemas.openxmlformats.org/officeDocument/2006/relationships/oleObject" Target="../embeddings/oleObject19.bin"/><Relationship Id="rId3" Type="http://schemas.openxmlformats.org/officeDocument/2006/relationships/tags" Target="../tags/tag67.xml"/><Relationship Id="rId7" Type="http://schemas.openxmlformats.org/officeDocument/2006/relationships/slideMaster" Target="../slideMasters/slideMaster6.xml"/><Relationship Id="rId2" Type="http://schemas.openxmlformats.org/officeDocument/2006/relationships/tags" Target="../tags/tag66.xml"/><Relationship Id="rId1" Type="http://schemas.openxmlformats.org/officeDocument/2006/relationships/vmlDrawing" Target="../drawings/vmlDrawing19.vml"/><Relationship Id="rId6" Type="http://schemas.openxmlformats.org/officeDocument/2006/relationships/tags" Target="../tags/tag70.xml"/><Relationship Id="rId5" Type="http://schemas.openxmlformats.org/officeDocument/2006/relationships/tags" Target="../tags/tag69.xml"/><Relationship Id="rId4" Type="http://schemas.openxmlformats.org/officeDocument/2006/relationships/tags" Target="../tags/tag68.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6.xml"/><Relationship Id="rId1" Type="http://schemas.openxmlformats.org/officeDocument/2006/relationships/vmlDrawing" Target="../drawings/vmlDrawing20.vml"/></Relationships>
</file>

<file path=ppt/slideLayouts/_rels/slideLayout41.xml.rels><?xml version="1.0" encoding="UTF-8" standalone="yes"?>
<Relationships xmlns="http://schemas.openxmlformats.org/package/2006/relationships"><Relationship Id="rId3" Type="http://schemas.openxmlformats.org/officeDocument/2006/relationships/slideMaster" Target="../slideMasters/slideMaster6.xml"/><Relationship Id="rId2" Type="http://schemas.openxmlformats.org/officeDocument/2006/relationships/tags" Target="../tags/tag71.xml"/><Relationship Id="rId1" Type="http://schemas.openxmlformats.org/officeDocument/2006/relationships/vmlDrawing" Target="../drawings/vmlDrawing21.vml"/><Relationship Id="rId4" Type="http://schemas.openxmlformats.org/officeDocument/2006/relationships/oleObject" Target="../embeddings/oleObject21.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1">
    <p:spTree>
      <p:nvGrpSpPr>
        <p:cNvPr id="1" name=""/>
        <p:cNvGrpSpPr/>
        <p:nvPr/>
      </p:nvGrpSpPr>
      <p:grpSpPr>
        <a:xfrm>
          <a:off x="0" y="0"/>
          <a:ext cx="0" cy="0"/>
          <a:chOff x="0" y="0"/>
          <a:chExt cx="0" cy="0"/>
        </a:xfrm>
      </p:grpSpPr>
      <p:pic>
        <p:nvPicPr>
          <p:cNvPr id="14" name="Picture 13"/>
          <p:cNvPicPr>
            <a:picLocks noChangeAspect="1" noChangeArrowheads="1"/>
          </p:cNvPicPr>
          <p:nvPr userDrawn="1"/>
        </p:nvPicPr>
        <p:blipFill>
          <a:blip r:embed="rId9" cstate="screen"/>
          <a:srcRect/>
          <a:stretch>
            <a:fillRect/>
          </a:stretch>
        </p:blipFill>
        <p:spPr bwMode="auto">
          <a:xfrm>
            <a:off x="-1" y="881083"/>
            <a:ext cx="10981490" cy="5612339"/>
          </a:xfrm>
          <a:prstGeom prst="rect">
            <a:avLst/>
          </a:prstGeom>
          <a:noFill/>
          <a:ln w="9525">
            <a:noFill/>
            <a:miter lim="800000"/>
            <a:headEnd/>
            <a:tailEnd/>
          </a:ln>
          <a:effectLst/>
        </p:spPr>
      </p:pic>
      <p:sp>
        <p:nvSpPr>
          <p:cNvPr id="18" name="Rectangle 17"/>
          <p:cNvSpPr/>
          <p:nvPr userDrawn="1">
            <p:custDataLst>
              <p:tags r:id="rId2"/>
            </p:custDataLst>
          </p:nvPr>
        </p:nvSpPr>
        <p:spPr>
          <a:xfrm>
            <a:off x="0" y="6400876"/>
            <a:ext cx="10972800" cy="4571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83969" tIns="41985" rIns="83969" bIns="41985" rtlCol="0" anchor="ctr"/>
          <a:lstStyle/>
          <a:p>
            <a:pPr algn="ctr"/>
            <a:endParaRPr lang="en-US" sz="1300" dirty="0" smtClean="0"/>
          </a:p>
        </p:txBody>
      </p:sp>
      <p:sp>
        <p:nvSpPr>
          <p:cNvPr id="17" name="Rectangle 7"/>
          <p:cNvSpPr/>
          <p:nvPr userDrawn="1">
            <p:custDataLst>
              <p:tags r:id="rId3"/>
            </p:custDataLst>
          </p:nvPr>
        </p:nvSpPr>
        <p:spPr bwMode="auto">
          <a:xfrm>
            <a:off x="-2273" y="1"/>
            <a:ext cx="10975074" cy="2683033"/>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62072" h="2958168">
                <a:moveTo>
                  <a:pt x="1331" y="2791"/>
                </a:moveTo>
                <a:lnTo>
                  <a:pt x="10561655" y="0"/>
                </a:lnTo>
                <a:cubicBezTo>
                  <a:pt x="10562168" y="67600"/>
                  <a:pt x="10562411" y="1432923"/>
                  <a:pt x="10561157" y="1476338"/>
                </a:cubicBezTo>
                <a:cubicBezTo>
                  <a:pt x="10083761" y="2148347"/>
                  <a:pt x="9705180" y="2158423"/>
                  <a:pt x="9288594" y="2153103"/>
                </a:cubicBezTo>
                <a:lnTo>
                  <a:pt x="2317558" y="2159512"/>
                </a:lnTo>
                <a:cubicBezTo>
                  <a:pt x="1740344" y="2192654"/>
                  <a:pt x="1372498" y="2495346"/>
                  <a:pt x="1180889" y="2958168"/>
                </a:cubicBezTo>
                <a:cubicBezTo>
                  <a:pt x="882535" y="2254391"/>
                  <a:pt x="278640" y="2173187"/>
                  <a:pt x="0" y="2174065"/>
                </a:cubicBezTo>
                <a:cubicBezTo>
                  <a:pt x="2067" y="2138552"/>
                  <a:pt x="2603" y="98373"/>
                  <a:pt x="1331" y="2791"/>
                </a:cubicBezTo>
                <a:close/>
              </a:path>
            </a:pathLst>
          </a:custGeom>
          <a:solidFill>
            <a:schemeClr val="bg1"/>
          </a:solidFill>
          <a:ln w="12700" cmpd="sng" algn="ctr">
            <a:noFill/>
            <a:miter lim="800000"/>
            <a:headEnd/>
            <a:tailEnd/>
          </a:ln>
          <a:effectLst>
            <a:outerShdw blurRad="41275" dist="38100" dir="5400000" algn="t" rotWithShape="0">
              <a:schemeClr val="bg1">
                <a:lumMod val="65000"/>
                <a:alpha val="25000"/>
              </a:schemeClr>
            </a:outerShdw>
          </a:effectLst>
        </p:spPr>
        <p:txBody>
          <a:bodyPr wrap="square" lIns="33059" tIns="42976" rIns="33059" bIns="42976" rtlCol="0" anchor="ctr"/>
          <a:lstStyle/>
          <a:p>
            <a:pPr algn="ctr" fontAlgn="auto">
              <a:spcBef>
                <a:spcPts val="0"/>
              </a:spcBef>
              <a:spcAft>
                <a:spcPts val="0"/>
              </a:spcAft>
            </a:pPr>
            <a:endParaRPr lang="en-US" sz="1000" dirty="0" smtClean="0">
              <a:solidFill>
                <a:schemeClr val="bg1"/>
              </a:solidFill>
              <a:latin typeface="Arial"/>
              <a:cs typeface="Arial"/>
            </a:endParaRPr>
          </a:p>
        </p:txBody>
      </p:sp>
      <p:graphicFrame>
        <p:nvGraphicFramePr>
          <p:cNvPr id="5" name="Object 4" hidden="1"/>
          <p:cNvGraphicFramePr>
            <a:graphicFrameLocks noChangeAspect="1"/>
          </p:cNvGraphicFramePr>
          <p:nvPr/>
        </p:nvGraphicFramePr>
        <p:xfrm>
          <a:off x="1" y="0"/>
          <a:ext cx="175846" cy="158750"/>
        </p:xfrm>
        <a:graphic>
          <a:graphicData uri="http://schemas.openxmlformats.org/presentationml/2006/ole">
            <p:oleObj spid="_x0000_s1219" name="think-cell Slide" r:id="rId10" imgW="360" imgH="360" progId="">
              <p:embed/>
            </p:oleObj>
          </a:graphicData>
        </a:graphic>
      </p:graphicFrame>
      <p:pic>
        <p:nvPicPr>
          <p:cNvPr id="10" name="Picture 104" descr="C:\Users\UserSim\Desktop\Capgemini\moto.emf"/>
          <p:cNvPicPr>
            <a:picLocks noChangeAspect="1" noChangeArrowheads="1"/>
          </p:cNvPicPr>
          <p:nvPr userDrawn="1">
            <p:custDataLst>
              <p:tags r:id="rId4"/>
            </p:custDataLst>
          </p:nvPr>
        </p:nvPicPr>
        <p:blipFill>
          <a:blip r:embed="rId11" cstate="email"/>
          <a:srcRect/>
          <a:stretch>
            <a:fillRect/>
          </a:stretch>
        </p:blipFill>
        <p:spPr bwMode="auto">
          <a:xfrm>
            <a:off x="7277302" y="6520695"/>
            <a:ext cx="3324655" cy="239021"/>
          </a:xfrm>
          <a:prstGeom prst="rect">
            <a:avLst/>
          </a:prstGeom>
          <a:noFill/>
        </p:spPr>
      </p:pic>
      <p:sp>
        <p:nvSpPr>
          <p:cNvPr id="2" name="Title 1"/>
          <p:cNvSpPr>
            <a:spLocks noGrp="1"/>
          </p:cNvSpPr>
          <p:nvPr>
            <p:ph type="ctrTitle" hasCustomPrompt="1"/>
            <p:custDataLst>
              <p:tags r:id="rId5"/>
            </p:custDataLst>
          </p:nvPr>
        </p:nvSpPr>
        <p:spPr>
          <a:xfrm>
            <a:off x="0" y="2256613"/>
            <a:ext cx="10622867" cy="2261632"/>
          </a:xfrm>
        </p:spPr>
        <p:txBody>
          <a:bodyPr lIns="231412" tIns="33059" rIns="33059" bIns="33059"/>
          <a:lstStyle>
            <a:lvl1pPr algn="l">
              <a:lnSpc>
                <a:spcPct val="100000"/>
              </a:lnSpc>
              <a:defRPr sz="3300" b="0">
                <a:solidFill>
                  <a:schemeClr val="bg1"/>
                </a:solidFill>
                <a:latin typeface="+mn-lt"/>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3" name="Subtitle 2"/>
          <p:cNvSpPr>
            <a:spLocks noGrp="1"/>
          </p:cNvSpPr>
          <p:nvPr>
            <p:ph type="subTitle" idx="1" hasCustomPrompt="1"/>
            <p:custDataLst>
              <p:tags r:id="rId6"/>
            </p:custDataLst>
          </p:nvPr>
        </p:nvSpPr>
        <p:spPr>
          <a:xfrm>
            <a:off x="0" y="4551798"/>
            <a:ext cx="5030286" cy="947750"/>
          </a:xfrm>
        </p:spPr>
        <p:txBody>
          <a:bodyPr lIns="231412" tIns="33059" rIns="33059" bIns="33059"/>
          <a:lstStyle>
            <a:lvl1pPr marL="0" indent="0" algn="l">
              <a:lnSpc>
                <a:spcPct val="100000"/>
              </a:lnSpc>
              <a:buNone/>
              <a:defRPr sz="2200" b="0">
                <a:solidFill>
                  <a:schemeClr val="bg1"/>
                </a:solidFill>
                <a:latin typeface="+mn-lt"/>
              </a:defRPr>
            </a:lvl1pPr>
            <a:lvl2pPr marL="457171" indent="0" algn="ctr">
              <a:buNone/>
              <a:defRPr>
                <a:solidFill>
                  <a:schemeClr val="tx1">
                    <a:tint val="75000"/>
                  </a:schemeClr>
                </a:solidFill>
              </a:defRPr>
            </a:lvl2pPr>
            <a:lvl3pPr marL="914342" indent="0" algn="ctr">
              <a:buNone/>
              <a:defRPr>
                <a:solidFill>
                  <a:schemeClr val="tx1">
                    <a:tint val="75000"/>
                  </a:schemeClr>
                </a:solidFill>
              </a:defRPr>
            </a:lvl3pPr>
            <a:lvl4pPr marL="1371513" indent="0" algn="ctr">
              <a:buNone/>
              <a:defRPr>
                <a:solidFill>
                  <a:schemeClr val="tx1">
                    <a:tint val="75000"/>
                  </a:schemeClr>
                </a:solidFill>
              </a:defRPr>
            </a:lvl4pPr>
            <a:lvl5pPr marL="1828684" indent="0" algn="ctr">
              <a:buNone/>
              <a:defRPr>
                <a:solidFill>
                  <a:schemeClr val="tx1">
                    <a:tint val="75000"/>
                  </a:schemeClr>
                </a:solidFill>
              </a:defRPr>
            </a:lvl5pPr>
            <a:lvl6pPr marL="2285855" indent="0" algn="ctr">
              <a:buNone/>
              <a:defRPr>
                <a:solidFill>
                  <a:schemeClr val="tx1">
                    <a:tint val="75000"/>
                  </a:schemeClr>
                </a:solidFill>
              </a:defRPr>
            </a:lvl6pPr>
            <a:lvl7pPr marL="2743026" indent="0" algn="ctr">
              <a:buNone/>
              <a:defRPr>
                <a:solidFill>
                  <a:schemeClr val="tx1">
                    <a:tint val="75000"/>
                  </a:schemeClr>
                </a:solidFill>
              </a:defRPr>
            </a:lvl7pPr>
            <a:lvl8pPr marL="3200198" indent="0" algn="ctr">
              <a:buNone/>
              <a:defRPr>
                <a:solidFill>
                  <a:schemeClr val="tx1">
                    <a:tint val="75000"/>
                  </a:schemeClr>
                </a:solidFill>
              </a:defRPr>
            </a:lvl8pPr>
            <a:lvl9pPr marL="3657369" indent="0" algn="ctr">
              <a:buNone/>
              <a:defRPr>
                <a:solidFill>
                  <a:schemeClr val="tx1">
                    <a:tint val="75000"/>
                  </a:schemeClr>
                </a:solidFill>
              </a:defRPr>
            </a:lvl9pPr>
          </a:lstStyle>
          <a:p>
            <a:r>
              <a:rPr lang="fr-FR" dirty="0" smtClean="0"/>
              <a:t>Click to </a:t>
            </a:r>
            <a:r>
              <a:rPr lang="fr-FR" dirty="0" err="1" smtClean="0"/>
              <a:t>edit</a:t>
            </a:r>
            <a:r>
              <a:rPr lang="fr-FR" dirty="0" smtClean="0"/>
              <a:t> Master </a:t>
            </a:r>
            <a:r>
              <a:rPr lang="fr-FR" dirty="0" err="1" smtClean="0"/>
              <a:t>text</a:t>
            </a:r>
            <a:r>
              <a:rPr lang="fr-FR" dirty="0" smtClean="0"/>
              <a:t> style</a:t>
            </a:r>
          </a:p>
        </p:txBody>
      </p:sp>
      <p:pic>
        <p:nvPicPr>
          <p:cNvPr id="13" name="Picture 103" descr="C:\Users\UserSim\Desktop\Capgemini\Capgemini_logo_cmyk.png"/>
          <p:cNvPicPr>
            <a:picLocks noChangeAspect="1" noChangeArrowheads="1"/>
          </p:cNvPicPr>
          <p:nvPr userDrawn="1">
            <p:custDataLst>
              <p:tags r:id="rId7"/>
            </p:custDataLst>
          </p:nvPr>
        </p:nvPicPr>
        <p:blipFill>
          <a:blip r:embed="rId12" cstate="email"/>
          <a:srcRect/>
          <a:stretch>
            <a:fillRect/>
          </a:stretch>
        </p:blipFill>
        <p:spPr bwMode="auto">
          <a:xfrm>
            <a:off x="793367" y="653034"/>
            <a:ext cx="3324193" cy="694690"/>
          </a:xfrm>
          <a:prstGeom prst="rect">
            <a:avLst/>
          </a:prstGeom>
          <a:noFill/>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nvGraphicFramePr>
        <p:xfrm>
          <a:off x="1" y="1"/>
          <a:ext cx="162898" cy="143985"/>
        </p:xfrm>
        <a:graphic>
          <a:graphicData uri="http://schemas.openxmlformats.org/presentationml/2006/ole">
            <p:oleObj spid="_x0000_s76994" name="think-cell Slide" r:id="rId3" imgW="360" imgH="360" progId="">
              <p:embed/>
            </p:oleObj>
          </a:graphicData>
        </a:graphic>
      </p:graphicFrame>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nvGraphicFramePr>
        <p:xfrm>
          <a:off x="0" y="0"/>
          <a:ext cx="175846" cy="158750"/>
        </p:xfrm>
        <a:graphic>
          <a:graphicData uri="http://schemas.openxmlformats.org/presentationml/2006/ole">
            <p:oleObj spid="_x0000_s173160" name="think-cell Slide" r:id="rId4" imgW="360" imgH="360" progId="">
              <p:embed/>
            </p:oleObj>
          </a:graphicData>
        </a:graphic>
      </p:graphicFrame>
      <p:sp>
        <p:nvSpPr>
          <p:cNvPr id="2" name="Titre 1"/>
          <p:cNvSpPr>
            <a:spLocks noGrp="1"/>
          </p:cNvSpPr>
          <p:nvPr>
            <p:ph type="title" hasCustomPrompt="1"/>
            <p:custDataLst>
              <p:tags r:id="rId2"/>
            </p:custDataLst>
          </p:nvPr>
        </p:nvSpPr>
        <p:spPr/>
        <p:txBody>
          <a:bodyPr/>
          <a:lstStyle>
            <a:lvl1pPr>
              <a:defRPr/>
            </a:lvl1pPr>
          </a:lstStyle>
          <a:p>
            <a:pPr lvl="0"/>
            <a:r>
              <a:rPr lang="en-US" noProof="0" dirty="0" smtClean="0"/>
              <a:t>Click to edit Master title style</a:t>
            </a: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losing 1">
    <p:spTree>
      <p:nvGrpSpPr>
        <p:cNvPr id="1" name=""/>
        <p:cNvGrpSpPr/>
        <p:nvPr/>
      </p:nvGrpSpPr>
      <p:grpSpPr>
        <a:xfrm>
          <a:off x="0" y="0"/>
          <a:ext cx="0" cy="0"/>
          <a:chOff x="0" y="0"/>
          <a:chExt cx="0" cy="0"/>
        </a:xfrm>
      </p:grpSpPr>
      <p:graphicFrame>
        <p:nvGraphicFramePr>
          <p:cNvPr id="337" name="Object 336" hidden="1"/>
          <p:cNvGraphicFramePr>
            <a:graphicFrameLocks noChangeAspect="1"/>
          </p:cNvGraphicFramePr>
          <p:nvPr/>
        </p:nvGraphicFramePr>
        <p:xfrm>
          <a:off x="1" y="1"/>
          <a:ext cx="162898" cy="143985"/>
        </p:xfrm>
        <a:graphic>
          <a:graphicData uri="http://schemas.openxmlformats.org/presentationml/2006/ole">
            <p:oleObj spid="_x0000_s132290" name="think-cell Slide" r:id="rId7" imgW="360" imgH="360" progId="">
              <p:embed/>
            </p:oleObj>
          </a:graphicData>
        </a:graphic>
      </p:graphicFrame>
      <p:grpSp>
        <p:nvGrpSpPr>
          <p:cNvPr id="5" name="Group 351"/>
          <p:cNvGrpSpPr/>
          <p:nvPr userDrawn="1">
            <p:custDataLst>
              <p:tags r:id="rId2"/>
            </p:custDataLst>
          </p:nvPr>
        </p:nvGrpSpPr>
        <p:grpSpPr>
          <a:xfrm>
            <a:off x="6404598" y="3258545"/>
            <a:ext cx="4100184" cy="2118522"/>
            <a:chOff x="5511798" y="3584333"/>
            <a:chExt cx="4818106" cy="2816468"/>
          </a:xfrm>
        </p:grpSpPr>
        <p:grpSp>
          <p:nvGrpSpPr>
            <p:cNvPr id="6" name="Group 54"/>
            <p:cNvGrpSpPr/>
            <p:nvPr userDrawn="1">
              <p:custDataLst>
                <p:tags r:id="rId4"/>
              </p:custDataLst>
            </p:nvPr>
          </p:nvGrpSpPr>
          <p:grpSpPr>
            <a:xfrm>
              <a:off x="5511798" y="3584333"/>
              <a:ext cx="4818106" cy="2816468"/>
              <a:chOff x="-6346822" y="2366960"/>
              <a:chExt cx="5613397" cy="3281360"/>
            </a:xfrm>
          </p:grpSpPr>
          <p:grpSp>
            <p:nvGrpSpPr>
              <p:cNvPr id="40" name="Group 205"/>
              <p:cNvGrpSpPr>
                <a:grpSpLocks/>
              </p:cNvGrpSpPr>
              <p:nvPr/>
            </p:nvGrpSpPr>
            <p:grpSpPr bwMode="auto">
              <a:xfrm>
                <a:off x="-6170610" y="2416173"/>
                <a:ext cx="5135561" cy="3197223"/>
                <a:chOff x="-3887" y="1522"/>
                <a:chExt cx="3235" cy="2014"/>
              </a:xfrm>
            </p:grpSpPr>
            <p:sp>
              <p:nvSpPr>
                <p:cNvPr id="135" name="Freeform 5"/>
                <p:cNvSpPr>
                  <a:spLocks noEditPoints="1"/>
                </p:cNvSpPr>
                <p:nvPr/>
              </p:nvSpPr>
              <p:spPr bwMode="auto">
                <a:xfrm>
                  <a:off x="-2017" y="3069"/>
                  <a:ext cx="137" cy="3"/>
                </a:xfrm>
                <a:custGeom>
                  <a:avLst/>
                  <a:gdLst/>
                  <a:ahLst/>
                  <a:cxnLst>
                    <a:cxn ang="0">
                      <a:pos x="58" y="1"/>
                    </a:cxn>
                    <a:cxn ang="0">
                      <a:pos x="58" y="0"/>
                    </a:cxn>
                    <a:cxn ang="0">
                      <a:pos x="0" y="0"/>
                    </a:cxn>
                    <a:cxn ang="0">
                      <a:pos x="0" y="1"/>
                    </a:cxn>
                    <a:cxn ang="0">
                      <a:pos x="58" y="0"/>
                    </a:cxn>
                    <a:cxn ang="0">
                      <a:pos x="58" y="0"/>
                    </a:cxn>
                  </a:cxnLst>
                  <a:rect l="0" t="0" r="r" b="b"/>
                  <a:pathLst>
                    <a:path w="58" h="1">
                      <a:moveTo>
                        <a:pt x="58" y="1"/>
                      </a:moveTo>
                      <a:cubicBezTo>
                        <a:pt x="58" y="0"/>
                        <a:pt x="58" y="0"/>
                        <a:pt x="58" y="0"/>
                      </a:cubicBezTo>
                      <a:moveTo>
                        <a:pt x="0" y="0"/>
                      </a:moveTo>
                      <a:cubicBezTo>
                        <a:pt x="0" y="1"/>
                        <a:pt x="0" y="1"/>
                        <a:pt x="0" y="1"/>
                      </a:cubicBezTo>
                      <a:moveTo>
                        <a:pt x="58" y="0"/>
                      </a:moveTo>
                      <a:cubicBezTo>
                        <a:pt x="58" y="0"/>
                        <a:pt x="58" y="0"/>
                        <a:pt x="58"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6" name="Freeform 6"/>
                <p:cNvSpPr>
                  <a:spLocks/>
                </p:cNvSpPr>
                <p:nvPr/>
              </p:nvSpPr>
              <p:spPr bwMode="auto">
                <a:xfrm>
                  <a:off x="-2718" y="2861"/>
                  <a:ext cx="12" cy="2"/>
                </a:xfrm>
                <a:custGeom>
                  <a:avLst/>
                  <a:gdLst/>
                  <a:ahLst/>
                  <a:cxnLst>
                    <a:cxn ang="0">
                      <a:pos x="5" y="0"/>
                    </a:cxn>
                    <a:cxn ang="0">
                      <a:pos x="0" y="0"/>
                    </a:cxn>
                    <a:cxn ang="0">
                      <a:pos x="0" y="1"/>
                    </a:cxn>
                    <a:cxn ang="0">
                      <a:pos x="5" y="1"/>
                    </a:cxn>
                    <a:cxn ang="0">
                      <a:pos x="5" y="0"/>
                    </a:cxn>
                  </a:cxnLst>
                  <a:rect l="0" t="0" r="r" b="b"/>
                  <a:pathLst>
                    <a:path w="5" h="1">
                      <a:moveTo>
                        <a:pt x="5" y="0"/>
                      </a:moveTo>
                      <a:cubicBezTo>
                        <a:pt x="0" y="0"/>
                        <a:pt x="0" y="0"/>
                        <a:pt x="0" y="0"/>
                      </a:cubicBezTo>
                      <a:cubicBezTo>
                        <a:pt x="0" y="1"/>
                        <a:pt x="0" y="1"/>
                        <a:pt x="0" y="1"/>
                      </a:cubicBezTo>
                      <a:cubicBezTo>
                        <a:pt x="5" y="1"/>
                        <a:pt x="5" y="1"/>
                        <a:pt x="5" y="1"/>
                      </a:cubicBezTo>
                      <a:cubicBezTo>
                        <a:pt x="5" y="0"/>
                        <a:pt x="5" y="0"/>
                        <a:pt x="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7" name="Freeform 7"/>
                <p:cNvSpPr>
                  <a:spLocks/>
                </p:cNvSpPr>
                <p:nvPr/>
              </p:nvSpPr>
              <p:spPr bwMode="auto">
                <a:xfrm>
                  <a:off x="-1028" y="2861"/>
                  <a:ext cx="1" cy="2"/>
                </a:xfrm>
                <a:custGeom>
                  <a:avLst/>
                  <a:gdLst/>
                  <a:ahLst/>
                  <a:cxnLst>
                    <a:cxn ang="0">
                      <a:pos x="0" y="0"/>
                    </a:cxn>
                    <a:cxn ang="0">
                      <a:pos x="0" y="1"/>
                    </a:cxn>
                    <a:cxn ang="0">
                      <a:pos x="0" y="1"/>
                    </a:cxn>
                    <a:cxn ang="0">
                      <a:pos x="0" y="0"/>
                    </a:cxn>
                  </a:cxnLst>
                  <a:rect l="0" t="0" r="r" b="b"/>
                  <a:pathLst>
                    <a:path h="1">
                      <a:moveTo>
                        <a:pt x="0" y="0"/>
                      </a:moveTo>
                      <a:cubicBezTo>
                        <a:pt x="0" y="1"/>
                        <a:pt x="0" y="1"/>
                        <a:pt x="0" y="1"/>
                      </a:cubicBezTo>
                      <a:cubicBezTo>
                        <a:pt x="0" y="1"/>
                        <a:pt x="0" y="1"/>
                        <a:pt x="0" y="1"/>
                      </a:cubicBezTo>
                      <a:cubicBezTo>
                        <a:pt x="0" y="0"/>
                        <a:pt x="0" y="0"/>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8" name="Freeform 8"/>
                <p:cNvSpPr>
                  <a:spLocks noEditPoints="1"/>
                </p:cNvSpPr>
                <p:nvPr/>
              </p:nvSpPr>
              <p:spPr bwMode="auto">
                <a:xfrm>
                  <a:off x="-2197" y="2223"/>
                  <a:ext cx="1257" cy="3"/>
                </a:xfrm>
                <a:custGeom>
                  <a:avLst/>
                  <a:gdLst/>
                  <a:ahLst/>
                  <a:cxnLst>
                    <a:cxn ang="0">
                      <a:pos x="0" y="0"/>
                    </a:cxn>
                    <a:cxn ang="0">
                      <a:pos x="0" y="0"/>
                    </a:cxn>
                    <a:cxn ang="0">
                      <a:pos x="0" y="1"/>
                    </a:cxn>
                    <a:cxn ang="0">
                      <a:pos x="0" y="0"/>
                    </a:cxn>
                    <a:cxn ang="0">
                      <a:pos x="230" y="0"/>
                    </a:cxn>
                    <a:cxn ang="0">
                      <a:pos x="228" y="0"/>
                    </a:cxn>
                    <a:cxn ang="0">
                      <a:pos x="228" y="1"/>
                    </a:cxn>
                    <a:cxn ang="0">
                      <a:pos x="230" y="1"/>
                    </a:cxn>
                    <a:cxn ang="0">
                      <a:pos x="230" y="0"/>
                    </a:cxn>
                    <a:cxn ang="0">
                      <a:pos x="431" y="0"/>
                    </a:cxn>
                    <a:cxn ang="0">
                      <a:pos x="426" y="0"/>
                    </a:cxn>
                    <a:cxn ang="0">
                      <a:pos x="426" y="1"/>
                    </a:cxn>
                    <a:cxn ang="0">
                      <a:pos x="431" y="1"/>
                    </a:cxn>
                    <a:cxn ang="0">
                      <a:pos x="431" y="0"/>
                    </a:cxn>
                    <a:cxn ang="0">
                      <a:pos x="442" y="0"/>
                    </a:cxn>
                    <a:cxn ang="0">
                      <a:pos x="436" y="0"/>
                    </a:cxn>
                    <a:cxn ang="0">
                      <a:pos x="436" y="1"/>
                    </a:cxn>
                    <a:cxn ang="0">
                      <a:pos x="442" y="1"/>
                    </a:cxn>
                    <a:cxn ang="0">
                      <a:pos x="442" y="0"/>
                    </a:cxn>
                    <a:cxn ang="0">
                      <a:pos x="462" y="0"/>
                    </a:cxn>
                    <a:cxn ang="0">
                      <a:pos x="458" y="0"/>
                    </a:cxn>
                    <a:cxn ang="0">
                      <a:pos x="459" y="1"/>
                    </a:cxn>
                    <a:cxn ang="0">
                      <a:pos x="462" y="1"/>
                    </a:cxn>
                    <a:cxn ang="0">
                      <a:pos x="462" y="0"/>
                    </a:cxn>
                    <a:cxn ang="0">
                      <a:pos x="530" y="0"/>
                    </a:cxn>
                    <a:cxn ang="0">
                      <a:pos x="530" y="0"/>
                    </a:cxn>
                    <a:cxn ang="0">
                      <a:pos x="530" y="1"/>
                    </a:cxn>
                    <a:cxn ang="0">
                      <a:pos x="531" y="1"/>
                    </a:cxn>
                    <a:cxn ang="0">
                      <a:pos x="530" y="0"/>
                    </a:cxn>
                  </a:cxnLst>
                  <a:rect l="0" t="0" r="r" b="b"/>
                  <a:pathLst>
                    <a:path w="531" h="1">
                      <a:moveTo>
                        <a:pt x="0" y="0"/>
                      </a:moveTo>
                      <a:cubicBezTo>
                        <a:pt x="0" y="0"/>
                        <a:pt x="0" y="0"/>
                        <a:pt x="0" y="0"/>
                      </a:cubicBezTo>
                      <a:cubicBezTo>
                        <a:pt x="0" y="1"/>
                        <a:pt x="0" y="1"/>
                        <a:pt x="0" y="1"/>
                      </a:cubicBezTo>
                      <a:cubicBezTo>
                        <a:pt x="0" y="0"/>
                        <a:pt x="0" y="0"/>
                        <a:pt x="0" y="0"/>
                      </a:cubicBezTo>
                      <a:moveTo>
                        <a:pt x="230" y="0"/>
                      </a:moveTo>
                      <a:cubicBezTo>
                        <a:pt x="228" y="0"/>
                        <a:pt x="228" y="0"/>
                        <a:pt x="228" y="0"/>
                      </a:cubicBezTo>
                      <a:cubicBezTo>
                        <a:pt x="228" y="1"/>
                        <a:pt x="228" y="1"/>
                        <a:pt x="228" y="1"/>
                      </a:cubicBezTo>
                      <a:cubicBezTo>
                        <a:pt x="230" y="1"/>
                        <a:pt x="230" y="1"/>
                        <a:pt x="230" y="1"/>
                      </a:cubicBezTo>
                      <a:cubicBezTo>
                        <a:pt x="230" y="0"/>
                        <a:pt x="230" y="0"/>
                        <a:pt x="230" y="0"/>
                      </a:cubicBezTo>
                      <a:moveTo>
                        <a:pt x="431" y="0"/>
                      </a:moveTo>
                      <a:cubicBezTo>
                        <a:pt x="426" y="0"/>
                        <a:pt x="426" y="0"/>
                        <a:pt x="426" y="0"/>
                      </a:cubicBezTo>
                      <a:cubicBezTo>
                        <a:pt x="426" y="1"/>
                        <a:pt x="426" y="1"/>
                        <a:pt x="426" y="1"/>
                      </a:cubicBezTo>
                      <a:cubicBezTo>
                        <a:pt x="431" y="1"/>
                        <a:pt x="431" y="1"/>
                        <a:pt x="431" y="1"/>
                      </a:cubicBezTo>
                      <a:cubicBezTo>
                        <a:pt x="431" y="0"/>
                        <a:pt x="431" y="0"/>
                        <a:pt x="431" y="0"/>
                      </a:cubicBezTo>
                      <a:moveTo>
                        <a:pt x="442" y="0"/>
                      </a:moveTo>
                      <a:cubicBezTo>
                        <a:pt x="436" y="0"/>
                        <a:pt x="436" y="0"/>
                        <a:pt x="436" y="0"/>
                      </a:cubicBezTo>
                      <a:cubicBezTo>
                        <a:pt x="436" y="1"/>
                        <a:pt x="436" y="1"/>
                        <a:pt x="436" y="1"/>
                      </a:cubicBezTo>
                      <a:cubicBezTo>
                        <a:pt x="442" y="1"/>
                        <a:pt x="442" y="1"/>
                        <a:pt x="442" y="1"/>
                      </a:cubicBezTo>
                      <a:cubicBezTo>
                        <a:pt x="442" y="0"/>
                        <a:pt x="442" y="0"/>
                        <a:pt x="442" y="0"/>
                      </a:cubicBezTo>
                      <a:moveTo>
                        <a:pt x="462" y="0"/>
                      </a:moveTo>
                      <a:cubicBezTo>
                        <a:pt x="458" y="0"/>
                        <a:pt x="458" y="0"/>
                        <a:pt x="458" y="0"/>
                      </a:cubicBezTo>
                      <a:cubicBezTo>
                        <a:pt x="458" y="0"/>
                        <a:pt x="458" y="0"/>
                        <a:pt x="459" y="1"/>
                      </a:cubicBezTo>
                      <a:cubicBezTo>
                        <a:pt x="462" y="1"/>
                        <a:pt x="462" y="1"/>
                        <a:pt x="462" y="1"/>
                      </a:cubicBezTo>
                      <a:cubicBezTo>
                        <a:pt x="462" y="0"/>
                        <a:pt x="462" y="0"/>
                        <a:pt x="462" y="0"/>
                      </a:cubicBezTo>
                      <a:moveTo>
                        <a:pt x="530" y="0"/>
                      </a:moveTo>
                      <a:cubicBezTo>
                        <a:pt x="530" y="0"/>
                        <a:pt x="530" y="0"/>
                        <a:pt x="530" y="0"/>
                      </a:cubicBezTo>
                      <a:cubicBezTo>
                        <a:pt x="530" y="1"/>
                        <a:pt x="530" y="1"/>
                        <a:pt x="530" y="1"/>
                      </a:cubicBezTo>
                      <a:cubicBezTo>
                        <a:pt x="531" y="1"/>
                        <a:pt x="531" y="1"/>
                        <a:pt x="531" y="1"/>
                      </a:cubicBezTo>
                      <a:cubicBezTo>
                        <a:pt x="530" y="0"/>
                        <a:pt x="530" y="0"/>
                        <a:pt x="53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9" name="Freeform 9"/>
                <p:cNvSpPr>
                  <a:spLocks noEditPoints="1"/>
                </p:cNvSpPr>
                <p:nvPr/>
              </p:nvSpPr>
              <p:spPr bwMode="auto">
                <a:xfrm>
                  <a:off x="-3755" y="2223"/>
                  <a:ext cx="74" cy="3"/>
                </a:xfrm>
                <a:custGeom>
                  <a:avLst/>
                  <a:gdLst/>
                  <a:ahLst/>
                  <a:cxnLst>
                    <a:cxn ang="0">
                      <a:pos x="0" y="0"/>
                    </a:cxn>
                    <a:cxn ang="0">
                      <a:pos x="0" y="0"/>
                    </a:cxn>
                    <a:cxn ang="0">
                      <a:pos x="0" y="1"/>
                    </a:cxn>
                    <a:cxn ang="0">
                      <a:pos x="0" y="1"/>
                    </a:cxn>
                    <a:cxn ang="0">
                      <a:pos x="0" y="0"/>
                    </a:cxn>
                    <a:cxn ang="0">
                      <a:pos x="31" y="0"/>
                    </a:cxn>
                    <a:cxn ang="0">
                      <a:pos x="31" y="0"/>
                    </a:cxn>
                  </a:cxnLst>
                  <a:rect l="0" t="0" r="r" b="b"/>
                  <a:pathLst>
                    <a:path w="31" h="1">
                      <a:moveTo>
                        <a:pt x="0" y="0"/>
                      </a:moveTo>
                      <a:cubicBezTo>
                        <a:pt x="0" y="0"/>
                        <a:pt x="0" y="0"/>
                        <a:pt x="0" y="0"/>
                      </a:cubicBezTo>
                      <a:cubicBezTo>
                        <a:pt x="0" y="0"/>
                        <a:pt x="0" y="0"/>
                        <a:pt x="0" y="1"/>
                      </a:cubicBezTo>
                      <a:cubicBezTo>
                        <a:pt x="0" y="1"/>
                        <a:pt x="0" y="1"/>
                        <a:pt x="0" y="1"/>
                      </a:cubicBezTo>
                      <a:cubicBezTo>
                        <a:pt x="0" y="0"/>
                        <a:pt x="0" y="0"/>
                        <a:pt x="0" y="0"/>
                      </a:cubicBezTo>
                      <a:moveTo>
                        <a:pt x="31" y="0"/>
                      </a:moveTo>
                      <a:cubicBezTo>
                        <a:pt x="31" y="0"/>
                        <a:pt x="31" y="0"/>
                        <a:pt x="3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0" name="Freeform 10"/>
                <p:cNvSpPr>
                  <a:spLocks noEditPoints="1"/>
                </p:cNvSpPr>
                <p:nvPr/>
              </p:nvSpPr>
              <p:spPr bwMode="auto">
                <a:xfrm>
                  <a:off x="-2264" y="1681"/>
                  <a:ext cx="1070" cy="2"/>
                </a:xfrm>
                <a:custGeom>
                  <a:avLst/>
                  <a:gdLst/>
                  <a:ahLst/>
                  <a:cxnLst>
                    <a:cxn ang="0">
                      <a:pos x="5" y="0"/>
                    </a:cxn>
                    <a:cxn ang="0">
                      <a:pos x="0" y="0"/>
                    </a:cxn>
                    <a:cxn ang="0">
                      <a:pos x="0" y="1"/>
                    </a:cxn>
                    <a:cxn ang="0">
                      <a:pos x="5" y="1"/>
                    </a:cxn>
                    <a:cxn ang="0">
                      <a:pos x="5" y="0"/>
                    </a:cxn>
                    <a:cxn ang="0">
                      <a:pos x="119" y="0"/>
                    </a:cxn>
                    <a:cxn ang="0">
                      <a:pos x="114" y="0"/>
                    </a:cxn>
                    <a:cxn ang="0">
                      <a:pos x="114" y="1"/>
                    </a:cxn>
                    <a:cxn ang="0">
                      <a:pos x="119" y="1"/>
                    </a:cxn>
                    <a:cxn ang="0">
                      <a:pos x="119" y="0"/>
                    </a:cxn>
                    <a:cxn ang="0">
                      <a:pos x="167" y="0"/>
                    </a:cxn>
                    <a:cxn ang="0">
                      <a:pos x="166" y="0"/>
                    </a:cxn>
                    <a:cxn ang="0">
                      <a:pos x="166" y="1"/>
                    </a:cxn>
                    <a:cxn ang="0">
                      <a:pos x="167" y="1"/>
                    </a:cxn>
                    <a:cxn ang="0">
                      <a:pos x="167" y="0"/>
                    </a:cxn>
                    <a:cxn ang="0">
                      <a:pos x="223" y="0"/>
                    </a:cxn>
                    <a:cxn ang="0">
                      <a:pos x="218" y="0"/>
                    </a:cxn>
                    <a:cxn ang="0">
                      <a:pos x="218" y="1"/>
                    </a:cxn>
                    <a:cxn ang="0">
                      <a:pos x="223" y="1"/>
                    </a:cxn>
                    <a:cxn ang="0">
                      <a:pos x="223" y="0"/>
                    </a:cxn>
                    <a:cxn ang="0">
                      <a:pos x="327" y="0"/>
                    </a:cxn>
                    <a:cxn ang="0">
                      <a:pos x="326" y="0"/>
                    </a:cxn>
                    <a:cxn ang="0">
                      <a:pos x="327" y="1"/>
                    </a:cxn>
                    <a:cxn ang="0">
                      <a:pos x="327" y="1"/>
                    </a:cxn>
                    <a:cxn ang="0">
                      <a:pos x="327" y="0"/>
                    </a:cxn>
                    <a:cxn ang="0">
                      <a:pos x="431" y="0"/>
                    </a:cxn>
                    <a:cxn ang="0">
                      <a:pos x="426" y="0"/>
                    </a:cxn>
                    <a:cxn ang="0">
                      <a:pos x="426" y="1"/>
                    </a:cxn>
                    <a:cxn ang="0">
                      <a:pos x="431" y="1"/>
                    </a:cxn>
                    <a:cxn ang="0">
                      <a:pos x="431" y="0"/>
                    </a:cxn>
                    <a:cxn ang="0">
                      <a:pos x="442" y="0"/>
                    </a:cxn>
                    <a:cxn ang="0">
                      <a:pos x="437" y="0"/>
                    </a:cxn>
                    <a:cxn ang="0">
                      <a:pos x="437" y="1"/>
                    </a:cxn>
                    <a:cxn ang="0">
                      <a:pos x="442" y="1"/>
                    </a:cxn>
                    <a:cxn ang="0">
                      <a:pos x="442" y="0"/>
                    </a:cxn>
                    <a:cxn ang="0">
                      <a:pos x="447" y="0"/>
                    </a:cxn>
                    <a:cxn ang="0">
                      <a:pos x="447" y="0"/>
                    </a:cxn>
                    <a:cxn ang="0">
                      <a:pos x="447" y="1"/>
                    </a:cxn>
                    <a:cxn ang="0">
                      <a:pos x="449" y="1"/>
                    </a:cxn>
                    <a:cxn ang="0">
                      <a:pos x="447" y="0"/>
                    </a:cxn>
                    <a:cxn ang="0">
                      <a:pos x="452" y="0"/>
                    </a:cxn>
                    <a:cxn ang="0">
                      <a:pos x="450" y="0"/>
                    </a:cxn>
                    <a:cxn ang="0">
                      <a:pos x="451" y="1"/>
                    </a:cxn>
                    <a:cxn ang="0">
                      <a:pos x="452" y="1"/>
                    </a:cxn>
                    <a:cxn ang="0">
                      <a:pos x="452" y="0"/>
                    </a:cxn>
                  </a:cxnLst>
                  <a:rect l="0" t="0" r="r" b="b"/>
                  <a:pathLst>
                    <a:path w="452" h="1">
                      <a:moveTo>
                        <a:pt x="5" y="0"/>
                      </a:moveTo>
                      <a:cubicBezTo>
                        <a:pt x="0" y="0"/>
                        <a:pt x="0" y="0"/>
                        <a:pt x="0" y="0"/>
                      </a:cubicBezTo>
                      <a:cubicBezTo>
                        <a:pt x="0" y="1"/>
                        <a:pt x="0" y="1"/>
                        <a:pt x="0" y="1"/>
                      </a:cubicBezTo>
                      <a:cubicBezTo>
                        <a:pt x="5" y="1"/>
                        <a:pt x="5" y="1"/>
                        <a:pt x="5" y="1"/>
                      </a:cubicBezTo>
                      <a:cubicBezTo>
                        <a:pt x="5" y="0"/>
                        <a:pt x="5" y="0"/>
                        <a:pt x="5" y="0"/>
                      </a:cubicBezTo>
                      <a:moveTo>
                        <a:pt x="119" y="0"/>
                      </a:moveTo>
                      <a:cubicBezTo>
                        <a:pt x="114" y="0"/>
                        <a:pt x="114" y="0"/>
                        <a:pt x="114" y="0"/>
                      </a:cubicBezTo>
                      <a:cubicBezTo>
                        <a:pt x="114" y="1"/>
                        <a:pt x="114" y="1"/>
                        <a:pt x="114" y="1"/>
                      </a:cubicBezTo>
                      <a:cubicBezTo>
                        <a:pt x="119" y="1"/>
                        <a:pt x="119" y="1"/>
                        <a:pt x="119" y="1"/>
                      </a:cubicBezTo>
                      <a:cubicBezTo>
                        <a:pt x="119" y="0"/>
                        <a:pt x="119" y="0"/>
                        <a:pt x="119" y="0"/>
                      </a:cubicBezTo>
                      <a:moveTo>
                        <a:pt x="167" y="0"/>
                      </a:moveTo>
                      <a:cubicBezTo>
                        <a:pt x="166" y="0"/>
                        <a:pt x="166" y="0"/>
                        <a:pt x="166" y="0"/>
                      </a:cubicBezTo>
                      <a:cubicBezTo>
                        <a:pt x="166" y="1"/>
                        <a:pt x="166" y="1"/>
                        <a:pt x="166" y="1"/>
                      </a:cubicBezTo>
                      <a:cubicBezTo>
                        <a:pt x="167" y="1"/>
                        <a:pt x="167" y="1"/>
                        <a:pt x="167" y="1"/>
                      </a:cubicBezTo>
                      <a:cubicBezTo>
                        <a:pt x="167" y="1"/>
                        <a:pt x="167" y="1"/>
                        <a:pt x="167" y="0"/>
                      </a:cubicBezTo>
                      <a:moveTo>
                        <a:pt x="223" y="0"/>
                      </a:moveTo>
                      <a:cubicBezTo>
                        <a:pt x="218" y="0"/>
                        <a:pt x="218" y="0"/>
                        <a:pt x="218" y="0"/>
                      </a:cubicBezTo>
                      <a:cubicBezTo>
                        <a:pt x="218" y="1"/>
                        <a:pt x="218" y="1"/>
                        <a:pt x="218" y="1"/>
                      </a:cubicBezTo>
                      <a:cubicBezTo>
                        <a:pt x="223" y="1"/>
                        <a:pt x="223" y="1"/>
                        <a:pt x="223" y="1"/>
                      </a:cubicBezTo>
                      <a:cubicBezTo>
                        <a:pt x="223" y="0"/>
                        <a:pt x="223" y="0"/>
                        <a:pt x="223" y="0"/>
                      </a:cubicBezTo>
                      <a:moveTo>
                        <a:pt x="327" y="0"/>
                      </a:moveTo>
                      <a:cubicBezTo>
                        <a:pt x="326" y="0"/>
                        <a:pt x="326" y="0"/>
                        <a:pt x="326" y="0"/>
                      </a:cubicBezTo>
                      <a:cubicBezTo>
                        <a:pt x="327" y="1"/>
                        <a:pt x="327" y="1"/>
                        <a:pt x="327" y="1"/>
                      </a:cubicBezTo>
                      <a:cubicBezTo>
                        <a:pt x="327" y="1"/>
                        <a:pt x="327" y="1"/>
                        <a:pt x="327" y="1"/>
                      </a:cubicBezTo>
                      <a:cubicBezTo>
                        <a:pt x="327" y="0"/>
                        <a:pt x="327" y="0"/>
                        <a:pt x="327" y="0"/>
                      </a:cubicBezTo>
                      <a:moveTo>
                        <a:pt x="431" y="0"/>
                      </a:moveTo>
                      <a:cubicBezTo>
                        <a:pt x="426" y="0"/>
                        <a:pt x="426" y="0"/>
                        <a:pt x="426" y="0"/>
                      </a:cubicBezTo>
                      <a:cubicBezTo>
                        <a:pt x="426" y="1"/>
                        <a:pt x="426" y="1"/>
                        <a:pt x="426" y="1"/>
                      </a:cubicBezTo>
                      <a:cubicBezTo>
                        <a:pt x="431" y="1"/>
                        <a:pt x="431" y="1"/>
                        <a:pt x="431" y="1"/>
                      </a:cubicBezTo>
                      <a:cubicBezTo>
                        <a:pt x="431" y="0"/>
                        <a:pt x="431" y="0"/>
                        <a:pt x="431" y="0"/>
                      </a:cubicBezTo>
                      <a:moveTo>
                        <a:pt x="442" y="0"/>
                      </a:moveTo>
                      <a:cubicBezTo>
                        <a:pt x="437" y="0"/>
                        <a:pt x="437" y="0"/>
                        <a:pt x="437" y="0"/>
                      </a:cubicBezTo>
                      <a:cubicBezTo>
                        <a:pt x="437" y="1"/>
                        <a:pt x="437" y="1"/>
                        <a:pt x="437" y="1"/>
                      </a:cubicBezTo>
                      <a:cubicBezTo>
                        <a:pt x="442" y="1"/>
                        <a:pt x="442" y="1"/>
                        <a:pt x="442" y="1"/>
                      </a:cubicBezTo>
                      <a:cubicBezTo>
                        <a:pt x="442" y="0"/>
                        <a:pt x="442" y="0"/>
                        <a:pt x="442" y="0"/>
                      </a:cubicBezTo>
                      <a:moveTo>
                        <a:pt x="447" y="0"/>
                      </a:moveTo>
                      <a:cubicBezTo>
                        <a:pt x="447" y="0"/>
                        <a:pt x="447" y="0"/>
                        <a:pt x="447" y="0"/>
                      </a:cubicBezTo>
                      <a:cubicBezTo>
                        <a:pt x="447" y="1"/>
                        <a:pt x="447" y="1"/>
                        <a:pt x="447" y="1"/>
                      </a:cubicBezTo>
                      <a:cubicBezTo>
                        <a:pt x="449" y="1"/>
                        <a:pt x="449" y="1"/>
                        <a:pt x="449" y="1"/>
                      </a:cubicBezTo>
                      <a:cubicBezTo>
                        <a:pt x="449" y="1"/>
                        <a:pt x="448" y="1"/>
                        <a:pt x="447" y="0"/>
                      </a:cubicBezTo>
                      <a:moveTo>
                        <a:pt x="452" y="0"/>
                      </a:moveTo>
                      <a:cubicBezTo>
                        <a:pt x="450" y="0"/>
                        <a:pt x="450" y="0"/>
                        <a:pt x="450" y="0"/>
                      </a:cubicBezTo>
                      <a:cubicBezTo>
                        <a:pt x="450" y="1"/>
                        <a:pt x="451" y="1"/>
                        <a:pt x="451" y="1"/>
                      </a:cubicBezTo>
                      <a:cubicBezTo>
                        <a:pt x="452" y="1"/>
                        <a:pt x="452" y="1"/>
                        <a:pt x="452" y="1"/>
                      </a:cubicBezTo>
                      <a:cubicBezTo>
                        <a:pt x="452" y="0"/>
                        <a:pt x="452" y="0"/>
                        <a:pt x="45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1" name="Freeform 11"/>
                <p:cNvSpPr>
                  <a:spLocks noEditPoints="1"/>
                </p:cNvSpPr>
                <p:nvPr/>
              </p:nvSpPr>
              <p:spPr bwMode="auto">
                <a:xfrm>
                  <a:off x="-3518" y="1681"/>
                  <a:ext cx="530" cy="2"/>
                </a:xfrm>
                <a:custGeom>
                  <a:avLst/>
                  <a:gdLst/>
                  <a:ahLst/>
                  <a:cxnLst>
                    <a:cxn ang="0">
                      <a:pos x="5" y="1"/>
                    </a:cxn>
                    <a:cxn ang="0">
                      <a:pos x="5" y="1"/>
                    </a:cxn>
                    <a:cxn ang="0">
                      <a:pos x="5" y="1"/>
                    </a:cxn>
                    <a:cxn ang="0">
                      <a:pos x="5" y="1"/>
                    </a:cxn>
                    <a:cxn ang="0">
                      <a:pos x="3" y="0"/>
                    </a:cxn>
                    <a:cxn ang="0">
                      <a:pos x="0" y="0"/>
                    </a:cxn>
                    <a:cxn ang="0">
                      <a:pos x="0" y="1"/>
                    </a:cxn>
                    <a:cxn ang="0">
                      <a:pos x="2" y="1"/>
                    </a:cxn>
                    <a:cxn ang="0">
                      <a:pos x="3" y="0"/>
                    </a:cxn>
                    <a:cxn ang="0">
                      <a:pos x="88" y="0"/>
                    </a:cxn>
                    <a:cxn ang="0">
                      <a:pos x="88" y="0"/>
                    </a:cxn>
                    <a:cxn ang="0">
                      <a:pos x="88" y="1"/>
                    </a:cxn>
                    <a:cxn ang="0">
                      <a:pos x="88" y="1"/>
                    </a:cxn>
                    <a:cxn ang="0">
                      <a:pos x="88" y="0"/>
                    </a:cxn>
                    <a:cxn ang="0">
                      <a:pos x="224" y="0"/>
                    </a:cxn>
                    <a:cxn ang="0">
                      <a:pos x="223" y="0"/>
                    </a:cxn>
                    <a:cxn ang="0">
                      <a:pos x="224" y="1"/>
                    </a:cxn>
                    <a:cxn ang="0">
                      <a:pos x="224" y="0"/>
                    </a:cxn>
                  </a:cxnLst>
                  <a:rect l="0" t="0" r="r" b="b"/>
                  <a:pathLst>
                    <a:path w="224" h="1">
                      <a:moveTo>
                        <a:pt x="5" y="1"/>
                      </a:moveTo>
                      <a:cubicBezTo>
                        <a:pt x="5" y="1"/>
                        <a:pt x="5" y="1"/>
                        <a:pt x="5" y="1"/>
                      </a:cubicBezTo>
                      <a:cubicBezTo>
                        <a:pt x="5" y="1"/>
                        <a:pt x="5" y="1"/>
                        <a:pt x="5" y="1"/>
                      </a:cubicBezTo>
                      <a:cubicBezTo>
                        <a:pt x="5" y="1"/>
                        <a:pt x="5" y="1"/>
                        <a:pt x="5" y="1"/>
                      </a:cubicBezTo>
                      <a:moveTo>
                        <a:pt x="3" y="0"/>
                      </a:moveTo>
                      <a:cubicBezTo>
                        <a:pt x="0" y="0"/>
                        <a:pt x="0" y="0"/>
                        <a:pt x="0" y="0"/>
                      </a:cubicBezTo>
                      <a:cubicBezTo>
                        <a:pt x="0" y="1"/>
                        <a:pt x="0" y="1"/>
                        <a:pt x="0" y="1"/>
                      </a:cubicBezTo>
                      <a:cubicBezTo>
                        <a:pt x="2" y="1"/>
                        <a:pt x="2" y="1"/>
                        <a:pt x="2" y="1"/>
                      </a:cubicBezTo>
                      <a:cubicBezTo>
                        <a:pt x="3" y="1"/>
                        <a:pt x="3" y="1"/>
                        <a:pt x="3" y="0"/>
                      </a:cubicBezTo>
                      <a:moveTo>
                        <a:pt x="88" y="0"/>
                      </a:moveTo>
                      <a:cubicBezTo>
                        <a:pt x="88" y="0"/>
                        <a:pt x="88" y="0"/>
                        <a:pt x="88" y="0"/>
                      </a:cubicBezTo>
                      <a:cubicBezTo>
                        <a:pt x="88" y="1"/>
                        <a:pt x="88" y="1"/>
                        <a:pt x="88" y="1"/>
                      </a:cubicBezTo>
                      <a:cubicBezTo>
                        <a:pt x="88" y="1"/>
                        <a:pt x="88" y="1"/>
                        <a:pt x="88" y="1"/>
                      </a:cubicBezTo>
                      <a:cubicBezTo>
                        <a:pt x="88" y="0"/>
                        <a:pt x="88" y="0"/>
                        <a:pt x="88" y="0"/>
                      </a:cubicBezTo>
                      <a:moveTo>
                        <a:pt x="224" y="0"/>
                      </a:moveTo>
                      <a:cubicBezTo>
                        <a:pt x="223" y="0"/>
                        <a:pt x="223" y="0"/>
                        <a:pt x="223" y="0"/>
                      </a:cubicBezTo>
                      <a:cubicBezTo>
                        <a:pt x="223" y="1"/>
                        <a:pt x="224" y="1"/>
                        <a:pt x="224" y="1"/>
                      </a:cubicBezTo>
                      <a:cubicBezTo>
                        <a:pt x="224" y="0"/>
                        <a:pt x="224" y="0"/>
                        <a:pt x="224"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2" name="Freeform 12"/>
                <p:cNvSpPr>
                  <a:spLocks/>
                </p:cNvSpPr>
                <p:nvPr/>
              </p:nvSpPr>
              <p:spPr bwMode="auto">
                <a:xfrm>
                  <a:off x="-1232" y="1986"/>
                  <a:ext cx="133" cy="270"/>
                </a:xfrm>
                <a:custGeom>
                  <a:avLst/>
                  <a:gdLst/>
                  <a:ahLst/>
                  <a:cxnLst>
                    <a:cxn ang="0">
                      <a:pos x="2" y="0"/>
                    </a:cxn>
                    <a:cxn ang="0">
                      <a:pos x="0" y="0"/>
                    </a:cxn>
                    <a:cxn ang="0">
                      <a:pos x="48" y="100"/>
                    </a:cxn>
                    <a:cxn ang="0">
                      <a:pos x="48" y="100"/>
                    </a:cxn>
                    <a:cxn ang="0">
                      <a:pos x="48" y="100"/>
                    </a:cxn>
                    <a:cxn ang="0">
                      <a:pos x="49" y="103"/>
                    </a:cxn>
                    <a:cxn ang="0">
                      <a:pos x="54" y="114"/>
                    </a:cxn>
                    <a:cxn ang="0">
                      <a:pos x="56" y="114"/>
                    </a:cxn>
                    <a:cxn ang="0">
                      <a:pos x="51" y="101"/>
                    </a:cxn>
                    <a:cxn ang="0">
                      <a:pos x="49" y="101"/>
                    </a:cxn>
                    <a:cxn ang="0">
                      <a:pos x="49" y="100"/>
                    </a:cxn>
                    <a:cxn ang="0">
                      <a:pos x="50" y="100"/>
                    </a:cxn>
                    <a:cxn ang="0">
                      <a:pos x="50" y="99"/>
                    </a:cxn>
                    <a:cxn ang="0">
                      <a:pos x="50" y="99"/>
                    </a:cxn>
                    <a:cxn ang="0">
                      <a:pos x="2" y="0"/>
                    </a:cxn>
                  </a:cxnLst>
                  <a:rect l="0" t="0" r="r" b="b"/>
                  <a:pathLst>
                    <a:path w="56" h="114">
                      <a:moveTo>
                        <a:pt x="2" y="0"/>
                      </a:moveTo>
                      <a:cubicBezTo>
                        <a:pt x="0" y="0"/>
                        <a:pt x="0" y="0"/>
                        <a:pt x="0" y="0"/>
                      </a:cubicBezTo>
                      <a:cubicBezTo>
                        <a:pt x="18" y="29"/>
                        <a:pt x="35" y="62"/>
                        <a:pt x="48" y="100"/>
                      </a:cubicBezTo>
                      <a:cubicBezTo>
                        <a:pt x="48" y="100"/>
                        <a:pt x="48" y="100"/>
                        <a:pt x="48" y="100"/>
                      </a:cubicBezTo>
                      <a:cubicBezTo>
                        <a:pt x="48" y="100"/>
                        <a:pt x="48" y="100"/>
                        <a:pt x="48" y="100"/>
                      </a:cubicBezTo>
                      <a:cubicBezTo>
                        <a:pt x="48" y="100"/>
                        <a:pt x="48" y="101"/>
                        <a:pt x="49" y="103"/>
                      </a:cubicBezTo>
                      <a:cubicBezTo>
                        <a:pt x="50" y="105"/>
                        <a:pt x="52" y="109"/>
                        <a:pt x="54" y="114"/>
                      </a:cubicBezTo>
                      <a:cubicBezTo>
                        <a:pt x="56" y="114"/>
                        <a:pt x="56" y="114"/>
                        <a:pt x="56" y="114"/>
                      </a:cubicBezTo>
                      <a:cubicBezTo>
                        <a:pt x="54" y="107"/>
                        <a:pt x="52" y="103"/>
                        <a:pt x="51" y="101"/>
                      </a:cubicBezTo>
                      <a:cubicBezTo>
                        <a:pt x="49" y="101"/>
                        <a:pt x="49" y="101"/>
                        <a:pt x="49" y="101"/>
                      </a:cubicBezTo>
                      <a:cubicBezTo>
                        <a:pt x="49" y="100"/>
                        <a:pt x="49" y="100"/>
                        <a:pt x="49" y="100"/>
                      </a:cubicBezTo>
                      <a:cubicBezTo>
                        <a:pt x="50" y="100"/>
                        <a:pt x="50" y="100"/>
                        <a:pt x="50" y="100"/>
                      </a:cubicBezTo>
                      <a:cubicBezTo>
                        <a:pt x="50" y="99"/>
                        <a:pt x="50" y="99"/>
                        <a:pt x="50" y="99"/>
                      </a:cubicBezTo>
                      <a:cubicBezTo>
                        <a:pt x="50" y="99"/>
                        <a:pt x="50" y="99"/>
                        <a:pt x="50" y="99"/>
                      </a:cubicBezTo>
                      <a:cubicBezTo>
                        <a:pt x="37" y="62"/>
                        <a:pt x="20" y="29"/>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3" name="Freeform 13"/>
                <p:cNvSpPr>
                  <a:spLocks/>
                </p:cNvSpPr>
                <p:nvPr/>
              </p:nvSpPr>
              <p:spPr bwMode="auto">
                <a:xfrm>
                  <a:off x="-1116" y="2223"/>
                  <a:ext cx="5" cy="3"/>
                </a:xfrm>
                <a:custGeom>
                  <a:avLst/>
                  <a:gdLst/>
                  <a:ahLst/>
                  <a:cxnLst>
                    <a:cxn ang="0">
                      <a:pos x="1" y="0"/>
                    </a:cxn>
                    <a:cxn ang="0">
                      <a:pos x="0" y="0"/>
                    </a:cxn>
                    <a:cxn ang="0">
                      <a:pos x="0" y="1"/>
                    </a:cxn>
                    <a:cxn ang="0">
                      <a:pos x="2" y="1"/>
                    </a:cxn>
                    <a:cxn ang="0">
                      <a:pos x="1" y="0"/>
                    </a:cxn>
                  </a:cxnLst>
                  <a:rect l="0" t="0" r="r" b="b"/>
                  <a:pathLst>
                    <a:path w="2" h="1">
                      <a:moveTo>
                        <a:pt x="1" y="0"/>
                      </a:moveTo>
                      <a:cubicBezTo>
                        <a:pt x="0" y="0"/>
                        <a:pt x="0" y="0"/>
                        <a:pt x="0" y="0"/>
                      </a:cubicBezTo>
                      <a:cubicBezTo>
                        <a:pt x="0" y="1"/>
                        <a:pt x="0" y="1"/>
                        <a:pt x="0" y="1"/>
                      </a:cubicBezTo>
                      <a:cubicBezTo>
                        <a:pt x="2" y="1"/>
                        <a:pt x="2" y="1"/>
                        <a:pt x="2"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4" name="Freeform 14"/>
                <p:cNvSpPr>
                  <a:spLocks noEditPoints="1"/>
                </p:cNvSpPr>
                <p:nvPr/>
              </p:nvSpPr>
              <p:spPr bwMode="auto">
                <a:xfrm>
                  <a:off x="-1104" y="2259"/>
                  <a:ext cx="171" cy="1017"/>
                </a:xfrm>
                <a:custGeom>
                  <a:avLst/>
                  <a:gdLst/>
                  <a:ahLst/>
                  <a:cxnLst>
                    <a:cxn ang="0">
                      <a:pos x="55" y="343"/>
                    </a:cxn>
                    <a:cxn ang="0">
                      <a:pos x="53" y="343"/>
                    </a:cxn>
                    <a:cxn ang="0">
                      <a:pos x="53" y="343"/>
                    </a:cxn>
                    <a:cxn ang="0">
                      <a:pos x="62" y="394"/>
                    </a:cxn>
                    <a:cxn ang="0">
                      <a:pos x="70" y="429"/>
                    </a:cxn>
                    <a:cxn ang="0">
                      <a:pos x="72" y="429"/>
                    </a:cxn>
                    <a:cxn ang="0">
                      <a:pos x="60" y="374"/>
                    </a:cxn>
                    <a:cxn ang="0">
                      <a:pos x="57" y="352"/>
                    </a:cxn>
                    <a:cxn ang="0">
                      <a:pos x="55" y="343"/>
                    </a:cxn>
                    <a:cxn ang="0">
                      <a:pos x="34" y="255"/>
                    </a:cxn>
                    <a:cxn ang="0">
                      <a:pos x="32" y="255"/>
                    </a:cxn>
                    <a:cxn ang="0">
                      <a:pos x="39" y="292"/>
                    </a:cxn>
                    <a:cxn ang="0">
                      <a:pos x="46" y="324"/>
                    </a:cxn>
                    <a:cxn ang="0">
                      <a:pos x="50" y="336"/>
                    </a:cxn>
                    <a:cxn ang="0">
                      <a:pos x="52" y="342"/>
                    </a:cxn>
                    <a:cxn ang="0">
                      <a:pos x="55" y="342"/>
                    </a:cxn>
                    <a:cxn ang="0">
                      <a:pos x="52" y="336"/>
                    </a:cxn>
                    <a:cxn ang="0">
                      <a:pos x="40" y="284"/>
                    </a:cxn>
                    <a:cxn ang="0">
                      <a:pos x="35" y="259"/>
                    </a:cxn>
                    <a:cxn ang="0">
                      <a:pos x="34" y="255"/>
                    </a:cxn>
                    <a:cxn ang="0">
                      <a:pos x="32" y="233"/>
                    </a:cxn>
                    <a:cxn ang="0">
                      <a:pos x="30" y="233"/>
                    </a:cxn>
                    <a:cxn ang="0">
                      <a:pos x="31" y="249"/>
                    </a:cxn>
                    <a:cxn ang="0">
                      <a:pos x="31" y="249"/>
                    </a:cxn>
                    <a:cxn ang="0">
                      <a:pos x="32" y="254"/>
                    </a:cxn>
                    <a:cxn ang="0">
                      <a:pos x="32" y="254"/>
                    </a:cxn>
                    <a:cxn ang="0">
                      <a:pos x="34" y="254"/>
                    </a:cxn>
                    <a:cxn ang="0">
                      <a:pos x="33" y="249"/>
                    </a:cxn>
                    <a:cxn ang="0">
                      <a:pos x="33" y="249"/>
                    </a:cxn>
                    <a:cxn ang="0">
                      <a:pos x="32" y="233"/>
                    </a:cxn>
                    <a:cxn ang="0">
                      <a:pos x="25" y="102"/>
                    </a:cxn>
                    <a:cxn ang="0">
                      <a:pos x="23" y="102"/>
                    </a:cxn>
                    <a:cxn ang="0">
                      <a:pos x="22" y="112"/>
                    </a:cxn>
                    <a:cxn ang="0">
                      <a:pos x="22" y="112"/>
                    </a:cxn>
                    <a:cxn ang="0">
                      <a:pos x="30" y="232"/>
                    </a:cxn>
                    <a:cxn ang="0">
                      <a:pos x="32" y="232"/>
                    </a:cxn>
                    <a:cxn ang="0">
                      <a:pos x="24" y="113"/>
                    </a:cxn>
                    <a:cxn ang="0">
                      <a:pos x="25" y="102"/>
                    </a:cxn>
                    <a:cxn ang="0">
                      <a:pos x="3" y="0"/>
                    </a:cxn>
                    <a:cxn ang="0">
                      <a:pos x="0" y="0"/>
                    </a:cxn>
                    <a:cxn ang="0">
                      <a:pos x="23" y="95"/>
                    </a:cxn>
                    <a:cxn ang="0">
                      <a:pos x="23" y="101"/>
                    </a:cxn>
                    <a:cxn ang="0">
                      <a:pos x="25" y="101"/>
                    </a:cxn>
                    <a:cxn ang="0">
                      <a:pos x="25" y="95"/>
                    </a:cxn>
                    <a:cxn ang="0">
                      <a:pos x="3" y="0"/>
                    </a:cxn>
                  </a:cxnLst>
                  <a:rect l="0" t="0" r="r" b="b"/>
                  <a:pathLst>
                    <a:path w="72" h="429">
                      <a:moveTo>
                        <a:pt x="55" y="343"/>
                      </a:moveTo>
                      <a:cubicBezTo>
                        <a:pt x="53" y="343"/>
                        <a:pt x="53" y="343"/>
                        <a:pt x="53" y="343"/>
                      </a:cubicBezTo>
                      <a:cubicBezTo>
                        <a:pt x="53" y="343"/>
                        <a:pt x="53" y="343"/>
                        <a:pt x="53" y="343"/>
                      </a:cubicBezTo>
                      <a:cubicBezTo>
                        <a:pt x="54" y="346"/>
                        <a:pt x="57" y="369"/>
                        <a:pt x="62" y="394"/>
                      </a:cubicBezTo>
                      <a:cubicBezTo>
                        <a:pt x="64" y="406"/>
                        <a:pt x="67" y="418"/>
                        <a:pt x="70" y="429"/>
                      </a:cubicBezTo>
                      <a:cubicBezTo>
                        <a:pt x="72" y="429"/>
                        <a:pt x="72" y="429"/>
                        <a:pt x="72" y="429"/>
                      </a:cubicBezTo>
                      <a:cubicBezTo>
                        <a:pt x="67" y="411"/>
                        <a:pt x="63" y="391"/>
                        <a:pt x="60" y="374"/>
                      </a:cubicBezTo>
                      <a:cubicBezTo>
                        <a:pt x="59" y="365"/>
                        <a:pt x="57" y="357"/>
                        <a:pt x="57" y="352"/>
                      </a:cubicBezTo>
                      <a:cubicBezTo>
                        <a:pt x="56" y="347"/>
                        <a:pt x="55" y="344"/>
                        <a:pt x="55" y="343"/>
                      </a:cubicBezTo>
                      <a:moveTo>
                        <a:pt x="34" y="255"/>
                      </a:moveTo>
                      <a:cubicBezTo>
                        <a:pt x="32" y="255"/>
                        <a:pt x="32" y="255"/>
                        <a:pt x="32" y="255"/>
                      </a:cubicBezTo>
                      <a:cubicBezTo>
                        <a:pt x="34" y="263"/>
                        <a:pt x="36" y="277"/>
                        <a:pt x="39" y="292"/>
                      </a:cubicBezTo>
                      <a:cubicBezTo>
                        <a:pt x="42" y="303"/>
                        <a:pt x="44" y="315"/>
                        <a:pt x="46" y="324"/>
                      </a:cubicBezTo>
                      <a:cubicBezTo>
                        <a:pt x="48" y="329"/>
                        <a:pt x="49" y="333"/>
                        <a:pt x="50" y="336"/>
                      </a:cubicBezTo>
                      <a:cubicBezTo>
                        <a:pt x="51" y="339"/>
                        <a:pt x="52" y="340"/>
                        <a:pt x="52" y="342"/>
                      </a:cubicBezTo>
                      <a:cubicBezTo>
                        <a:pt x="55" y="342"/>
                        <a:pt x="55" y="342"/>
                        <a:pt x="55" y="342"/>
                      </a:cubicBezTo>
                      <a:cubicBezTo>
                        <a:pt x="54" y="341"/>
                        <a:pt x="53" y="338"/>
                        <a:pt x="52" y="336"/>
                      </a:cubicBezTo>
                      <a:cubicBezTo>
                        <a:pt x="48" y="324"/>
                        <a:pt x="43" y="303"/>
                        <a:pt x="40" y="284"/>
                      </a:cubicBezTo>
                      <a:cubicBezTo>
                        <a:pt x="38" y="274"/>
                        <a:pt x="36" y="266"/>
                        <a:pt x="35" y="259"/>
                      </a:cubicBezTo>
                      <a:cubicBezTo>
                        <a:pt x="35" y="258"/>
                        <a:pt x="35" y="256"/>
                        <a:pt x="34" y="255"/>
                      </a:cubicBezTo>
                      <a:moveTo>
                        <a:pt x="32" y="233"/>
                      </a:moveTo>
                      <a:cubicBezTo>
                        <a:pt x="30" y="233"/>
                        <a:pt x="30" y="233"/>
                        <a:pt x="30" y="233"/>
                      </a:cubicBezTo>
                      <a:cubicBezTo>
                        <a:pt x="31" y="249"/>
                        <a:pt x="31" y="249"/>
                        <a:pt x="31" y="249"/>
                      </a:cubicBezTo>
                      <a:cubicBezTo>
                        <a:pt x="31" y="249"/>
                        <a:pt x="31" y="249"/>
                        <a:pt x="31" y="249"/>
                      </a:cubicBezTo>
                      <a:cubicBezTo>
                        <a:pt x="31" y="249"/>
                        <a:pt x="32" y="251"/>
                        <a:pt x="32" y="254"/>
                      </a:cubicBezTo>
                      <a:cubicBezTo>
                        <a:pt x="32" y="254"/>
                        <a:pt x="32" y="254"/>
                        <a:pt x="32" y="254"/>
                      </a:cubicBezTo>
                      <a:cubicBezTo>
                        <a:pt x="34" y="254"/>
                        <a:pt x="34" y="254"/>
                        <a:pt x="34" y="254"/>
                      </a:cubicBezTo>
                      <a:cubicBezTo>
                        <a:pt x="34" y="251"/>
                        <a:pt x="33" y="249"/>
                        <a:pt x="33" y="249"/>
                      </a:cubicBezTo>
                      <a:cubicBezTo>
                        <a:pt x="33" y="249"/>
                        <a:pt x="33" y="249"/>
                        <a:pt x="33" y="249"/>
                      </a:cubicBezTo>
                      <a:cubicBezTo>
                        <a:pt x="32" y="233"/>
                        <a:pt x="32" y="233"/>
                        <a:pt x="32" y="233"/>
                      </a:cubicBezTo>
                      <a:moveTo>
                        <a:pt x="25" y="102"/>
                      </a:moveTo>
                      <a:cubicBezTo>
                        <a:pt x="23" y="102"/>
                        <a:pt x="23" y="102"/>
                        <a:pt x="23" y="102"/>
                      </a:cubicBezTo>
                      <a:cubicBezTo>
                        <a:pt x="23" y="105"/>
                        <a:pt x="22" y="109"/>
                        <a:pt x="22" y="112"/>
                      </a:cubicBezTo>
                      <a:cubicBezTo>
                        <a:pt x="22" y="112"/>
                        <a:pt x="22" y="112"/>
                        <a:pt x="22" y="112"/>
                      </a:cubicBezTo>
                      <a:cubicBezTo>
                        <a:pt x="30" y="232"/>
                        <a:pt x="30" y="232"/>
                        <a:pt x="30" y="232"/>
                      </a:cubicBezTo>
                      <a:cubicBezTo>
                        <a:pt x="32" y="232"/>
                        <a:pt x="32" y="232"/>
                        <a:pt x="32" y="232"/>
                      </a:cubicBezTo>
                      <a:cubicBezTo>
                        <a:pt x="24" y="113"/>
                        <a:pt x="24" y="113"/>
                        <a:pt x="24" y="113"/>
                      </a:cubicBezTo>
                      <a:cubicBezTo>
                        <a:pt x="24" y="109"/>
                        <a:pt x="25" y="106"/>
                        <a:pt x="25" y="102"/>
                      </a:cubicBezTo>
                      <a:moveTo>
                        <a:pt x="3" y="0"/>
                      </a:moveTo>
                      <a:cubicBezTo>
                        <a:pt x="0" y="0"/>
                        <a:pt x="0" y="0"/>
                        <a:pt x="0" y="0"/>
                      </a:cubicBezTo>
                      <a:cubicBezTo>
                        <a:pt x="9" y="20"/>
                        <a:pt x="23" y="60"/>
                        <a:pt x="23" y="95"/>
                      </a:cubicBezTo>
                      <a:cubicBezTo>
                        <a:pt x="23" y="97"/>
                        <a:pt x="23" y="99"/>
                        <a:pt x="23" y="101"/>
                      </a:cubicBezTo>
                      <a:cubicBezTo>
                        <a:pt x="25" y="101"/>
                        <a:pt x="25" y="101"/>
                        <a:pt x="25" y="101"/>
                      </a:cubicBezTo>
                      <a:cubicBezTo>
                        <a:pt x="25" y="99"/>
                        <a:pt x="25" y="97"/>
                        <a:pt x="25" y="95"/>
                      </a:cubicBezTo>
                      <a:cubicBezTo>
                        <a:pt x="25" y="60"/>
                        <a:pt x="11" y="2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5" name="Freeform 15"/>
                <p:cNvSpPr>
                  <a:spLocks/>
                </p:cNvSpPr>
                <p:nvPr/>
              </p:nvSpPr>
              <p:spPr bwMode="auto">
                <a:xfrm>
                  <a:off x="-981" y="3069"/>
                  <a:ext cx="7" cy="3"/>
                </a:xfrm>
                <a:custGeom>
                  <a:avLst/>
                  <a:gdLst/>
                  <a:ahLst/>
                  <a:cxnLst>
                    <a:cxn ang="0">
                      <a:pos x="3" y="0"/>
                    </a:cxn>
                    <a:cxn ang="0">
                      <a:pos x="0" y="0"/>
                    </a:cxn>
                    <a:cxn ang="0">
                      <a:pos x="1" y="1"/>
                    </a:cxn>
                    <a:cxn ang="0">
                      <a:pos x="3" y="1"/>
                    </a:cxn>
                    <a:cxn ang="0">
                      <a:pos x="3" y="1"/>
                    </a:cxn>
                    <a:cxn ang="0">
                      <a:pos x="3" y="1"/>
                    </a:cxn>
                    <a:cxn ang="0">
                      <a:pos x="3" y="0"/>
                    </a:cxn>
                    <a:cxn ang="0">
                      <a:pos x="3" y="0"/>
                    </a:cxn>
                  </a:cxnLst>
                  <a:rect l="0" t="0" r="r" b="b"/>
                  <a:pathLst>
                    <a:path w="3" h="1">
                      <a:moveTo>
                        <a:pt x="3" y="0"/>
                      </a:moveTo>
                      <a:cubicBezTo>
                        <a:pt x="0" y="0"/>
                        <a:pt x="0" y="0"/>
                        <a:pt x="0" y="0"/>
                      </a:cubicBezTo>
                      <a:cubicBezTo>
                        <a:pt x="1" y="0"/>
                        <a:pt x="1" y="1"/>
                        <a:pt x="1" y="1"/>
                      </a:cubicBezTo>
                      <a:cubicBezTo>
                        <a:pt x="3" y="1"/>
                        <a:pt x="3" y="1"/>
                        <a:pt x="3" y="1"/>
                      </a:cubicBezTo>
                      <a:cubicBezTo>
                        <a:pt x="3" y="1"/>
                        <a:pt x="3" y="1"/>
                        <a:pt x="3" y="1"/>
                      </a:cubicBezTo>
                      <a:cubicBezTo>
                        <a:pt x="3" y="1"/>
                        <a:pt x="3" y="1"/>
                        <a:pt x="3" y="1"/>
                      </a:cubicBezTo>
                      <a:cubicBezTo>
                        <a:pt x="3" y="0"/>
                        <a:pt x="3" y="0"/>
                        <a:pt x="3" y="0"/>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6" name="Freeform 16"/>
                <p:cNvSpPr>
                  <a:spLocks/>
                </p:cNvSpPr>
                <p:nvPr/>
              </p:nvSpPr>
              <p:spPr bwMode="auto">
                <a:xfrm>
                  <a:off x="-1028" y="2861"/>
                  <a:ext cx="5" cy="2"/>
                </a:xfrm>
                <a:custGeom>
                  <a:avLst/>
                  <a:gdLst/>
                  <a:ahLst/>
                  <a:cxnLst>
                    <a:cxn ang="0">
                      <a:pos x="2" y="0"/>
                    </a:cxn>
                    <a:cxn ang="0">
                      <a:pos x="0"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7" name="Freeform 17"/>
                <p:cNvSpPr>
                  <a:spLocks noEditPoints="1"/>
                </p:cNvSpPr>
                <p:nvPr/>
              </p:nvSpPr>
              <p:spPr bwMode="auto">
                <a:xfrm>
                  <a:off x="-1750" y="1524"/>
                  <a:ext cx="843" cy="1830"/>
                </a:xfrm>
                <a:custGeom>
                  <a:avLst/>
                  <a:gdLst/>
                  <a:ahLst/>
                  <a:cxnLst>
                    <a:cxn ang="0">
                      <a:pos x="345" y="740"/>
                    </a:cxn>
                    <a:cxn ang="0">
                      <a:pos x="343" y="740"/>
                    </a:cxn>
                    <a:cxn ang="0">
                      <a:pos x="344" y="744"/>
                    </a:cxn>
                    <a:cxn ang="0">
                      <a:pos x="354" y="772"/>
                    </a:cxn>
                    <a:cxn ang="0">
                      <a:pos x="355" y="772"/>
                    </a:cxn>
                    <a:cxn ang="0">
                      <a:pos x="356" y="772"/>
                    </a:cxn>
                    <a:cxn ang="0">
                      <a:pos x="356" y="771"/>
                    </a:cxn>
                    <a:cxn ang="0">
                      <a:pos x="346" y="744"/>
                    </a:cxn>
                    <a:cxn ang="0">
                      <a:pos x="345" y="740"/>
                    </a:cxn>
                    <a:cxn ang="0">
                      <a:pos x="145" y="98"/>
                    </a:cxn>
                    <a:cxn ang="0">
                      <a:pos x="142" y="98"/>
                    </a:cxn>
                    <a:cxn ang="0">
                      <a:pos x="219" y="194"/>
                    </a:cxn>
                    <a:cxn ang="0">
                      <a:pos x="221" y="194"/>
                    </a:cxn>
                    <a:cxn ang="0">
                      <a:pos x="145" y="98"/>
                    </a:cxn>
                    <a:cxn ang="0">
                      <a:pos x="110" y="67"/>
                    </a:cxn>
                    <a:cxn ang="0">
                      <a:pos x="107" y="67"/>
                    </a:cxn>
                    <a:cxn ang="0">
                      <a:pos x="141" y="97"/>
                    </a:cxn>
                    <a:cxn ang="0">
                      <a:pos x="144" y="97"/>
                    </a:cxn>
                    <a:cxn ang="0">
                      <a:pos x="110" y="67"/>
                    </a:cxn>
                    <a:cxn ang="0">
                      <a:pos x="2" y="0"/>
                    </a:cxn>
                    <a:cxn ang="0">
                      <a:pos x="0" y="0"/>
                    </a:cxn>
                    <a:cxn ang="0">
                      <a:pos x="0" y="1"/>
                    </a:cxn>
                    <a:cxn ang="0">
                      <a:pos x="0" y="1"/>
                    </a:cxn>
                    <a:cxn ang="0">
                      <a:pos x="2" y="2"/>
                    </a:cxn>
                    <a:cxn ang="0">
                      <a:pos x="106" y="66"/>
                    </a:cxn>
                    <a:cxn ang="0">
                      <a:pos x="109" y="66"/>
                    </a:cxn>
                    <a:cxn ang="0">
                      <a:pos x="2" y="0"/>
                    </a:cxn>
                  </a:cxnLst>
                  <a:rect l="0" t="0" r="r" b="b"/>
                  <a:pathLst>
                    <a:path w="356" h="772">
                      <a:moveTo>
                        <a:pt x="345" y="740"/>
                      </a:moveTo>
                      <a:cubicBezTo>
                        <a:pt x="343" y="740"/>
                        <a:pt x="343" y="740"/>
                        <a:pt x="343" y="740"/>
                      </a:cubicBezTo>
                      <a:cubicBezTo>
                        <a:pt x="343" y="741"/>
                        <a:pt x="344" y="743"/>
                        <a:pt x="344" y="744"/>
                      </a:cubicBezTo>
                      <a:cubicBezTo>
                        <a:pt x="347" y="756"/>
                        <a:pt x="351" y="766"/>
                        <a:pt x="354" y="772"/>
                      </a:cubicBezTo>
                      <a:cubicBezTo>
                        <a:pt x="355" y="772"/>
                        <a:pt x="355" y="772"/>
                        <a:pt x="355" y="772"/>
                      </a:cubicBezTo>
                      <a:cubicBezTo>
                        <a:pt x="356" y="772"/>
                        <a:pt x="356" y="772"/>
                        <a:pt x="356" y="772"/>
                      </a:cubicBezTo>
                      <a:cubicBezTo>
                        <a:pt x="356" y="771"/>
                        <a:pt x="356" y="771"/>
                        <a:pt x="356" y="771"/>
                      </a:cubicBezTo>
                      <a:cubicBezTo>
                        <a:pt x="352" y="765"/>
                        <a:pt x="349" y="755"/>
                        <a:pt x="346" y="744"/>
                      </a:cubicBezTo>
                      <a:cubicBezTo>
                        <a:pt x="346" y="742"/>
                        <a:pt x="345" y="741"/>
                        <a:pt x="345" y="740"/>
                      </a:cubicBezTo>
                      <a:moveTo>
                        <a:pt x="145" y="98"/>
                      </a:moveTo>
                      <a:cubicBezTo>
                        <a:pt x="142" y="98"/>
                        <a:pt x="142" y="98"/>
                        <a:pt x="142" y="98"/>
                      </a:cubicBezTo>
                      <a:cubicBezTo>
                        <a:pt x="168" y="124"/>
                        <a:pt x="195" y="155"/>
                        <a:pt x="219" y="194"/>
                      </a:cubicBezTo>
                      <a:cubicBezTo>
                        <a:pt x="221" y="194"/>
                        <a:pt x="221" y="194"/>
                        <a:pt x="221" y="194"/>
                      </a:cubicBezTo>
                      <a:cubicBezTo>
                        <a:pt x="197" y="155"/>
                        <a:pt x="171" y="124"/>
                        <a:pt x="145" y="98"/>
                      </a:cubicBezTo>
                      <a:moveTo>
                        <a:pt x="110" y="67"/>
                      </a:moveTo>
                      <a:cubicBezTo>
                        <a:pt x="107" y="67"/>
                        <a:pt x="107" y="67"/>
                        <a:pt x="107" y="67"/>
                      </a:cubicBezTo>
                      <a:cubicBezTo>
                        <a:pt x="118" y="76"/>
                        <a:pt x="129" y="86"/>
                        <a:pt x="141" y="97"/>
                      </a:cubicBezTo>
                      <a:cubicBezTo>
                        <a:pt x="144" y="97"/>
                        <a:pt x="144" y="97"/>
                        <a:pt x="144" y="97"/>
                      </a:cubicBezTo>
                      <a:cubicBezTo>
                        <a:pt x="132" y="86"/>
                        <a:pt x="121" y="76"/>
                        <a:pt x="110" y="67"/>
                      </a:cubicBezTo>
                      <a:moveTo>
                        <a:pt x="2" y="0"/>
                      </a:moveTo>
                      <a:cubicBezTo>
                        <a:pt x="0" y="0"/>
                        <a:pt x="0" y="0"/>
                        <a:pt x="0" y="0"/>
                      </a:cubicBezTo>
                      <a:cubicBezTo>
                        <a:pt x="0" y="1"/>
                        <a:pt x="0" y="1"/>
                        <a:pt x="0" y="1"/>
                      </a:cubicBezTo>
                      <a:cubicBezTo>
                        <a:pt x="0" y="1"/>
                        <a:pt x="0" y="1"/>
                        <a:pt x="0" y="1"/>
                      </a:cubicBezTo>
                      <a:cubicBezTo>
                        <a:pt x="0" y="2"/>
                        <a:pt x="1" y="2"/>
                        <a:pt x="2" y="2"/>
                      </a:cubicBezTo>
                      <a:cubicBezTo>
                        <a:pt x="12" y="6"/>
                        <a:pt x="55" y="25"/>
                        <a:pt x="106" y="66"/>
                      </a:cubicBezTo>
                      <a:cubicBezTo>
                        <a:pt x="109" y="66"/>
                        <a:pt x="109" y="66"/>
                        <a:pt x="109" y="66"/>
                      </a:cubicBezTo>
                      <a:cubicBezTo>
                        <a:pt x="56" y="23"/>
                        <a:pt x="10" y="3"/>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8" name="Freeform 18"/>
                <p:cNvSpPr>
                  <a:spLocks/>
                </p:cNvSpPr>
                <p:nvPr/>
              </p:nvSpPr>
              <p:spPr bwMode="auto">
                <a:xfrm>
                  <a:off x="-1416" y="1754"/>
                  <a:ext cx="9" cy="2"/>
                </a:xfrm>
                <a:custGeom>
                  <a:avLst/>
                  <a:gdLst/>
                  <a:ahLst/>
                  <a:cxnLst>
                    <a:cxn ang="0">
                      <a:pos x="3" y="0"/>
                    </a:cxn>
                    <a:cxn ang="0">
                      <a:pos x="0" y="0"/>
                    </a:cxn>
                    <a:cxn ang="0">
                      <a:pos x="1" y="1"/>
                    </a:cxn>
                    <a:cxn ang="0">
                      <a:pos x="4" y="1"/>
                    </a:cxn>
                    <a:cxn ang="0">
                      <a:pos x="3" y="0"/>
                    </a:cxn>
                  </a:cxnLst>
                  <a:rect l="0" t="0" r="r" b="b"/>
                  <a:pathLst>
                    <a:path w="4" h="1">
                      <a:moveTo>
                        <a:pt x="3" y="0"/>
                      </a:moveTo>
                      <a:cubicBezTo>
                        <a:pt x="0" y="0"/>
                        <a:pt x="0" y="0"/>
                        <a:pt x="0" y="0"/>
                      </a:cubicBezTo>
                      <a:cubicBezTo>
                        <a:pt x="0" y="0"/>
                        <a:pt x="0" y="1"/>
                        <a:pt x="1" y="1"/>
                      </a:cubicBezTo>
                      <a:cubicBezTo>
                        <a:pt x="4" y="1"/>
                        <a:pt x="4" y="1"/>
                        <a:pt x="4" y="1"/>
                      </a:cubicBezTo>
                      <a:cubicBezTo>
                        <a:pt x="3" y="1"/>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9" name="Freeform 19"/>
                <p:cNvSpPr>
                  <a:spLocks/>
                </p:cNvSpPr>
                <p:nvPr/>
              </p:nvSpPr>
              <p:spPr bwMode="auto">
                <a:xfrm>
                  <a:off x="-1499" y="1681"/>
                  <a:ext cx="9" cy="2"/>
                </a:xfrm>
                <a:custGeom>
                  <a:avLst/>
                  <a:gdLst/>
                  <a:ahLst/>
                  <a:cxnLst>
                    <a:cxn ang="0">
                      <a:pos x="3" y="0"/>
                    </a:cxn>
                    <a:cxn ang="0">
                      <a:pos x="0" y="0"/>
                    </a:cxn>
                    <a:cxn ang="0">
                      <a:pos x="1" y="1"/>
                    </a:cxn>
                    <a:cxn ang="0">
                      <a:pos x="4" y="1"/>
                    </a:cxn>
                    <a:cxn ang="0">
                      <a:pos x="3" y="0"/>
                    </a:cxn>
                  </a:cxnLst>
                  <a:rect l="0" t="0" r="r" b="b"/>
                  <a:pathLst>
                    <a:path w="4" h="1">
                      <a:moveTo>
                        <a:pt x="3" y="0"/>
                      </a:moveTo>
                      <a:cubicBezTo>
                        <a:pt x="0" y="0"/>
                        <a:pt x="0" y="0"/>
                        <a:pt x="0" y="0"/>
                      </a:cubicBezTo>
                      <a:cubicBezTo>
                        <a:pt x="0" y="1"/>
                        <a:pt x="1" y="1"/>
                        <a:pt x="1" y="1"/>
                      </a:cubicBezTo>
                      <a:cubicBezTo>
                        <a:pt x="4" y="1"/>
                        <a:pt x="4" y="1"/>
                        <a:pt x="4" y="1"/>
                      </a:cubicBezTo>
                      <a:cubicBezTo>
                        <a:pt x="4" y="1"/>
                        <a:pt x="4" y="1"/>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0" name="Freeform 20"/>
                <p:cNvSpPr>
                  <a:spLocks noEditPoints="1"/>
                </p:cNvSpPr>
                <p:nvPr/>
              </p:nvSpPr>
              <p:spPr bwMode="auto">
                <a:xfrm>
                  <a:off x="-2619" y="2809"/>
                  <a:ext cx="178" cy="2"/>
                </a:xfrm>
                <a:custGeom>
                  <a:avLst/>
                  <a:gdLst/>
                  <a:ahLst/>
                  <a:cxnLst>
                    <a:cxn ang="0">
                      <a:pos x="178" y="2"/>
                    </a:cxn>
                    <a:cxn ang="0">
                      <a:pos x="178" y="0"/>
                    </a:cxn>
                    <a:cxn ang="0">
                      <a:pos x="178" y="2"/>
                    </a:cxn>
                    <a:cxn ang="0">
                      <a:pos x="0" y="0"/>
                    </a:cxn>
                    <a:cxn ang="0">
                      <a:pos x="0" y="2"/>
                    </a:cxn>
                    <a:cxn ang="0">
                      <a:pos x="0" y="2"/>
                    </a:cxn>
                    <a:cxn ang="0">
                      <a:pos x="0" y="2"/>
                    </a:cxn>
                    <a:cxn ang="0">
                      <a:pos x="0" y="0"/>
                    </a:cxn>
                    <a:cxn ang="0">
                      <a:pos x="178" y="0"/>
                    </a:cxn>
                    <a:cxn ang="0">
                      <a:pos x="178" y="0"/>
                    </a:cxn>
                  </a:cxnLst>
                  <a:rect l="0" t="0" r="r" b="b"/>
                  <a:pathLst>
                    <a:path w="178" h="2">
                      <a:moveTo>
                        <a:pt x="178" y="2"/>
                      </a:moveTo>
                      <a:lnTo>
                        <a:pt x="178" y="0"/>
                      </a:lnTo>
                      <a:lnTo>
                        <a:pt x="178" y="2"/>
                      </a:lnTo>
                      <a:close/>
                      <a:moveTo>
                        <a:pt x="0" y="0"/>
                      </a:moveTo>
                      <a:lnTo>
                        <a:pt x="0" y="2"/>
                      </a:lnTo>
                      <a:lnTo>
                        <a:pt x="0" y="2"/>
                      </a:lnTo>
                      <a:lnTo>
                        <a:pt x="0" y="2"/>
                      </a:lnTo>
                      <a:lnTo>
                        <a:pt x="0" y="0"/>
                      </a:lnTo>
                      <a:close/>
                      <a:moveTo>
                        <a:pt x="178" y="0"/>
                      </a:moveTo>
                      <a:lnTo>
                        <a:pt x="178"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1" name="Freeform 21"/>
                <p:cNvSpPr>
                  <a:spLocks noEditPoints="1"/>
                </p:cNvSpPr>
                <p:nvPr/>
              </p:nvSpPr>
              <p:spPr bwMode="auto">
                <a:xfrm>
                  <a:off x="-2619" y="2809"/>
                  <a:ext cx="178" cy="2"/>
                </a:xfrm>
                <a:custGeom>
                  <a:avLst/>
                  <a:gdLst/>
                  <a:ahLst/>
                  <a:cxnLst>
                    <a:cxn ang="0">
                      <a:pos x="178" y="2"/>
                    </a:cxn>
                    <a:cxn ang="0">
                      <a:pos x="178" y="0"/>
                    </a:cxn>
                    <a:cxn ang="0">
                      <a:pos x="0" y="0"/>
                    </a:cxn>
                    <a:cxn ang="0">
                      <a:pos x="0" y="2"/>
                    </a:cxn>
                    <a:cxn ang="0">
                      <a:pos x="0" y="2"/>
                    </a:cxn>
                    <a:cxn ang="0">
                      <a:pos x="0" y="2"/>
                    </a:cxn>
                    <a:cxn ang="0">
                      <a:pos x="178" y="0"/>
                    </a:cxn>
                    <a:cxn ang="0">
                      <a:pos x="178" y="0"/>
                    </a:cxn>
                  </a:cxnLst>
                  <a:rect l="0" t="0" r="r" b="b"/>
                  <a:pathLst>
                    <a:path w="178" h="2">
                      <a:moveTo>
                        <a:pt x="178" y="2"/>
                      </a:moveTo>
                      <a:lnTo>
                        <a:pt x="178" y="0"/>
                      </a:lnTo>
                      <a:moveTo>
                        <a:pt x="0" y="0"/>
                      </a:moveTo>
                      <a:lnTo>
                        <a:pt x="0" y="2"/>
                      </a:lnTo>
                      <a:lnTo>
                        <a:pt x="0" y="2"/>
                      </a:lnTo>
                      <a:lnTo>
                        <a:pt x="0" y="2"/>
                      </a:lnTo>
                      <a:moveTo>
                        <a:pt x="178" y="0"/>
                      </a:moveTo>
                      <a:lnTo>
                        <a:pt x="178" y="0"/>
                      </a:lnTo>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2" name="Freeform 22"/>
                <p:cNvSpPr>
                  <a:spLocks/>
                </p:cNvSpPr>
                <p:nvPr/>
              </p:nvSpPr>
              <p:spPr bwMode="auto">
                <a:xfrm>
                  <a:off x="-1033" y="2809"/>
                  <a:ext cx="5" cy="2"/>
                </a:xfrm>
                <a:custGeom>
                  <a:avLst/>
                  <a:gdLst/>
                  <a:ahLst/>
                  <a:cxnLst>
                    <a:cxn ang="0">
                      <a:pos x="5" y="0"/>
                    </a:cxn>
                    <a:cxn ang="0">
                      <a:pos x="0" y="0"/>
                    </a:cxn>
                    <a:cxn ang="0">
                      <a:pos x="0" y="2"/>
                    </a:cxn>
                    <a:cxn ang="0">
                      <a:pos x="5" y="2"/>
                    </a:cxn>
                    <a:cxn ang="0">
                      <a:pos x="5" y="0"/>
                    </a:cxn>
                    <a:cxn ang="0">
                      <a:pos x="5" y="0"/>
                    </a:cxn>
                  </a:cxnLst>
                  <a:rect l="0" t="0" r="r" b="b"/>
                  <a:pathLst>
                    <a:path w="5" h="2">
                      <a:moveTo>
                        <a:pt x="5" y="0"/>
                      </a:moveTo>
                      <a:lnTo>
                        <a:pt x="0" y="0"/>
                      </a:lnTo>
                      <a:lnTo>
                        <a:pt x="0" y="2"/>
                      </a:lnTo>
                      <a:lnTo>
                        <a:pt x="5" y="2"/>
                      </a:lnTo>
                      <a:lnTo>
                        <a:pt x="5" y="0"/>
                      </a:lnTo>
                      <a:lnTo>
                        <a:pt x="5"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3" name="Freeform 23"/>
                <p:cNvSpPr>
                  <a:spLocks/>
                </p:cNvSpPr>
                <p:nvPr/>
              </p:nvSpPr>
              <p:spPr bwMode="auto">
                <a:xfrm>
                  <a:off x="-938" y="3276"/>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4" name="Freeform 24"/>
                <p:cNvSpPr>
                  <a:spLocks noEditPoints="1"/>
                </p:cNvSpPr>
                <p:nvPr/>
              </p:nvSpPr>
              <p:spPr bwMode="auto">
                <a:xfrm>
                  <a:off x="-3887" y="3351"/>
                  <a:ext cx="395" cy="1"/>
                </a:xfrm>
                <a:custGeom>
                  <a:avLst/>
                  <a:gdLst/>
                  <a:ahLst/>
                  <a:cxnLst>
                    <a:cxn ang="0">
                      <a:pos x="0" y="0"/>
                    </a:cxn>
                    <a:cxn ang="0">
                      <a:pos x="0" y="0"/>
                    </a:cxn>
                    <a:cxn ang="0">
                      <a:pos x="4" y="0"/>
                    </a:cxn>
                    <a:cxn ang="0">
                      <a:pos x="15" y="0"/>
                    </a:cxn>
                    <a:cxn ang="0">
                      <a:pos x="10" y="0"/>
                    </a:cxn>
                    <a:cxn ang="0">
                      <a:pos x="15" y="0"/>
                    </a:cxn>
                    <a:cxn ang="0">
                      <a:pos x="20" y="0"/>
                    </a:cxn>
                    <a:cxn ang="0">
                      <a:pos x="25" y="0"/>
                    </a:cxn>
                    <a:cxn ang="0">
                      <a:pos x="36" y="0"/>
                    </a:cxn>
                    <a:cxn ang="0">
                      <a:pos x="30" y="0"/>
                    </a:cxn>
                    <a:cxn ang="0">
                      <a:pos x="36" y="0"/>
                    </a:cxn>
                    <a:cxn ang="0">
                      <a:pos x="43" y="0"/>
                    </a:cxn>
                    <a:cxn ang="0">
                      <a:pos x="46" y="0"/>
                    </a:cxn>
                    <a:cxn ang="0">
                      <a:pos x="56" y="0"/>
                    </a:cxn>
                    <a:cxn ang="0">
                      <a:pos x="51" y="0"/>
                    </a:cxn>
                    <a:cxn ang="0">
                      <a:pos x="56" y="0"/>
                    </a:cxn>
                    <a:cxn ang="0">
                      <a:pos x="62" y="0"/>
                    </a:cxn>
                    <a:cxn ang="0">
                      <a:pos x="67" y="0"/>
                    </a:cxn>
                    <a:cxn ang="0">
                      <a:pos x="77" y="0"/>
                    </a:cxn>
                    <a:cxn ang="0">
                      <a:pos x="72" y="0"/>
                    </a:cxn>
                    <a:cxn ang="0">
                      <a:pos x="77" y="0"/>
                    </a:cxn>
                    <a:cxn ang="0">
                      <a:pos x="82" y="0"/>
                    </a:cxn>
                    <a:cxn ang="0">
                      <a:pos x="84" y="0"/>
                    </a:cxn>
                    <a:cxn ang="0">
                      <a:pos x="88" y="0"/>
                    </a:cxn>
                    <a:cxn ang="0">
                      <a:pos x="86" y="0"/>
                    </a:cxn>
                    <a:cxn ang="0">
                      <a:pos x="88" y="0"/>
                    </a:cxn>
                    <a:cxn ang="0">
                      <a:pos x="93" y="0"/>
                    </a:cxn>
                    <a:cxn ang="0">
                      <a:pos x="98" y="0"/>
                    </a:cxn>
                    <a:cxn ang="0">
                      <a:pos x="108" y="0"/>
                    </a:cxn>
                    <a:cxn ang="0">
                      <a:pos x="103" y="0"/>
                    </a:cxn>
                    <a:cxn ang="0">
                      <a:pos x="108" y="0"/>
                    </a:cxn>
                    <a:cxn ang="0">
                      <a:pos x="114" y="0"/>
                    </a:cxn>
                    <a:cxn ang="0">
                      <a:pos x="119" y="0"/>
                    </a:cxn>
                    <a:cxn ang="0">
                      <a:pos x="126" y="0"/>
                    </a:cxn>
                    <a:cxn ang="0">
                      <a:pos x="124" y="0"/>
                    </a:cxn>
                    <a:cxn ang="0">
                      <a:pos x="126" y="0"/>
                    </a:cxn>
                    <a:cxn ang="0">
                      <a:pos x="128" y="0"/>
                    </a:cxn>
                    <a:cxn ang="0">
                      <a:pos x="129" y="0"/>
                    </a:cxn>
                    <a:cxn ang="0">
                      <a:pos x="140" y="0"/>
                    </a:cxn>
                    <a:cxn ang="0">
                      <a:pos x="134" y="0"/>
                    </a:cxn>
                    <a:cxn ang="0">
                      <a:pos x="140" y="0"/>
                    </a:cxn>
                    <a:cxn ang="0">
                      <a:pos x="145" y="0"/>
                    </a:cxn>
                    <a:cxn ang="0">
                      <a:pos x="150" y="0"/>
                    </a:cxn>
                    <a:cxn ang="0">
                      <a:pos x="160" y="0"/>
                    </a:cxn>
                    <a:cxn ang="0">
                      <a:pos x="155" y="0"/>
                    </a:cxn>
                    <a:cxn ang="0">
                      <a:pos x="160" y="0"/>
                    </a:cxn>
                    <a:cxn ang="0">
                      <a:pos x="166" y="0"/>
                    </a:cxn>
                    <a:cxn ang="0">
                      <a:pos x="167" y="0"/>
                    </a:cxn>
                  </a:cxnLst>
                  <a:rect l="0" t="0" r="r" b="b"/>
                  <a:pathLst>
                    <a:path w="167">
                      <a:moveTo>
                        <a:pt x="4" y="0"/>
                      </a:moveTo>
                      <a:cubicBezTo>
                        <a:pt x="0" y="0"/>
                        <a:pt x="0" y="0"/>
                        <a:pt x="0" y="0"/>
                      </a:cubicBezTo>
                      <a:cubicBezTo>
                        <a:pt x="0" y="0"/>
                        <a:pt x="0" y="0"/>
                        <a:pt x="0" y="0"/>
                      </a:cubicBezTo>
                      <a:cubicBezTo>
                        <a:pt x="0" y="0"/>
                        <a:pt x="0" y="0"/>
                        <a:pt x="0" y="0"/>
                      </a:cubicBezTo>
                      <a:cubicBezTo>
                        <a:pt x="0" y="0"/>
                        <a:pt x="0" y="0"/>
                        <a:pt x="0" y="0"/>
                      </a:cubicBezTo>
                      <a:cubicBezTo>
                        <a:pt x="4" y="0"/>
                        <a:pt x="4" y="0"/>
                        <a:pt x="4" y="0"/>
                      </a:cubicBezTo>
                      <a:cubicBezTo>
                        <a:pt x="4" y="0"/>
                        <a:pt x="4" y="0"/>
                        <a:pt x="4" y="0"/>
                      </a:cubicBezTo>
                      <a:moveTo>
                        <a:pt x="15" y="0"/>
                      </a:moveTo>
                      <a:cubicBezTo>
                        <a:pt x="10" y="0"/>
                        <a:pt x="10" y="0"/>
                        <a:pt x="10" y="0"/>
                      </a:cubicBezTo>
                      <a:cubicBezTo>
                        <a:pt x="10" y="0"/>
                        <a:pt x="10" y="0"/>
                        <a:pt x="10" y="0"/>
                      </a:cubicBezTo>
                      <a:cubicBezTo>
                        <a:pt x="15" y="0"/>
                        <a:pt x="15" y="0"/>
                        <a:pt x="15" y="0"/>
                      </a:cubicBezTo>
                      <a:cubicBezTo>
                        <a:pt x="15" y="0"/>
                        <a:pt x="15" y="0"/>
                        <a:pt x="15" y="0"/>
                      </a:cubicBezTo>
                      <a:moveTo>
                        <a:pt x="25" y="0"/>
                      </a:moveTo>
                      <a:cubicBezTo>
                        <a:pt x="20" y="0"/>
                        <a:pt x="20" y="0"/>
                        <a:pt x="20" y="0"/>
                      </a:cubicBezTo>
                      <a:cubicBezTo>
                        <a:pt x="20" y="0"/>
                        <a:pt x="20" y="0"/>
                        <a:pt x="20" y="0"/>
                      </a:cubicBezTo>
                      <a:cubicBezTo>
                        <a:pt x="25" y="0"/>
                        <a:pt x="25" y="0"/>
                        <a:pt x="25" y="0"/>
                      </a:cubicBezTo>
                      <a:cubicBezTo>
                        <a:pt x="25" y="0"/>
                        <a:pt x="25" y="0"/>
                        <a:pt x="25" y="0"/>
                      </a:cubicBezTo>
                      <a:moveTo>
                        <a:pt x="36" y="0"/>
                      </a:moveTo>
                      <a:cubicBezTo>
                        <a:pt x="30" y="0"/>
                        <a:pt x="30" y="0"/>
                        <a:pt x="30" y="0"/>
                      </a:cubicBezTo>
                      <a:cubicBezTo>
                        <a:pt x="30" y="0"/>
                        <a:pt x="30" y="0"/>
                        <a:pt x="30" y="0"/>
                      </a:cubicBezTo>
                      <a:cubicBezTo>
                        <a:pt x="36" y="0"/>
                        <a:pt x="36" y="0"/>
                        <a:pt x="36" y="0"/>
                      </a:cubicBezTo>
                      <a:cubicBezTo>
                        <a:pt x="36" y="0"/>
                        <a:pt x="36" y="0"/>
                        <a:pt x="36" y="0"/>
                      </a:cubicBezTo>
                      <a:moveTo>
                        <a:pt x="46" y="0"/>
                      </a:moveTo>
                      <a:cubicBezTo>
                        <a:pt x="43" y="0"/>
                        <a:pt x="43" y="0"/>
                        <a:pt x="43" y="0"/>
                      </a:cubicBezTo>
                      <a:cubicBezTo>
                        <a:pt x="43" y="0"/>
                        <a:pt x="43" y="0"/>
                        <a:pt x="43" y="0"/>
                      </a:cubicBezTo>
                      <a:cubicBezTo>
                        <a:pt x="46" y="0"/>
                        <a:pt x="46" y="0"/>
                        <a:pt x="46" y="0"/>
                      </a:cubicBezTo>
                      <a:cubicBezTo>
                        <a:pt x="46" y="0"/>
                        <a:pt x="46" y="0"/>
                        <a:pt x="46" y="0"/>
                      </a:cubicBezTo>
                      <a:moveTo>
                        <a:pt x="56" y="0"/>
                      </a:moveTo>
                      <a:cubicBezTo>
                        <a:pt x="51" y="0"/>
                        <a:pt x="51" y="0"/>
                        <a:pt x="51" y="0"/>
                      </a:cubicBezTo>
                      <a:cubicBezTo>
                        <a:pt x="51" y="0"/>
                        <a:pt x="51" y="0"/>
                        <a:pt x="51" y="0"/>
                      </a:cubicBezTo>
                      <a:cubicBezTo>
                        <a:pt x="56" y="0"/>
                        <a:pt x="56" y="0"/>
                        <a:pt x="56" y="0"/>
                      </a:cubicBezTo>
                      <a:cubicBezTo>
                        <a:pt x="56" y="0"/>
                        <a:pt x="56" y="0"/>
                        <a:pt x="56" y="0"/>
                      </a:cubicBezTo>
                      <a:moveTo>
                        <a:pt x="67" y="0"/>
                      </a:moveTo>
                      <a:cubicBezTo>
                        <a:pt x="62" y="0"/>
                        <a:pt x="62" y="0"/>
                        <a:pt x="62" y="0"/>
                      </a:cubicBezTo>
                      <a:cubicBezTo>
                        <a:pt x="62" y="0"/>
                        <a:pt x="62" y="0"/>
                        <a:pt x="62" y="0"/>
                      </a:cubicBezTo>
                      <a:cubicBezTo>
                        <a:pt x="67" y="0"/>
                        <a:pt x="67" y="0"/>
                        <a:pt x="67" y="0"/>
                      </a:cubicBezTo>
                      <a:cubicBezTo>
                        <a:pt x="67" y="0"/>
                        <a:pt x="67" y="0"/>
                        <a:pt x="67" y="0"/>
                      </a:cubicBezTo>
                      <a:moveTo>
                        <a:pt x="77" y="0"/>
                      </a:moveTo>
                      <a:cubicBezTo>
                        <a:pt x="72" y="0"/>
                        <a:pt x="72" y="0"/>
                        <a:pt x="72" y="0"/>
                      </a:cubicBezTo>
                      <a:cubicBezTo>
                        <a:pt x="72" y="0"/>
                        <a:pt x="72" y="0"/>
                        <a:pt x="72" y="0"/>
                      </a:cubicBezTo>
                      <a:cubicBezTo>
                        <a:pt x="77" y="0"/>
                        <a:pt x="77" y="0"/>
                        <a:pt x="77" y="0"/>
                      </a:cubicBezTo>
                      <a:cubicBezTo>
                        <a:pt x="77" y="0"/>
                        <a:pt x="77" y="0"/>
                        <a:pt x="77" y="0"/>
                      </a:cubicBezTo>
                      <a:moveTo>
                        <a:pt x="84" y="0"/>
                      </a:moveTo>
                      <a:cubicBezTo>
                        <a:pt x="82" y="0"/>
                        <a:pt x="82" y="0"/>
                        <a:pt x="82" y="0"/>
                      </a:cubicBezTo>
                      <a:cubicBezTo>
                        <a:pt x="82" y="0"/>
                        <a:pt x="82" y="0"/>
                        <a:pt x="82" y="0"/>
                      </a:cubicBezTo>
                      <a:cubicBezTo>
                        <a:pt x="84" y="0"/>
                        <a:pt x="84" y="0"/>
                        <a:pt x="84" y="0"/>
                      </a:cubicBezTo>
                      <a:cubicBezTo>
                        <a:pt x="84" y="0"/>
                        <a:pt x="84" y="0"/>
                        <a:pt x="84" y="0"/>
                      </a:cubicBezTo>
                      <a:moveTo>
                        <a:pt x="88" y="0"/>
                      </a:moveTo>
                      <a:cubicBezTo>
                        <a:pt x="86" y="0"/>
                        <a:pt x="86" y="0"/>
                        <a:pt x="86" y="0"/>
                      </a:cubicBezTo>
                      <a:cubicBezTo>
                        <a:pt x="86" y="0"/>
                        <a:pt x="86" y="0"/>
                        <a:pt x="86" y="0"/>
                      </a:cubicBezTo>
                      <a:cubicBezTo>
                        <a:pt x="88" y="0"/>
                        <a:pt x="88" y="0"/>
                        <a:pt x="88" y="0"/>
                      </a:cubicBezTo>
                      <a:cubicBezTo>
                        <a:pt x="88" y="0"/>
                        <a:pt x="88" y="0"/>
                        <a:pt x="88" y="0"/>
                      </a:cubicBezTo>
                      <a:moveTo>
                        <a:pt x="98" y="0"/>
                      </a:moveTo>
                      <a:cubicBezTo>
                        <a:pt x="93" y="0"/>
                        <a:pt x="93" y="0"/>
                        <a:pt x="93" y="0"/>
                      </a:cubicBezTo>
                      <a:cubicBezTo>
                        <a:pt x="93" y="0"/>
                        <a:pt x="93" y="0"/>
                        <a:pt x="93" y="0"/>
                      </a:cubicBezTo>
                      <a:cubicBezTo>
                        <a:pt x="98" y="0"/>
                        <a:pt x="98" y="0"/>
                        <a:pt x="98" y="0"/>
                      </a:cubicBezTo>
                      <a:cubicBezTo>
                        <a:pt x="98" y="0"/>
                        <a:pt x="98" y="0"/>
                        <a:pt x="98" y="0"/>
                      </a:cubicBezTo>
                      <a:moveTo>
                        <a:pt x="108" y="0"/>
                      </a:moveTo>
                      <a:cubicBezTo>
                        <a:pt x="103" y="0"/>
                        <a:pt x="103" y="0"/>
                        <a:pt x="103" y="0"/>
                      </a:cubicBezTo>
                      <a:cubicBezTo>
                        <a:pt x="103" y="0"/>
                        <a:pt x="103" y="0"/>
                        <a:pt x="103" y="0"/>
                      </a:cubicBezTo>
                      <a:cubicBezTo>
                        <a:pt x="108" y="0"/>
                        <a:pt x="108" y="0"/>
                        <a:pt x="108" y="0"/>
                      </a:cubicBezTo>
                      <a:cubicBezTo>
                        <a:pt x="108" y="0"/>
                        <a:pt x="108" y="0"/>
                        <a:pt x="108" y="0"/>
                      </a:cubicBezTo>
                      <a:moveTo>
                        <a:pt x="119" y="0"/>
                      </a:moveTo>
                      <a:cubicBezTo>
                        <a:pt x="114" y="0"/>
                        <a:pt x="114" y="0"/>
                        <a:pt x="114" y="0"/>
                      </a:cubicBezTo>
                      <a:cubicBezTo>
                        <a:pt x="114" y="0"/>
                        <a:pt x="114" y="0"/>
                        <a:pt x="114" y="0"/>
                      </a:cubicBezTo>
                      <a:cubicBezTo>
                        <a:pt x="119" y="0"/>
                        <a:pt x="119" y="0"/>
                        <a:pt x="119" y="0"/>
                      </a:cubicBezTo>
                      <a:cubicBezTo>
                        <a:pt x="119" y="0"/>
                        <a:pt x="119" y="0"/>
                        <a:pt x="119" y="0"/>
                      </a:cubicBezTo>
                      <a:moveTo>
                        <a:pt x="126" y="0"/>
                      </a:moveTo>
                      <a:cubicBezTo>
                        <a:pt x="124" y="0"/>
                        <a:pt x="124" y="0"/>
                        <a:pt x="124" y="0"/>
                      </a:cubicBezTo>
                      <a:cubicBezTo>
                        <a:pt x="124" y="0"/>
                        <a:pt x="124" y="0"/>
                        <a:pt x="124" y="0"/>
                      </a:cubicBezTo>
                      <a:cubicBezTo>
                        <a:pt x="126" y="0"/>
                        <a:pt x="126" y="0"/>
                        <a:pt x="126" y="0"/>
                      </a:cubicBezTo>
                      <a:cubicBezTo>
                        <a:pt x="126" y="0"/>
                        <a:pt x="126" y="0"/>
                        <a:pt x="126" y="0"/>
                      </a:cubicBezTo>
                      <a:moveTo>
                        <a:pt x="129" y="0"/>
                      </a:moveTo>
                      <a:cubicBezTo>
                        <a:pt x="128" y="0"/>
                        <a:pt x="128" y="0"/>
                        <a:pt x="128" y="0"/>
                      </a:cubicBezTo>
                      <a:cubicBezTo>
                        <a:pt x="128" y="0"/>
                        <a:pt x="128" y="0"/>
                        <a:pt x="128" y="0"/>
                      </a:cubicBezTo>
                      <a:cubicBezTo>
                        <a:pt x="129" y="0"/>
                        <a:pt x="129" y="0"/>
                        <a:pt x="129" y="0"/>
                      </a:cubicBezTo>
                      <a:cubicBezTo>
                        <a:pt x="129" y="0"/>
                        <a:pt x="129" y="0"/>
                        <a:pt x="129" y="0"/>
                      </a:cubicBezTo>
                      <a:moveTo>
                        <a:pt x="140" y="0"/>
                      </a:moveTo>
                      <a:cubicBezTo>
                        <a:pt x="134" y="0"/>
                        <a:pt x="134" y="0"/>
                        <a:pt x="134" y="0"/>
                      </a:cubicBezTo>
                      <a:cubicBezTo>
                        <a:pt x="134" y="0"/>
                        <a:pt x="134" y="0"/>
                        <a:pt x="134" y="0"/>
                      </a:cubicBezTo>
                      <a:cubicBezTo>
                        <a:pt x="140" y="0"/>
                        <a:pt x="140" y="0"/>
                        <a:pt x="140" y="0"/>
                      </a:cubicBezTo>
                      <a:cubicBezTo>
                        <a:pt x="140" y="0"/>
                        <a:pt x="140" y="0"/>
                        <a:pt x="140" y="0"/>
                      </a:cubicBezTo>
                      <a:moveTo>
                        <a:pt x="150" y="0"/>
                      </a:moveTo>
                      <a:cubicBezTo>
                        <a:pt x="145" y="0"/>
                        <a:pt x="145" y="0"/>
                        <a:pt x="145" y="0"/>
                      </a:cubicBezTo>
                      <a:cubicBezTo>
                        <a:pt x="145" y="0"/>
                        <a:pt x="145" y="0"/>
                        <a:pt x="145" y="0"/>
                      </a:cubicBezTo>
                      <a:cubicBezTo>
                        <a:pt x="150" y="0"/>
                        <a:pt x="150" y="0"/>
                        <a:pt x="150" y="0"/>
                      </a:cubicBezTo>
                      <a:cubicBezTo>
                        <a:pt x="150" y="0"/>
                        <a:pt x="150" y="0"/>
                        <a:pt x="150" y="0"/>
                      </a:cubicBezTo>
                      <a:moveTo>
                        <a:pt x="160" y="0"/>
                      </a:moveTo>
                      <a:cubicBezTo>
                        <a:pt x="155" y="0"/>
                        <a:pt x="155" y="0"/>
                        <a:pt x="155" y="0"/>
                      </a:cubicBezTo>
                      <a:cubicBezTo>
                        <a:pt x="155" y="0"/>
                        <a:pt x="155" y="0"/>
                        <a:pt x="155" y="0"/>
                      </a:cubicBezTo>
                      <a:cubicBezTo>
                        <a:pt x="160" y="0"/>
                        <a:pt x="160" y="0"/>
                        <a:pt x="160" y="0"/>
                      </a:cubicBezTo>
                      <a:cubicBezTo>
                        <a:pt x="160" y="0"/>
                        <a:pt x="160" y="0"/>
                        <a:pt x="160" y="0"/>
                      </a:cubicBezTo>
                      <a:moveTo>
                        <a:pt x="167" y="0"/>
                      </a:moveTo>
                      <a:cubicBezTo>
                        <a:pt x="166" y="0"/>
                        <a:pt x="166" y="0"/>
                        <a:pt x="166" y="0"/>
                      </a:cubicBezTo>
                      <a:cubicBezTo>
                        <a:pt x="166" y="0"/>
                        <a:pt x="166" y="0"/>
                        <a:pt x="166" y="0"/>
                      </a:cubicBezTo>
                      <a:cubicBezTo>
                        <a:pt x="167" y="0"/>
                        <a:pt x="167" y="0"/>
                        <a:pt x="167" y="0"/>
                      </a:cubicBezTo>
                      <a:cubicBezTo>
                        <a:pt x="167" y="0"/>
                        <a:pt x="167" y="0"/>
                        <a:pt x="167"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5" name="Freeform 25"/>
                <p:cNvSpPr>
                  <a:spLocks noEditPoints="1"/>
                </p:cNvSpPr>
                <p:nvPr/>
              </p:nvSpPr>
              <p:spPr bwMode="auto">
                <a:xfrm>
                  <a:off x="-2903" y="3354"/>
                  <a:ext cx="287" cy="2"/>
                </a:xfrm>
                <a:custGeom>
                  <a:avLst/>
                  <a:gdLst/>
                  <a:ahLst/>
                  <a:cxnLst>
                    <a:cxn ang="0">
                      <a:pos x="0" y="0"/>
                    </a:cxn>
                    <a:cxn ang="0">
                      <a:pos x="0" y="0"/>
                    </a:cxn>
                    <a:cxn ang="0">
                      <a:pos x="0" y="1"/>
                    </a:cxn>
                    <a:cxn ang="0">
                      <a:pos x="0" y="1"/>
                    </a:cxn>
                    <a:cxn ang="0">
                      <a:pos x="0" y="0"/>
                    </a:cxn>
                    <a:cxn ang="0">
                      <a:pos x="121" y="0"/>
                    </a:cxn>
                    <a:cxn ang="0">
                      <a:pos x="120" y="0"/>
                    </a:cxn>
                    <a:cxn ang="0">
                      <a:pos x="120" y="1"/>
                    </a:cxn>
                    <a:cxn ang="0">
                      <a:pos x="120" y="1"/>
                    </a:cxn>
                    <a:cxn ang="0">
                      <a:pos x="121" y="0"/>
                    </a:cxn>
                  </a:cxnLst>
                  <a:rect l="0" t="0" r="r" b="b"/>
                  <a:pathLst>
                    <a:path w="121" h="1">
                      <a:moveTo>
                        <a:pt x="0" y="0"/>
                      </a:moveTo>
                      <a:cubicBezTo>
                        <a:pt x="0" y="0"/>
                        <a:pt x="0" y="0"/>
                        <a:pt x="0" y="0"/>
                      </a:cubicBezTo>
                      <a:cubicBezTo>
                        <a:pt x="0" y="1"/>
                        <a:pt x="0" y="1"/>
                        <a:pt x="0" y="1"/>
                      </a:cubicBezTo>
                      <a:cubicBezTo>
                        <a:pt x="0" y="1"/>
                        <a:pt x="0" y="1"/>
                        <a:pt x="0" y="1"/>
                      </a:cubicBezTo>
                      <a:cubicBezTo>
                        <a:pt x="0" y="0"/>
                        <a:pt x="0" y="0"/>
                        <a:pt x="0" y="0"/>
                      </a:cubicBezTo>
                      <a:moveTo>
                        <a:pt x="121" y="0"/>
                      </a:moveTo>
                      <a:cubicBezTo>
                        <a:pt x="120" y="0"/>
                        <a:pt x="120" y="0"/>
                        <a:pt x="120" y="0"/>
                      </a:cubicBezTo>
                      <a:cubicBezTo>
                        <a:pt x="120" y="1"/>
                        <a:pt x="120" y="1"/>
                        <a:pt x="120" y="1"/>
                      </a:cubicBezTo>
                      <a:cubicBezTo>
                        <a:pt x="120" y="1"/>
                        <a:pt x="120" y="1"/>
                        <a:pt x="120" y="1"/>
                      </a:cubicBezTo>
                      <a:cubicBezTo>
                        <a:pt x="120" y="1"/>
                        <a:pt x="120" y="1"/>
                        <a:pt x="12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6" name="Freeform 26"/>
                <p:cNvSpPr>
                  <a:spLocks noEditPoints="1"/>
                </p:cNvSpPr>
                <p:nvPr/>
              </p:nvSpPr>
              <p:spPr bwMode="auto">
                <a:xfrm>
                  <a:off x="-2020" y="3354"/>
                  <a:ext cx="85" cy="2"/>
                </a:xfrm>
                <a:custGeom>
                  <a:avLst/>
                  <a:gdLst/>
                  <a:ahLst/>
                  <a:cxnLst>
                    <a:cxn ang="0">
                      <a:pos x="0" y="0"/>
                    </a:cxn>
                    <a:cxn ang="0">
                      <a:pos x="0" y="0"/>
                    </a:cxn>
                    <a:cxn ang="0">
                      <a:pos x="0" y="1"/>
                    </a:cxn>
                    <a:cxn ang="0">
                      <a:pos x="0" y="1"/>
                    </a:cxn>
                    <a:cxn ang="0">
                      <a:pos x="0" y="0"/>
                    </a:cxn>
                    <a:cxn ang="0">
                      <a:pos x="36" y="0"/>
                    </a:cxn>
                    <a:cxn ang="0">
                      <a:pos x="36" y="0"/>
                    </a:cxn>
                    <a:cxn ang="0">
                      <a:pos x="36" y="0"/>
                    </a:cxn>
                    <a:cxn ang="0">
                      <a:pos x="36" y="0"/>
                    </a:cxn>
                  </a:cxnLst>
                  <a:rect l="0" t="0" r="r" b="b"/>
                  <a:pathLst>
                    <a:path w="36" h="1">
                      <a:moveTo>
                        <a:pt x="0" y="0"/>
                      </a:moveTo>
                      <a:cubicBezTo>
                        <a:pt x="0" y="0"/>
                        <a:pt x="0" y="0"/>
                        <a:pt x="0" y="0"/>
                      </a:cubicBezTo>
                      <a:cubicBezTo>
                        <a:pt x="0" y="1"/>
                        <a:pt x="0" y="1"/>
                        <a:pt x="0" y="1"/>
                      </a:cubicBezTo>
                      <a:cubicBezTo>
                        <a:pt x="0" y="1"/>
                        <a:pt x="0" y="1"/>
                        <a:pt x="0" y="1"/>
                      </a:cubicBezTo>
                      <a:cubicBezTo>
                        <a:pt x="0" y="0"/>
                        <a:pt x="0" y="0"/>
                        <a:pt x="0" y="0"/>
                      </a:cubicBezTo>
                      <a:moveTo>
                        <a:pt x="36" y="0"/>
                      </a:moveTo>
                      <a:cubicBezTo>
                        <a:pt x="36" y="0"/>
                        <a:pt x="36" y="0"/>
                        <a:pt x="36" y="0"/>
                      </a:cubicBezTo>
                      <a:cubicBezTo>
                        <a:pt x="36" y="0"/>
                        <a:pt x="36" y="0"/>
                        <a:pt x="36" y="0"/>
                      </a:cubicBezTo>
                      <a:cubicBezTo>
                        <a:pt x="36" y="0"/>
                        <a:pt x="36" y="0"/>
                        <a:pt x="36"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7" name="Freeform 27"/>
                <p:cNvSpPr>
                  <a:spLocks/>
                </p:cNvSpPr>
                <p:nvPr/>
              </p:nvSpPr>
              <p:spPr bwMode="auto">
                <a:xfrm>
                  <a:off x="-912" y="3354"/>
                  <a:ext cx="2" cy="2"/>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8" name="Freeform 28"/>
                <p:cNvSpPr>
                  <a:spLocks/>
                </p:cNvSpPr>
                <p:nvPr/>
              </p:nvSpPr>
              <p:spPr bwMode="auto">
                <a:xfrm>
                  <a:off x="-808" y="3356"/>
                  <a:ext cx="2" cy="1"/>
                </a:xfrm>
                <a:custGeom>
                  <a:avLst/>
                  <a:gdLst/>
                  <a:ahLst/>
                  <a:cxnLst>
                    <a:cxn ang="0">
                      <a:pos x="1" y="0"/>
                    </a:cxn>
                    <a:cxn ang="0">
                      <a:pos x="0" y="0"/>
                    </a:cxn>
                    <a:cxn ang="0">
                      <a:pos x="1" y="0"/>
                    </a:cxn>
                    <a:cxn ang="0">
                      <a:pos x="1" y="0"/>
                    </a:cxn>
                  </a:cxnLst>
                  <a:rect l="0" t="0" r="r" b="b"/>
                  <a:pathLst>
                    <a:path w="1">
                      <a:moveTo>
                        <a:pt x="1" y="0"/>
                      </a:moveTo>
                      <a:cubicBezTo>
                        <a:pt x="0" y="0"/>
                        <a:pt x="0" y="0"/>
                        <a:pt x="0" y="0"/>
                      </a:cubicBezTo>
                      <a:cubicBezTo>
                        <a:pt x="1" y="0"/>
                        <a:pt x="1" y="0"/>
                        <a:pt x="1" y="0"/>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9" name="Freeform 29"/>
                <p:cNvSpPr>
                  <a:spLocks/>
                </p:cNvSpPr>
                <p:nvPr/>
              </p:nvSpPr>
              <p:spPr bwMode="auto">
                <a:xfrm>
                  <a:off x="-1049" y="2498"/>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0" name="Freeform 30"/>
                <p:cNvSpPr>
                  <a:spLocks/>
                </p:cNvSpPr>
                <p:nvPr/>
              </p:nvSpPr>
              <p:spPr bwMode="auto">
                <a:xfrm>
                  <a:off x="-1104" y="2256"/>
                  <a:ext cx="7" cy="3"/>
                </a:xfrm>
                <a:custGeom>
                  <a:avLst/>
                  <a:gdLst/>
                  <a:ahLst/>
                  <a:cxnLst>
                    <a:cxn ang="0">
                      <a:pos x="2" y="0"/>
                    </a:cxn>
                    <a:cxn ang="0">
                      <a:pos x="0" y="0"/>
                    </a:cxn>
                    <a:cxn ang="0">
                      <a:pos x="0" y="1"/>
                    </a:cxn>
                    <a:cxn ang="0">
                      <a:pos x="3" y="1"/>
                    </a:cxn>
                    <a:cxn ang="0">
                      <a:pos x="2" y="0"/>
                    </a:cxn>
                  </a:cxnLst>
                  <a:rect l="0" t="0" r="r" b="b"/>
                  <a:pathLst>
                    <a:path w="3" h="1">
                      <a:moveTo>
                        <a:pt x="2" y="0"/>
                      </a:moveTo>
                      <a:cubicBezTo>
                        <a:pt x="0" y="0"/>
                        <a:pt x="0" y="0"/>
                        <a:pt x="0" y="0"/>
                      </a:cubicBezTo>
                      <a:cubicBezTo>
                        <a:pt x="0" y="0"/>
                        <a:pt x="0" y="0"/>
                        <a:pt x="0" y="1"/>
                      </a:cubicBezTo>
                      <a:cubicBezTo>
                        <a:pt x="3" y="1"/>
                        <a:pt x="3" y="1"/>
                        <a:pt x="3"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1" name="Freeform 31"/>
                <p:cNvSpPr>
                  <a:spLocks/>
                </p:cNvSpPr>
                <p:nvPr/>
              </p:nvSpPr>
              <p:spPr bwMode="auto">
                <a:xfrm>
                  <a:off x="-2382" y="1986"/>
                  <a:ext cx="92" cy="270"/>
                </a:xfrm>
                <a:custGeom>
                  <a:avLst/>
                  <a:gdLst/>
                  <a:ahLst/>
                  <a:cxnLst>
                    <a:cxn ang="0">
                      <a:pos x="39" y="0"/>
                    </a:cxn>
                    <a:cxn ang="0">
                      <a:pos x="37" y="0"/>
                    </a:cxn>
                    <a:cxn ang="0">
                      <a:pos x="35" y="5"/>
                    </a:cxn>
                    <a:cxn ang="0">
                      <a:pos x="0" y="114"/>
                    </a:cxn>
                    <a:cxn ang="0">
                      <a:pos x="2" y="114"/>
                    </a:cxn>
                    <a:cxn ang="0">
                      <a:pos x="5" y="101"/>
                    </a:cxn>
                    <a:cxn ang="0">
                      <a:pos x="5" y="101"/>
                    </a:cxn>
                    <a:cxn ang="0">
                      <a:pos x="5" y="100"/>
                    </a:cxn>
                    <a:cxn ang="0">
                      <a:pos x="6" y="100"/>
                    </a:cxn>
                    <a:cxn ang="0">
                      <a:pos x="12" y="77"/>
                    </a:cxn>
                    <a:cxn ang="0">
                      <a:pos x="29" y="26"/>
                    </a:cxn>
                    <a:cxn ang="0">
                      <a:pos x="35" y="11"/>
                    </a:cxn>
                    <a:cxn ang="0">
                      <a:pos x="37" y="6"/>
                    </a:cxn>
                    <a:cxn ang="0">
                      <a:pos x="37" y="6"/>
                    </a:cxn>
                    <a:cxn ang="0">
                      <a:pos x="37" y="6"/>
                    </a:cxn>
                    <a:cxn ang="0">
                      <a:pos x="39" y="0"/>
                    </a:cxn>
                  </a:cxnLst>
                  <a:rect l="0" t="0" r="r" b="b"/>
                  <a:pathLst>
                    <a:path w="39" h="114">
                      <a:moveTo>
                        <a:pt x="39" y="0"/>
                      </a:moveTo>
                      <a:cubicBezTo>
                        <a:pt x="37" y="0"/>
                        <a:pt x="37" y="0"/>
                        <a:pt x="37" y="0"/>
                      </a:cubicBezTo>
                      <a:cubicBezTo>
                        <a:pt x="36" y="1"/>
                        <a:pt x="36" y="3"/>
                        <a:pt x="35" y="5"/>
                      </a:cubicBezTo>
                      <a:cubicBezTo>
                        <a:pt x="34" y="6"/>
                        <a:pt x="15" y="54"/>
                        <a:pt x="0" y="114"/>
                      </a:cubicBezTo>
                      <a:cubicBezTo>
                        <a:pt x="2" y="114"/>
                        <a:pt x="2" y="114"/>
                        <a:pt x="2" y="114"/>
                      </a:cubicBezTo>
                      <a:cubicBezTo>
                        <a:pt x="3" y="109"/>
                        <a:pt x="4" y="105"/>
                        <a:pt x="5" y="101"/>
                      </a:cubicBezTo>
                      <a:cubicBezTo>
                        <a:pt x="5" y="101"/>
                        <a:pt x="5" y="101"/>
                        <a:pt x="5" y="101"/>
                      </a:cubicBezTo>
                      <a:cubicBezTo>
                        <a:pt x="5" y="100"/>
                        <a:pt x="5" y="100"/>
                        <a:pt x="5" y="100"/>
                      </a:cubicBezTo>
                      <a:cubicBezTo>
                        <a:pt x="6" y="100"/>
                        <a:pt x="6" y="100"/>
                        <a:pt x="6" y="100"/>
                      </a:cubicBezTo>
                      <a:cubicBezTo>
                        <a:pt x="8" y="92"/>
                        <a:pt x="10" y="85"/>
                        <a:pt x="12" y="77"/>
                      </a:cubicBezTo>
                      <a:cubicBezTo>
                        <a:pt x="18" y="56"/>
                        <a:pt x="24" y="38"/>
                        <a:pt x="29" y="26"/>
                      </a:cubicBezTo>
                      <a:cubicBezTo>
                        <a:pt x="31" y="19"/>
                        <a:pt x="33" y="14"/>
                        <a:pt x="35" y="11"/>
                      </a:cubicBezTo>
                      <a:cubicBezTo>
                        <a:pt x="36" y="7"/>
                        <a:pt x="37" y="6"/>
                        <a:pt x="37" y="6"/>
                      </a:cubicBezTo>
                      <a:cubicBezTo>
                        <a:pt x="37" y="6"/>
                        <a:pt x="37" y="6"/>
                        <a:pt x="37" y="6"/>
                      </a:cubicBezTo>
                      <a:cubicBezTo>
                        <a:pt x="37" y="6"/>
                        <a:pt x="37" y="6"/>
                        <a:pt x="37" y="6"/>
                      </a:cubicBezTo>
                      <a:cubicBezTo>
                        <a:pt x="38" y="3"/>
                        <a:pt x="38" y="2"/>
                        <a:pt x="39"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2" name="Freeform 32"/>
                <p:cNvSpPr>
                  <a:spLocks/>
                </p:cNvSpPr>
                <p:nvPr/>
              </p:nvSpPr>
              <p:spPr bwMode="auto">
                <a:xfrm>
                  <a:off x="-2370" y="2223"/>
                  <a:ext cx="2" cy="3"/>
                </a:xfrm>
                <a:custGeom>
                  <a:avLst/>
                  <a:gdLst/>
                  <a:ahLst/>
                  <a:cxnLst>
                    <a:cxn ang="0">
                      <a:pos x="1" y="0"/>
                    </a:cxn>
                    <a:cxn ang="0">
                      <a:pos x="0" y="0"/>
                    </a:cxn>
                    <a:cxn ang="0">
                      <a:pos x="0" y="1"/>
                    </a:cxn>
                    <a:cxn ang="0">
                      <a:pos x="0" y="1"/>
                    </a:cxn>
                    <a:cxn ang="0">
                      <a:pos x="1" y="0"/>
                    </a:cxn>
                  </a:cxnLst>
                  <a:rect l="0" t="0" r="r" b="b"/>
                  <a:pathLst>
                    <a:path w="1" h="1">
                      <a:moveTo>
                        <a:pt x="1" y="0"/>
                      </a:moveTo>
                      <a:cubicBezTo>
                        <a:pt x="0" y="0"/>
                        <a:pt x="0" y="0"/>
                        <a:pt x="0" y="0"/>
                      </a:cubicBezTo>
                      <a:cubicBezTo>
                        <a:pt x="0" y="1"/>
                        <a:pt x="0" y="1"/>
                        <a:pt x="0" y="1"/>
                      </a:cubicBezTo>
                      <a:cubicBezTo>
                        <a:pt x="0" y="1"/>
                        <a:pt x="0" y="1"/>
                        <a:pt x="0" y="1"/>
                      </a:cubicBezTo>
                      <a:cubicBezTo>
                        <a:pt x="0" y="0"/>
                        <a:pt x="0"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3" name="Freeform 33"/>
                <p:cNvSpPr>
                  <a:spLocks noEditPoints="1"/>
                </p:cNvSpPr>
                <p:nvPr/>
              </p:nvSpPr>
              <p:spPr bwMode="auto">
                <a:xfrm>
                  <a:off x="-2417" y="1522"/>
                  <a:ext cx="416" cy="1054"/>
                </a:xfrm>
                <a:custGeom>
                  <a:avLst/>
                  <a:gdLst/>
                  <a:ahLst/>
                  <a:cxnLst>
                    <a:cxn ang="0">
                      <a:pos x="2" y="413"/>
                    </a:cxn>
                    <a:cxn ang="0">
                      <a:pos x="0" y="413"/>
                    </a:cxn>
                    <a:cxn ang="0">
                      <a:pos x="0" y="421"/>
                    </a:cxn>
                    <a:cxn ang="0">
                      <a:pos x="1" y="445"/>
                    </a:cxn>
                    <a:cxn ang="0">
                      <a:pos x="1" y="445"/>
                    </a:cxn>
                    <a:cxn ang="0">
                      <a:pos x="1" y="445"/>
                    </a:cxn>
                    <a:cxn ang="0">
                      <a:pos x="2" y="445"/>
                    </a:cxn>
                    <a:cxn ang="0">
                      <a:pos x="3" y="445"/>
                    </a:cxn>
                    <a:cxn ang="0">
                      <a:pos x="2" y="421"/>
                    </a:cxn>
                    <a:cxn ang="0">
                      <a:pos x="2" y="413"/>
                    </a:cxn>
                    <a:cxn ang="0">
                      <a:pos x="17" y="311"/>
                    </a:cxn>
                    <a:cxn ang="0">
                      <a:pos x="15" y="311"/>
                    </a:cxn>
                    <a:cxn ang="0">
                      <a:pos x="0" y="412"/>
                    </a:cxn>
                    <a:cxn ang="0">
                      <a:pos x="2" y="412"/>
                    </a:cxn>
                    <a:cxn ang="0">
                      <a:pos x="17" y="311"/>
                    </a:cxn>
                    <a:cxn ang="0">
                      <a:pos x="89" y="99"/>
                    </a:cxn>
                    <a:cxn ang="0">
                      <a:pos x="87" y="99"/>
                    </a:cxn>
                    <a:cxn ang="0">
                      <a:pos x="68" y="147"/>
                    </a:cxn>
                    <a:cxn ang="0">
                      <a:pos x="52" y="195"/>
                    </a:cxn>
                    <a:cxn ang="0">
                      <a:pos x="54" y="195"/>
                    </a:cxn>
                    <a:cxn ang="0">
                      <a:pos x="70" y="147"/>
                    </a:cxn>
                    <a:cxn ang="0">
                      <a:pos x="89" y="99"/>
                    </a:cxn>
                    <a:cxn ang="0">
                      <a:pos x="175" y="0"/>
                    </a:cxn>
                    <a:cxn ang="0">
                      <a:pos x="175" y="0"/>
                    </a:cxn>
                    <a:cxn ang="0">
                      <a:pos x="88" y="97"/>
                    </a:cxn>
                    <a:cxn ang="0">
                      <a:pos x="87" y="98"/>
                    </a:cxn>
                    <a:cxn ang="0">
                      <a:pos x="90" y="98"/>
                    </a:cxn>
                    <a:cxn ang="0">
                      <a:pos x="90" y="98"/>
                    </a:cxn>
                    <a:cxn ang="0">
                      <a:pos x="141" y="29"/>
                    </a:cxn>
                    <a:cxn ang="0">
                      <a:pos x="165" y="9"/>
                    </a:cxn>
                    <a:cxn ang="0">
                      <a:pos x="173" y="4"/>
                    </a:cxn>
                    <a:cxn ang="0">
                      <a:pos x="176" y="2"/>
                    </a:cxn>
                    <a:cxn ang="0">
                      <a:pos x="175" y="0"/>
                    </a:cxn>
                  </a:cxnLst>
                  <a:rect l="0" t="0" r="r" b="b"/>
                  <a:pathLst>
                    <a:path w="176" h="445">
                      <a:moveTo>
                        <a:pt x="2" y="413"/>
                      </a:moveTo>
                      <a:cubicBezTo>
                        <a:pt x="0" y="413"/>
                        <a:pt x="0" y="413"/>
                        <a:pt x="0" y="413"/>
                      </a:cubicBezTo>
                      <a:cubicBezTo>
                        <a:pt x="0" y="415"/>
                        <a:pt x="0" y="418"/>
                        <a:pt x="0" y="421"/>
                      </a:cubicBezTo>
                      <a:cubicBezTo>
                        <a:pt x="0" y="429"/>
                        <a:pt x="0" y="437"/>
                        <a:pt x="1" y="445"/>
                      </a:cubicBezTo>
                      <a:cubicBezTo>
                        <a:pt x="1" y="445"/>
                        <a:pt x="1" y="445"/>
                        <a:pt x="1" y="445"/>
                      </a:cubicBezTo>
                      <a:cubicBezTo>
                        <a:pt x="1" y="445"/>
                        <a:pt x="1" y="445"/>
                        <a:pt x="1" y="445"/>
                      </a:cubicBezTo>
                      <a:cubicBezTo>
                        <a:pt x="2" y="445"/>
                        <a:pt x="2" y="445"/>
                        <a:pt x="2" y="445"/>
                      </a:cubicBezTo>
                      <a:cubicBezTo>
                        <a:pt x="3" y="445"/>
                        <a:pt x="3" y="445"/>
                        <a:pt x="3" y="445"/>
                      </a:cubicBezTo>
                      <a:cubicBezTo>
                        <a:pt x="2" y="437"/>
                        <a:pt x="2" y="429"/>
                        <a:pt x="2" y="421"/>
                      </a:cubicBezTo>
                      <a:cubicBezTo>
                        <a:pt x="2" y="418"/>
                        <a:pt x="2" y="415"/>
                        <a:pt x="2" y="413"/>
                      </a:cubicBezTo>
                      <a:moveTo>
                        <a:pt x="17" y="311"/>
                      </a:moveTo>
                      <a:cubicBezTo>
                        <a:pt x="15" y="311"/>
                        <a:pt x="15" y="311"/>
                        <a:pt x="15" y="311"/>
                      </a:cubicBezTo>
                      <a:cubicBezTo>
                        <a:pt x="7" y="343"/>
                        <a:pt x="1" y="378"/>
                        <a:pt x="0" y="412"/>
                      </a:cubicBezTo>
                      <a:cubicBezTo>
                        <a:pt x="2" y="412"/>
                        <a:pt x="2" y="412"/>
                        <a:pt x="2" y="412"/>
                      </a:cubicBezTo>
                      <a:cubicBezTo>
                        <a:pt x="3" y="378"/>
                        <a:pt x="9" y="343"/>
                        <a:pt x="17" y="311"/>
                      </a:cubicBezTo>
                      <a:moveTo>
                        <a:pt x="89" y="99"/>
                      </a:moveTo>
                      <a:cubicBezTo>
                        <a:pt x="87" y="99"/>
                        <a:pt x="87" y="99"/>
                        <a:pt x="87" y="99"/>
                      </a:cubicBezTo>
                      <a:cubicBezTo>
                        <a:pt x="77" y="125"/>
                        <a:pt x="72" y="135"/>
                        <a:pt x="68" y="147"/>
                      </a:cubicBezTo>
                      <a:cubicBezTo>
                        <a:pt x="64" y="157"/>
                        <a:pt x="60" y="168"/>
                        <a:pt x="52" y="195"/>
                      </a:cubicBezTo>
                      <a:cubicBezTo>
                        <a:pt x="54" y="195"/>
                        <a:pt x="54" y="195"/>
                        <a:pt x="54" y="195"/>
                      </a:cubicBezTo>
                      <a:cubicBezTo>
                        <a:pt x="62" y="169"/>
                        <a:pt x="65" y="158"/>
                        <a:pt x="70" y="147"/>
                      </a:cubicBezTo>
                      <a:cubicBezTo>
                        <a:pt x="74" y="136"/>
                        <a:pt x="79" y="126"/>
                        <a:pt x="89" y="99"/>
                      </a:cubicBezTo>
                      <a:moveTo>
                        <a:pt x="175" y="0"/>
                      </a:moveTo>
                      <a:cubicBezTo>
                        <a:pt x="175" y="0"/>
                        <a:pt x="175" y="0"/>
                        <a:pt x="175" y="0"/>
                      </a:cubicBezTo>
                      <a:cubicBezTo>
                        <a:pt x="170" y="3"/>
                        <a:pt x="108" y="43"/>
                        <a:pt x="88" y="97"/>
                      </a:cubicBezTo>
                      <a:cubicBezTo>
                        <a:pt x="88" y="97"/>
                        <a:pt x="88" y="98"/>
                        <a:pt x="87" y="98"/>
                      </a:cubicBezTo>
                      <a:cubicBezTo>
                        <a:pt x="90" y="98"/>
                        <a:pt x="90" y="98"/>
                        <a:pt x="90" y="98"/>
                      </a:cubicBezTo>
                      <a:cubicBezTo>
                        <a:pt x="90" y="98"/>
                        <a:pt x="90" y="98"/>
                        <a:pt x="90" y="98"/>
                      </a:cubicBezTo>
                      <a:cubicBezTo>
                        <a:pt x="100" y="70"/>
                        <a:pt x="121" y="46"/>
                        <a:pt x="141" y="29"/>
                      </a:cubicBezTo>
                      <a:cubicBezTo>
                        <a:pt x="150" y="21"/>
                        <a:pt x="159" y="14"/>
                        <a:pt x="165" y="9"/>
                      </a:cubicBezTo>
                      <a:cubicBezTo>
                        <a:pt x="169" y="7"/>
                        <a:pt x="171" y="5"/>
                        <a:pt x="173" y="4"/>
                      </a:cubicBezTo>
                      <a:cubicBezTo>
                        <a:pt x="175" y="2"/>
                        <a:pt x="176" y="2"/>
                        <a:pt x="176" y="2"/>
                      </a:cubicBezTo>
                      <a:cubicBezTo>
                        <a:pt x="175" y="0"/>
                        <a:pt x="175" y="0"/>
                        <a:pt x="17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4" name="Freeform 34"/>
                <p:cNvSpPr>
                  <a:spLocks/>
                </p:cNvSpPr>
                <p:nvPr/>
              </p:nvSpPr>
              <p:spPr bwMode="auto">
                <a:xfrm>
                  <a:off x="-2211" y="1754"/>
                  <a:ext cx="7" cy="2"/>
                </a:xfrm>
                <a:custGeom>
                  <a:avLst/>
                  <a:gdLst/>
                  <a:ahLst/>
                  <a:cxnLst>
                    <a:cxn ang="0">
                      <a:pos x="3" y="0"/>
                    </a:cxn>
                    <a:cxn ang="0">
                      <a:pos x="0" y="0"/>
                    </a:cxn>
                    <a:cxn ang="0">
                      <a:pos x="0" y="1"/>
                    </a:cxn>
                    <a:cxn ang="0">
                      <a:pos x="2" y="1"/>
                    </a:cxn>
                    <a:cxn ang="0">
                      <a:pos x="3" y="0"/>
                    </a:cxn>
                  </a:cxnLst>
                  <a:rect l="0" t="0" r="r" b="b"/>
                  <a:pathLst>
                    <a:path w="3" h="1">
                      <a:moveTo>
                        <a:pt x="3" y="0"/>
                      </a:moveTo>
                      <a:cubicBezTo>
                        <a:pt x="0" y="0"/>
                        <a:pt x="0" y="0"/>
                        <a:pt x="0" y="0"/>
                      </a:cubicBezTo>
                      <a:cubicBezTo>
                        <a:pt x="0" y="1"/>
                        <a:pt x="0" y="1"/>
                        <a:pt x="0" y="1"/>
                      </a:cubicBezTo>
                      <a:cubicBezTo>
                        <a:pt x="2" y="1"/>
                        <a:pt x="2" y="1"/>
                        <a:pt x="2" y="1"/>
                      </a:cubicBezTo>
                      <a:cubicBezTo>
                        <a:pt x="2" y="1"/>
                        <a:pt x="2"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5" name="Freeform 35"/>
                <p:cNvSpPr>
                  <a:spLocks/>
                </p:cNvSpPr>
                <p:nvPr/>
              </p:nvSpPr>
              <p:spPr bwMode="auto">
                <a:xfrm>
                  <a:off x="-2417" y="2498"/>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6" name="Freeform 36"/>
                <p:cNvSpPr>
                  <a:spLocks/>
                </p:cNvSpPr>
                <p:nvPr/>
              </p:nvSpPr>
              <p:spPr bwMode="auto">
                <a:xfrm>
                  <a:off x="-2382"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7" name="Freeform 37"/>
                <p:cNvSpPr>
                  <a:spLocks noEditPoints="1"/>
                </p:cNvSpPr>
                <p:nvPr/>
              </p:nvSpPr>
              <p:spPr bwMode="auto">
                <a:xfrm>
                  <a:off x="-2202" y="1986"/>
                  <a:ext cx="54" cy="270"/>
                </a:xfrm>
                <a:custGeom>
                  <a:avLst/>
                  <a:gdLst/>
                  <a:ahLst/>
                  <a:cxnLst>
                    <a:cxn ang="0">
                      <a:pos x="2" y="101"/>
                    </a:cxn>
                    <a:cxn ang="0">
                      <a:pos x="0" y="114"/>
                    </a:cxn>
                    <a:cxn ang="0">
                      <a:pos x="2" y="114"/>
                    </a:cxn>
                    <a:cxn ang="0">
                      <a:pos x="3" y="101"/>
                    </a:cxn>
                    <a:cxn ang="0">
                      <a:pos x="2" y="101"/>
                    </a:cxn>
                    <a:cxn ang="0">
                      <a:pos x="2" y="101"/>
                    </a:cxn>
                    <a:cxn ang="0">
                      <a:pos x="23" y="0"/>
                    </a:cxn>
                    <a:cxn ang="0">
                      <a:pos x="20" y="0"/>
                    </a:cxn>
                    <a:cxn ang="0">
                      <a:pos x="2" y="100"/>
                    </a:cxn>
                    <a:cxn ang="0">
                      <a:pos x="4" y="100"/>
                    </a:cxn>
                    <a:cxn ang="0">
                      <a:pos x="23" y="0"/>
                    </a:cxn>
                  </a:cxnLst>
                  <a:rect l="0" t="0" r="r" b="b"/>
                  <a:pathLst>
                    <a:path w="23" h="114">
                      <a:moveTo>
                        <a:pt x="2" y="101"/>
                      </a:moveTo>
                      <a:cubicBezTo>
                        <a:pt x="1" y="105"/>
                        <a:pt x="0" y="109"/>
                        <a:pt x="0" y="114"/>
                      </a:cubicBezTo>
                      <a:cubicBezTo>
                        <a:pt x="2" y="114"/>
                        <a:pt x="2" y="114"/>
                        <a:pt x="2" y="114"/>
                      </a:cubicBezTo>
                      <a:cubicBezTo>
                        <a:pt x="2" y="109"/>
                        <a:pt x="3" y="105"/>
                        <a:pt x="3" y="101"/>
                      </a:cubicBezTo>
                      <a:cubicBezTo>
                        <a:pt x="2" y="101"/>
                        <a:pt x="2" y="101"/>
                        <a:pt x="2" y="101"/>
                      </a:cubicBezTo>
                      <a:cubicBezTo>
                        <a:pt x="2" y="101"/>
                        <a:pt x="2" y="101"/>
                        <a:pt x="2" y="101"/>
                      </a:cubicBezTo>
                      <a:moveTo>
                        <a:pt x="23" y="0"/>
                      </a:moveTo>
                      <a:cubicBezTo>
                        <a:pt x="20" y="0"/>
                        <a:pt x="20" y="0"/>
                        <a:pt x="20" y="0"/>
                      </a:cubicBezTo>
                      <a:cubicBezTo>
                        <a:pt x="13" y="34"/>
                        <a:pt x="7" y="65"/>
                        <a:pt x="2" y="100"/>
                      </a:cubicBezTo>
                      <a:cubicBezTo>
                        <a:pt x="4" y="100"/>
                        <a:pt x="4" y="100"/>
                        <a:pt x="4" y="100"/>
                      </a:cubicBezTo>
                      <a:cubicBezTo>
                        <a:pt x="9" y="65"/>
                        <a:pt x="15" y="34"/>
                        <a:pt x="2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8" name="Freeform 38"/>
                <p:cNvSpPr>
                  <a:spLocks/>
                </p:cNvSpPr>
                <p:nvPr/>
              </p:nvSpPr>
              <p:spPr bwMode="auto">
                <a:xfrm>
                  <a:off x="-2197" y="2223"/>
                  <a:ext cx="4" cy="3"/>
                </a:xfrm>
                <a:custGeom>
                  <a:avLst/>
                  <a:gdLst/>
                  <a:ahLst/>
                  <a:cxnLst>
                    <a:cxn ang="0">
                      <a:pos x="2" y="0"/>
                    </a:cxn>
                    <a:cxn ang="0">
                      <a:pos x="0" y="0"/>
                    </a:cxn>
                    <a:cxn ang="0">
                      <a:pos x="0" y="1"/>
                    </a:cxn>
                    <a:cxn ang="0">
                      <a:pos x="0" y="1"/>
                    </a:cxn>
                    <a:cxn ang="0">
                      <a:pos x="1" y="1"/>
                    </a:cxn>
                    <a:cxn ang="0">
                      <a:pos x="2" y="0"/>
                    </a:cxn>
                  </a:cxnLst>
                  <a:rect l="0" t="0" r="r" b="b"/>
                  <a:pathLst>
                    <a:path w="2" h="1">
                      <a:moveTo>
                        <a:pt x="2" y="0"/>
                      </a:moveTo>
                      <a:cubicBezTo>
                        <a:pt x="0" y="0"/>
                        <a:pt x="0" y="0"/>
                        <a:pt x="0" y="0"/>
                      </a:cubicBezTo>
                      <a:cubicBezTo>
                        <a:pt x="0" y="0"/>
                        <a:pt x="0" y="0"/>
                        <a:pt x="0" y="1"/>
                      </a:cubicBezTo>
                      <a:cubicBezTo>
                        <a:pt x="0" y="1"/>
                        <a:pt x="0" y="1"/>
                        <a:pt x="0" y="1"/>
                      </a:cubicBezTo>
                      <a:cubicBezTo>
                        <a:pt x="1" y="1"/>
                        <a:pt x="1" y="1"/>
                        <a:pt x="1"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9" name="Freeform 39"/>
                <p:cNvSpPr>
                  <a:spLocks noEditPoints="1"/>
                </p:cNvSpPr>
                <p:nvPr/>
              </p:nvSpPr>
              <p:spPr bwMode="auto">
                <a:xfrm>
                  <a:off x="-2223" y="2259"/>
                  <a:ext cx="85" cy="1017"/>
                </a:xfrm>
                <a:custGeom>
                  <a:avLst/>
                  <a:gdLst/>
                  <a:ahLst/>
                  <a:cxnLst>
                    <a:cxn ang="0">
                      <a:pos x="24" y="343"/>
                    </a:cxn>
                    <a:cxn ang="0">
                      <a:pos x="22" y="343"/>
                    </a:cxn>
                    <a:cxn ang="0">
                      <a:pos x="30" y="400"/>
                    </a:cxn>
                    <a:cxn ang="0">
                      <a:pos x="34" y="429"/>
                    </a:cxn>
                    <a:cxn ang="0">
                      <a:pos x="36" y="429"/>
                    </a:cxn>
                    <a:cxn ang="0">
                      <a:pos x="32" y="400"/>
                    </a:cxn>
                    <a:cxn ang="0">
                      <a:pos x="26" y="360"/>
                    </a:cxn>
                    <a:cxn ang="0">
                      <a:pos x="24" y="343"/>
                    </a:cxn>
                    <a:cxn ang="0">
                      <a:pos x="9" y="255"/>
                    </a:cxn>
                    <a:cxn ang="0">
                      <a:pos x="7" y="255"/>
                    </a:cxn>
                    <a:cxn ang="0">
                      <a:pos x="22" y="342"/>
                    </a:cxn>
                    <a:cxn ang="0">
                      <a:pos x="24" y="342"/>
                    </a:cxn>
                    <a:cxn ang="0">
                      <a:pos x="9" y="255"/>
                    </a:cxn>
                    <a:cxn ang="0">
                      <a:pos x="7" y="233"/>
                    </a:cxn>
                    <a:cxn ang="0">
                      <a:pos x="5" y="233"/>
                    </a:cxn>
                    <a:cxn ang="0">
                      <a:pos x="7" y="254"/>
                    </a:cxn>
                    <a:cxn ang="0">
                      <a:pos x="9" y="254"/>
                    </a:cxn>
                    <a:cxn ang="0">
                      <a:pos x="7" y="233"/>
                    </a:cxn>
                    <a:cxn ang="0">
                      <a:pos x="3" y="102"/>
                    </a:cxn>
                    <a:cxn ang="0">
                      <a:pos x="1" y="102"/>
                    </a:cxn>
                    <a:cxn ang="0">
                      <a:pos x="1" y="112"/>
                    </a:cxn>
                    <a:cxn ang="0">
                      <a:pos x="0" y="125"/>
                    </a:cxn>
                    <a:cxn ang="0">
                      <a:pos x="5" y="232"/>
                    </a:cxn>
                    <a:cxn ang="0">
                      <a:pos x="7" y="232"/>
                    </a:cxn>
                    <a:cxn ang="0">
                      <a:pos x="2" y="125"/>
                    </a:cxn>
                    <a:cxn ang="0">
                      <a:pos x="3" y="112"/>
                    </a:cxn>
                    <a:cxn ang="0">
                      <a:pos x="3" y="102"/>
                    </a:cxn>
                    <a:cxn ang="0">
                      <a:pos x="11" y="0"/>
                    </a:cxn>
                    <a:cxn ang="0">
                      <a:pos x="9" y="0"/>
                    </a:cxn>
                    <a:cxn ang="0">
                      <a:pos x="1" y="101"/>
                    </a:cxn>
                    <a:cxn ang="0">
                      <a:pos x="3" y="101"/>
                    </a:cxn>
                    <a:cxn ang="0">
                      <a:pos x="11" y="0"/>
                    </a:cxn>
                  </a:cxnLst>
                  <a:rect l="0" t="0" r="r" b="b"/>
                  <a:pathLst>
                    <a:path w="36" h="429">
                      <a:moveTo>
                        <a:pt x="24" y="343"/>
                      </a:moveTo>
                      <a:cubicBezTo>
                        <a:pt x="22" y="343"/>
                        <a:pt x="22" y="343"/>
                        <a:pt x="22" y="343"/>
                      </a:cubicBezTo>
                      <a:cubicBezTo>
                        <a:pt x="23" y="347"/>
                        <a:pt x="26" y="372"/>
                        <a:pt x="30" y="400"/>
                      </a:cubicBezTo>
                      <a:cubicBezTo>
                        <a:pt x="31" y="410"/>
                        <a:pt x="32" y="420"/>
                        <a:pt x="34" y="429"/>
                      </a:cubicBezTo>
                      <a:cubicBezTo>
                        <a:pt x="36" y="429"/>
                        <a:pt x="36" y="429"/>
                        <a:pt x="36" y="429"/>
                      </a:cubicBezTo>
                      <a:cubicBezTo>
                        <a:pt x="34" y="420"/>
                        <a:pt x="33" y="410"/>
                        <a:pt x="32" y="400"/>
                      </a:cubicBezTo>
                      <a:cubicBezTo>
                        <a:pt x="30" y="385"/>
                        <a:pt x="28" y="370"/>
                        <a:pt x="26" y="360"/>
                      </a:cubicBezTo>
                      <a:cubicBezTo>
                        <a:pt x="25" y="351"/>
                        <a:pt x="24" y="345"/>
                        <a:pt x="24" y="343"/>
                      </a:cubicBezTo>
                      <a:moveTo>
                        <a:pt x="9" y="255"/>
                      </a:moveTo>
                      <a:cubicBezTo>
                        <a:pt x="7" y="255"/>
                        <a:pt x="7" y="255"/>
                        <a:pt x="7" y="255"/>
                      </a:cubicBezTo>
                      <a:cubicBezTo>
                        <a:pt x="10" y="285"/>
                        <a:pt x="15" y="315"/>
                        <a:pt x="22" y="342"/>
                      </a:cubicBezTo>
                      <a:cubicBezTo>
                        <a:pt x="24" y="342"/>
                        <a:pt x="24" y="342"/>
                        <a:pt x="24" y="342"/>
                      </a:cubicBezTo>
                      <a:cubicBezTo>
                        <a:pt x="17" y="315"/>
                        <a:pt x="12" y="285"/>
                        <a:pt x="9" y="255"/>
                      </a:cubicBezTo>
                      <a:moveTo>
                        <a:pt x="7" y="233"/>
                      </a:moveTo>
                      <a:cubicBezTo>
                        <a:pt x="5" y="233"/>
                        <a:pt x="5" y="233"/>
                        <a:pt x="5" y="233"/>
                      </a:cubicBezTo>
                      <a:cubicBezTo>
                        <a:pt x="6" y="240"/>
                        <a:pt x="6" y="247"/>
                        <a:pt x="7" y="254"/>
                      </a:cubicBezTo>
                      <a:cubicBezTo>
                        <a:pt x="9" y="254"/>
                        <a:pt x="9" y="254"/>
                        <a:pt x="9" y="254"/>
                      </a:cubicBezTo>
                      <a:cubicBezTo>
                        <a:pt x="8" y="247"/>
                        <a:pt x="8" y="240"/>
                        <a:pt x="7" y="233"/>
                      </a:cubicBezTo>
                      <a:moveTo>
                        <a:pt x="3" y="102"/>
                      </a:moveTo>
                      <a:cubicBezTo>
                        <a:pt x="1" y="102"/>
                        <a:pt x="1" y="102"/>
                        <a:pt x="1" y="102"/>
                      </a:cubicBezTo>
                      <a:cubicBezTo>
                        <a:pt x="1" y="105"/>
                        <a:pt x="1" y="109"/>
                        <a:pt x="1" y="112"/>
                      </a:cubicBezTo>
                      <a:cubicBezTo>
                        <a:pt x="1" y="112"/>
                        <a:pt x="0" y="117"/>
                        <a:pt x="0" y="125"/>
                      </a:cubicBezTo>
                      <a:cubicBezTo>
                        <a:pt x="0" y="145"/>
                        <a:pt x="1" y="186"/>
                        <a:pt x="5" y="232"/>
                      </a:cubicBezTo>
                      <a:cubicBezTo>
                        <a:pt x="7" y="232"/>
                        <a:pt x="7" y="232"/>
                        <a:pt x="7" y="232"/>
                      </a:cubicBezTo>
                      <a:cubicBezTo>
                        <a:pt x="3" y="186"/>
                        <a:pt x="2" y="145"/>
                        <a:pt x="2" y="125"/>
                      </a:cubicBezTo>
                      <a:cubicBezTo>
                        <a:pt x="2" y="117"/>
                        <a:pt x="3" y="112"/>
                        <a:pt x="3" y="112"/>
                      </a:cubicBezTo>
                      <a:cubicBezTo>
                        <a:pt x="3" y="109"/>
                        <a:pt x="3" y="105"/>
                        <a:pt x="3" y="102"/>
                      </a:cubicBezTo>
                      <a:moveTo>
                        <a:pt x="11" y="0"/>
                      </a:moveTo>
                      <a:cubicBezTo>
                        <a:pt x="9" y="0"/>
                        <a:pt x="9" y="0"/>
                        <a:pt x="9" y="0"/>
                      </a:cubicBezTo>
                      <a:cubicBezTo>
                        <a:pt x="5" y="29"/>
                        <a:pt x="2" y="62"/>
                        <a:pt x="1" y="101"/>
                      </a:cubicBezTo>
                      <a:cubicBezTo>
                        <a:pt x="3" y="101"/>
                        <a:pt x="3" y="101"/>
                        <a:pt x="3" y="101"/>
                      </a:cubicBezTo>
                      <a:cubicBezTo>
                        <a:pt x="4" y="62"/>
                        <a:pt x="7" y="29"/>
                        <a:pt x="1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0" name="Freeform 40"/>
                <p:cNvSpPr>
                  <a:spLocks/>
                </p:cNvSpPr>
                <p:nvPr/>
              </p:nvSpPr>
              <p:spPr bwMode="auto">
                <a:xfrm>
                  <a:off x="-2171" y="3069"/>
                  <a:ext cx="5" cy="3"/>
                </a:xfrm>
                <a:custGeom>
                  <a:avLst/>
                  <a:gdLst/>
                  <a:ahLst/>
                  <a:cxnLst>
                    <a:cxn ang="0">
                      <a:pos x="2" y="0"/>
                    </a:cxn>
                    <a:cxn ang="0">
                      <a:pos x="0" y="0"/>
                    </a:cxn>
                    <a:cxn ang="0">
                      <a:pos x="0" y="1"/>
                    </a:cxn>
                    <a:cxn ang="0">
                      <a:pos x="0" y="1"/>
                    </a:cxn>
                    <a:cxn ang="0">
                      <a:pos x="0" y="1"/>
                    </a:cxn>
                    <a:cxn ang="0">
                      <a:pos x="2" y="1"/>
                    </a:cxn>
                    <a:cxn ang="0">
                      <a:pos x="2" y="0"/>
                    </a:cxn>
                    <a:cxn ang="0">
                      <a:pos x="2" y="0"/>
                    </a:cxn>
                    <a:cxn ang="0">
                      <a:pos x="2" y="0"/>
                    </a:cxn>
                    <a:cxn ang="0">
                      <a:pos x="2" y="0"/>
                    </a:cxn>
                  </a:cxnLst>
                  <a:rect l="0" t="0" r="r" b="b"/>
                  <a:pathLst>
                    <a:path w="2" h="1">
                      <a:moveTo>
                        <a:pt x="2" y="0"/>
                      </a:moveTo>
                      <a:cubicBezTo>
                        <a:pt x="0" y="0"/>
                        <a:pt x="0" y="0"/>
                        <a:pt x="0" y="0"/>
                      </a:cubicBezTo>
                      <a:cubicBezTo>
                        <a:pt x="0" y="0"/>
                        <a:pt x="0" y="0"/>
                        <a:pt x="0" y="1"/>
                      </a:cubicBezTo>
                      <a:cubicBezTo>
                        <a:pt x="0" y="1"/>
                        <a:pt x="0" y="1"/>
                        <a:pt x="0" y="1"/>
                      </a:cubicBezTo>
                      <a:cubicBezTo>
                        <a:pt x="0" y="1"/>
                        <a:pt x="0" y="1"/>
                        <a:pt x="0" y="1"/>
                      </a:cubicBezTo>
                      <a:cubicBezTo>
                        <a:pt x="2" y="1"/>
                        <a:pt x="2" y="1"/>
                        <a:pt x="2" y="1"/>
                      </a:cubicBezTo>
                      <a:cubicBezTo>
                        <a:pt x="2" y="0"/>
                        <a:pt x="2" y="0"/>
                        <a:pt x="2" y="0"/>
                      </a:cubicBezTo>
                      <a:cubicBezTo>
                        <a:pt x="2" y="0"/>
                        <a:pt x="2" y="0"/>
                        <a:pt x="2" y="0"/>
                      </a:cubicBezTo>
                      <a:cubicBezTo>
                        <a:pt x="2" y="0"/>
                        <a:pt x="2" y="0"/>
                        <a:pt x="2" y="0"/>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1" name="Freeform 41"/>
                <p:cNvSpPr>
                  <a:spLocks/>
                </p:cNvSpPr>
                <p:nvPr/>
              </p:nvSpPr>
              <p:spPr bwMode="auto">
                <a:xfrm>
                  <a:off x="-2207" y="2861"/>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2" name="Freeform 42"/>
                <p:cNvSpPr>
                  <a:spLocks noEditPoints="1"/>
                </p:cNvSpPr>
                <p:nvPr/>
              </p:nvSpPr>
              <p:spPr bwMode="auto">
                <a:xfrm>
                  <a:off x="-2152" y="1522"/>
                  <a:ext cx="182" cy="1832"/>
                </a:xfrm>
                <a:custGeom>
                  <a:avLst/>
                  <a:gdLst/>
                  <a:ahLst/>
                  <a:cxnLst>
                    <a:cxn ang="0">
                      <a:pos x="6" y="741"/>
                    </a:cxn>
                    <a:cxn ang="0">
                      <a:pos x="4" y="741"/>
                    </a:cxn>
                    <a:cxn ang="0">
                      <a:pos x="10" y="773"/>
                    </a:cxn>
                    <a:cxn ang="0">
                      <a:pos x="12" y="773"/>
                    </a:cxn>
                    <a:cxn ang="0">
                      <a:pos x="6" y="741"/>
                    </a:cxn>
                    <a:cxn ang="0">
                      <a:pos x="23" y="99"/>
                    </a:cxn>
                    <a:cxn ang="0">
                      <a:pos x="21" y="99"/>
                    </a:cxn>
                    <a:cxn ang="0">
                      <a:pos x="9" y="147"/>
                    </a:cxn>
                    <a:cxn ang="0">
                      <a:pos x="0" y="195"/>
                    </a:cxn>
                    <a:cxn ang="0">
                      <a:pos x="2" y="195"/>
                    </a:cxn>
                    <a:cxn ang="0">
                      <a:pos x="11" y="147"/>
                    </a:cxn>
                    <a:cxn ang="0">
                      <a:pos x="23" y="99"/>
                    </a:cxn>
                    <a:cxn ang="0">
                      <a:pos x="75" y="0"/>
                    </a:cxn>
                    <a:cxn ang="0">
                      <a:pos x="75" y="0"/>
                    </a:cxn>
                    <a:cxn ang="0">
                      <a:pos x="22" y="98"/>
                    </a:cxn>
                    <a:cxn ang="0">
                      <a:pos x="24" y="98"/>
                    </a:cxn>
                    <a:cxn ang="0">
                      <a:pos x="51" y="38"/>
                    </a:cxn>
                    <a:cxn ang="0">
                      <a:pos x="69" y="11"/>
                    </a:cxn>
                    <a:cxn ang="0">
                      <a:pos x="75" y="4"/>
                    </a:cxn>
                    <a:cxn ang="0">
                      <a:pos x="76" y="2"/>
                    </a:cxn>
                    <a:cxn ang="0">
                      <a:pos x="77" y="2"/>
                    </a:cxn>
                    <a:cxn ang="0">
                      <a:pos x="75" y="0"/>
                    </a:cxn>
                  </a:cxnLst>
                  <a:rect l="0" t="0" r="r" b="b"/>
                  <a:pathLst>
                    <a:path w="77" h="773">
                      <a:moveTo>
                        <a:pt x="6" y="741"/>
                      </a:moveTo>
                      <a:cubicBezTo>
                        <a:pt x="4" y="741"/>
                        <a:pt x="4" y="741"/>
                        <a:pt x="4" y="741"/>
                      </a:cubicBezTo>
                      <a:cubicBezTo>
                        <a:pt x="6" y="753"/>
                        <a:pt x="8" y="765"/>
                        <a:pt x="10" y="773"/>
                      </a:cubicBezTo>
                      <a:cubicBezTo>
                        <a:pt x="12" y="773"/>
                        <a:pt x="12" y="773"/>
                        <a:pt x="12" y="773"/>
                      </a:cubicBezTo>
                      <a:cubicBezTo>
                        <a:pt x="10" y="765"/>
                        <a:pt x="8" y="753"/>
                        <a:pt x="6" y="741"/>
                      </a:cubicBezTo>
                      <a:moveTo>
                        <a:pt x="23" y="99"/>
                      </a:moveTo>
                      <a:cubicBezTo>
                        <a:pt x="21" y="99"/>
                        <a:pt x="21" y="99"/>
                        <a:pt x="21" y="99"/>
                      </a:cubicBezTo>
                      <a:cubicBezTo>
                        <a:pt x="17" y="113"/>
                        <a:pt x="12" y="130"/>
                        <a:pt x="9" y="147"/>
                      </a:cubicBezTo>
                      <a:cubicBezTo>
                        <a:pt x="6" y="164"/>
                        <a:pt x="3" y="180"/>
                        <a:pt x="0" y="195"/>
                      </a:cubicBezTo>
                      <a:cubicBezTo>
                        <a:pt x="2" y="195"/>
                        <a:pt x="2" y="195"/>
                        <a:pt x="2" y="195"/>
                      </a:cubicBezTo>
                      <a:cubicBezTo>
                        <a:pt x="5" y="180"/>
                        <a:pt x="8" y="164"/>
                        <a:pt x="11" y="147"/>
                      </a:cubicBezTo>
                      <a:cubicBezTo>
                        <a:pt x="14" y="130"/>
                        <a:pt x="19" y="114"/>
                        <a:pt x="23" y="99"/>
                      </a:cubicBezTo>
                      <a:moveTo>
                        <a:pt x="75" y="0"/>
                      </a:moveTo>
                      <a:cubicBezTo>
                        <a:pt x="75" y="0"/>
                        <a:pt x="75" y="0"/>
                        <a:pt x="75" y="0"/>
                      </a:cubicBezTo>
                      <a:cubicBezTo>
                        <a:pt x="74" y="1"/>
                        <a:pt x="43" y="35"/>
                        <a:pt x="22" y="98"/>
                      </a:cubicBezTo>
                      <a:cubicBezTo>
                        <a:pt x="24" y="98"/>
                        <a:pt x="24" y="98"/>
                        <a:pt x="24" y="98"/>
                      </a:cubicBezTo>
                      <a:cubicBezTo>
                        <a:pt x="32" y="74"/>
                        <a:pt x="42" y="54"/>
                        <a:pt x="51" y="38"/>
                      </a:cubicBezTo>
                      <a:cubicBezTo>
                        <a:pt x="58" y="26"/>
                        <a:pt x="64" y="17"/>
                        <a:pt x="69" y="11"/>
                      </a:cubicBezTo>
                      <a:cubicBezTo>
                        <a:pt x="71" y="8"/>
                        <a:pt x="73" y="5"/>
                        <a:pt x="75" y="4"/>
                      </a:cubicBezTo>
                      <a:cubicBezTo>
                        <a:pt x="75" y="3"/>
                        <a:pt x="76" y="3"/>
                        <a:pt x="76" y="2"/>
                      </a:cubicBezTo>
                      <a:cubicBezTo>
                        <a:pt x="77" y="2"/>
                        <a:pt x="77" y="2"/>
                        <a:pt x="77" y="2"/>
                      </a:cubicBezTo>
                      <a:cubicBezTo>
                        <a:pt x="75" y="0"/>
                        <a:pt x="75" y="0"/>
                        <a:pt x="7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3" name="Freeform 43"/>
                <p:cNvSpPr>
                  <a:spLocks/>
                </p:cNvSpPr>
                <p:nvPr/>
              </p:nvSpPr>
              <p:spPr bwMode="auto">
                <a:xfrm>
                  <a:off x="-2103" y="1754"/>
                  <a:ext cx="8" cy="2"/>
                </a:xfrm>
                <a:custGeom>
                  <a:avLst/>
                  <a:gdLst/>
                  <a:ahLst/>
                  <a:cxnLst>
                    <a:cxn ang="0">
                      <a:pos x="3" y="0"/>
                    </a:cxn>
                    <a:cxn ang="0">
                      <a:pos x="1" y="0"/>
                    </a:cxn>
                    <a:cxn ang="0">
                      <a:pos x="0" y="1"/>
                    </a:cxn>
                    <a:cxn ang="0">
                      <a:pos x="2" y="1"/>
                    </a:cxn>
                    <a:cxn ang="0">
                      <a:pos x="3" y="0"/>
                    </a:cxn>
                  </a:cxnLst>
                  <a:rect l="0" t="0" r="r" b="b"/>
                  <a:pathLst>
                    <a:path w="3" h="1">
                      <a:moveTo>
                        <a:pt x="3" y="0"/>
                      </a:moveTo>
                      <a:cubicBezTo>
                        <a:pt x="1" y="0"/>
                        <a:pt x="1" y="0"/>
                        <a:pt x="1" y="0"/>
                      </a:cubicBezTo>
                      <a:cubicBezTo>
                        <a:pt x="0" y="1"/>
                        <a:pt x="0" y="1"/>
                        <a:pt x="0" y="1"/>
                      </a:cubicBezTo>
                      <a:cubicBezTo>
                        <a:pt x="2" y="1"/>
                        <a:pt x="2" y="1"/>
                        <a:pt x="2" y="1"/>
                      </a:cubicBezTo>
                      <a:cubicBezTo>
                        <a:pt x="3" y="1"/>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4" name="Freeform 44"/>
                <p:cNvSpPr>
                  <a:spLocks/>
                </p:cNvSpPr>
                <p:nvPr/>
              </p:nvSpPr>
              <p:spPr bwMode="auto">
                <a:xfrm>
                  <a:off x="-2211" y="2809"/>
                  <a:ext cx="4"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5" name="Freeform 45"/>
                <p:cNvSpPr>
                  <a:spLocks/>
                </p:cNvSpPr>
                <p:nvPr/>
              </p:nvSpPr>
              <p:spPr bwMode="auto">
                <a:xfrm>
                  <a:off x="-2143" y="3276"/>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6" name="Freeform 46"/>
                <p:cNvSpPr>
                  <a:spLocks/>
                </p:cNvSpPr>
                <p:nvPr/>
              </p:nvSpPr>
              <p:spPr bwMode="auto">
                <a:xfrm>
                  <a:off x="-2129" y="3356"/>
                  <a:ext cx="12" cy="26"/>
                </a:xfrm>
                <a:custGeom>
                  <a:avLst/>
                  <a:gdLst/>
                  <a:ahLst/>
                  <a:cxnLst>
                    <a:cxn ang="0">
                      <a:pos x="2" y="0"/>
                    </a:cxn>
                    <a:cxn ang="0">
                      <a:pos x="0" y="0"/>
                    </a:cxn>
                    <a:cxn ang="0">
                      <a:pos x="3" y="11"/>
                    </a:cxn>
                    <a:cxn ang="0">
                      <a:pos x="5" y="11"/>
                    </a:cxn>
                    <a:cxn ang="0">
                      <a:pos x="2" y="0"/>
                    </a:cxn>
                  </a:cxnLst>
                  <a:rect l="0" t="0" r="r" b="b"/>
                  <a:pathLst>
                    <a:path w="5" h="11">
                      <a:moveTo>
                        <a:pt x="2" y="0"/>
                      </a:moveTo>
                      <a:cubicBezTo>
                        <a:pt x="0" y="0"/>
                        <a:pt x="0" y="0"/>
                        <a:pt x="0" y="0"/>
                      </a:cubicBezTo>
                      <a:cubicBezTo>
                        <a:pt x="1" y="5"/>
                        <a:pt x="2" y="9"/>
                        <a:pt x="3" y="11"/>
                      </a:cubicBezTo>
                      <a:cubicBezTo>
                        <a:pt x="5" y="11"/>
                        <a:pt x="5" y="11"/>
                        <a:pt x="5" y="11"/>
                      </a:cubicBezTo>
                      <a:cubicBezTo>
                        <a:pt x="4" y="8"/>
                        <a:pt x="3" y="5"/>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7" name="Freeform 47"/>
                <p:cNvSpPr>
                  <a:spLocks/>
                </p:cNvSpPr>
                <p:nvPr/>
              </p:nvSpPr>
              <p:spPr bwMode="auto">
                <a:xfrm>
                  <a:off x="-2129" y="3354"/>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1"/>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8" name="Freeform 48"/>
                <p:cNvSpPr>
                  <a:spLocks/>
                </p:cNvSpPr>
                <p:nvPr/>
              </p:nvSpPr>
              <p:spPr bwMode="auto">
                <a:xfrm>
                  <a:off x="-2221"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9" name="Freeform 49"/>
                <p:cNvSpPr>
                  <a:spLocks/>
                </p:cNvSpPr>
                <p:nvPr/>
              </p:nvSpPr>
              <p:spPr bwMode="auto">
                <a:xfrm>
                  <a:off x="-2202"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0" name="Freeform 50"/>
                <p:cNvSpPr>
                  <a:spLocks/>
                </p:cNvSpPr>
                <p:nvPr/>
              </p:nvSpPr>
              <p:spPr bwMode="auto">
                <a:xfrm>
                  <a:off x="-2020" y="1986"/>
                  <a:ext cx="26" cy="270"/>
                </a:xfrm>
                <a:custGeom>
                  <a:avLst/>
                  <a:gdLst/>
                  <a:ahLst/>
                  <a:cxnLst>
                    <a:cxn ang="0">
                      <a:pos x="11" y="0"/>
                    </a:cxn>
                    <a:cxn ang="0">
                      <a:pos x="9" y="0"/>
                    </a:cxn>
                    <a:cxn ang="0">
                      <a:pos x="8" y="9"/>
                    </a:cxn>
                    <a:cxn ang="0">
                      <a:pos x="8" y="9"/>
                    </a:cxn>
                    <a:cxn ang="0">
                      <a:pos x="1" y="100"/>
                    </a:cxn>
                    <a:cxn ang="0">
                      <a:pos x="3" y="100"/>
                    </a:cxn>
                    <a:cxn ang="0">
                      <a:pos x="3" y="101"/>
                    </a:cxn>
                    <a:cxn ang="0">
                      <a:pos x="1" y="101"/>
                    </a:cxn>
                    <a:cxn ang="0">
                      <a:pos x="0" y="114"/>
                    </a:cxn>
                    <a:cxn ang="0">
                      <a:pos x="2" y="114"/>
                    </a:cxn>
                    <a:cxn ang="0">
                      <a:pos x="10" y="9"/>
                    </a:cxn>
                    <a:cxn ang="0">
                      <a:pos x="11" y="0"/>
                    </a:cxn>
                  </a:cxnLst>
                  <a:rect l="0" t="0" r="r" b="b"/>
                  <a:pathLst>
                    <a:path w="11" h="114">
                      <a:moveTo>
                        <a:pt x="11" y="0"/>
                      </a:moveTo>
                      <a:cubicBezTo>
                        <a:pt x="9" y="0"/>
                        <a:pt x="9" y="0"/>
                        <a:pt x="9" y="0"/>
                      </a:cubicBezTo>
                      <a:cubicBezTo>
                        <a:pt x="8" y="9"/>
                        <a:pt x="8" y="9"/>
                        <a:pt x="8" y="9"/>
                      </a:cubicBezTo>
                      <a:cubicBezTo>
                        <a:pt x="8" y="9"/>
                        <a:pt x="8" y="9"/>
                        <a:pt x="8" y="9"/>
                      </a:cubicBezTo>
                      <a:cubicBezTo>
                        <a:pt x="5" y="37"/>
                        <a:pt x="3" y="68"/>
                        <a:pt x="1" y="100"/>
                      </a:cubicBezTo>
                      <a:cubicBezTo>
                        <a:pt x="3" y="100"/>
                        <a:pt x="3" y="100"/>
                        <a:pt x="3" y="100"/>
                      </a:cubicBezTo>
                      <a:cubicBezTo>
                        <a:pt x="3" y="101"/>
                        <a:pt x="3" y="101"/>
                        <a:pt x="3" y="101"/>
                      </a:cubicBezTo>
                      <a:cubicBezTo>
                        <a:pt x="1" y="101"/>
                        <a:pt x="1" y="101"/>
                        <a:pt x="1" y="101"/>
                      </a:cubicBezTo>
                      <a:cubicBezTo>
                        <a:pt x="1" y="105"/>
                        <a:pt x="1" y="109"/>
                        <a:pt x="0" y="114"/>
                      </a:cubicBezTo>
                      <a:cubicBezTo>
                        <a:pt x="2" y="114"/>
                        <a:pt x="2" y="114"/>
                        <a:pt x="2" y="114"/>
                      </a:cubicBezTo>
                      <a:cubicBezTo>
                        <a:pt x="4" y="77"/>
                        <a:pt x="7" y="42"/>
                        <a:pt x="10" y="9"/>
                      </a:cubicBezTo>
                      <a:cubicBezTo>
                        <a:pt x="11" y="0"/>
                        <a:pt x="11" y="0"/>
                        <a:pt x="1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1" name="Freeform 51"/>
                <p:cNvSpPr>
                  <a:spLocks/>
                </p:cNvSpPr>
                <p:nvPr/>
              </p:nvSpPr>
              <p:spPr bwMode="auto">
                <a:xfrm>
                  <a:off x="-2017" y="2223"/>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2" name="Freeform 52"/>
                <p:cNvSpPr>
                  <a:spLocks noEditPoints="1"/>
                </p:cNvSpPr>
                <p:nvPr/>
              </p:nvSpPr>
              <p:spPr bwMode="auto">
                <a:xfrm>
                  <a:off x="-2029" y="2259"/>
                  <a:ext cx="14" cy="1017"/>
                </a:xfrm>
                <a:custGeom>
                  <a:avLst/>
                  <a:gdLst/>
                  <a:ahLst/>
                  <a:cxnLst>
                    <a:cxn ang="0">
                      <a:pos x="5" y="343"/>
                    </a:cxn>
                    <a:cxn ang="0">
                      <a:pos x="3" y="343"/>
                    </a:cxn>
                    <a:cxn ang="0">
                      <a:pos x="2" y="429"/>
                    </a:cxn>
                    <a:cxn ang="0">
                      <a:pos x="4" y="429"/>
                    </a:cxn>
                    <a:cxn ang="0">
                      <a:pos x="5" y="343"/>
                    </a:cxn>
                    <a:cxn ang="0">
                      <a:pos x="4" y="339"/>
                    </a:cxn>
                    <a:cxn ang="0">
                      <a:pos x="4" y="339"/>
                    </a:cxn>
                    <a:cxn ang="0">
                      <a:pos x="3" y="233"/>
                    </a:cxn>
                    <a:cxn ang="0">
                      <a:pos x="1" y="233"/>
                    </a:cxn>
                    <a:cxn ang="0">
                      <a:pos x="1" y="254"/>
                    </a:cxn>
                    <a:cxn ang="0">
                      <a:pos x="2" y="254"/>
                    </a:cxn>
                    <a:cxn ang="0">
                      <a:pos x="2" y="255"/>
                    </a:cxn>
                    <a:cxn ang="0">
                      <a:pos x="1" y="255"/>
                    </a:cxn>
                    <a:cxn ang="0">
                      <a:pos x="3" y="339"/>
                    </a:cxn>
                    <a:cxn ang="0">
                      <a:pos x="3" y="342"/>
                    </a:cxn>
                    <a:cxn ang="0">
                      <a:pos x="5" y="342"/>
                    </a:cxn>
                    <a:cxn ang="0">
                      <a:pos x="5" y="339"/>
                    </a:cxn>
                    <a:cxn ang="0">
                      <a:pos x="5" y="339"/>
                    </a:cxn>
                    <a:cxn ang="0">
                      <a:pos x="4" y="327"/>
                    </a:cxn>
                    <a:cxn ang="0">
                      <a:pos x="3" y="233"/>
                    </a:cxn>
                    <a:cxn ang="0">
                      <a:pos x="3" y="102"/>
                    </a:cxn>
                    <a:cxn ang="0">
                      <a:pos x="1" y="102"/>
                    </a:cxn>
                    <a:cxn ang="0">
                      <a:pos x="0" y="184"/>
                    </a:cxn>
                    <a:cxn ang="0">
                      <a:pos x="1" y="232"/>
                    </a:cxn>
                    <a:cxn ang="0">
                      <a:pos x="3" y="232"/>
                    </a:cxn>
                    <a:cxn ang="0">
                      <a:pos x="2" y="184"/>
                    </a:cxn>
                    <a:cxn ang="0">
                      <a:pos x="3" y="102"/>
                    </a:cxn>
                    <a:cxn ang="0">
                      <a:pos x="6" y="0"/>
                    </a:cxn>
                    <a:cxn ang="0">
                      <a:pos x="4" y="0"/>
                    </a:cxn>
                    <a:cxn ang="0">
                      <a:pos x="1" y="101"/>
                    </a:cxn>
                    <a:cxn ang="0">
                      <a:pos x="3" y="101"/>
                    </a:cxn>
                    <a:cxn ang="0">
                      <a:pos x="6" y="0"/>
                    </a:cxn>
                  </a:cxnLst>
                  <a:rect l="0" t="0" r="r" b="b"/>
                  <a:pathLst>
                    <a:path w="6" h="429">
                      <a:moveTo>
                        <a:pt x="5" y="343"/>
                      </a:moveTo>
                      <a:cubicBezTo>
                        <a:pt x="3" y="343"/>
                        <a:pt x="3" y="343"/>
                        <a:pt x="3" y="343"/>
                      </a:cubicBezTo>
                      <a:cubicBezTo>
                        <a:pt x="2" y="429"/>
                        <a:pt x="2" y="429"/>
                        <a:pt x="2" y="429"/>
                      </a:cubicBezTo>
                      <a:cubicBezTo>
                        <a:pt x="4" y="429"/>
                        <a:pt x="4" y="429"/>
                        <a:pt x="4" y="429"/>
                      </a:cubicBezTo>
                      <a:cubicBezTo>
                        <a:pt x="5" y="343"/>
                        <a:pt x="5" y="343"/>
                        <a:pt x="5" y="343"/>
                      </a:cubicBezTo>
                      <a:moveTo>
                        <a:pt x="4" y="339"/>
                      </a:moveTo>
                      <a:cubicBezTo>
                        <a:pt x="4" y="339"/>
                        <a:pt x="4" y="339"/>
                        <a:pt x="4" y="339"/>
                      </a:cubicBezTo>
                      <a:moveTo>
                        <a:pt x="3" y="233"/>
                      </a:moveTo>
                      <a:cubicBezTo>
                        <a:pt x="1" y="233"/>
                        <a:pt x="1" y="233"/>
                        <a:pt x="1" y="233"/>
                      </a:cubicBezTo>
                      <a:cubicBezTo>
                        <a:pt x="1" y="240"/>
                        <a:pt x="1" y="247"/>
                        <a:pt x="1" y="254"/>
                      </a:cubicBezTo>
                      <a:cubicBezTo>
                        <a:pt x="2" y="254"/>
                        <a:pt x="2" y="254"/>
                        <a:pt x="2" y="254"/>
                      </a:cubicBezTo>
                      <a:cubicBezTo>
                        <a:pt x="2" y="255"/>
                        <a:pt x="2" y="255"/>
                        <a:pt x="2" y="255"/>
                      </a:cubicBezTo>
                      <a:cubicBezTo>
                        <a:pt x="1" y="255"/>
                        <a:pt x="1" y="255"/>
                        <a:pt x="1" y="255"/>
                      </a:cubicBezTo>
                      <a:cubicBezTo>
                        <a:pt x="2" y="306"/>
                        <a:pt x="3" y="338"/>
                        <a:pt x="3" y="339"/>
                      </a:cubicBezTo>
                      <a:cubicBezTo>
                        <a:pt x="3" y="342"/>
                        <a:pt x="3" y="342"/>
                        <a:pt x="3" y="342"/>
                      </a:cubicBezTo>
                      <a:cubicBezTo>
                        <a:pt x="5" y="342"/>
                        <a:pt x="5" y="342"/>
                        <a:pt x="5" y="342"/>
                      </a:cubicBezTo>
                      <a:cubicBezTo>
                        <a:pt x="5" y="339"/>
                        <a:pt x="5" y="339"/>
                        <a:pt x="5" y="339"/>
                      </a:cubicBezTo>
                      <a:cubicBezTo>
                        <a:pt x="5" y="339"/>
                        <a:pt x="5" y="339"/>
                        <a:pt x="5" y="339"/>
                      </a:cubicBezTo>
                      <a:cubicBezTo>
                        <a:pt x="5" y="339"/>
                        <a:pt x="5" y="335"/>
                        <a:pt x="4" y="327"/>
                      </a:cubicBezTo>
                      <a:cubicBezTo>
                        <a:pt x="4" y="310"/>
                        <a:pt x="3" y="277"/>
                        <a:pt x="3" y="233"/>
                      </a:cubicBezTo>
                      <a:moveTo>
                        <a:pt x="3" y="102"/>
                      </a:moveTo>
                      <a:cubicBezTo>
                        <a:pt x="1" y="102"/>
                        <a:pt x="1" y="102"/>
                        <a:pt x="1" y="102"/>
                      </a:cubicBezTo>
                      <a:cubicBezTo>
                        <a:pt x="1" y="130"/>
                        <a:pt x="0" y="158"/>
                        <a:pt x="0" y="184"/>
                      </a:cubicBezTo>
                      <a:cubicBezTo>
                        <a:pt x="0" y="201"/>
                        <a:pt x="0" y="217"/>
                        <a:pt x="1" y="232"/>
                      </a:cubicBezTo>
                      <a:cubicBezTo>
                        <a:pt x="3" y="232"/>
                        <a:pt x="3" y="232"/>
                        <a:pt x="3" y="232"/>
                      </a:cubicBezTo>
                      <a:cubicBezTo>
                        <a:pt x="2" y="217"/>
                        <a:pt x="2" y="201"/>
                        <a:pt x="2" y="184"/>
                      </a:cubicBezTo>
                      <a:cubicBezTo>
                        <a:pt x="2" y="158"/>
                        <a:pt x="3" y="130"/>
                        <a:pt x="3" y="102"/>
                      </a:cubicBezTo>
                      <a:moveTo>
                        <a:pt x="6" y="0"/>
                      </a:moveTo>
                      <a:cubicBezTo>
                        <a:pt x="4" y="0"/>
                        <a:pt x="4" y="0"/>
                        <a:pt x="4" y="0"/>
                      </a:cubicBezTo>
                      <a:cubicBezTo>
                        <a:pt x="3" y="33"/>
                        <a:pt x="2" y="68"/>
                        <a:pt x="1" y="101"/>
                      </a:cubicBezTo>
                      <a:cubicBezTo>
                        <a:pt x="3" y="101"/>
                        <a:pt x="3" y="101"/>
                        <a:pt x="3" y="101"/>
                      </a:cubicBezTo>
                      <a:cubicBezTo>
                        <a:pt x="4" y="68"/>
                        <a:pt x="5" y="33"/>
                        <a:pt x="6"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3" name="Freeform 53"/>
                <p:cNvSpPr>
                  <a:spLocks/>
                </p:cNvSpPr>
                <p:nvPr/>
              </p:nvSpPr>
              <p:spPr bwMode="auto">
                <a:xfrm>
                  <a:off x="-2022" y="3069"/>
                  <a:ext cx="5" cy="3"/>
                </a:xfrm>
                <a:custGeom>
                  <a:avLst/>
                  <a:gdLst/>
                  <a:ahLst/>
                  <a:cxnLst>
                    <a:cxn ang="0">
                      <a:pos x="5" y="0"/>
                    </a:cxn>
                    <a:cxn ang="0">
                      <a:pos x="0" y="0"/>
                    </a:cxn>
                    <a:cxn ang="0">
                      <a:pos x="0" y="3"/>
                    </a:cxn>
                    <a:cxn ang="0">
                      <a:pos x="5" y="3"/>
                    </a:cxn>
                    <a:cxn ang="0">
                      <a:pos x="5" y="0"/>
                    </a:cxn>
                    <a:cxn ang="0">
                      <a:pos x="5" y="0"/>
                    </a:cxn>
                  </a:cxnLst>
                  <a:rect l="0" t="0" r="r" b="b"/>
                  <a:pathLst>
                    <a:path w="5" h="3">
                      <a:moveTo>
                        <a:pt x="5" y="0"/>
                      </a:moveTo>
                      <a:lnTo>
                        <a:pt x="0" y="0"/>
                      </a:lnTo>
                      <a:lnTo>
                        <a:pt x="0" y="3"/>
                      </a:lnTo>
                      <a:lnTo>
                        <a:pt x="5" y="3"/>
                      </a:lnTo>
                      <a:lnTo>
                        <a:pt x="5" y="0"/>
                      </a:lnTo>
                      <a:lnTo>
                        <a:pt x="5"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4" name="Freeform 54"/>
                <p:cNvSpPr>
                  <a:spLocks/>
                </p:cNvSpPr>
                <p:nvPr/>
              </p:nvSpPr>
              <p:spPr bwMode="auto">
                <a:xfrm>
                  <a:off x="-2027" y="2861"/>
                  <a:ext cx="3" cy="2"/>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5" name="Freeform 55"/>
                <p:cNvSpPr>
                  <a:spLocks noEditPoints="1"/>
                </p:cNvSpPr>
                <p:nvPr/>
              </p:nvSpPr>
              <p:spPr bwMode="auto">
                <a:xfrm>
                  <a:off x="-2024" y="1522"/>
                  <a:ext cx="92" cy="1832"/>
                </a:xfrm>
                <a:custGeom>
                  <a:avLst/>
                  <a:gdLst/>
                  <a:ahLst/>
                  <a:cxnLst>
                    <a:cxn ang="0">
                      <a:pos x="2" y="741"/>
                    </a:cxn>
                    <a:cxn ang="0">
                      <a:pos x="0" y="741"/>
                    </a:cxn>
                    <a:cxn ang="0">
                      <a:pos x="0" y="773"/>
                    </a:cxn>
                    <a:cxn ang="0">
                      <a:pos x="2" y="773"/>
                    </a:cxn>
                    <a:cxn ang="0">
                      <a:pos x="2" y="741"/>
                    </a:cxn>
                    <a:cxn ang="0">
                      <a:pos x="19" y="99"/>
                    </a:cxn>
                    <a:cxn ang="0">
                      <a:pos x="17" y="99"/>
                    </a:cxn>
                    <a:cxn ang="0">
                      <a:pos x="16" y="123"/>
                    </a:cxn>
                    <a:cxn ang="0">
                      <a:pos x="16" y="123"/>
                    </a:cxn>
                    <a:cxn ang="0">
                      <a:pos x="11" y="195"/>
                    </a:cxn>
                    <a:cxn ang="0">
                      <a:pos x="13" y="195"/>
                    </a:cxn>
                    <a:cxn ang="0">
                      <a:pos x="18" y="123"/>
                    </a:cxn>
                    <a:cxn ang="0">
                      <a:pos x="18" y="123"/>
                    </a:cxn>
                    <a:cxn ang="0">
                      <a:pos x="19" y="99"/>
                    </a:cxn>
                    <a:cxn ang="0">
                      <a:pos x="38" y="0"/>
                    </a:cxn>
                    <a:cxn ang="0">
                      <a:pos x="37" y="0"/>
                    </a:cxn>
                    <a:cxn ang="0">
                      <a:pos x="17" y="98"/>
                    </a:cxn>
                    <a:cxn ang="0">
                      <a:pos x="19" y="98"/>
                    </a:cxn>
                    <a:cxn ang="0">
                      <a:pos x="29" y="32"/>
                    </a:cxn>
                    <a:cxn ang="0">
                      <a:pos x="36" y="9"/>
                    </a:cxn>
                    <a:cxn ang="0">
                      <a:pos x="38" y="3"/>
                    </a:cxn>
                    <a:cxn ang="0">
                      <a:pos x="39" y="1"/>
                    </a:cxn>
                    <a:cxn ang="0">
                      <a:pos x="38" y="0"/>
                    </a:cxn>
                  </a:cxnLst>
                  <a:rect l="0" t="0" r="r" b="b"/>
                  <a:pathLst>
                    <a:path w="39" h="773">
                      <a:moveTo>
                        <a:pt x="2" y="741"/>
                      </a:moveTo>
                      <a:cubicBezTo>
                        <a:pt x="0" y="741"/>
                        <a:pt x="0" y="741"/>
                        <a:pt x="0" y="741"/>
                      </a:cubicBezTo>
                      <a:cubicBezTo>
                        <a:pt x="0" y="773"/>
                        <a:pt x="0" y="773"/>
                        <a:pt x="0" y="773"/>
                      </a:cubicBezTo>
                      <a:cubicBezTo>
                        <a:pt x="2" y="773"/>
                        <a:pt x="2" y="773"/>
                        <a:pt x="2" y="773"/>
                      </a:cubicBezTo>
                      <a:cubicBezTo>
                        <a:pt x="2" y="741"/>
                        <a:pt x="2" y="741"/>
                        <a:pt x="2" y="741"/>
                      </a:cubicBezTo>
                      <a:moveTo>
                        <a:pt x="19" y="99"/>
                      </a:moveTo>
                      <a:cubicBezTo>
                        <a:pt x="17" y="99"/>
                        <a:pt x="17" y="99"/>
                        <a:pt x="17" y="99"/>
                      </a:cubicBezTo>
                      <a:cubicBezTo>
                        <a:pt x="17" y="107"/>
                        <a:pt x="16" y="114"/>
                        <a:pt x="16" y="123"/>
                      </a:cubicBezTo>
                      <a:cubicBezTo>
                        <a:pt x="16" y="123"/>
                        <a:pt x="16" y="123"/>
                        <a:pt x="16" y="123"/>
                      </a:cubicBezTo>
                      <a:cubicBezTo>
                        <a:pt x="11" y="195"/>
                        <a:pt x="11" y="195"/>
                        <a:pt x="11" y="195"/>
                      </a:cubicBezTo>
                      <a:cubicBezTo>
                        <a:pt x="13" y="195"/>
                        <a:pt x="13" y="195"/>
                        <a:pt x="13" y="195"/>
                      </a:cubicBezTo>
                      <a:cubicBezTo>
                        <a:pt x="18" y="123"/>
                        <a:pt x="18" y="123"/>
                        <a:pt x="18" y="123"/>
                      </a:cubicBezTo>
                      <a:cubicBezTo>
                        <a:pt x="18" y="123"/>
                        <a:pt x="18" y="123"/>
                        <a:pt x="18" y="123"/>
                      </a:cubicBezTo>
                      <a:cubicBezTo>
                        <a:pt x="18" y="115"/>
                        <a:pt x="19" y="107"/>
                        <a:pt x="19" y="99"/>
                      </a:cubicBezTo>
                      <a:moveTo>
                        <a:pt x="38" y="0"/>
                      </a:moveTo>
                      <a:cubicBezTo>
                        <a:pt x="37" y="0"/>
                        <a:pt x="37" y="0"/>
                        <a:pt x="37" y="0"/>
                      </a:cubicBezTo>
                      <a:cubicBezTo>
                        <a:pt x="36" y="3"/>
                        <a:pt x="21" y="37"/>
                        <a:pt x="17" y="98"/>
                      </a:cubicBezTo>
                      <a:cubicBezTo>
                        <a:pt x="19" y="98"/>
                        <a:pt x="19" y="98"/>
                        <a:pt x="19" y="98"/>
                      </a:cubicBezTo>
                      <a:cubicBezTo>
                        <a:pt x="21" y="70"/>
                        <a:pt x="25" y="48"/>
                        <a:pt x="29" y="32"/>
                      </a:cubicBezTo>
                      <a:cubicBezTo>
                        <a:pt x="32" y="22"/>
                        <a:pt x="34" y="14"/>
                        <a:pt x="36" y="9"/>
                      </a:cubicBezTo>
                      <a:cubicBezTo>
                        <a:pt x="37" y="6"/>
                        <a:pt x="38" y="4"/>
                        <a:pt x="38" y="3"/>
                      </a:cubicBezTo>
                      <a:cubicBezTo>
                        <a:pt x="39" y="1"/>
                        <a:pt x="39" y="1"/>
                        <a:pt x="39" y="1"/>
                      </a:cubicBezTo>
                      <a:cubicBezTo>
                        <a:pt x="38" y="0"/>
                        <a:pt x="38" y="0"/>
                        <a:pt x="38"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6" name="Freeform 56"/>
                <p:cNvSpPr>
                  <a:spLocks/>
                </p:cNvSpPr>
                <p:nvPr/>
              </p:nvSpPr>
              <p:spPr bwMode="auto">
                <a:xfrm>
                  <a:off x="-1984" y="1754"/>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7" name="Freeform 57"/>
                <p:cNvSpPr>
                  <a:spLocks/>
                </p:cNvSpPr>
                <p:nvPr/>
              </p:nvSpPr>
              <p:spPr bwMode="auto">
                <a:xfrm>
                  <a:off x="-2027" y="2809"/>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8" name="Freeform 58"/>
                <p:cNvSpPr>
                  <a:spLocks/>
                </p:cNvSpPr>
                <p:nvPr/>
              </p:nvSpPr>
              <p:spPr bwMode="auto">
                <a:xfrm>
                  <a:off x="-2024" y="3276"/>
                  <a:ext cx="4" cy="2"/>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9" name="Freeform 59"/>
                <p:cNvSpPr>
                  <a:spLocks/>
                </p:cNvSpPr>
                <p:nvPr/>
              </p:nvSpPr>
              <p:spPr bwMode="auto">
                <a:xfrm>
                  <a:off x="-2027" y="3356"/>
                  <a:ext cx="7" cy="36"/>
                </a:xfrm>
                <a:custGeom>
                  <a:avLst/>
                  <a:gdLst/>
                  <a:ahLst/>
                  <a:cxnLst>
                    <a:cxn ang="0">
                      <a:pos x="7" y="0"/>
                    </a:cxn>
                    <a:cxn ang="0">
                      <a:pos x="3" y="0"/>
                    </a:cxn>
                    <a:cxn ang="0">
                      <a:pos x="0" y="36"/>
                    </a:cxn>
                    <a:cxn ang="0">
                      <a:pos x="5" y="36"/>
                    </a:cxn>
                    <a:cxn ang="0">
                      <a:pos x="7" y="0"/>
                    </a:cxn>
                    <a:cxn ang="0">
                      <a:pos x="7" y="0"/>
                    </a:cxn>
                  </a:cxnLst>
                  <a:rect l="0" t="0" r="r" b="b"/>
                  <a:pathLst>
                    <a:path w="7" h="36">
                      <a:moveTo>
                        <a:pt x="7" y="0"/>
                      </a:moveTo>
                      <a:lnTo>
                        <a:pt x="3" y="0"/>
                      </a:lnTo>
                      <a:lnTo>
                        <a:pt x="0" y="36"/>
                      </a:lnTo>
                      <a:lnTo>
                        <a:pt x="5" y="36"/>
                      </a:lnTo>
                      <a:lnTo>
                        <a:pt x="7" y="0"/>
                      </a:lnTo>
                      <a:lnTo>
                        <a:pt x="7"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0" name="Freeform 60"/>
                <p:cNvSpPr>
                  <a:spLocks/>
                </p:cNvSpPr>
                <p:nvPr/>
              </p:nvSpPr>
              <p:spPr bwMode="auto">
                <a:xfrm>
                  <a:off x="-2024" y="3354"/>
                  <a:ext cx="4" cy="2"/>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1" name="Freeform 61"/>
                <p:cNvSpPr>
                  <a:spLocks/>
                </p:cNvSpPr>
                <p:nvPr/>
              </p:nvSpPr>
              <p:spPr bwMode="auto">
                <a:xfrm>
                  <a:off x="-2027"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2" name="Freeform 62"/>
                <p:cNvSpPr>
                  <a:spLocks/>
                </p:cNvSpPr>
                <p:nvPr/>
              </p:nvSpPr>
              <p:spPr bwMode="auto">
                <a:xfrm>
                  <a:off x="-2020"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3" name="Freeform 63"/>
                <p:cNvSpPr>
                  <a:spLocks/>
                </p:cNvSpPr>
                <p:nvPr/>
              </p:nvSpPr>
              <p:spPr bwMode="auto">
                <a:xfrm>
                  <a:off x="-1840" y="1986"/>
                  <a:ext cx="12" cy="270"/>
                </a:xfrm>
                <a:custGeom>
                  <a:avLst/>
                  <a:gdLst/>
                  <a:ahLst/>
                  <a:cxnLst>
                    <a:cxn ang="0">
                      <a:pos x="2" y="0"/>
                    </a:cxn>
                    <a:cxn ang="0">
                      <a:pos x="0" y="0"/>
                    </a:cxn>
                    <a:cxn ang="0">
                      <a:pos x="0" y="4"/>
                    </a:cxn>
                    <a:cxn ang="0">
                      <a:pos x="3" y="114"/>
                    </a:cxn>
                    <a:cxn ang="0">
                      <a:pos x="5" y="114"/>
                    </a:cxn>
                    <a:cxn ang="0">
                      <a:pos x="5" y="101"/>
                    </a:cxn>
                    <a:cxn ang="0">
                      <a:pos x="4" y="101"/>
                    </a:cxn>
                    <a:cxn ang="0">
                      <a:pos x="4" y="100"/>
                    </a:cxn>
                    <a:cxn ang="0">
                      <a:pos x="5" y="100"/>
                    </a:cxn>
                    <a:cxn ang="0">
                      <a:pos x="2" y="4"/>
                    </a:cxn>
                    <a:cxn ang="0">
                      <a:pos x="2" y="0"/>
                    </a:cxn>
                  </a:cxnLst>
                  <a:rect l="0" t="0" r="r" b="b"/>
                  <a:pathLst>
                    <a:path w="5" h="114">
                      <a:moveTo>
                        <a:pt x="2" y="0"/>
                      </a:moveTo>
                      <a:cubicBezTo>
                        <a:pt x="0" y="0"/>
                        <a:pt x="0" y="0"/>
                        <a:pt x="0" y="0"/>
                      </a:cubicBezTo>
                      <a:cubicBezTo>
                        <a:pt x="0" y="1"/>
                        <a:pt x="0" y="3"/>
                        <a:pt x="0" y="4"/>
                      </a:cubicBezTo>
                      <a:cubicBezTo>
                        <a:pt x="2" y="25"/>
                        <a:pt x="2" y="67"/>
                        <a:pt x="3" y="114"/>
                      </a:cubicBezTo>
                      <a:cubicBezTo>
                        <a:pt x="5" y="114"/>
                        <a:pt x="5" y="114"/>
                        <a:pt x="5" y="114"/>
                      </a:cubicBezTo>
                      <a:cubicBezTo>
                        <a:pt x="5" y="109"/>
                        <a:pt x="5" y="105"/>
                        <a:pt x="5" y="101"/>
                      </a:cubicBezTo>
                      <a:cubicBezTo>
                        <a:pt x="4" y="101"/>
                        <a:pt x="4" y="101"/>
                        <a:pt x="4" y="101"/>
                      </a:cubicBezTo>
                      <a:cubicBezTo>
                        <a:pt x="4" y="100"/>
                        <a:pt x="4" y="100"/>
                        <a:pt x="4" y="100"/>
                      </a:cubicBezTo>
                      <a:cubicBezTo>
                        <a:pt x="5" y="100"/>
                        <a:pt x="5" y="100"/>
                        <a:pt x="5" y="100"/>
                      </a:cubicBezTo>
                      <a:cubicBezTo>
                        <a:pt x="4" y="59"/>
                        <a:pt x="4" y="23"/>
                        <a:pt x="2" y="4"/>
                      </a:cubicBezTo>
                      <a:cubicBezTo>
                        <a:pt x="2" y="3"/>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4" name="Freeform 64"/>
                <p:cNvSpPr>
                  <a:spLocks/>
                </p:cNvSpPr>
                <p:nvPr/>
              </p:nvSpPr>
              <p:spPr bwMode="auto">
                <a:xfrm>
                  <a:off x="-1830" y="2223"/>
                  <a:ext cx="2" cy="3"/>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5" name="Freeform 65"/>
                <p:cNvSpPr>
                  <a:spLocks noEditPoints="1"/>
                </p:cNvSpPr>
                <p:nvPr/>
              </p:nvSpPr>
              <p:spPr bwMode="auto">
                <a:xfrm>
                  <a:off x="-1911" y="2259"/>
                  <a:ext cx="83" cy="1017"/>
                </a:xfrm>
                <a:custGeom>
                  <a:avLst/>
                  <a:gdLst/>
                  <a:ahLst/>
                  <a:cxnLst>
                    <a:cxn ang="0">
                      <a:pos x="15" y="343"/>
                    </a:cxn>
                    <a:cxn ang="0">
                      <a:pos x="13" y="343"/>
                    </a:cxn>
                    <a:cxn ang="0">
                      <a:pos x="0" y="429"/>
                    </a:cxn>
                    <a:cxn ang="0">
                      <a:pos x="2" y="429"/>
                    </a:cxn>
                    <a:cxn ang="0">
                      <a:pos x="15" y="343"/>
                    </a:cxn>
                    <a:cxn ang="0">
                      <a:pos x="31" y="233"/>
                    </a:cxn>
                    <a:cxn ang="0">
                      <a:pos x="29" y="233"/>
                    </a:cxn>
                    <a:cxn ang="0">
                      <a:pos x="22" y="285"/>
                    </a:cxn>
                    <a:cxn ang="0">
                      <a:pos x="16" y="323"/>
                    </a:cxn>
                    <a:cxn ang="0">
                      <a:pos x="13" y="339"/>
                    </a:cxn>
                    <a:cxn ang="0">
                      <a:pos x="13" y="339"/>
                    </a:cxn>
                    <a:cxn ang="0">
                      <a:pos x="13" y="339"/>
                    </a:cxn>
                    <a:cxn ang="0">
                      <a:pos x="13" y="342"/>
                    </a:cxn>
                    <a:cxn ang="0">
                      <a:pos x="15" y="342"/>
                    </a:cxn>
                    <a:cxn ang="0">
                      <a:pos x="15" y="339"/>
                    </a:cxn>
                    <a:cxn ang="0">
                      <a:pos x="15" y="339"/>
                    </a:cxn>
                    <a:cxn ang="0">
                      <a:pos x="31" y="233"/>
                    </a:cxn>
                    <a:cxn ang="0">
                      <a:pos x="35" y="102"/>
                    </a:cxn>
                    <a:cxn ang="0">
                      <a:pos x="33" y="102"/>
                    </a:cxn>
                    <a:cxn ang="0">
                      <a:pos x="33" y="111"/>
                    </a:cxn>
                    <a:cxn ang="0">
                      <a:pos x="33" y="176"/>
                    </a:cxn>
                    <a:cxn ang="0">
                      <a:pos x="33" y="195"/>
                    </a:cxn>
                    <a:cxn ang="0">
                      <a:pos x="33" y="202"/>
                    </a:cxn>
                    <a:cxn ang="0">
                      <a:pos x="29" y="232"/>
                    </a:cxn>
                    <a:cxn ang="0">
                      <a:pos x="31" y="232"/>
                    </a:cxn>
                    <a:cxn ang="0">
                      <a:pos x="35" y="202"/>
                    </a:cxn>
                    <a:cxn ang="0">
                      <a:pos x="35" y="202"/>
                    </a:cxn>
                    <a:cxn ang="0">
                      <a:pos x="35" y="202"/>
                    </a:cxn>
                    <a:cxn ang="0">
                      <a:pos x="35" y="111"/>
                    </a:cxn>
                    <a:cxn ang="0">
                      <a:pos x="35" y="102"/>
                    </a:cxn>
                    <a:cxn ang="0">
                      <a:pos x="35" y="0"/>
                    </a:cxn>
                    <a:cxn ang="0">
                      <a:pos x="33" y="0"/>
                    </a:cxn>
                    <a:cxn ang="0">
                      <a:pos x="33" y="101"/>
                    </a:cxn>
                    <a:cxn ang="0">
                      <a:pos x="35" y="101"/>
                    </a:cxn>
                    <a:cxn ang="0">
                      <a:pos x="35" y="0"/>
                    </a:cxn>
                  </a:cxnLst>
                  <a:rect l="0" t="0" r="r" b="b"/>
                  <a:pathLst>
                    <a:path w="35" h="429">
                      <a:moveTo>
                        <a:pt x="15" y="343"/>
                      </a:moveTo>
                      <a:cubicBezTo>
                        <a:pt x="13" y="343"/>
                        <a:pt x="13" y="343"/>
                        <a:pt x="13" y="343"/>
                      </a:cubicBezTo>
                      <a:cubicBezTo>
                        <a:pt x="11" y="377"/>
                        <a:pt x="6" y="406"/>
                        <a:pt x="0" y="429"/>
                      </a:cubicBezTo>
                      <a:cubicBezTo>
                        <a:pt x="2" y="429"/>
                        <a:pt x="2" y="429"/>
                        <a:pt x="2" y="429"/>
                      </a:cubicBezTo>
                      <a:cubicBezTo>
                        <a:pt x="8" y="406"/>
                        <a:pt x="13" y="377"/>
                        <a:pt x="15" y="343"/>
                      </a:cubicBezTo>
                      <a:moveTo>
                        <a:pt x="31" y="233"/>
                      </a:moveTo>
                      <a:cubicBezTo>
                        <a:pt x="29" y="233"/>
                        <a:pt x="29" y="233"/>
                        <a:pt x="29" y="233"/>
                      </a:cubicBezTo>
                      <a:cubicBezTo>
                        <a:pt x="27" y="250"/>
                        <a:pt x="24" y="268"/>
                        <a:pt x="22" y="285"/>
                      </a:cubicBezTo>
                      <a:cubicBezTo>
                        <a:pt x="20" y="300"/>
                        <a:pt x="17" y="313"/>
                        <a:pt x="16" y="323"/>
                      </a:cubicBezTo>
                      <a:cubicBezTo>
                        <a:pt x="14" y="333"/>
                        <a:pt x="13" y="339"/>
                        <a:pt x="13" y="339"/>
                      </a:cubicBezTo>
                      <a:cubicBezTo>
                        <a:pt x="13" y="339"/>
                        <a:pt x="13" y="339"/>
                        <a:pt x="13" y="339"/>
                      </a:cubicBezTo>
                      <a:cubicBezTo>
                        <a:pt x="13" y="339"/>
                        <a:pt x="13" y="339"/>
                        <a:pt x="13" y="339"/>
                      </a:cubicBezTo>
                      <a:cubicBezTo>
                        <a:pt x="13" y="340"/>
                        <a:pt x="13" y="341"/>
                        <a:pt x="13" y="342"/>
                      </a:cubicBezTo>
                      <a:cubicBezTo>
                        <a:pt x="15" y="342"/>
                        <a:pt x="15" y="342"/>
                        <a:pt x="15" y="342"/>
                      </a:cubicBezTo>
                      <a:cubicBezTo>
                        <a:pt x="15" y="341"/>
                        <a:pt x="15" y="340"/>
                        <a:pt x="15" y="339"/>
                      </a:cubicBezTo>
                      <a:cubicBezTo>
                        <a:pt x="15" y="339"/>
                        <a:pt x="15" y="339"/>
                        <a:pt x="15" y="339"/>
                      </a:cubicBezTo>
                      <a:cubicBezTo>
                        <a:pt x="15" y="339"/>
                        <a:pt x="25" y="279"/>
                        <a:pt x="31" y="233"/>
                      </a:cubicBezTo>
                      <a:moveTo>
                        <a:pt x="35" y="102"/>
                      </a:moveTo>
                      <a:cubicBezTo>
                        <a:pt x="33" y="102"/>
                        <a:pt x="33" y="102"/>
                        <a:pt x="33" y="102"/>
                      </a:cubicBezTo>
                      <a:cubicBezTo>
                        <a:pt x="33" y="105"/>
                        <a:pt x="33" y="108"/>
                        <a:pt x="33" y="111"/>
                      </a:cubicBezTo>
                      <a:cubicBezTo>
                        <a:pt x="33" y="137"/>
                        <a:pt x="33" y="160"/>
                        <a:pt x="33" y="176"/>
                      </a:cubicBezTo>
                      <a:cubicBezTo>
                        <a:pt x="33" y="184"/>
                        <a:pt x="33" y="190"/>
                        <a:pt x="33" y="195"/>
                      </a:cubicBezTo>
                      <a:cubicBezTo>
                        <a:pt x="33" y="199"/>
                        <a:pt x="33" y="201"/>
                        <a:pt x="33" y="202"/>
                      </a:cubicBezTo>
                      <a:cubicBezTo>
                        <a:pt x="32" y="210"/>
                        <a:pt x="31" y="220"/>
                        <a:pt x="29" y="232"/>
                      </a:cubicBezTo>
                      <a:cubicBezTo>
                        <a:pt x="31" y="232"/>
                        <a:pt x="31" y="232"/>
                        <a:pt x="31" y="232"/>
                      </a:cubicBezTo>
                      <a:cubicBezTo>
                        <a:pt x="33" y="220"/>
                        <a:pt x="34" y="210"/>
                        <a:pt x="35" y="202"/>
                      </a:cubicBezTo>
                      <a:cubicBezTo>
                        <a:pt x="35" y="202"/>
                        <a:pt x="35" y="202"/>
                        <a:pt x="35" y="202"/>
                      </a:cubicBezTo>
                      <a:cubicBezTo>
                        <a:pt x="35" y="202"/>
                        <a:pt x="35" y="202"/>
                        <a:pt x="35" y="202"/>
                      </a:cubicBezTo>
                      <a:cubicBezTo>
                        <a:pt x="35" y="202"/>
                        <a:pt x="35" y="163"/>
                        <a:pt x="35" y="111"/>
                      </a:cubicBezTo>
                      <a:cubicBezTo>
                        <a:pt x="35" y="108"/>
                        <a:pt x="35" y="105"/>
                        <a:pt x="35" y="102"/>
                      </a:cubicBezTo>
                      <a:moveTo>
                        <a:pt x="35" y="0"/>
                      </a:moveTo>
                      <a:cubicBezTo>
                        <a:pt x="33" y="0"/>
                        <a:pt x="33" y="0"/>
                        <a:pt x="33" y="0"/>
                      </a:cubicBezTo>
                      <a:cubicBezTo>
                        <a:pt x="33" y="33"/>
                        <a:pt x="33" y="69"/>
                        <a:pt x="33" y="101"/>
                      </a:cubicBezTo>
                      <a:cubicBezTo>
                        <a:pt x="35" y="101"/>
                        <a:pt x="35" y="101"/>
                        <a:pt x="35" y="101"/>
                      </a:cubicBezTo>
                      <a:cubicBezTo>
                        <a:pt x="35" y="69"/>
                        <a:pt x="35" y="33"/>
                        <a:pt x="3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6" name="Freeform 66"/>
                <p:cNvSpPr>
                  <a:spLocks/>
                </p:cNvSpPr>
                <p:nvPr/>
              </p:nvSpPr>
              <p:spPr bwMode="auto">
                <a:xfrm>
                  <a:off x="-1880" y="3069"/>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7" name="Freeform 67"/>
                <p:cNvSpPr>
                  <a:spLocks noEditPoints="1"/>
                </p:cNvSpPr>
                <p:nvPr/>
              </p:nvSpPr>
              <p:spPr bwMode="auto">
                <a:xfrm>
                  <a:off x="-1935" y="1522"/>
                  <a:ext cx="100" cy="1832"/>
                </a:xfrm>
                <a:custGeom>
                  <a:avLst/>
                  <a:gdLst/>
                  <a:ahLst/>
                  <a:cxnLst>
                    <a:cxn ang="0">
                      <a:pos x="12" y="741"/>
                    </a:cxn>
                    <a:cxn ang="0">
                      <a:pos x="10" y="741"/>
                    </a:cxn>
                    <a:cxn ang="0">
                      <a:pos x="8" y="750"/>
                    </a:cxn>
                    <a:cxn ang="0">
                      <a:pos x="0" y="773"/>
                    </a:cxn>
                    <a:cxn ang="0">
                      <a:pos x="3" y="773"/>
                    </a:cxn>
                    <a:cxn ang="0">
                      <a:pos x="12" y="741"/>
                    </a:cxn>
                    <a:cxn ang="0">
                      <a:pos x="34" y="99"/>
                    </a:cxn>
                    <a:cxn ang="0">
                      <a:pos x="32" y="99"/>
                    </a:cxn>
                    <a:cxn ang="0">
                      <a:pos x="33" y="106"/>
                    </a:cxn>
                    <a:cxn ang="0">
                      <a:pos x="40" y="195"/>
                    </a:cxn>
                    <a:cxn ang="0">
                      <a:pos x="42" y="195"/>
                    </a:cxn>
                    <a:cxn ang="0">
                      <a:pos x="34" y="99"/>
                    </a:cxn>
                    <a:cxn ang="0">
                      <a:pos x="30" y="68"/>
                    </a:cxn>
                    <a:cxn ang="0">
                      <a:pos x="28" y="68"/>
                    </a:cxn>
                    <a:cxn ang="0">
                      <a:pos x="32" y="98"/>
                    </a:cxn>
                    <a:cxn ang="0">
                      <a:pos x="34" y="98"/>
                    </a:cxn>
                    <a:cxn ang="0">
                      <a:pos x="30" y="68"/>
                    </a:cxn>
                    <a:cxn ang="0">
                      <a:pos x="15" y="0"/>
                    </a:cxn>
                    <a:cxn ang="0">
                      <a:pos x="15" y="0"/>
                    </a:cxn>
                    <a:cxn ang="0">
                      <a:pos x="13" y="1"/>
                    </a:cxn>
                    <a:cxn ang="0">
                      <a:pos x="14" y="2"/>
                    </a:cxn>
                    <a:cxn ang="0">
                      <a:pos x="28" y="67"/>
                    </a:cxn>
                    <a:cxn ang="0">
                      <a:pos x="30" y="67"/>
                    </a:cxn>
                    <a:cxn ang="0">
                      <a:pos x="15" y="0"/>
                    </a:cxn>
                  </a:cxnLst>
                  <a:rect l="0" t="0" r="r" b="b"/>
                  <a:pathLst>
                    <a:path w="42" h="773">
                      <a:moveTo>
                        <a:pt x="12" y="741"/>
                      </a:moveTo>
                      <a:cubicBezTo>
                        <a:pt x="10" y="741"/>
                        <a:pt x="10" y="741"/>
                        <a:pt x="10" y="741"/>
                      </a:cubicBezTo>
                      <a:cubicBezTo>
                        <a:pt x="9" y="744"/>
                        <a:pt x="8" y="747"/>
                        <a:pt x="8" y="750"/>
                      </a:cubicBezTo>
                      <a:cubicBezTo>
                        <a:pt x="5" y="759"/>
                        <a:pt x="3" y="767"/>
                        <a:pt x="0" y="773"/>
                      </a:cubicBezTo>
                      <a:cubicBezTo>
                        <a:pt x="3" y="773"/>
                        <a:pt x="3" y="773"/>
                        <a:pt x="3" y="773"/>
                      </a:cubicBezTo>
                      <a:cubicBezTo>
                        <a:pt x="5" y="765"/>
                        <a:pt x="9" y="754"/>
                        <a:pt x="12" y="741"/>
                      </a:cubicBezTo>
                      <a:moveTo>
                        <a:pt x="34" y="99"/>
                      </a:moveTo>
                      <a:cubicBezTo>
                        <a:pt x="32" y="99"/>
                        <a:pt x="32" y="99"/>
                        <a:pt x="32" y="99"/>
                      </a:cubicBezTo>
                      <a:cubicBezTo>
                        <a:pt x="32" y="100"/>
                        <a:pt x="33" y="102"/>
                        <a:pt x="33" y="106"/>
                      </a:cubicBezTo>
                      <a:cubicBezTo>
                        <a:pt x="34" y="120"/>
                        <a:pt x="37" y="152"/>
                        <a:pt x="40" y="195"/>
                      </a:cubicBezTo>
                      <a:cubicBezTo>
                        <a:pt x="42" y="195"/>
                        <a:pt x="42" y="195"/>
                        <a:pt x="42" y="195"/>
                      </a:cubicBezTo>
                      <a:cubicBezTo>
                        <a:pt x="39" y="142"/>
                        <a:pt x="35" y="105"/>
                        <a:pt x="34" y="99"/>
                      </a:cubicBezTo>
                      <a:moveTo>
                        <a:pt x="30" y="68"/>
                      </a:moveTo>
                      <a:cubicBezTo>
                        <a:pt x="28" y="68"/>
                        <a:pt x="28" y="68"/>
                        <a:pt x="28" y="68"/>
                      </a:cubicBezTo>
                      <a:cubicBezTo>
                        <a:pt x="30" y="77"/>
                        <a:pt x="31" y="87"/>
                        <a:pt x="32" y="98"/>
                      </a:cubicBezTo>
                      <a:cubicBezTo>
                        <a:pt x="34" y="98"/>
                        <a:pt x="34" y="98"/>
                        <a:pt x="34" y="98"/>
                      </a:cubicBezTo>
                      <a:cubicBezTo>
                        <a:pt x="33" y="87"/>
                        <a:pt x="32" y="77"/>
                        <a:pt x="30" y="68"/>
                      </a:cubicBezTo>
                      <a:moveTo>
                        <a:pt x="15" y="0"/>
                      </a:moveTo>
                      <a:cubicBezTo>
                        <a:pt x="15" y="0"/>
                        <a:pt x="15" y="0"/>
                        <a:pt x="15" y="0"/>
                      </a:cubicBezTo>
                      <a:cubicBezTo>
                        <a:pt x="13" y="1"/>
                        <a:pt x="13" y="1"/>
                        <a:pt x="13" y="1"/>
                      </a:cubicBezTo>
                      <a:cubicBezTo>
                        <a:pt x="13" y="1"/>
                        <a:pt x="13" y="1"/>
                        <a:pt x="14" y="2"/>
                      </a:cubicBezTo>
                      <a:cubicBezTo>
                        <a:pt x="16" y="8"/>
                        <a:pt x="23" y="31"/>
                        <a:pt x="28" y="67"/>
                      </a:cubicBezTo>
                      <a:cubicBezTo>
                        <a:pt x="30" y="67"/>
                        <a:pt x="30" y="67"/>
                        <a:pt x="30" y="67"/>
                      </a:cubicBezTo>
                      <a:cubicBezTo>
                        <a:pt x="24" y="26"/>
                        <a:pt x="16" y="3"/>
                        <a:pt x="1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8" name="Freeform 68"/>
                <p:cNvSpPr>
                  <a:spLocks/>
                </p:cNvSpPr>
                <p:nvPr/>
              </p:nvSpPr>
              <p:spPr bwMode="auto">
                <a:xfrm>
                  <a:off x="-1859" y="1754"/>
                  <a:ext cx="5" cy="2"/>
                </a:xfrm>
                <a:custGeom>
                  <a:avLst/>
                  <a:gdLst/>
                  <a:ahLst/>
                  <a:cxnLst>
                    <a:cxn ang="0">
                      <a:pos x="2" y="0"/>
                    </a:cxn>
                    <a:cxn ang="0">
                      <a:pos x="2" y="0"/>
                    </a:cxn>
                    <a:cxn ang="0">
                      <a:pos x="1" y="0"/>
                    </a:cxn>
                    <a:cxn ang="0">
                      <a:pos x="2" y="0"/>
                    </a:cxn>
                    <a:cxn ang="0">
                      <a:pos x="0" y="0"/>
                    </a:cxn>
                    <a:cxn ang="0">
                      <a:pos x="0" y="0"/>
                    </a:cxn>
                    <a:cxn ang="0">
                      <a:pos x="0" y="1"/>
                    </a:cxn>
                    <a:cxn ang="0">
                      <a:pos x="2" y="1"/>
                    </a:cxn>
                    <a:cxn ang="0">
                      <a:pos x="2" y="0"/>
                    </a:cxn>
                  </a:cxnLst>
                  <a:rect l="0" t="0" r="r" b="b"/>
                  <a:pathLst>
                    <a:path w="2" h="1">
                      <a:moveTo>
                        <a:pt x="2" y="0"/>
                      </a:moveTo>
                      <a:cubicBezTo>
                        <a:pt x="2" y="0"/>
                        <a:pt x="2" y="0"/>
                        <a:pt x="2" y="0"/>
                      </a:cubicBezTo>
                      <a:cubicBezTo>
                        <a:pt x="1" y="0"/>
                        <a:pt x="1" y="0"/>
                        <a:pt x="1" y="0"/>
                      </a:cubicBezTo>
                      <a:cubicBezTo>
                        <a:pt x="2" y="0"/>
                        <a:pt x="2" y="0"/>
                        <a:pt x="2" y="0"/>
                      </a:cubicBezTo>
                      <a:cubicBezTo>
                        <a:pt x="0" y="0"/>
                        <a:pt x="0" y="0"/>
                        <a:pt x="0" y="0"/>
                      </a:cubicBez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9" name="Freeform 69"/>
                <p:cNvSpPr>
                  <a:spLocks/>
                </p:cNvSpPr>
                <p:nvPr/>
              </p:nvSpPr>
              <p:spPr bwMode="auto">
                <a:xfrm>
                  <a:off x="-1868" y="1681"/>
                  <a:ext cx="4"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1"/>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0" name="Freeform 70"/>
                <p:cNvSpPr>
                  <a:spLocks/>
                </p:cNvSpPr>
                <p:nvPr/>
              </p:nvSpPr>
              <p:spPr bwMode="auto">
                <a:xfrm>
                  <a:off x="-1842" y="2809"/>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1" name="Freeform 71"/>
                <p:cNvSpPr>
                  <a:spLocks/>
                </p:cNvSpPr>
                <p:nvPr/>
              </p:nvSpPr>
              <p:spPr bwMode="auto">
                <a:xfrm>
                  <a:off x="-1911" y="3276"/>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2" name="Freeform 72"/>
                <p:cNvSpPr>
                  <a:spLocks/>
                </p:cNvSpPr>
                <p:nvPr/>
              </p:nvSpPr>
              <p:spPr bwMode="auto">
                <a:xfrm>
                  <a:off x="-1946" y="3354"/>
                  <a:ext cx="16" cy="38"/>
                </a:xfrm>
                <a:custGeom>
                  <a:avLst/>
                  <a:gdLst/>
                  <a:ahLst/>
                  <a:cxnLst>
                    <a:cxn ang="0">
                      <a:pos x="5" y="0"/>
                    </a:cxn>
                    <a:cxn ang="0">
                      <a:pos x="4" y="5"/>
                    </a:cxn>
                    <a:cxn ang="0">
                      <a:pos x="1" y="12"/>
                    </a:cxn>
                    <a:cxn ang="0">
                      <a:pos x="0" y="15"/>
                    </a:cxn>
                    <a:cxn ang="0">
                      <a:pos x="2" y="16"/>
                    </a:cxn>
                    <a:cxn ang="0">
                      <a:pos x="7" y="1"/>
                    </a:cxn>
                    <a:cxn ang="0">
                      <a:pos x="5" y="1"/>
                    </a:cxn>
                    <a:cxn ang="0">
                      <a:pos x="5" y="0"/>
                    </a:cxn>
                  </a:cxnLst>
                  <a:rect l="0" t="0" r="r" b="b"/>
                  <a:pathLst>
                    <a:path w="7" h="16">
                      <a:moveTo>
                        <a:pt x="5" y="0"/>
                      </a:moveTo>
                      <a:cubicBezTo>
                        <a:pt x="5" y="2"/>
                        <a:pt x="4" y="4"/>
                        <a:pt x="4" y="5"/>
                      </a:cubicBezTo>
                      <a:cubicBezTo>
                        <a:pt x="3" y="8"/>
                        <a:pt x="2" y="11"/>
                        <a:pt x="1" y="12"/>
                      </a:cubicBezTo>
                      <a:cubicBezTo>
                        <a:pt x="0" y="14"/>
                        <a:pt x="0" y="15"/>
                        <a:pt x="0" y="15"/>
                      </a:cubicBezTo>
                      <a:cubicBezTo>
                        <a:pt x="2" y="16"/>
                        <a:pt x="2" y="16"/>
                        <a:pt x="2" y="16"/>
                      </a:cubicBezTo>
                      <a:cubicBezTo>
                        <a:pt x="2" y="16"/>
                        <a:pt x="4" y="11"/>
                        <a:pt x="7" y="1"/>
                      </a:cubicBezTo>
                      <a:cubicBezTo>
                        <a:pt x="5" y="1"/>
                        <a:pt x="5" y="1"/>
                        <a:pt x="5" y="1"/>
                      </a:cubicBezTo>
                      <a:cubicBezTo>
                        <a:pt x="5" y="0"/>
                        <a:pt x="5" y="0"/>
                        <a:pt x="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3" name="Freeform 73"/>
                <p:cNvSpPr>
                  <a:spLocks/>
                </p:cNvSpPr>
                <p:nvPr/>
              </p:nvSpPr>
              <p:spPr bwMode="auto">
                <a:xfrm>
                  <a:off x="-1935" y="3354"/>
                  <a:ext cx="8" cy="2"/>
                </a:xfrm>
                <a:custGeom>
                  <a:avLst/>
                  <a:gdLst/>
                  <a:ahLst/>
                  <a:cxnLst>
                    <a:cxn ang="0">
                      <a:pos x="3" y="0"/>
                    </a:cxn>
                    <a:cxn ang="0">
                      <a:pos x="0" y="0"/>
                    </a:cxn>
                    <a:cxn ang="0">
                      <a:pos x="0" y="0"/>
                    </a:cxn>
                    <a:cxn ang="0">
                      <a:pos x="0" y="1"/>
                    </a:cxn>
                    <a:cxn ang="0">
                      <a:pos x="2" y="1"/>
                    </a:cxn>
                    <a:cxn ang="0">
                      <a:pos x="3" y="0"/>
                    </a:cxn>
                  </a:cxnLst>
                  <a:rect l="0" t="0" r="r" b="b"/>
                  <a:pathLst>
                    <a:path w="3" h="1">
                      <a:moveTo>
                        <a:pt x="3" y="0"/>
                      </a:moveTo>
                      <a:cubicBezTo>
                        <a:pt x="0" y="0"/>
                        <a:pt x="0" y="0"/>
                        <a:pt x="0" y="0"/>
                      </a:cubicBezTo>
                      <a:cubicBezTo>
                        <a:pt x="0" y="0"/>
                        <a:pt x="0" y="0"/>
                        <a:pt x="0" y="0"/>
                      </a:cubicBezTo>
                      <a:cubicBezTo>
                        <a:pt x="0" y="1"/>
                        <a:pt x="0" y="1"/>
                        <a:pt x="0" y="1"/>
                      </a:cubicBezTo>
                      <a:cubicBezTo>
                        <a:pt x="2" y="1"/>
                        <a:pt x="2" y="1"/>
                        <a:pt x="2" y="1"/>
                      </a:cubicBezTo>
                      <a:cubicBezTo>
                        <a:pt x="2" y="1"/>
                        <a:pt x="2" y="1"/>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4" name="Freeform 74"/>
                <p:cNvSpPr>
                  <a:spLocks/>
                </p:cNvSpPr>
                <p:nvPr/>
              </p:nvSpPr>
              <p:spPr bwMode="auto">
                <a:xfrm>
                  <a:off x="-1833"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5" name="Freeform 75"/>
                <p:cNvSpPr>
                  <a:spLocks/>
                </p:cNvSpPr>
                <p:nvPr/>
              </p:nvSpPr>
              <p:spPr bwMode="auto">
                <a:xfrm>
                  <a:off x="-1833"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6" name="Freeform 76"/>
                <p:cNvSpPr>
                  <a:spLocks noEditPoints="1"/>
                </p:cNvSpPr>
                <p:nvPr/>
              </p:nvSpPr>
              <p:spPr bwMode="auto">
                <a:xfrm>
                  <a:off x="-1665" y="1683"/>
                  <a:ext cx="237" cy="865"/>
                </a:xfrm>
                <a:custGeom>
                  <a:avLst/>
                  <a:gdLst/>
                  <a:ahLst/>
                  <a:cxnLst>
                    <a:cxn ang="0">
                      <a:pos x="100" y="345"/>
                    </a:cxn>
                    <a:cxn ang="0">
                      <a:pos x="99" y="345"/>
                    </a:cxn>
                    <a:cxn ang="0">
                      <a:pos x="99" y="365"/>
                    </a:cxn>
                    <a:cxn ang="0">
                      <a:pos x="99" y="365"/>
                    </a:cxn>
                    <a:cxn ang="0">
                      <a:pos x="100" y="365"/>
                    </a:cxn>
                    <a:cxn ang="0">
                      <a:pos x="100" y="365"/>
                    </a:cxn>
                    <a:cxn ang="0">
                      <a:pos x="100" y="345"/>
                    </a:cxn>
                    <a:cxn ang="0">
                      <a:pos x="88" y="243"/>
                    </a:cxn>
                    <a:cxn ang="0">
                      <a:pos x="87" y="243"/>
                    </a:cxn>
                    <a:cxn ang="0">
                      <a:pos x="99" y="344"/>
                    </a:cxn>
                    <a:cxn ang="0">
                      <a:pos x="100" y="344"/>
                    </a:cxn>
                    <a:cxn ang="0">
                      <a:pos x="88" y="243"/>
                    </a:cxn>
                    <a:cxn ang="0">
                      <a:pos x="66" y="128"/>
                    </a:cxn>
                    <a:cxn ang="0">
                      <a:pos x="65" y="128"/>
                    </a:cxn>
                    <a:cxn ang="0">
                      <a:pos x="66" y="131"/>
                    </a:cxn>
                    <a:cxn ang="0">
                      <a:pos x="66" y="131"/>
                    </a:cxn>
                    <a:cxn ang="0">
                      <a:pos x="68" y="138"/>
                    </a:cxn>
                    <a:cxn ang="0">
                      <a:pos x="87" y="242"/>
                    </a:cxn>
                    <a:cxn ang="0">
                      <a:pos x="88" y="242"/>
                    </a:cxn>
                    <a:cxn ang="0">
                      <a:pos x="67" y="131"/>
                    </a:cxn>
                    <a:cxn ang="0">
                      <a:pos x="67" y="131"/>
                    </a:cxn>
                    <a:cxn ang="0">
                      <a:pos x="67" y="131"/>
                    </a:cxn>
                    <a:cxn ang="0">
                      <a:pos x="66" y="128"/>
                    </a:cxn>
                    <a:cxn ang="0">
                      <a:pos x="1" y="0"/>
                    </a:cxn>
                    <a:cxn ang="0">
                      <a:pos x="0" y="0"/>
                    </a:cxn>
                    <a:cxn ang="0">
                      <a:pos x="21" y="30"/>
                    </a:cxn>
                    <a:cxn ang="0">
                      <a:pos x="22" y="30"/>
                    </a:cxn>
                    <a:cxn ang="0">
                      <a:pos x="1" y="0"/>
                    </a:cxn>
                  </a:cxnLst>
                  <a:rect l="0" t="0" r="r" b="b"/>
                  <a:pathLst>
                    <a:path w="100" h="365">
                      <a:moveTo>
                        <a:pt x="100" y="345"/>
                      </a:moveTo>
                      <a:cubicBezTo>
                        <a:pt x="99" y="345"/>
                        <a:pt x="99" y="345"/>
                        <a:pt x="99" y="345"/>
                      </a:cubicBezTo>
                      <a:cubicBezTo>
                        <a:pt x="99" y="352"/>
                        <a:pt x="99" y="358"/>
                        <a:pt x="99" y="365"/>
                      </a:cubicBezTo>
                      <a:cubicBezTo>
                        <a:pt x="99" y="365"/>
                        <a:pt x="99" y="365"/>
                        <a:pt x="99" y="365"/>
                      </a:cubicBezTo>
                      <a:cubicBezTo>
                        <a:pt x="100" y="365"/>
                        <a:pt x="100" y="365"/>
                        <a:pt x="100" y="365"/>
                      </a:cubicBezTo>
                      <a:cubicBezTo>
                        <a:pt x="100" y="365"/>
                        <a:pt x="100" y="365"/>
                        <a:pt x="100" y="365"/>
                      </a:cubicBezTo>
                      <a:cubicBezTo>
                        <a:pt x="100" y="358"/>
                        <a:pt x="100" y="352"/>
                        <a:pt x="100" y="345"/>
                      </a:cubicBezTo>
                      <a:moveTo>
                        <a:pt x="88" y="243"/>
                      </a:moveTo>
                      <a:cubicBezTo>
                        <a:pt x="87" y="243"/>
                        <a:pt x="87" y="243"/>
                        <a:pt x="87" y="243"/>
                      </a:cubicBezTo>
                      <a:cubicBezTo>
                        <a:pt x="92" y="277"/>
                        <a:pt x="97" y="314"/>
                        <a:pt x="99" y="344"/>
                      </a:cubicBezTo>
                      <a:cubicBezTo>
                        <a:pt x="100" y="344"/>
                        <a:pt x="100" y="344"/>
                        <a:pt x="100" y="344"/>
                      </a:cubicBezTo>
                      <a:cubicBezTo>
                        <a:pt x="98" y="314"/>
                        <a:pt x="93" y="277"/>
                        <a:pt x="88" y="243"/>
                      </a:cubicBezTo>
                      <a:moveTo>
                        <a:pt x="66" y="128"/>
                      </a:moveTo>
                      <a:cubicBezTo>
                        <a:pt x="65" y="128"/>
                        <a:pt x="65" y="128"/>
                        <a:pt x="65" y="128"/>
                      </a:cubicBezTo>
                      <a:cubicBezTo>
                        <a:pt x="66" y="129"/>
                        <a:pt x="66" y="130"/>
                        <a:pt x="66" y="131"/>
                      </a:cubicBezTo>
                      <a:cubicBezTo>
                        <a:pt x="66" y="131"/>
                        <a:pt x="66" y="131"/>
                        <a:pt x="66" y="131"/>
                      </a:cubicBezTo>
                      <a:cubicBezTo>
                        <a:pt x="67" y="132"/>
                        <a:pt x="67" y="134"/>
                        <a:pt x="68" y="138"/>
                      </a:cubicBezTo>
                      <a:cubicBezTo>
                        <a:pt x="71" y="154"/>
                        <a:pt x="79" y="195"/>
                        <a:pt x="87" y="242"/>
                      </a:cubicBezTo>
                      <a:cubicBezTo>
                        <a:pt x="88" y="242"/>
                        <a:pt x="88" y="242"/>
                        <a:pt x="88" y="242"/>
                      </a:cubicBezTo>
                      <a:cubicBezTo>
                        <a:pt x="78" y="183"/>
                        <a:pt x="67" y="131"/>
                        <a:pt x="67" y="131"/>
                      </a:cubicBezTo>
                      <a:cubicBezTo>
                        <a:pt x="67" y="131"/>
                        <a:pt x="67" y="131"/>
                        <a:pt x="67" y="131"/>
                      </a:cubicBezTo>
                      <a:cubicBezTo>
                        <a:pt x="67" y="131"/>
                        <a:pt x="67" y="131"/>
                        <a:pt x="67" y="131"/>
                      </a:cubicBezTo>
                      <a:cubicBezTo>
                        <a:pt x="67" y="130"/>
                        <a:pt x="67" y="129"/>
                        <a:pt x="66" y="128"/>
                      </a:cubicBezTo>
                      <a:moveTo>
                        <a:pt x="1" y="0"/>
                      </a:moveTo>
                      <a:cubicBezTo>
                        <a:pt x="0" y="0"/>
                        <a:pt x="0" y="0"/>
                        <a:pt x="0" y="0"/>
                      </a:cubicBezTo>
                      <a:cubicBezTo>
                        <a:pt x="7" y="9"/>
                        <a:pt x="14" y="19"/>
                        <a:pt x="21" y="30"/>
                      </a:cubicBezTo>
                      <a:cubicBezTo>
                        <a:pt x="22" y="30"/>
                        <a:pt x="22" y="30"/>
                        <a:pt x="22" y="30"/>
                      </a:cubicBezTo>
                      <a:cubicBezTo>
                        <a:pt x="15" y="19"/>
                        <a:pt x="8" y="9"/>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7" name="Freeform 77"/>
                <p:cNvSpPr>
                  <a:spLocks/>
                </p:cNvSpPr>
                <p:nvPr/>
              </p:nvSpPr>
              <p:spPr bwMode="auto">
                <a:xfrm>
                  <a:off x="-1615" y="1754"/>
                  <a:ext cx="5" cy="2"/>
                </a:xfrm>
                <a:custGeom>
                  <a:avLst/>
                  <a:gdLst/>
                  <a:ahLst/>
                  <a:cxnLst>
                    <a:cxn ang="0">
                      <a:pos x="1" y="0"/>
                    </a:cxn>
                    <a:cxn ang="0">
                      <a:pos x="0" y="0"/>
                    </a:cxn>
                    <a:cxn ang="0">
                      <a:pos x="1" y="1"/>
                    </a:cxn>
                    <a:cxn ang="0">
                      <a:pos x="2" y="1"/>
                    </a:cxn>
                    <a:cxn ang="0">
                      <a:pos x="1" y="0"/>
                    </a:cxn>
                  </a:cxnLst>
                  <a:rect l="0" t="0" r="r" b="b"/>
                  <a:pathLst>
                    <a:path w="2" h="1">
                      <a:moveTo>
                        <a:pt x="1" y="0"/>
                      </a:moveTo>
                      <a:cubicBezTo>
                        <a:pt x="0" y="0"/>
                        <a:pt x="0" y="0"/>
                        <a:pt x="0" y="0"/>
                      </a:cubicBezTo>
                      <a:cubicBezTo>
                        <a:pt x="0" y="0"/>
                        <a:pt x="0" y="1"/>
                        <a:pt x="1" y="1"/>
                      </a:cubicBezTo>
                      <a:cubicBezTo>
                        <a:pt x="2" y="1"/>
                        <a:pt x="2" y="1"/>
                        <a:pt x="2"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8" name="Freeform 78"/>
                <p:cNvSpPr>
                  <a:spLocks/>
                </p:cNvSpPr>
                <p:nvPr/>
              </p:nvSpPr>
              <p:spPr bwMode="auto">
                <a:xfrm>
                  <a:off x="-1667" y="1681"/>
                  <a:ext cx="5" cy="2"/>
                </a:xfrm>
                <a:custGeom>
                  <a:avLst/>
                  <a:gdLst/>
                  <a:ahLst/>
                  <a:cxnLst>
                    <a:cxn ang="0">
                      <a:pos x="2" y="0"/>
                    </a:cxn>
                    <a:cxn ang="0">
                      <a:pos x="0" y="0"/>
                    </a:cxn>
                    <a:cxn ang="0">
                      <a:pos x="1" y="1"/>
                    </a:cxn>
                    <a:cxn ang="0">
                      <a:pos x="2" y="1"/>
                    </a:cxn>
                    <a:cxn ang="0">
                      <a:pos x="2" y="0"/>
                    </a:cxn>
                  </a:cxnLst>
                  <a:rect l="0" t="0" r="r" b="b"/>
                  <a:pathLst>
                    <a:path w="2" h="1">
                      <a:moveTo>
                        <a:pt x="2" y="0"/>
                      </a:moveTo>
                      <a:cubicBezTo>
                        <a:pt x="0" y="0"/>
                        <a:pt x="0" y="0"/>
                        <a:pt x="0" y="0"/>
                      </a:cubicBezTo>
                      <a:cubicBezTo>
                        <a:pt x="1" y="1"/>
                        <a:pt x="1" y="1"/>
                        <a:pt x="1" y="1"/>
                      </a:cubicBezTo>
                      <a:cubicBezTo>
                        <a:pt x="2" y="1"/>
                        <a:pt x="2" y="1"/>
                        <a:pt x="2" y="1"/>
                      </a:cubicBezTo>
                      <a:cubicBezTo>
                        <a:pt x="2" y="1"/>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9" name="Freeform 79"/>
                <p:cNvSpPr>
                  <a:spLocks/>
                </p:cNvSpPr>
                <p:nvPr/>
              </p:nvSpPr>
              <p:spPr bwMode="auto">
                <a:xfrm>
                  <a:off x="-1430" y="2498"/>
                  <a:ext cx="2" cy="3"/>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0" name="Freeform 80"/>
                <p:cNvSpPr>
                  <a:spLocks/>
                </p:cNvSpPr>
                <p:nvPr/>
              </p:nvSpPr>
              <p:spPr bwMode="auto">
                <a:xfrm>
                  <a:off x="-1459" y="2256"/>
                  <a:ext cx="3" cy="3"/>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0"/>
                        <a:pt x="0" y="0"/>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1" name="Freeform 81"/>
                <p:cNvSpPr>
                  <a:spLocks/>
                </p:cNvSpPr>
                <p:nvPr/>
              </p:nvSpPr>
              <p:spPr bwMode="auto">
                <a:xfrm>
                  <a:off x="-1376" y="1986"/>
                  <a:ext cx="99" cy="270"/>
                </a:xfrm>
                <a:custGeom>
                  <a:avLst/>
                  <a:gdLst/>
                  <a:ahLst/>
                  <a:cxnLst>
                    <a:cxn ang="0">
                      <a:pos x="2" y="0"/>
                    </a:cxn>
                    <a:cxn ang="0">
                      <a:pos x="0" y="0"/>
                    </a:cxn>
                    <a:cxn ang="0">
                      <a:pos x="1" y="1"/>
                    </a:cxn>
                    <a:cxn ang="0">
                      <a:pos x="32" y="84"/>
                    </a:cxn>
                    <a:cxn ang="0">
                      <a:pos x="39" y="109"/>
                    </a:cxn>
                    <a:cxn ang="0">
                      <a:pos x="40" y="114"/>
                    </a:cxn>
                    <a:cxn ang="0">
                      <a:pos x="42" y="114"/>
                    </a:cxn>
                    <a:cxn ang="0">
                      <a:pos x="39" y="101"/>
                    </a:cxn>
                    <a:cxn ang="0">
                      <a:pos x="37" y="101"/>
                    </a:cxn>
                    <a:cxn ang="0">
                      <a:pos x="37" y="100"/>
                    </a:cxn>
                    <a:cxn ang="0">
                      <a:pos x="39" y="100"/>
                    </a:cxn>
                    <a:cxn ang="0">
                      <a:pos x="2" y="0"/>
                    </a:cxn>
                  </a:cxnLst>
                  <a:rect l="0" t="0" r="r" b="b"/>
                  <a:pathLst>
                    <a:path w="42" h="114">
                      <a:moveTo>
                        <a:pt x="2" y="0"/>
                      </a:moveTo>
                      <a:cubicBezTo>
                        <a:pt x="0" y="0"/>
                        <a:pt x="0" y="0"/>
                        <a:pt x="0" y="0"/>
                      </a:cubicBezTo>
                      <a:cubicBezTo>
                        <a:pt x="0" y="0"/>
                        <a:pt x="0" y="1"/>
                        <a:pt x="1" y="1"/>
                      </a:cubicBezTo>
                      <a:cubicBezTo>
                        <a:pt x="16" y="34"/>
                        <a:pt x="26" y="63"/>
                        <a:pt x="32" y="84"/>
                      </a:cubicBezTo>
                      <a:cubicBezTo>
                        <a:pt x="36" y="94"/>
                        <a:pt x="38" y="103"/>
                        <a:pt x="39" y="109"/>
                      </a:cubicBezTo>
                      <a:cubicBezTo>
                        <a:pt x="40" y="111"/>
                        <a:pt x="40" y="112"/>
                        <a:pt x="40" y="114"/>
                      </a:cubicBezTo>
                      <a:cubicBezTo>
                        <a:pt x="42" y="114"/>
                        <a:pt x="42" y="114"/>
                        <a:pt x="42" y="114"/>
                      </a:cubicBezTo>
                      <a:cubicBezTo>
                        <a:pt x="42" y="111"/>
                        <a:pt x="41" y="106"/>
                        <a:pt x="39" y="101"/>
                      </a:cubicBezTo>
                      <a:cubicBezTo>
                        <a:pt x="37" y="101"/>
                        <a:pt x="37" y="101"/>
                        <a:pt x="37" y="101"/>
                      </a:cubicBezTo>
                      <a:cubicBezTo>
                        <a:pt x="37" y="100"/>
                        <a:pt x="37" y="100"/>
                        <a:pt x="37" y="100"/>
                      </a:cubicBezTo>
                      <a:cubicBezTo>
                        <a:pt x="39" y="100"/>
                        <a:pt x="39" y="100"/>
                        <a:pt x="39" y="100"/>
                      </a:cubicBezTo>
                      <a:cubicBezTo>
                        <a:pt x="34" y="79"/>
                        <a:pt x="22" y="42"/>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2" name="Freeform 82"/>
                <p:cNvSpPr>
                  <a:spLocks/>
                </p:cNvSpPr>
                <p:nvPr/>
              </p:nvSpPr>
              <p:spPr bwMode="auto">
                <a:xfrm>
                  <a:off x="-1288" y="2223"/>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3" name="Freeform 83"/>
                <p:cNvSpPr>
                  <a:spLocks noEditPoints="1"/>
                </p:cNvSpPr>
                <p:nvPr/>
              </p:nvSpPr>
              <p:spPr bwMode="auto">
                <a:xfrm>
                  <a:off x="-1281" y="2259"/>
                  <a:ext cx="232" cy="1017"/>
                </a:xfrm>
                <a:custGeom>
                  <a:avLst/>
                  <a:gdLst/>
                  <a:ahLst/>
                  <a:cxnLst>
                    <a:cxn ang="0">
                      <a:pos x="70" y="343"/>
                    </a:cxn>
                    <a:cxn ang="0">
                      <a:pos x="68" y="343"/>
                    </a:cxn>
                    <a:cxn ang="0">
                      <a:pos x="95" y="429"/>
                    </a:cxn>
                    <a:cxn ang="0">
                      <a:pos x="98" y="429"/>
                    </a:cxn>
                    <a:cxn ang="0">
                      <a:pos x="70" y="343"/>
                    </a:cxn>
                    <a:cxn ang="0">
                      <a:pos x="39" y="255"/>
                    </a:cxn>
                    <a:cxn ang="0">
                      <a:pos x="36" y="255"/>
                    </a:cxn>
                    <a:cxn ang="0">
                      <a:pos x="68" y="342"/>
                    </a:cxn>
                    <a:cxn ang="0">
                      <a:pos x="70" y="342"/>
                    </a:cxn>
                    <a:cxn ang="0">
                      <a:pos x="70" y="342"/>
                    </a:cxn>
                    <a:cxn ang="0">
                      <a:pos x="70" y="342"/>
                    </a:cxn>
                    <a:cxn ang="0">
                      <a:pos x="70" y="342"/>
                    </a:cxn>
                    <a:cxn ang="0">
                      <a:pos x="68" y="337"/>
                    </a:cxn>
                    <a:cxn ang="0">
                      <a:pos x="39" y="255"/>
                    </a:cxn>
                    <a:cxn ang="0">
                      <a:pos x="32" y="233"/>
                    </a:cxn>
                    <a:cxn ang="0">
                      <a:pos x="30" y="233"/>
                    </a:cxn>
                    <a:cxn ang="0">
                      <a:pos x="36" y="254"/>
                    </a:cxn>
                    <a:cxn ang="0">
                      <a:pos x="38" y="254"/>
                    </a:cxn>
                    <a:cxn ang="0">
                      <a:pos x="32" y="233"/>
                    </a:cxn>
                    <a:cxn ang="0">
                      <a:pos x="17" y="102"/>
                    </a:cxn>
                    <a:cxn ang="0">
                      <a:pos x="15" y="102"/>
                    </a:cxn>
                    <a:cxn ang="0">
                      <a:pos x="17" y="117"/>
                    </a:cxn>
                    <a:cxn ang="0">
                      <a:pos x="16" y="137"/>
                    </a:cxn>
                    <a:cxn ang="0">
                      <a:pos x="30" y="232"/>
                    </a:cxn>
                    <a:cxn ang="0">
                      <a:pos x="32" y="232"/>
                    </a:cxn>
                    <a:cxn ang="0">
                      <a:pos x="18" y="137"/>
                    </a:cxn>
                    <a:cxn ang="0">
                      <a:pos x="19" y="117"/>
                    </a:cxn>
                    <a:cxn ang="0">
                      <a:pos x="19" y="117"/>
                    </a:cxn>
                    <a:cxn ang="0">
                      <a:pos x="17" y="102"/>
                    </a:cxn>
                    <a:cxn ang="0">
                      <a:pos x="2" y="0"/>
                    </a:cxn>
                    <a:cxn ang="0">
                      <a:pos x="0" y="0"/>
                    </a:cxn>
                    <a:cxn ang="0">
                      <a:pos x="1" y="1"/>
                    </a:cxn>
                    <a:cxn ang="0">
                      <a:pos x="1" y="3"/>
                    </a:cxn>
                    <a:cxn ang="0">
                      <a:pos x="1" y="3"/>
                    </a:cxn>
                    <a:cxn ang="0">
                      <a:pos x="15" y="101"/>
                    </a:cxn>
                    <a:cxn ang="0">
                      <a:pos x="17" y="101"/>
                    </a:cxn>
                    <a:cxn ang="0">
                      <a:pos x="3" y="3"/>
                    </a:cxn>
                    <a:cxn ang="0">
                      <a:pos x="2" y="0"/>
                    </a:cxn>
                  </a:cxnLst>
                  <a:rect l="0" t="0" r="r" b="b"/>
                  <a:pathLst>
                    <a:path w="98" h="429">
                      <a:moveTo>
                        <a:pt x="70" y="343"/>
                      </a:moveTo>
                      <a:cubicBezTo>
                        <a:pt x="68" y="343"/>
                        <a:pt x="68" y="343"/>
                        <a:pt x="68" y="343"/>
                      </a:cubicBezTo>
                      <a:cubicBezTo>
                        <a:pt x="73" y="375"/>
                        <a:pt x="85" y="405"/>
                        <a:pt x="95" y="429"/>
                      </a:cubicBezTo>
                      <a:cubicBezTo>
                        <a:pt x="98" y="429"/>
                        <a:pt x="98" y="429"/>
                        <a:pt x="98" y="429"/>
                      </a:cubicBezTo>
                      <a:cubicBezTo>
                        <a:pt x="87" y="405"/>
                        <a:pt x="75" y="375"/>
                        <a:pt x="70" y="343"/>
                      </a:cubicBezTo>
                      <a:moveTo>
                        <a:pt x="39" y="255"/>
                      </a:moveTo>
                      <a:cubicBezTo>
                        <a:pt x="36" y="255"/>
                        <a:pt x="36" y="255"/>
                        <a:pt x="36" y="255"/>
                      </a:cubicBezTo>
                      <a:cubicBezTo>
                        <a:pt x="50" y="301"/>
                        <a:pt x="66" y="337"/>
                        <a:pt x="68" y="342"/>
                      </a:cubicBezTo>
                      <a:cubicBezTo>
                        <a:pt x="70" y="342"/>
                        <a:pt x="70" y="342"/>
                        <a:pt x="70" y="342"/>
                      </a:cubicBezTo>
                      <a:cubicBezTo>
                        <a:pt x="70" y="342"/>
                        <a:pt x="70" y="342"/>
                        <a:pt x="70" y="342"/>
                      </a:cubicBezTo>
                      <a:cubicBezTo>
                        <a:pt x="70" y="342"/>
                        <a:pt x="70" y="342"/>
                        <a:pt x="70" y="342"/>
                      </a:cubicBezTo>
                      <a:cubicBezTo>
                        <a:pt x="70" y="342"/>
                        <a:pt x="70" y="342"/>
                        <a:pt x="70" y="342"/>
                      </a:cubicBezTo>
                      <a:cubicBezTo>
                        <a:pt x="70" y="342"/>
                        <a:pt x="69" y="340"/>
                        <a:pt x="68" y="337"/>
                      </a:cubicBezTo>
                      <a:cubicBezTo>
                        <a:pt x="63" y="325"/>
                        <a:pt x="50" y="293"/>
                        <a:pt x="39" y="255"/>
                      </a:cubicBezTo>
                      <a:moveTo>
                        <a:pt x="32" y="233"/>
                      </a:moveTo>
                      <a:cubicBezTo>
                        <a:pt x="30" y="233"/>
                        <a:pt x="30" y="233"/>
                        <a:pt x="30" y="233"/>
                      </a:cubicBezTo>
                      <a:cubicBezTo>
                        <a:pt x="32" y="240"/>
                        <a:pt x="34" y="247"/>
                        <a:pt x="36" y="254"/>
                      </a:cubicBezTo>
                      <a:cubicBezTo>
                        <a:pt x="38" y="254"/>
                        <a:pt x="38" y="254"/>
                        <a:pt x="38" y="254"/>
                      </a:cubicBezTo>
                      <a:cubicBezTo>
                        <a:pt x="36" y="247"/>
                        <a:pt x="34" y="240"/>
                        <a:pt x="32" y="233"/>
                      </a:cubicBezTo>
                      <a:moveTo>
                        <a:pt x="17" y="102"/>
                      </a:moveTo>
                      <a:cubicBezTo>
                        <a:pt x="15" y="102"/>
                        <a:pt x="15" y="102"/>
                        <a:pt x="15" y="102"/>
                      </a:cubicBezTo>
                      <a:cubicBezTo>
                        <a:pt x="17" y="117"/>
                        <a:pt x="17" y="117"/>
                        <a:pt x="17" y="117"/>
                      </a:cubicBezTo>
                      <a:cubicBezTo>
                        <a:pt x="16" y="123"/>
                        <a:pt x="16" y="130"/>
                        <a:pt x="16" y="137"/>
                      </a:cubicBezTo>
                      <a:cubicBezTo>
                        <a:pt x="16" y="167"/>
                        <a:pt x="22" y="201"/>
                        <a:pt x="30" y="232"/>
                      </a:cubicBezTo>
                      <a:cubicBezTo>
                        <a:pt x="32" y="232"/>
                        <a:pt x="32" y="232"/>
                        <a:pt x="32" y="232"/>
                      </a:cubicBezTo>
                      <a:cubicBezTo>
                        <a:pt x="24" y="201"/>
                        <a:pt x="18" y="167"/>
                        <a:pt x="18" y="137"/>
                      </a:cubicBezTo>
                      <a:cubicBezTo>
                        <a:pt x="18" y="130"/>
                        <a:pt x="18" y="123"/>
                        <a:pt x="19" y="117"/>
                      </a:cubicBezTo>
                      <a:cubicBezTo>
                        <a:pt x="19" y="117"/>
                        <a:pt x="19" y="117"/>
                        <a:pt x="19" y="117"/>
                      </a:cubicBezTo>
                      <a:cubicBezTo>
                        <a:pt x="17" y="102"/>
                        <a:pt x="17" y="102"/>
                        <a:pt x="17" y="102"/>
                      </a:cubicBezTo>
                      <a:moveTo>
                        <a:pt x="2" y="0"/>
                      </a:moveTo>
                      <a:cubicBezTo>
                        <a:pt x="0" y="0"/>
                        <a:pt x="0" y="0"/>
                        <a:pt x="0" y="0"/>
                      </a:cubicBezTo>
                      <a:cubicBezTo>
                        <a:pt x="0" y="0"/>
                        <a:pt x="1" y="0"/>
                        <a:pt x="1" y="1"/>
                      </a:cubicBezTo>
                      <a:cubicBezTo>
                        <a:pt x="1" y="2"/>
                        <a:pt x="1" y="3"/>
                        <a:pt x="1" y="3"/>
                      </a:cubicBezTo>
                      <a:cubicBezTo>
                        <a:pt x="1" y="3"/>
                        <a:pt x="1" y="3"/>
                        <a:pt x="1" y="3"/>
                      </a:cubicBezTo>
                      <a:cubicBezTo>
                        <a:pt x="15" y="101"/>
                        <a:pt x="15" y="101"/>
                        <a:pt x="15" y="101"/>
                      </a:cubicBezTo>
                      <a:cubicBezTo>
                        <a:pt x="17" y="101"/>
                        <a:pt x="17" y="101"/>
                        <a:pt x="17" y="101"/>
                      </a:cubicBezTo>
                      <a:cubicBezTo>
                        <a:pt x="3" y="3"/>
                        <a:pt x="3" y="3"/>
                        <a:pt x="3" y="3"/>
                      </a:cubicBezTo>
                      <a:cubicBezTo>
                        <a:pt x="3" y="3"/>
                        <a:pt x="3"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4" name="Freeform 84"/>
                <p:cNvSpPr>
                  <a:spLocks/>
                </p:cNvSpPr>
                <p:nvPr/>
              </p:nvSpPr>
              <p:spPr bwMode="auto">
                <a:xfrm>
                  <a:off x="-1120" y="3069"/>
                  <a:ext cx="4" cy="3"/>
                </a:xfrm>
                <a:custGeom>
                  <a:avLst/>
                  <a:gdLst/>
                  <a:ahLst/>
                  <a:cxnLst>
                    <a:cxn ang="0">
                      <a:pos x="2" y="0"/>
                    </a:cxn>
                    <a:cxn ang="0">
                      <a:pos x="0"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5" name="Freeform 85"/>
                <p:cNvSpPr>
                  <a:spLocks/>
                </p:cNvSpPr>
                <p:nvPr/>
              </p:nvSpPr>
              <p:spPr bwMode="auto">
                <a:xfrm>
                  <a:off x="-1196" y="2861"/>
                  <a:ext cx="7" cy="2"/>
                </a:xfrm>
                <a:custGeom>
                  <a:avLst/>
                  <a:gdLst/>
                  <a:ahLst/>
                  <a:cxnLst>
                    <a:cxn ang="0">
                      <a:pos x="2" y="0"/>
                    </a:cxn>
                    <a:cxn ang="0">
                      <a:pos x="0" y="0"/>
                    </a:cxn>
                    <a:cxn ang="0">
                      <a:pos x="0" y="1"/>
                    </a:cxn>
                    <a:cxn ang="0">
                      <a:pos x="3" y="1"/>
                    </a:cxn>
                    <a:cxn ang="0">
                      <a:pos x="2" y="0"/>
                    </a:cxn>
                  </a:cxnLst>
                  <a:rect l="0" t="0" r="r" b="b"/>
                  <a:pathLst>
                    <a:path w="3" h="1">
                      <a:moveTo>
                        <a:pt x="2" y="0"/>
                      </a:moveTo>
                      <a:cubicBezTo>
                        <a:pt x="0" y="0"/>
                        <a:pt x="0" y="0"/>
                        <a:pt x="0" y="0"/>
                      </a:cubicBezTo>
                      <a:cubicBezTo>
                        <a:pt x="0" y="1"/>
                        <a:pt x="0" y="1"/>
                        <a:pt x="0" y="1"/>
                      </a:cubicBezTo>
                      <a:cubicBezTo>
                        <a:pt x="3" y="1"/>
                        <a:pt x="3" y="1"/>
                        <a:pt x="3" y="1"/>
                      </a:cubicBezTo>
                      <a:cubicBezTo>
                        <a:pt x="2" y="1"/>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6" name="Freeform 86"/>
                <p:cNvSpPr>
                  <a:spLocks noEditPoints="1"/>
                </p:cNvSpPr>
                <p:nvPr/>
              </p:nvSpPr>
              <p:spPr bwMode="auto">
                <a:xfrm>
                  <a:off x="-1774" y="1524"/>
                  <a:ext cx="765" cy="1830"/>
                </a:xfrm>
                <a:custGeom>
                  <a:avLst/>
                  <a:gdLst/>
                  <a:ahLst/>
                  <a:cxnLst>
                    <a:cxn ang="0">
                      <a:pos x="306" y="740"/>
                    </a:cxn>
                    <a:cxn ang="0">
                      <a:pos x="304" y="740"/>
                    </a:cxn>
                    <a:cxn ang="0">
                      <a:pos x="321" y="772"/>
                    </a:cxn>
                    <a:cxn ang="0">
                      <a:pos x="323" y="772"/>
                    </a:cxn>
                    <a:cxn ang="0">
                      <a:pos x="306" y="740"/>
                    </a:cxn>
                    <a:cxn ang="0">
                      <a:pos x="111" y="98"/>
                    </a:cxn>
                    <a:cxn ang="0">
                      <a:pos x="108" y="98"/>
                    </a:cxn>
                    <a:cxn ang="0">
                      <a:pos x="167" y="194"/>
                    </a:cxn>
                    <a:cxn ang="0">
                      <a:pos x="170" y="194"/>
                    </a:cxn>
                    <a:cxn ang="0">
                      <a:pos x="111" y="98"/>
                    </a:cxn>
                    <a:cxn ang="0">
                      <a:pos x="1" y="0"/>
                    </a:cxn>
                    <a:cxn ang="0">
                      <a:pos x="0" y="1"/>
                    </a:cxn>
                    <a:cxn ang="0">
                      <a:pos x="107" y="97"/>
                    </a:cxn>
                    <a:cxn ang="0">
                      <a:pos x="110" y="97"/>
                    </a:cxn>
                    <a:cxn ang="0">
                      <a:pos x="84" y="67"/>
                    </a:cxn>
                    <a:cxn ang="0">
                      <a:pos x="84" y="67"/>
                    </a:cxn>
                    <a:cxn ang="0">
                      <a:pos x="84" y="67"/>
                    </a:cxn>
                    <a:cxn ang="0">
                      <a:pos x="1" y="0"/>
                    </a:cxn>
                  </a:cxnLst>
                  <a:rect l="0" t="0" r="r" b="b"/>
                  <a:pathLst>
                    <a:path w="323" h="772">
                      <a:moveTo>
                        <a:pt x="306" y="740"/>
                      </a:moveTo>
                      <a:cubicBezTo>
                        <a:pt x="304" y="740"/>
                        <a:pt x="304" y="740"/>
                        <a:pt x="304" y="740"/>
                      </a:cubicBezTo>
                      <a:cubicBezTo>
                        <a:pt x="310" y="753"/>
                        <a:pt x="316" y="765"/>
                        <a:pt x="321" y="772"/>
                      </a:cubicBezTo>
                      <a:cubicBezTo>
                        <a:pt x="323" y="772"/>
                        <a:pt x="323" y="772"/>
                        <a:pt x="323" y="772"/>
                      </a:cubicBezTo>
                      <a:cubicBezTo>
                        <a:pt x="319" y="765"/>
                        <a:pt x="312" y="754"/>
                        <a:pt x="306" y="740"/>
                      </a:cubicBezTo>
                      <a:moveTo>
                        <a:pt x="111" y="98"/>
                      </a:moveTo>
                      <a:cubicBezTo>
                        <a:pt x="108" y="98"/>
                        <a:pt x="108" y="98"/>
                        <a:pt x="108" y="98"/>
                      </a:cubicBezTo>
                      <a:cubicBezTo>
                        <a:pt x="133" y="130"/>
                        <a:pt x="153" y="163"/>
                        <a:pt x="167" y="194"/>
                      </a:cubicBezTo>
                      <a:cubicBezTo>
                        <a:pt x="170" y="194"/>
                        <a:pt x="170" y="194"/>
                        <a:pt x="170" y="194"/>
                      </a:cubicBezTo>
                      <a:cubicBezTo>
                        <a:pt x="155" y="163"/>
                        <a:pt x="136" y="130"/>
                        <a:pt x="111" y="98"/>
                      </a:cubicBezTo>
                      <a:moveTo>
                        <a:pt x="1" y="0"/>
                      </a:moveTo>
                      <a:cubicBezTo>
                        <a:pt x="0" y="1"/>
                        <a:pt x="0" y="1"/>
                        <a:pt x="0" y="1"/>
                      </a:cubicBezTo>
                      <a:cubicBezTo>
                        <a:pt x="44" y="28"/>
                        <a:pt x="79" y="62"/>
                        <a:pt x="107" y="97"/>
                      </a:cubicBezTo>
                      <a:cubicBezTo>
                        <a:pt x="110" y="97"/>
                        <a:pt x="110" y="97"/>
                        <a:pt x="110" y="97"/>
                      </a:cubicBezTo>
                      <a:cubicBezTo>
                        <a:pt x="102" y="87"/>
                        <a:pt x="93" y="77"/>
                        <a:pt x="84" y="67"/>
                      </a:cubicBezTo>
                      <a:cubicBezTo>
                        <a:pt x="84" y="67"/>
                        <a:pt x="84" y="67"/>
                        <a:pt x="84" y="67"/>
                      </a:cubicBezTo>
                      <a:cubicBezTo>
                        <a:pt x="84" y="67"/>
                        <a:pt x="84" y="67"/>
                        <a:pt x="84" y="67"/>
                      </a:cubicBezTo>
                      <a:cubicBezTo>
                        <a:pt x="61" y="42"/>
                        <a:pt x="33" y="19"/>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7" name="Freeform 87"/>
                <p:cNvSpPr>
                  <a:spLocks/>
                </p:cNvSpPr>
                <p:nvPr/>
              </p:nvSpPr>
              <p:spPr bwMode="auto">
                <a:xfrm>
                  <a:off x="-1520" y="1754"/>
                  <a:ext cx="9" cy="2"/>
                </a:xfrm>
                <a:custGeom>
                  <a:avLst/>
                  <a:gdLst/>
                  <a:ahLst/>
                  <a:cxnLst>
                    <a:cxn ang="0">
                      <a:pos x="3" y="0"/>
                    </a:cxn>
                    <a:cxn ang="0">
                      <a:pos x="0" y="0"/>
                    </a:cxn>
                    <a:cxn ang="0">
                      <a:pos x="1" y="1"/>
                    </a:cxn>
                    <a:cxn ang="0">
                      <a:pos x="4" y="1"/>
                    </a:cxn>
                    <a:cxn ang="0">
                      <a:pos x="3" y="0"/>
                    </a:cxn>
                  </a:cxnLst>
                  <a:rect l="0" t="0" r="r" b="b"/>
                  <a:pathLst>
                    <a:path w="4" h="1">
                      <a:moveTo>
                        <a:pt x="3" y="0"/>
                      </a:moveTo>
                      <a:cubicBezTo>
                        <a:pt x="0" y="0"/>
                        <a:pt x="0" y="0"/>
                        <a:pt x="0" y="0"/>
                      </a:cubicBezTo>
                      <a:cubicBezTo>
                        <a:pt x="1" y="0"/>
                        <a:pt x="1" y="1"/>
                        <a:pt x="1" y="1"/>
                      </a:cubicBezTo>
                      <a:cubicBezTo>
                        <a:pt x="4" y="1"/>
                        <a:pt x="4" y="1"/>
                        <a:pt x="4" y="1"/>
                      </a:cubicBezTo>
                      <a:cubicBezTo>
                        <a:pt x="3" y="1"/>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8" name="Rectangle 88"/>
                <p:cNvSpPr>
                  <a:spLocks noChangeArrowheads="1"/>
                </p:cNvSpPr>
                <p:nvPr/>
              </p:nvSpPr>
              <p:spPr bwMode="auto">
                <a:xfrm>
                  <a:off x="-1575" y="1683"/>
                  <a:ext cx="1" cy="1"/>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219" name="Freeform 89"/>
                <p:cNvSpPr>
                  <a:spLocks/>
                </p:cNvSpPr>
                <p:nvPr/>
              </p:nvSpPr>
              <p:spPr bwMode="auto">
                <a:xfrm>
                  <a:off x="-1575" y="1683"/>
                  <a:ext cx="1" cy="1"/>
                </a:xfrm>
                <a:custGeom>
                  <a:avLst/>
                  <a:gdLst/>
                  <a:ahLst/>
                  <a:cxnLst>
                    <a:cxn ang="0">
                      <a:pos x="0" y="0"/>
                    </a:cxn>
                    <a:cxn ang="0">
                      <a:pos x="0" y="0"/>
                    </a:cxn>
                    <a:cxn ang="0">
                      <a:pos x="0" y="0"/>
                    </a:cxn>
                    <a:cxn ang="0">
                      <a:pos x="0" y="0"/>
                    </a:cxn>
                  </a:cxnLst>
                  <a:rect l="0" t="0" r="r" b="b"/>
                  <a:pathLst>
                    <a:path>
                      <a:moveTo>
                        <a:pt x="0" y="0"/>
                      </a:moveTo>
                      <a:lnTo>
                        <a:pt x="0" y="0"/>
                      </a:lnTo>
                      <a:lnTo>
                        <a:pt x="0" y="0"/>
                      </a:lnTo>
                      <a:lnTo>
                        <a:pt x="0" y="0"/>
                      </a:lnTo>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0" name="Freeform 90"/>
                <p:cNvSpPr>
                  <a:spLocks/>
                </p:cNvSpPr>
                <p:nvPr/>
              </p:nvSpPr>
              <p:spPr bwMode="auto">
                <a:xfrm>
                  <a:off x="-1210" y="2809"/>
                  <a:ext cx="4"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1" name="Freeform 91"/>
                <p:cNvSpPr>
                  <a:spLocks/>
                </p:cNvSpPr>
                <p:nvPr/>
              </p:nvSpPr>
              <p:spPr bwMode="auto">
                <a:xfrm>
                  <a:off x="-1056" y="3276"/>
                  <a:ext cx="7" cy="2"/>
                </a:xfrm>
                <a:custGeom>
                  <a:avLst/>
                  <a:gdLst/>
                  <a:ahLst/>
                  <a:cxnLst>
                    <a:cxn ang="0">
                      <a:pos x="3" y="0"/>
                    </a:cxn>
                    <a:cxn ang="0">
                      <a:pos x="0" y="0"/>
                    </a:cxn>
                    <a:cxn ang="0">
                      <a:pos x="1" y="1"/>
                    </a:cxn>
                    <a:cxn ang="0">
                      <a:pos x="3" y="1"/>
                    </a:cxn>
                    <a:cxn ang="0">
                      <a:pos x="3" y="0"/>
                    </a:cxn>
                  </a:cxnLst>
                  <a:rect l="0" t="0" r="r" b="b"/>
                  <a:pathLst>
                    <a:path w="3" h="1">
                      <a:moveTo>
                        <a:pt x="3" y="0"/>
                      </a:moveTo>
                      <a:cubicBezTo>
                        <a:pt x="0" y="0"/>
                        <a:pt x="0" y="0"/>
                        <a:pt x="0" y="0"/>
                      </a:cubicBezTo>
                      <a:cubicBezTo>
                        <a:pt x="1" y="0"/>
                        <a:pt x="1" y="1"/>
                        <a:pt x="1"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2" name="Freeform 92"/>
                <p:cNvSpPr>
                  <a:spLocks/>
                </p:cNvSpPr>
                <p:nvPr/>
              </p:nvSpPr>
              <p:spPr bwMode="auto">
                <a:xfrm>
                  <a:off x="-1014" y="3356"/>
                  <a:ext cx="21" cy="31"/>
                </a:xfrm>
                <a:custGeom>
                  <a:avLst/>
                  <a:gdLst/>
                  <a:ahLst/>
                  <a:cxnLst>
                    <a:cxn ang="0">
                      <a:pos x="3" y="0"/>
                    </a:cxn>
                    <a:cxn ang="0">
                      <a:pos x="0" y="0"/>
                    </a:cxn>
                    <a:cxn ang="0">
                      <a:pos x="8" y="13"/>
                    </a:cxn>
                    <a:cxn ang="0">
                      <a:pos x="9" y="12"/>
                    </a:cxn>
                    <a:cxn ang="0">
                      <a:pos x="8" y="9"/>
                    </a:cxn>
                    <a:cxn ang="0">
                      <a:pos x="3" y="0"/>
                    </a:cxn>
                  </a:cxnLst>
                  <a:rect l="0" t="0" r="r" b="b"/>
                  <a:pathLst>
                    <a:path w="9" h="13">
                      <a:moveTo>
                        <a:pt x="3" y="0"/>
                      </a:moveTo>
                      <a:cubicBezTo>
                        <a:pt x="0" y="0"/>
                        <a:pt x="0" y="0"/>
                        <a:pt x="0" y="0"/>
                      </a:cubicBezTo>
                      <a:cubicBezTo>
                        <a:pt x="5" y="8"/>
                        <a:pt x="8" y="13"/>
                        <a:pt x="8" y="13"/>
                      </a:cubicBezTo>
                      <a:cubicBezTo>
                        <a:pt x="9" y="12"/>
                        <a:pt x="9" y="12"/>
                        <a:pt x="9" y="12"/>
                      </a:cubicBezTo>
                      <a:cubicBezTo>
                        <a:pt x="9" y="12"/>
                        <a:pt x="9" y="11"/>
                        <a:pt x="8" y="9"/>
                      </a:cubicBezTo>
                      <a:cubicBezTo>
                        <a:pt x="6" y="7"/>
                        <a:pt x="5" y="4"/>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3" name="Freeform 93"/>
                <p:cNvSpPr>
                  <a:spLocks/>
                </p:cNvSpPr>
                <p:nvPr/>
              </p:nvSpPr>
              <p:spPr bwMode="auto">
                <a:xfrm>
                  <a:off x="-1014" y="3354"/>
                  <a:ext cx="7" cy="2"/>
                </a:xfrm>
                <a:custGeom>
                  <a:avLst/>
                  <a:gdLst/>
                  <a:ahLst/>
                  <a:cxnLst>
                    <a:cxn ang="0">
                      <a:pos x="2" y="0"/>
                    </a:cxn>
                    <a:cxn ang="0">
                      <a:pos x="0" y="0"/>
                    </a:cxn>
                    <a:cxn ang="0">
                      <a:pos x="0" y="1"/>
                    </a:cxn>
                    <a:cxn ang="0">
                      <a:pos x="3" y="1"/>
                    </a:cxn>
                    <a:cxn ang="0">
                      <a:pos x="2" y="0"/>
                    </a:cxn>
                  </a:cxnLst>
                  <a:rect l="0" t="0" r="r" b="b"/>
                  <a:pathLst>
                    <a:path w="3" h="1">
                      <a:moveTo>
                        <a:pt x="2" y="0"/>
                      </a:moveTo>
                      <a:cubicBezTo>
                        <a:pt x="0" y="0"/>
                        <a:pt x="0" y="0"/>
                        <a:pt x="0" y="0"/>
                      </a:cubicBezTo>
                      <a:cubicBezTo>
                        <a:pt x="0" y="1"/>
                        <a:pt x="0" y="1"/>
                        <a:pt x="0" y="1"/>
                      </a:cubicBezTo>
                      <a:cubicBezTo>
                        <a:pt x="3" y="1"/>
                        <a:pt x="3" y="1"/>
                        <a:pt x="3" y="1"/>
                      </a:cubicBezTo>
                      <a:cubicBezTo>
                        <a:pt x="2" y="1"/>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4" name="Freeform 94"/>
                <p:cNvSpPr>
                  <a:spLocks/>
                </p:cNvSpPr>
                <p:nvPr/>
              </p:nvSpPr>
              <p:spPr bwMode="auto">
                <a:xfrm>
                  <a:off x="-1246" y="2498"/>
                  <a:ext cx="5" cy="3"/>
                </a:xfrm>
                <a:custGeom>
                  <a:avLst/>
                  <a:gdLst/>
                  <a:ahLst/>
                  <a:cxnLst>
                    <a:cxn ang="0">
                      <a:pos x="5" y="0"/>
                    </a:cxn>
                    <a:cxn ang="0">
                      <a:pos x="0" y="0"/>
                    </a:cxn>
                    <a:cxn ang="0">
                      <a:pos x="0" y="3"/>
                    </a:cxn>
                    <a:cxn ang="0">
                      <a:pos x="5" y="3"/>
                    </a:cxn>
                    <a:cxn ang="0">
                      <a:pos x="5" y="0"/>
                    </a:cxn>
                    <a:cxn ang="0">
                      <a:pos x="5" y="0"/>
                    </a:cxn>
                  </a:cxnLst>
                  <a:rect l="0" t="0" r="r" b="b"/>
                  <a:pathLst>
                    <a:path w="5" h="3">
                      <a:moveTo>
                        <a:pt x="5" y="0"/>
                      </a:moveTo>
                      <a:lnTo>
                        <a:pt x="0" y="0"/>
                      </a:lnTo>
                      <a:lnTo>
                        <a:pt x="0" y="3"/>
                      </a:lnTo>
                      <a:lnTo>
                        <a:pt x="5" y="3"/>
                      </a:lnTo>
                      <a:lnTo>
                        <a:pt x="5" y="0"/>
                      </a:lnTo>
                      <a:lnTo>
                        <a:pt x="5"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5" name="Freeform 95"/>
                <p:cNvSpPr>
                  <a:spLocks/>
                </p:cNvSpPr>
                <p:nvPr/>
              </p:nvSpPr>
              <p:spPr bwMode="auto">
                <a:xfrm>
                  <a:off x="-1281" y="2256"/>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6" name="Freeform 96"/>
                <p:cNvSpPr>
                  <a:spLocks noEditPoints="1"/>
                </p:cNvSpPr>
                <p:nvPr/>
              </p:nvSpPr>
              <p:spPr bwMode="auto">
                <a:xfrm>
                  <a:off x="-1636" y="1524"/>
                  <a:ext cx="819" cy="458"/>
                </a:xfrm>
                <a:custGeom>
                  <a:avLst/>
                  <a:gdLst/>
                  <a:ahLst/>
                  <a:cxnLst>
                    <a:cxn ang="0">
                      <a:pos x="243" y="98"/>
                    </a:cxn>
                    <a:cxn ang="0">
                      <a:pos x="241" y="98"/>
                    </a:cxn>
                    <a:cxn ang="0">
                      <a:pos x="345" y="193"/>
                    </a:cxn>
                    <a:cxn ang="0">
                      <a:pos x="346" y="193"/>
                    </a:cxn>
                    <a:cxn ang="0">
                      <a:pos x="243" y="98"/>
                    </a:cxn>
                    <a:cxn ang="0">
                      <a:pos x="186" y="67"/>
                    </a:cxn>
                    <a:cxn ang="0">
                      <a:pos x="184" y="67"/>
                    </a:cxn>
                    <a:cxn ang="0">
                      <a:pos x="239" y="97"/>
                    </a:cxn>
                    <a:cxn ang="0">
                      <a:pos x="241" y="97"/>
                    </a:cxn>
                    <a:cxn ang="0">
                      <a:pos x="186" y="67"/>
                    </a:cxn>
                    <a:cxn ang="0">
                      <a:pos x="0" y="0"/>
                    </a:cxn>
                    <a:cxn ang="0">
                      <a:pos x="0" y="1"/>
                    </a:cxn>
                    <a:cxn ang="0">
                      <a:pos x="11" y="4"/>
                    </a:cxn>
                    <a:cxn ang="0">
                      <a:pos x="182" y="66"/>
                    </a:cxn>
                    <a:cxn ang="0">
                      <a:pos x="185" y="66"/>
                    </a:cxn>
                    <a:cxn ang="0">
                      <a:pos x="0" y="0"/>
                    </a:cxn>
                  </a:cxnLst>
                  <a:rect l="0" t="0" r="r" b="b"/>
                  <a:pathLst>
                    <a:path w="346" h="193">
                      <a:moveTo>
                        <a:pt x="243" y="98"/>
                      </a:moveTo>
                      <a:cubicBezTo>
                        <a:pt x="241" y="98"/>
                        <a:pt x="241" y="98"/>
                        <a:pt x="241" y="98"/>
                      </a:cubicBezTo>
                      <a:cubicBezTo>
                        <a:pt x="283" y="124"/>
                        <a:pt x="322" y="156"/>
                        <a:pt x="345" y="193"/>
                      </a:cubicBezTo>
                      <a:cubicBezTo>
                        <a:pt x="346" y="193"/>
                        <a:pt x="346" y="193"/>
                        <a:pt x="346" y="193"/>
                      </a:cubicBezTo>
                      <a:cubicBezTo>
                        <a:pt x="323" y="156"/>
                        <a:pt x="285" y="124"/>
                        <a:pt x="243" y="98"/>
                      </a:cubicBezTo>
                      <a:moveTo>
                        <a:pt x="186" y="67"/>
                      </a:moveTo>
                      <a:cubicBezTo>
                        <a:pt x="184" y="67"/>
                        <a:pt x="184" y="67"/>
                        <a:pt x="184" y="67"/>
                      </a:cubicBezTo>
                      <a:cubicBezTo>
                        <a:pt x="203" y="76"/>
                        <a:pt x="221" y="86"/>
                        <a:pt x="239" y="97"/>
                      </a:cubicBezTo>
                      <a:cubicBezTo>
                        <a:pt x="241" y="97"/>
                        <a:pt x="241" y="97"/>
                        <a:pt x="241" y="97"/>
                      </a:cubicBezTo>
                      <a:cubicBezTo>
                        <a:pt x="223" y="86"/>
                        <a:pt x="205" y="76"/>
                        <a:pt x="186" y="67"/>
                      </a:cubicBezTo>
                      <a:moveTo>
                        <a:pt x="0" y="0"/>
                      </a:moveTo>
                      <a:cubicBezTo>
                        <a:pt x="0" y="1"/>
                        <a:pt x="0" y="1"/>
                        <a:pt x="0" y="1"/>
                      </a:cubicBezTo>
                      <a:cubicBezTo>
                        <a:pt x="0" y="1"/>
                        <a:pt x="4" y="2"/>
                        <a:pt x="11" y="4"/>
                      </a:cubicBezTo>
                      <a:cubicBezTo>
                        <a:pt x="38" y="11"/>
                        <a:pt x="110" y="32"/>
                        <a:pt x="182" y="66"/>
                      </a:cubicBezTo>
                      <a:cubicBezTo>
                        <a:pt x="185" y="66"/>
                        <a:pt x="185" y="66"/>
                        <a:pt x="185" y="66"/>
                      </a:cubicBezTo>
                      <a:cubicBezTo>
                        <a:pt x="92" y="22"/>
                        <a:pt x="0" y="0"/>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7" name="Freeform 97"/>
                <p:cNvSpPr>
                  <a:spLocks/>
                </p:cNvSpPr>
                <p:nvPr/>
              </p:nvSpPr>
              <p:spPr bwMode="auto">
                <a:xfrm>
                  <a:off x="-1071" y="1754"/>
                  <a:ext cx="10" cy="2"/>
                </a:xfrm>
                <a:custGeom>
                  <a:avLst/>
                  <a:gdLst/>
                  <a:ahLst/>
                  <a:cxnLst>
                    <a:cxn ang="0">
                      <a:pos x="2" y="0"/>
                    </a:cxn>
                    <a:cxn ang="0">
                      <a:pos x="0" y="0"/>
                    </a:cxn>
                    <a:cxn ang="0">
                      <a:pos x="2" y="1"/>
                    </a:cxn>
                    <a:cxn ang="0">
                      <a:pos x="4" y="1"/>
                    </a:cxn>
                    <a:cxn ang="0">
                      <a:pos x="2" y="0"/>
                    </a:cxn>
                  </a:cxnLst>
                  <a:rect l="0" t="0" r="r" b="b"/>
                  <a:pathLst>
                    <a:path w="4" h="1">
                      <a:moveTo>
                        <a:pt x="2" y="0"/>
                      </a:moveTo>
                      <a:cubicBezTo>
                        <a:pt x="0" y="0"/>
                        <a:pt x="0" y="0"/>
                        <a:pt x="0" y="0"/>
                      </a:cubicBezTo>
                      <a:cubicBezTo>
                        <a:pt x="1" y="0"/>
                        <a:pt x="1" y="1"/>
                        <a:pt x="2" y="1"/>
                      </a:cubicBezTo>
                      <a:cubicBezTo>
                        <a:pt x="4" y="1"/>
                        <a:pt x="4" y="1"/>
                        <a:pt x="4" y="1"/>
                      </a:cubicBezTo>
                      <a:cubicBezTo>
                        <a:pt x="3" y="1"/>
                        <a:pt x="3"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8" name="Freeform 98"/>
                <p:cNvSpPr>
                  <a:spLocks/>
                </p:cNvSpPr>
                <p:nvPr/>
              </p:nvSpPr>
              <p:spPr bwMode="auto">
                <a:xfrm>
                  <a:off x="-1206" y="1681"/>
                  <a:ext cx="10" cy="2"/>
                </a:xfrm>
                <a:custGeom>
                  <a:avLst/>
                  <a:gdLst/>
                  <a:ahLst/>
                  <a:cxnLst>
                    <a:cxn ang="0">
                      <a:pos x="3" y="0"/>
                    </a:cxn>
                    <a:cxn ang="0">
                      <a:pos x="0" y="0"/>
                    </a:cxn>
                    <a:cxn ang="0">
                      <a:pos x="2" y="1"/>
                    </a:cxn>
                    <a:cxn ang="0">
                      <a:pos x="4" y="1"/>
                    </a:cxn>
                    <a:cxn ang="0">
                      <a:pos x="3" y="0"/>
                    </a:cxn>
                  </a:cxnLst>
                  <a:rect l="0" t="0" r="r" b="b"/>
                  <a:pathLst>
                    <a:path w="4" h="1">
                      <a:moveTo>
                        <a:pt x="3" y="0"/>
                      </a:moveTo>
                      <a:cubicBezTo>
                        <a:pt x="0" y="0"/>
                        <a:pt x="0" y="0"/>
                        <a:pt x="0" y="0"/>
                      </a:cubicBezTo>
                      <a:cubicBezTo>
                        <a:pt x="1" y="1"/>
                        <a:pt x="2" y="1"/>
                        <a:pt x="2" y="1"/>
                      </a:cubicBezTo>
                      <a:cubicBezTo>
                        <a:pt x="4" y="1"/>
                        <a:pt x="4" y="1"/>
                        <a:pt x="4" y="1"/>
                      </a:cubicBezTo>
                      <a:cubicBezTo>
                        <a:pt x="4" y="1"/>
                        <a:pt x="3" y="1"/>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9" name="Freeform 99"/>
                <p:cNvSpPr>
                  <a:spLocks/>
                </p:cNvSpPr>
                <p:nvPr/>
              </p:nvSpPr>
              <p:spPr bwMode="auto">
                <a:xfrm>
                  <a:off x="-955" y="1986"/>
                  <a:ext cx="216" cy="270"/>
                </a:xfrm>
                <a:custGeom>
                  <a:avLst/>
                  <a:gdLst/>
                  <a:ahLst/>
                  <a:cxnLst>
                    <a:cxn ang="0">
                      <a:pos x="3" y="0"/>
                    </a:cxn>
                    <a:cxn ang="0">
                      <a:pos x="0" y="0"/>
                    </a:cxn>
                    <a:cxn ang="0">
                      <a:pos x="0" y="0"/>
                    </a:cxn>
                    <a:cxn ang="0">
                      <a:pos x="0" y="0"/>
                    </a:cxn>
                    <a:cxn ang="0">
                      <a:pos x="1" y="0"/>
                    </a:cxn>
                    <a:cxn ang="0">
                      <a:pos x="2" y="1"/>
                    </a:cxn>
                    <a:cxn ang="0">
                      <a:pos x="82" y="100"/>
                    </a:cxn>
                    <a:cxn ang="0">
                      <a:pos x="83" y="100"/>
                    </a:cxn>
                    <a:cxn ang="0">
                      <a:pos x="83" y="101"/>
                    </a:cxn>
                    <a:cxn ang="0">
                      <a:pos x="83" y="101"/>
                    </a:cxn>
                    <a:cxn ang="0">
                      <a:pos x="89" y="114"/>
                    </a:cxn>
                    <a:cxn ang="0">
                      <a:pos x="91" y="114"/>
                    </a:cxn>
                    <a:cxn ang="0">
                      <a:pos x="3" y="0"/>
                    </a:cxn>
                  </a:cxnLst>
                  <a:rect l="0" t="0" r="r" b="b"/>
                  <a:pathLst>
                    <a:path w="91" h="114">
                      <a:moveTo>
                        <a:pt x="3" y="0"/>
                      </a:moveTo>
                      <a:cubicBezTo>
                        <a:pt x="0" y="0"/>
                        <a:pt x="0" y="0"/>
                        <a:pt x="0" y="0"/>
                      </a:cubicBezTo>
                      <a:cubicBezTo>
                        <a:pt x="0" y="0"/>
                        <a:pt x="0" y="0"/>
                        <a:pt x="0" y="0"/>
                      </a:cubicBezTo>
                      <a:cubicBezTo>
                        <a:pt x="0" y="0"/>
                        <a:pt x="0" y="0"/>
                        <a:pt x="0" y="0"/>
                      </a:cubicBezTo>
                      <a:cubicBezTo>
                        <a:pt x="1" y="0"/>
                        <a:pt x="1" y="0"/>
                        <a:pt x="1" y="0"/>
                      </a:cubicBezTo>
                      <a:cubicBezTo>
                        <a:pt x="1" y="0"/>
                        <a:pt x="1" y="0"/>
                        <a:pt x="2" y="1"/>
                      </a:cubicBezTo>
                      <a:cubicBezTo>
                        <a:pt x="9" y="6"/>
                        <a:pt x="49" y="37"/>
                        <a:pt x="82" y="100"/>
                      </a:cubicBezTo>
                      <a:cubicBezTo>
                        <a:pt x="83" y="100"/>
                        <a:pt x="83" y="100"/>
                        <a:pt x="83" y="100"/>
                      </a:cubicBezTo>
                      <a:cubicBezTo>
                        <a:pt x="83" y="101"/>
                        <a:pt x="83" y="101"/>
                        <a:pt x="83" y="101"/>
                      </a:cubicBezTo>
                      <a:cubicBezTo>
                        <a:pt x="83" y="101"/>
                        <a:pt x="83" y="101"/>
                        <a:pt x="83" y="101"/>
                      </a:cubicBezTo>
                      <a:cubicBezTo>
                        <a:pt x="85" y="105"/>
                        <a:pt x="87" y="109"/>
                        <a:pt x="89" y="114"/>
                      </a:cubicBezTo>
                      <a:cubicBezTo>
                        <a:pt x="91" y="114"/>
                        <a:pt x="91" y="114"/>
                        <a:pt x="91" y="114"/>
                      </a:cubicBezTo>
                      <a:cubicBezTo>
                        <a:pt x="57" y="42"/>
                        <a:pt x="12" y="6"/>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0" name="Freeform 100"/>
                <p:cNvSpPr>
                  <a:spLocks/>
                </p:cNvSpPr>
                <p:nvPr/>
              </p:nvSpPr>
              <p:spPr bwMode="auto">
                <a:xfrm>
                  <a:off x="-761" y="2223"/>
                  <a:ext cx="3" cy="3"/>
                </a:xfrm>
                <a:custGeom>
                  <a:avLst/>
                  <a:gdLst/>
                  <a:ahLst/>
                  <a:cxnLst>
                    <a:cxn ang="0">
                      <a:pos x="1" y="0"/>
                    </a:cxn>
                    <a:cxn ang="0">
                      <a:pos x="0" y="0"/>
                    </a:cxn>
                    <a:cxn ang="0">
                      <a:pos x="1" y="1"/>
                    </a:cxn>
                    <a:cxn ang="0">
                      <a:pos x="1" y="1"/>
                    </a:cxn>
                    <a:cxn ang="0">
                      <a:pos x="1" y="0"/>
                    </a:cxn>
                  </a:cxnLst>
                  <a:rect l="0" t="0" r="r" b="b"/>
                  <a:pathLst>
                    <a:path w="1" h="1">
                      <a:moveTo>
                        <a:pt x="1" y="0"/>
                      </a:moveTo>
                      <a:cubicBezTo>
                        <a:pt x="0" y="0"/>
                        <a:pt x="0" y="0"/>
                        <a:pt x="0" y="0"/>
                      </a:cubicBezTo>
                      <a:cubicBezTo>
                        <a:pt x="0" y="0"/>
                        <a:pt x="1" y="0"/>
                        <a:pt x="1"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1" name="Freeform 101"/>
                <p:cNvSpPr>
                  <a:spLocks noEditPoints="1"/>
                </p:cNvSpPr>
                <p:nvPr/>
              </p:nvSpPr>
              <p:spPr bwMode="auto">
                <a:xfrm>
                  <a:off x="-742" y="2259"/>
                  <a:ext cx="90" cy="1017"/>
                </a:xfrm>
                <a:custGeom>
                  <a:avLst/>
                  <a:gdLst/>
                  <a:ahLst/>
                  <a:cxnLst>
                    <a:cxn ang="0">
                      <a:pos x="26" y="343"/>
                    </a:cxn>
                    <a:cxn ang="0">
                      <a:pos x="24" y="343"/>
                    </a:cxn>
                    <a:cxn ang="0">
                      <a:pos x="24" y="352"/>
                    </a:cxn>
                    <a:cxn ang="0">
                      <a:pos x="20" y="417"/>
                    </a:cxn>
                    <a:cxn ang="0">
                      <a:pos x="19" y="429"/>
                    </a:cxn>
                    <a:cxn ang="0">
                      <a:pos x="21" y="429"/>
                    </a:cxn>
                    <a:cxn ang="0">
                      <a:pos x="24" y="393"/>
                    </a:cxn>
                    <a:cxn ang="0">
                      <a:pos x="26" y="343"/>
                    </a:cxn>
                    <a:cxn ang="0">
                      <a:pos x="38" y="233"/>
                    </a:cxn>
                    <a:cxn ang="0">
                      <a:pos x="36" y="233"/>
                    </a:cxn>
                    <a:cxn ang="0">
                      <a:pos x="24" y="334"/>
                    </a:cxn>
                    <a:cxn ang="0">
                      <a:pos x="24" y="335"/>
                    </a:cxn>
                    <a:cxn ang="0">
                      <a:pos x="24" y="335"/>
                    </a:cxn>
                    <a:cxn ang="0">
                      <a:pos x="24" y="342"/>
                    </a:cxn>
                    <a:cxn ang="0">
                      <a:pos x="26" y="342"/>
                    </a:cxn>
                    <a:cxn ang="0">
                      <a:pos x="26" y="335"/>
                    </a:cxn>
                    <a:cxn ang="0">
                      <a:pos x="37" y="255"/>
                    </a:cxn>
                    <a:cxn ang="0">
                      <a:pos x="35" y="255"/>
                    </a:cxn>
                    <a:cxn ang="0">
                      <a:pos x="35" y="254"/>
                    </a:cxn>
                    <a:cxn ang="0">
                      <a:pos x="37" y="254"/>
                    </a:cxn>
                    <a:cxn ang="0">
                      <a:pos x="38" y="233"/>
                    </a:cxn>
                    <a:cxn ang="0">
                      <a:pos x="35" y="102"/>
                    </a:cxn>
                    <a:cxn ang="0">
                      <a:pos x="33" y="102"/>
                    </a:cxn>
                    <a:cxn ang="0">
                      <a:pos x="35" y="115"/>
                    </a:cxn>
                    <a:cxn ang="0">
                      <a:pos x="35" y="115"/>
                    </a:cxn>
                    <a:cxn ang="0">
                      <a:pos x="35" y="120"/>
                    </a:cxn>
                    <a:cxn ang="0">
                      <a:pos x="37" y="187"/>
                    </a:cxn>
                    <a:cxn ang="0">
                      <a:pos x="36" y="232"/>
                    </a:cxn>
                    <a:cxn ang="0">
                      <a:pos x="38" y="232"/>
                    </a:cxn>
                    <a:cxn ang="0">
                      <a:pos x="38" y="224"/>
                    </a:cxn>
                    <a:cxn ang="0">
                      <a:pos x="38" y="149"/>
                    </a:cxn>
                    <a:cxn ang="0">
                      <a:pos x="37" y="115"/>
                    </a:cxn>
                    <a:cxn ang="0">
                      <a:pos x="37" y="115"/>
                    </a:cxn>
                    <a:cxn ang="0">
                      <a:pos x="37" y="115"/>
                    </a:cxn>
                    <a:cxn ang="0">
                      <a:pos x="35" y="102"/>
                    </a:cxn>
                    <a:cxn ang="0">
                      <a:pos x="2" y="0"/>
                    </a:cxn>
                    <a:cxn ang="0">
                      <a:pos x="0" y="0"/>
                    </a:cxn>
                    <a:cxn ang="0">
                      <a:pos x="33" y="101"/>
                    </a:cxn>
                    <a:cxn ang="0">
                      <a:pos x="35" y="101"/>
                    </a:cxn>
                    <a:cxn ang="0">
                      <a:pos x="2" y="0"/>
                    </a:cxn>
                  </a:cxnLst>
                  <a:rect l="0" t="0" r="r" b="b"/>
                  <a:pathLst>
                    <a:path w="38" h="429">
                      <a:moveTo>
                        <a:pt x="26" y="343"/>
                      </a:moveTo>
                      <a:cubicBezTo>
                        <a:pt x="24" y="343"/>
                        <a:pt x="24" y="343"/>
                        <a:pt x="24" y="343"/>
                      </a:cubicBezTo>
                      <a:cubicBezTo>
                        <a:pt x="24" y="345"/>
                        <a:pt x="24" y="348"/>
                        <a:pt x="24" y="352"/>
                      </a:cubicBezTo>
                      <a:cubicBezTo>
                        <a:pt x="24" y="368"/>
                        <a:pt x="23" y="392"/>
                        <a:pt x="20" y="417"/>
                      </a:cubicBezTo>
                      <a:cubicBezTo>
                        <a:pt x="20" y="421"/>
                        <a:pt x="20" y="425"/>
                        <a:pt x="19" y="429"/>
                      </a:cubicBezTo>
                      <a:cubicBezTo>
                        <a:pt x="21" y="429"/>
                        <a:pt x="21" y="429"/>
                        <a:pt x="21" y="429"/>
                      </a:cubicBezTo>
                      <a:cubicBezTo>
                        <a:pt x="22" y="417"/>
                        <a:pt x="23" y="405"/>
                        <a:pt x="24" y="393"/>
                      </a:cubicBezTo>
                      <a:cubicBezTo>
                        <a:pt x="26" y="372"/>
                        <a:pt x="26" y="353"/>
                        <a:pt x="26" y="343"/>
                      </a:cubicBezTo>
                      <a:moveTo>
                        <a:pt x="38" y="233"/>
                      </a:moveTo>
                      <a:cubicBezTo>
                        <a:pt x="36" y="233"/>
                        <a:pt x="36" y="233"/>
                        <a:pt x="36" y="233"/>
                      </a:cubicBezTo>
                      <a:cubicBezTo>
                        <a:pt x="35" y="268"/>
                        <a:pt x="31" y="304"/>
                        <a:pt x="24" y="334"/>
                      </a:cubicBezTo>
                      <a:cubicBezTo>
                        <a:pt x="24" y="335"/>
                        <a:pt x="24" y="335"/>
                        <a:pt x="24" y="335"/>
                      </a:cubicBezTo>
                      <a:cubicBezTo>
                        <a:pt x="24" y="335"/>
                        <a:pt x="24" y="335"/>
                        <a:pt x="24" y="335"/>
                      </a:cubicBezTo>
                      <a:cubicBezTo>
                        <a:pt x="24" y="335"/>
                        <a:pt x="24" y="337"/>
                        <a:pt x="24" y="342"/>
                      </a:cubicBezTo>
                      <a:cubicBezTo>
                        <a:pt x="26" y="342"/>
                        <a:pt x="26" y="342"/>
                        <a:pt x="26" y="342"/>
                      </a:cubicBezTo>
                      <a:cubicBezTo>
                        <a:pt x="26" y="338"/>
                        <a:pt x="26" y="335"/>
                        <a:pt x="26" y="335"/>
                      </a:cubicBezTo>
                      <a:cubicBezTo>
                        <a:pt x="32" y="311"/>
                        <a:pt x="35" y="283"/>
                        <a:pt x="37" y="255"/>
                      </a:cubicBezTo>
                      <a:cubicBezTo>
                        <a:pt x="35" y="255"/>
                        <a:pt x="35" y="255"/>
                        <a:pt x="35" y="255"/>
                      </a:cubicBezTo>
                      <a:cubicBezTo>
                        <a:pt x="35" y="254"/>
                        <a:pt x="35" y="254"/>
                        <a:pt x="35" y="254"/>
                      </a:cubicBezTo>
                      <a:cubicBezTo>
                        <a:pt x="37" y="254"/>
                        <a:pt x="37" y="254"/>
                        <a:pt x="37" y="254"/>
                      </a:cubicBezTo>
                      <a:cubicBezTo>
                        <a:pt x="37" y="247"/>
                        <a:pt x="38" y="240"/>
                        <a:pt x="38" y="233"/>
                      </a:cubicBezTo>
                      <a:moveTo>
                        <a:pt x="35" y="102"/>
                      </a:moveTo>
                      <a:cubicBezTo>
                        <a:pt x="33" y="102"/>
                        <a:pt x="33" y="102"/>
                        <a:pt x="33" y="102"/>
                      </a:cubicBezTo>
                      <a:cubicBezTo>
                        <a:pt x="34" y="106"/>
                        <a:pt x="34" y="111"/>
                        <a:pt x="35" y="115"/>
                      </a:cubicBezTo>
                      <a:cubicBezTo>
                        <a:pt x="35" y="115"/>
                        <a:pt x="35" y="115"/>
                        <a:pt x="35" y="115"/>
                      </a:cubicBezTo>
                      <a:cubicBezTo>
                        <a:pt x="35" y="115"/>
                        <a:pt x="35" y="117"/>
                        <a:pt x="35" y="120"/>
                      </a:cubicBezTo>
                      <a:cubicBezTo>
                        <a:pt x="36" y="131"/>
                        <a:pt x="37" y="156"/>
                        <a:pt x="37" y="187"/>
                      </a:cubicBezTo>
                      <a:cubicBezTo>
                        <a:pt x="37" y="201"/>
                        <a:pt x="37" y="216"/>
                        <a:pt x="36" y="232"/>
                      </a:cubicBezTo>
                      <a:cubicBezTo>
                        <a:pt x="38" y="232"/>
                        <a:pt x="38" y="232"/>
                        <a:pt x="38" y="232"/>
                      </a:cubicBezTo>
                      <a:cubicBezTo>
                        <a:pt x="38" y="229"/>
                        <a:pt x="38" y="226"/>
                        <a:pt x="38" y="224"/>
                      </a:cubicBezTo>
                      <a:cubicBezTo>
                        <a:pt x="38" y="149"/>
                        <a:pt x="38" y="149"/>
                        <a:pt x="38" y="149"/>
                      </a:cubicBezTo>
                      <a:cubicBezTo>
                        <a:pt x="38" y="128"/>
                        <a:pt x="37" y="115"/>
                        <a:pt x="37" y="115"/>
                      </a:cubicBezTo>
                      <a:cubicBezTo>
                        <a:pt x="37" y="115"/>
                        <a:pt x="37" y="115"/>
                        <a:pt x="37" y="115"/>
                      </a:cubicBezTo>
                      <a:cubicBezTo>
                        <a:pt x="37" y="115"/>
                        <a:pt x="37" y="115"/>
                        <a:pt x="37" y="115"/>
                      </a:cubicBezTo>
                      <a:cubicBezTo>
                        <a:pt x="36" y="110"/>
                        <a:pt x="36" y="106"/>
                        <a:pt x="35" y="102"/>
                      </a:cubicBezTo>
                      <a:moveTo>
                        <a:pt x="2" y="0"/>
                      </a:moveTo>
                      <a:cubicBezTo>
                        <a:pt x="0" y="0"/>
                        <a:pt x="0" y="0"/>
                        <a:pt x="0" y="0"/>
                      </a:cubicBezTo>
                      <a:cubicBezTo>
                        <a:pt x="13" y="28"/>
                        <a:pt x="25" y="61"/>
                        <a:pt x="33" y="101"/>
                      </a:cubicBezTo>
                      <a:cubicBezTo>
                        <a:pt x="35" y="101"/>
                        <a:pt x="35" y="101"/>
                        <a:pt x="35" y="101"/>
                      </a:cubicBezTo>
                      <a:cubicBezTo>
                        <a:pt x="27" y="61"/>
                        <a:pt x="15" y="28"/>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2" name="Freeform 102"/>
                <p:cNvSpPr>
                  <a:spLocks/>
                </p:cNvSpPr>
                <p:nvPr/>
              </p:nvSpPr>
              <p:spPr bwMode="auto">
                <a:xfrm>
                  <a:off x="-685" y="3069"/>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3" name="Freeform 103"/>
                <p:cNvSpPr>
                  <a:spLocks/>
                </p:cNvSpPr>
                <p:nvPr/>
              </p:nvSpPr>
              <p:spPr bwMode="auto">
                <a:xfrm>
                  <a:off x="-659" y="2861"/>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4" name="Freeform 104"/>
                <p:cNvSpPr>
                  <a:spLocks noEditPoints="1"/>
                </p:cNvSpPr>
                <p:nvPr/>
              </p:nvSpPr>
              <p:spPr bwMode="auto">
                <a:xfrm>
                  <a:off x="-1681" y="1524"/>
                  <a:ext cx="989" cy="1875"/>
                </a:xfrm>
                <a:custGeom>
                  <a:avLst/>
                  <a:gdLst/>
                  <a:ahLst/>
                  <a:cxnLst>
                    <a:cxn ang="0">
                      <a:pos x="418" y="740"/>
                    </a:cxn>
                    <a:cxn ang="0">
                      <a:pos x="416" y="740"/>
                    </a:cxn>
                    <a:cxn ang="0">
                      <a:pos x="411" y="772"/>
                    </a:cxn>
                    <a:cxn ang="0">
                      <a:pos x="411" y="772"/>
                    </a:cxn>
                    <a:cxn ang="0">
                      <a:pos x="411" y="773"/>
                    </a:cxn>
                    <a:cxn ang="0">
                      <a:pos x="410" y="773"/>
                    </a:cxn>
                    <a:cxn ang="0">
                      <a:pos x="406" y="790"/>
                    </a:cxn>
                    <a:cxn ang="0">
                      <a:pos x="407" y="791"/>
                    </a:cxn>
                    <a:cxn ang="0">
                      <a:pos x="418" y="740"/>
                    </a:cxn>
                    <a:cxn ang="0">
                      <a:pos x="215" y="98"/>
                    </a:cxn>
                    <a:cxn ang="0">
                      <a:pos x="211" y="98"/>
                    </a:cxn>
                    <a:cxn ang="0">
                      <a:pos x="307" y="194"/>
                    </a:cxn>
                    <a:cxn ang="0">
                      <a:pos x="309" y="194"/>
                    </a:cxn>
                    <a:cxn ang="0">
                      <a:pos x="309" y="194"/>
                    </a:cxn>
                    <a:cxn ang="0">
                      <a:pos x="215" y="98"/>
                    </a:cxn>
                    <a:cxn ang="0">
                      <a:pos x="1" y="0"/>
                    </a:cxn>
                    <a:cxn ang="0">
                      <a:pos x="0" y="2"/>
                    </a:cxn>
                    <a:cxn ang="0">
                      <a:pos x="9" y="4"/>
                    </a:cxn>
                    <a:cxn ang="0">
                      <a:pos x="162" y="66"/>
                    </a:cxn>
                    <a:cxn ang="0">
                      <a:pos x="165" y="66"/>
                    </a:cxn>
                    <a:cxn ang="0">
                      <a:pos x="165" y="67"/>
                    </a:cxn>
                    <a:cxn ang="0">
                      <a:pos x="163" y="67"/>
                    </a:cxn>
                    <a:cxn ang="0">
                      <a:pos x="210" y="97"/>
                    </a:cxn>
                    <a:cxn ang="0">
                      <a:pos x="213" y="97"/>
                    </a:cxn>
                    <a:cxn ang="0">
                      <a:pos x="1" y="0"/>
                    </a:cxn>
                  </a:cxnLst>
                  <a:rect l="0" t="0" r="r" b="b"/>
                  <a:pathLst>
                    <a:path w="418" h="791">
                      <a:moveTo>
                        <a:pt x="418" y="740"/>
                      </a:moveTo>
                      <a:cubicBezTo>
                        <a:pt x="416" y="740"/>
                        <a:pt x="416" y="740"/>
                        <a:pt x="416" y="740"/>
                      </a:cubicBezTo>
                      <a:cubicBezTo>
                        <a:pt x="415" y="752"/>
                        <a:pt x="413" y="763"/>
                        <a:pt x="411" y="772"/>
                      </a:cubicBezTo>
                      <a:cubicBezTo>
                        <a:pt x="411" y="772"/>
                        <a:pt x="411" y="772"/>
                        <a:pt x="411" y="772"/>
                      </a:cubicBezTo>
                      <a:cubicBezTo>
                        <a:pt x="411" y="773"/>
                        <a:pt x="411" y="773"/>
                        <a:pt x="411" y="773"/>
                      </a:cubicBezTo>
                      <a:cubicBezTo>
                        <a:pt x="410" y="773"/>
                        <a:pt x="410" y="773"/>
                        <a:pt x="410" y="773"/>
                      </a:cubicBezTo>
                      <a:cubicBezTo>
                        <a:pt x="409" y="780"/>
                        <a:pt x="407" y="786"/>
                        <a:pt x="406" y="790"/>
                      </a:cubicBezTo>
                      <a:cubicBezTo>
                        <a:pt x="407" y="791"/>
                        <a:pt x="407" y="791"/>
                        <a:pt x="407" y="791"/>
                      </a:cubicBezTo>
                      <a:cubicBezTo>
                        <a:pt x="412" y="779"/>
                        <a:pt x="416" y="760"/>
                        <a:pt x="418" y="740"/>
                      </a:cubicBezTo>
                      <a:moveTo>
                        <a:pt x="215" y="98"/>
                      </a:moveTo>
                      <a:cubicBezTo>
                        <a:pt x="211" y="98"/>
                        <a:pt x="211" y="98"/>
                        <a:pt x="211" y="98"/>
                      </a:cubicBezTo>
                      <a:cubicBezTo>
                        <a:pt x="247" y="124"/>
                        <a:pt x="281" y="155"/>
                        <a:pt x="307" y="194"/>
                      </a:cubicBezTo>
                      <a:cubicBezTo>
                        <a:pt x="309" y="194"/>
                        <a:pt x="309" y="194"/>
                        <a:pt x="309" y="194"/>
                      </a:cubicBezTo>
                      <a:cubicBezTo>
                        <a:pt x="309" y="194"/>
                        <a:pt x="309" y="194"/>
                        <a:pt x="309" y="194"/>
                      </a:cubicBezTo>
                      <a:cubicBezTo>
                        <a:pt x="283" y="155"/>
                        <a:pt x="250" y="124"/>
                        <a:pt x="215" y="98"/>
                      </a:cubicBezTo>
                      <a:moveTo>
                        <a:pt x="1" y="0"/>
                      </a:moveTo>
                      <a:cubicBezTo>
                        <a:pt x="0" y="2"/>
                        <a:pt x="0" y="2"/>
                        <a:pt x="0" y="2"/>
                      </a:cubicBezTo>
                      <a:cubicBezTo>
                        <a:pt x="0" y="2"/>
                        <a:pt x="3" y="3"/>
                        <a:pt x="9" y="4"/>
                      </a:cubicBezTo>
                      <a:cubicBezTo>
                        <a:pt x="32" y="10"/>
                        <a:pt x="96" y="29"/>
                        <a:pt x="162" y="66"/>
                      </a:cubicBezTo>
                      <a:cubicBezTo>
                        <a:pt x="165" y="66"/>
                        <a:pt x="165" y="66"/>
                        <a:pt x="165" y="66"/>
                      </a:cubicBezTo>
                      <a:cubicBezTo>
                        <a:pt x="165" y="67"/>
                        <a:pt x="165" y="67"/>
                        <a:pt x="165" y="67"/>
                      </a:cubicBezTo>
                      <a:cubicBezTo>
                        <a:pt x="163" y="67"/>
                        <a:pt x="163" y="67"/>
                        <a:pt x="163" y="67"/>
                      </a:cubicBezTo>
                      <a:cubicBezTo>
                        <a:pt x="179" y="76"/>
                        <a:pt x="195" y="86"/>
                        <a:pt x="210" y="97"/>
                      </a:cubicBezTo>
                      <a:cubicBezTo>
                        <a:pt x="213" y="97"/>
                        <a:pt x="213" y="97"/>
                        <a:pt x="213" y="97"/>
                      </a:cubicBezTo>
                      <a:cubicBezTo>
                        <a:pt x="114" y="25"/>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5" name="Freeform 105"/>
                <p:cNvSpPr>
                  <a:spLocks/>
                </p:cNvSpPr>
                <p:nvPr/>
              </p:nvSpPr>
              <p:spPr bwMode="auto">
                <a:xfrm>
                  <a:off x="-1184" y="1754"/>
                  <a:ext cx="12" cy="2"/>
                </a:xfrm>
                <a:custGeom>
                  <a:avLst/>
                  <a:gdLst/>
                  <a:ahLst/>
                  <a:cxnLst>
                    <a:cxn ang="0">
                      <a:pos x="3" y="0"/>
                    </a:cxn>
                    <a:cxn ang="0">
                      <a:pos x="0" y="0"/>
                    </a:cxn>
                    <a:cxn ang="0">
                      <a:pos x="1" y="1"/>
                    </a:cxn>
                    <a:cxn ang="0">
                      <a:pos x="5" y="1"/>
                    </a:cxn>
                    <a:cxn ang="0">
                      <a:pos x="3" y="0"/>
                    </a:cxn>
                  </a:cxnLst>
                  <a:rect l="0" t="0" r="r" b="b"/>
                  <a:pathLst>
                    <a:path w="5" h="1">
                      <a:moveTo>
                        <a:pt x="3" y="0"/>
                      </a:moveTo>
                      <a:cubicBezTo>
                        <a:pt x="0" y="0"/>
                        <a:pt x="0" y="0"/>
                        <a:pt x="0" y="0"/>
                      </a:cubicBezTo>
                      <a:cubicBezTo>
                        <a:pt x="1" y="0"/>
                        <a:pt x="1" y="1"/>
                        <a:pt x="1" y="1"/>
                      </a:cubicBezTo>
                      <a:cubicBezTo>
                        <a:pt x="5" y="1"/>
                        <a:pt x="5" y="1"/>
                        <a:pt x="5" y="1"/>
                      </a:cubicBezTo>
                      <a:cubicBezTo>
                        <a:pt x="4" y="1"/>
                        <a:pt x="4"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6" name="Freeform 106"/>
                <p:cNvSpPr>
                  <a:spLocks/>
                </p:cNvSpPr>
                <p:nvPr/>
              </p:nvSpPr>
              <p:spPr bwMode="auto">
                <a:xfrm>
                  <a:off x="-1298" y="1681"/>
                  <a:ext cx="7" cy="2"/>
                </a:xfrm>
                <a:custGeom>
                  <a:avLst/>
                  <a:gdLst/>
                  <a:ahLst/>
                  <a:cxnLst>
                    <a:cxn ang="0">
                      <a:pos x="3" y="0"/>
                    </a:cxn>
                    <a:cxn ang="0">
                      <a:pos x="0" y="0"/>
                    </a:cxn>
                    <a:cxn ang="0">
                      <a:pos x="1" y="1"/>
                    </a:cxn>
                    <a:cxn ang="0">
                      <a:pos x="3" y="1"/>
                    </a:cxn>
                    <a:cxn ang="0">
                      <a:pos x="3" y="0"/>
                    </a:cxn>
                  </a:cxnLst>
                  <a:rect l="0" t="0" r="r" b="b"/>
                  <a:pathLst>
                    <a:path w="3" h="1">
                      <a:moveTo>
                        <a:pt x="3" y="0"/>
                      </a:moveTo>
                      <a:cubicBezTo>
                        <a:pt x="0" y="0"/>
                        <a:pt x="0" y="0"/>
                        <a:pt x="0" y="0"/>
                      </a:cubicBezTo>
                      <a:cubicBezTo>
                        <a:pt x="0" y="1"/>
                        <a:pt x="1" y="1"/>
                        <a:pt x="1"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7" name="Freeform 107"/>
                <p:cNvSpPr>
                  <a:spLocks/>
                </p:cNvSpPr>
                <p:nvPr/>
              </p:nvSpPr>
              <p:spPr bwMode="auto">
                <a:xfrm>
                  <a:off x="-656" y="2809"/>
                  <a:ext cx="4"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8" name="Freeform 108"/>
                <p:cNvSpPr>
                  <a:spLocks/>
                </p:cNvSpPr>
                <p:nvPr/>
              </p:nvSpPr>
              <p:spPr bwMode="auto">
                <a:xfrm>
                  <a:off x="-697" y="3276"/>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9" name="Freeform 109"/>
                <p:cNvSpPr>
                  <a:spLocks/>
                </p:cNvSpPr>
                <p:nvPr/>
              </p:nvSpPr>
              <p:spPr bwMode="auto">
                <a:xfrm>
                  <a:off x="-711" y="3354"/>
                  <a:ext cx="3" cy="2"/>
                </a:xfrm>
                <a:custGeom>
                  <a:avLst/>
                  <a:gdLst/>
                  <a:ahLst/>
                  <a:cxnLst>
                    <a:cxn ang="0">
                      <a:pos x="1" y="0"/>
                    </a:cxn>
                    <a:cxn ang="0">
                      <a:pos x="1" y="0"/>
                    </a:cxn>
                    <a:cxn ang="0">
                      <a:pos x="0" y="1"/>
                    </a:cxn>
                    <a:cxn ang="0">
                      <a:pos x="1" y="1"/>
                    </a:cxn>
                    <a:cxn ang="0">
                      <a:pos x="1" y="0"/>
                    </a:cxn>
                  </a:cxnLst>
                  <a:rect l="0" t="0" r="r" b="b"/>
                  <a:pathLst>
                    <a:path w="1" h="1">
                      <a:moveTo>
                        <a:pt x="1" y="0"/>
                      </a:moveTo>
                      <a:cubicBezTo>
                        <a:pt x="1" y="0"/>
                        <a:pt x="1" y="0"/>
                        <a:pt x="1" y="0"/>
                      </a:cubicBezTo>
                      <a:cubicBezTo>
                        <a:pt x="1" y="1"/>
                        <a:pt x="1" y="1"/>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0" name="Freeform 110"/>
                <p:cNvSpPr>
                  <a:spLocks/>
                </p:cNvSpPr>
                <p:nvPr/>
              </p:nvSpPr>
              <p:spPr bwMode="auto">
                <a:xfrm>
                  <a:off x="-664"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1" name="Freeform 111"/>
                <p:cNvSpPr>
                  <a:spLocks/>
                </p:cNvSpPr>
                <p:nvPr/>
              </p:nvSpPr>
              <p:spPr bwMode="auto">
                <a:xfrm>
                  <a:off x="-744" y="2256"/>
                  <a:ext cx="7" cy="3"/>
                </a:xfrm>
                <a:custGeom>
                  <a:avLst/>
                  <a:gdLst/>
                  <a:ahLst/>
                  <a:cxnLst>
                    <a:cxn ang="0">
                      <a:pos x="2" y="0"/>
                    </a:cxn>
                    <a:cxn ang="0">
                      <a:pos x="0" y="0"/>
                    </a:cxn>
                    <a:cxn ang="0">
                      <a:pos x="1" y="1"/>
                    </a:cxn>
                    <a:cxn ang="0">
                      <a:pos x="3" y="1"/>
                    </a:cxn>
                    <a:cxn ang="0">
                      <a:pos x="2" y="0"/>
                    </a:cxn>
                  </a:cxnLst>
                  <a:rect l="0" t="0" r="r" b="b"/>
                  <a:pathLst>
                    <a:path w="3" h="1">
                      <a:moveTo>
                        <a:pt x="2" y="0"/>
                      </a:moveTo>
                      <a:cubicBezTo>
                        <a:pt x="0" y="0"/>
                        <a:pt x="0" y="0"/>
                        <a:pt x="0" y="0"/>
                      </a:cubicBezTo>
                      <a:cubicBezTo>
                        <a:pt x="0" y="0"/>
                        <a:pt x="1" y="0"/>
                        <a:pt x="1" y="1"/>
                      </a:cubicBezTo>
                      <a:cubicBezTo>
                        <a:pt x="3" y="1"/>
                        <a:pt x="3" y="1"/>
                        <a:pt x="3" y="1"/>
                      </a:cubicBezTo>
                      <a:cubicBezTo>
                        <a:pt x="3" y="0"/>
                        <a:pt x="3"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2" name="Freeform 112"/>
                <p:cNvSpPr>
                  <a:spLocks noEditPoints="1"/>
                </p:cNvSpPr>
                <p:nvPr/>
              </p:nvSpPr>
              <p:spPr bwMode="auto">
                <a:xfrm>
                  <a:off x="-1099" y="1986"/>
                  <a:ext cx="180" cy="270"/>
                </a:xfrm>
                <a:custGeom>
                  <a:avLst/>
                  <a:gdLst/>
                  <a:ahLst/>
                  <a:cxnLst>
                    <a:cxn ang="0">
                      <a:pos x="69" y="101"/>
                    </a:cxn>
                    <a:cxn ang="0">
                      <a:pos x="67" y="101"/>
                    </a:cxn>
                    <a:cxn ang="0">
                      <a:pos x="74" y="114"/>
                    </a:cxn>
                    <a:cxn ang="0">
                      <a:pos x="76" y="114"/>
                    </a:cxn>
                    <a:cxn ang="0">
                      <a:pos x="69" y="101"/>
                    </a:cxn>
                    <a:cxn ang="0">
                      <a:pos x="2" y="0"/>
                    </a:cxn>
                    <a:cxn ang="0">
                      <a:pos x="0" y="0"/>
                    </a:cxn>
                    <a:cxn ang="0">
                      <a:pos x="8" y="11"/>
                    </a:cxn>
                    <a:cxn ang="0">
                      <a:pos x="66" y="100"/>
                    </a:cxn>
                    <a:cxn ang="0">
                      <a:pos x="68" y="100"/>
                    </a:cxn>
                    <a:cxn ang="0">
                      <a:pos x="10" y="10"/>
                    </a:cxn>
                    <a:cxn ang="0">
                      <a:pos x="2" y="0"/>
                    </a:cxn>
                  </a:cxnLst>
                  <a:rect l="0" t="0" r="r" b="b"/>
                  <a:pathLst>
                    <a:path w="76" h="114">
                      <a:moveTo>
                        <a:pt x="69" y="101"/>
                      </a:moveTo>
                      <a:cubicBezTo>
                        <a:pt x="67" y="101"/>
                        <a:pt x="67" y="101"/>
                        <a:pt x="67" y="101"/>
                      </a:cubicBezTo>
                      <a:cubicBezTo>
                        <a:pt x="69" y="106"/>
                        <a:pt x="72" y="110"/>
                        <a:pt x="74" y="114"/>
                      </a:cubicBezTo>
                      <a:cubicBezTo>
                        <a:pt x="76" y="114"/>
                        <a:pt x="76" y="114"/>
                        <a:pt x="76" y="114"/>
                      </a:cubicBezTo>
                      <a:cubicBezTo>
                        <a:pt x="74" y="110"/>
                        <a:pt x="72" y="106"/>
                        <a:pt x="69" y="101"/>
                      </a:cubicBezTo>
                      <a:moveTo>
                        <a:pt x="2" y="0"/>
                      </a:moveTo>
                      <a:cubicBezTo>
                        <a:pt x="0" y="0"/>
                        <a:pt x="0" y="0"/>
                        <a:pt x="0" y="0"/>
                      </a:cubicBezTo>
                      <a:cubicBezTo>
                        <a:pt x="3" y="3"/>
                        <a:pt x="5" y="7"/>
                        <a:pt x="8" y="11"/>
                      </a:cubicBezTo>
                      <a:cubicBezTo>
                        <a:pt x="31" y="44"/>
                        <a:pt x="53" y="77"/>
                        <a:pt x="66" y="100"/>
                      </a:cubicBezTo>
                      <a:cubicBezTo>
                        <a:pt x="68" y="100"/>
                        <a:pt x="68" y="100"/>
                        <a:pt x="68" y="100"/>
                      </a:cubicBezTo>
                      <a:cubicBezTo>
                        <a:pt x="55" y="77"/>
                        <a:pt x="33" y="43"/>
                        <a:pt x="10" y="10"/>
                      </a:cubicBezTo>
                      <a:cubicBezTo>
                        <a:pt x="7" y="7"/>
                        <a:pt x="5" y="3"/>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3" name="Freeform 113"/>
                <p:cNvSpPr>
                  <a:spLocks/>
                </p:cNvSpPr>
                <p:nvPr/>
              </p:nvSpPr>
              <p:spPr bwMode="auto">
                <a:xfrm>
                  <a:off x="-943" y="2223"/>
                  <a:ext cx="7" cy="3"/>
                </a:xfrm>
                <a:custGeom>
                  <a:avLst/>
                  <a:gdLst/>
                  <a:ahLst/>
                  <a:cxnLst>
                    <a:cxn ang="0">
                      <a:pos x="2" y="0"/>
                    </a:cxn>
                    <a:cxn ang="0">
                      <a:pos x="0" y="0"/>
                    </a:cxn>
                    <a:cxn ang="0">
                      <a:pos x="1" y="1"/>
                    </a:cxn>
                    <a:cxn ang="0">
                      <a:pos x="3" y="1"/>
                    </a:cxn>
                    <a:cxn ang="0">
                      <a:pos x="2" y="0"/>
                    </a:cxn>
                  </a:cxnLst>
                  <a:rect l="0" t="0" r="r" b="b"/>
                  <a:pathLst>
                    <a:path w="3" h="1">
                      <a:moveTo>
                        <a:pt x="2" y="0"/>
                      </a:moveTo>
                      <a:cubicBezTo>
                        <a:pt x="0" y="0"/>
                        <a:pt x="0" y="0"/>
                        <a:pt x="0" y="0"/>
                      </a:cubicBezTo>
                      <a:cubicBezTo>
                        <a:pt x="0" y="0"/>
                        <a:pt x="0" y="0"/>
                        <a:pt x="1" y="1"/>
                      </a:cubicBezTo>
                      <a:cubicBezTo>
                        <a:pt x="3" y="1"/>
                        <a:pt x="3" y="1"/>
                        <a:pt x="3" y="1"/>
                      </a:cubicBezTo>
                      <a:cubicBezTo>
                        <a:pt x="3" y="0"/>
                        <a:pt x="3"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4" name="Freeform 114"/>
                <p:cNvSpPr>
                  <a:spLocks noEditPoints="1"/>
                </p:cNvSpPr>
                <p:nvPr/>
              </p:nvSpPr>
              <p:spPr bwMode="auto">
                <a:xfrm>
                  <a:off x="-924" y="2259"/>
                  <a:ext cx="109" cy="1017"/>
                </a:xfrm>
                <a:custGeom>
                  <a:avLst/>
                  <a:gdLst/>
                  <a:ahLst/>
                  <a:cxnLst>
                    <a:cxn ang="0">
                      <a:pos x="39" y="343"/>
                    </a:cxn>
                    <a:cxn ang="0">
                      <a:pos x="37" y="343"/>
                    </a:cxn>
                    <a:cxn ang="0">
                      <a:pos x="44" y="429"/>
                    </a:cxn>
                    <a:cxn ang="0">
                      <a:pos x="46" y="429"/>
                    </a:cxn>
                    <a:cxn ang="0">
                      <a:pos x="39" y="343"/>
                    </a:cxn>
                    <a:cxn ang="0">
                      <a:pos x="36" y="233"/>
                    </a:cxn>
                    <a:cxn ang="0">
                      <a:pos x="34" y="233"/>
                    </a:cxn>
                    <a:cxn ang="0">
                      <a:pos x="37" y="335"/>
                    </a:cxn>
                    <a:cxn ang="0">
                      <a:pos x="37" y="335"/>
                    </a:cxn>
                    <a:cxn ang="0">
                      <a:pos x="37" y="337"/>
                    </a:cxn>
                    <a:cxn ang="0">
                      <a:pos x="37" y="342"/>
                    </a:cxn>
                    <a:cxn ang="0">
                      <a:pos x="39" y="342"/>
                    </a:cxn>
                    <a:cxn ang="0">
                      <a:pos x="39" y="337"/>
                    </a:cxn>
                    <a:cxn ang="0">
                      <a:pos x="39" y="335"/>
                    </a:cxn>
                    <a:cxn ang="0">
                      <a:pos x="39" y="335"/>
                    </a:cxn>
                    <a:cxn ang="0">
                      <a:pos x="39" y="335"/>
                    </a:cxn>
                    <a:cxn ang="0">
                      <a:pos x="36" y="233"/>
                    </a:cxn>
                    <a:cxn ang="0">
                      <a:pos x="30" y="102"/>
                    </a:cxn>
                    <a:cxn ang="0">
                      <a:pos x="28" y="102"/>
                    </a:cxn>
                    <a:cxn ang="0">
                      <a:pos x="30" y="113"/>
                    </a:cxn>
                    <a:cxn ang="0">
                      <a:pos x="34" y="229"/>
                    </a:cxn>
                    <a:cxn ang="0">
                      <a:pos x="34" y="232"/>
                    </a:cxn>
                    <a:cxn ang="0">
                      <a:pos x="36" y="232"/>
                    </a:cxn>
                    <a:cxn ang="0">
                      <a:pos x="32" y="113"/>
                    </a:cxn>
                    <a:cxn ang="0">
                      <a:pos x="30" y="102"/>
                    </a:cxn>
                    <a:cxn ang="0">
                      <a:pos x="3" y="0"/>
                    </a:cxn>
                    <a:cxn ang="0">
                      <a:pos x="0" y="0"/>
                    </a:cxn>
                    <a:cxn ang="0">
                      <a:pos x="2" y="2"/>
                    </a:cxn>
                    <a:cxn ang="0">
                      <a:pos x="28" y="101"/>
                    </a:cxn>
                    <a:cxn ang="0">
                      <a:pos x="30" y="101"/>
                    </a:cxn>
                    <a:cxn ang="0">
                      <a:pos x="4" y="2"/>
                    </a:cxn>
                    <a:cxn ang="0">
                      <a:pos x="3" y="0"/>
                    </a:cxn>
                  </a:cxnLst>
                  <a:rect l="0" t="0" r="r" b="b"/>
                  <a:pathLst>
                    <a:path w="46" h="429">
                      <a:moveTo>
                        <a:pt x="39" y="343"/>
                      </a:moveTo>
                      <a:cubicBezTo>
                        <a:pt x="37" y="343"/>
                        <a:pt x="37" y="343"/>
                        <a:pt x="37" y="343"/>
                      </a:cubicBezTo>
                      <a:cubicBezTo>
                        <a:pt x="38" y="370"/>
                        <a:pt x="41" y="404"/>
                        <a:pt x="44" y="429"/>
                      </a:cubicBezTo>
                      <a:cubicBezTo>
                        <a:pt x="46" y="429"/>
                        <a:pt x="46" y="429"/>
                        <a:pt x="46" y="429"/>
                      </a:cubicBezTo>
                      <a:cubicBezTo>
                        <a:pt x="43" y="404"/>
                        <a:pt x="40" y="370"/>
                        <a:pt x="39" y="343"/>
                      </a:cubicBezTo>
                      <a:moveTo>
                        <a:pt x="36" y="233"/>
                      </a:moveTo>
                      <a:cubicBezTo>
                        <a:pt x="34" y="233"/>
                        <a:pt x="34" y="233"/>
                        <a:pt x="34" y="233"/>
                      </a:cubicBezTo>
                      <a:cubicBezTo>
                        <a:pt x="36" y="286"/>
                        <a:pt x="37" y="335"/>
                        <a:pt x="37" y="335"/>
                      </a:cubicBezTo>
                      <a:cubicBezTo>
                        <a:pt x="37" y="335"/>
                        <a:pt x="37" y="335"/>
                        <a:pt x="37" y="335"/>
                      </a:cubicBezTo>
                      <a:cubicBezTo>
                        <a:pt x="37" y="336"/>
                        <a:pt x="37" y="336"/>
                        <a:pt x="37" y="337"/>
                      </a:cubicBezTo>
                      <a:cubicBezTo>
                        <a:pt x="37" y="338"/>
                        <a:pt x="37" y="340"/>
                        <a:pt x="37" y="342"/>
                      </a:cubicBezTo>
                      <a:cubicBezTo>
                        <a:pt x="39" y="342"/>
                        <a:pt x="39" y="342"/>
                        <a:pt x="39" y="342"/>
                      </a:cubicBezTo>
                      <a:cubicBezTo>
                        <a:pt x="39" y="340"/>
                        <a:pt x="39" y="338"/>
                        <a:pt x="39" y="337"/>
                      </a:cubicBezTo>
                      <a:cubicBezTo>
                        <a:pt x="39" y="336"/>
                        <a:pt x="39" y="336"/>
                        <a:pt x="39" y="335"/>
                      </a:cubicBezTo>
                      <a:cubicBezTo>
                        <a:pt x="39" y="335"/>
                        <a:pt x="39" y="335"/>
                        <a:pt x="39" y="335"/>
                      </a:cubicBezTo>
                      <a:cubicBezTo>
                        <a:pt x="39" y="335"/>
                        <a:pt x="39" y="335"/>
                        <a:pt x="39" y="335"/>
                      </a:cubicBezTo>
                      <a:cubicBezTo>
                        <a:pt x="39" y="335"/>
                        <a:pt x="38" y="286"/>
                        <a:pt x="36" y="233"/>
                      </a:cubicBezTo>
                      <a:moveTo>
                        <a:pt x="30" y="102"/>
                      </a:moveTo>
                      <a:cubicBezTo>
                        <a:pt x="28" y="102"/>
                        <a:pt x="28" y="102"/>
                        <a:pt x="28" y="102"/>
                      </a:cubicBezTo>
                      <a:cubicBezTo>
                        <a:pt x="29" y="107"/>
                        <a:pt x="29" y="111"/>
                        <a:pt x="30" y="113"/>
                      </a:cubicBezTo>
                      <a:cubicBezTo>
                        <a:pt x="30" y="119"/>
                        <a:pt x="32" y="175"/>
                        <a:pt x="34" y="229"/>
                      </a:cubicBezTo>
                      <a:cubicBezTo>
                        <a:pt x="34" y="230"/>
                        <a:pt x="34" y="231"/>
                        <a:pt x="34" y="232"/>
                      </a:cubicBezTo>
                      <a:cubicBezTo>
                        <a:pt x="36" y="232"/>
                        <a:pt x="36" y="232"/>
                        <a:pt x="36" y="232"/>
                      </a:cubicBezTo>
                      <a:cubicBezTo>
                        <a:pt x="34" y="177"/>
                        <a:pt x="32" y="119"/>
                        <a:pt x="32" y="113"/>
                      </a:cubicBezTo>
                      <a:cubicBezTo>
                        <a:pt x="31" y="111"/>
                        <a:pt x="31" y="107"/>
                        <a:pt x="30" y="102"/>
                      </a:cubicBezTo>
                      <a:moveTo>
                        <a:pt x="3" y="0"/>
                      </a:moveTo>
                      <a:cubicBezTo>
                        <a:pt x="0" y="0"/>
                        <a:pt x="0" y="0"/>
                        <a:pt x="0" y="0"/>
                      </a:cubicBezTo>
                      <a:cubicBezTo>
                        <a:pt x="1" y="1"/>
                        <a:pt x="1" y="2"/>
                        <a:pt x="2" y="2"/>
                      </a:cubicBezTo>
                      <a:cubicBezTo>
                        <a:pt x="14" y="28"/>
                        <a:pt x="24" y="77"/>
                        <a:pt x="28" y="101"/>
                      </a:cubicBezTo>
                      <a:cubicBezTo>
                        <a:pt x="30" y="101"/>
                        <a:pt x="30" y="101"/>
                        <a:pt x="30" y="101"/>
                      </a:cubicBezTo>
                      <a:cubicBezTo>
                        <a:pt x="26" y="77"/>
                        <a:pt x="16" y="28"/>
                        <a:pt x="4" y="2"/>
                      </a:cubicBezTo>
                      <a:cubicBezTo>
                        <a:pt x="3" y="1"/>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5" name="Freeform 115"/>
                <p:cNvSpPr>
                  <a:spLocks/>
                </p:cNvSpPr>
                <p:nvPr/>
              </p:nvSpPr>
              <p:spPr bwMode="auto">
                <a:xfrm>
                  <a:off x="-836" y="3069"/>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6" name="Freeform 116"/>
                <p:cNvSpPr>
                  <a:spLocks noEditPoints="1"/>
                </p:cNvSpPr>
                <p:nvPr/>
              </p:nvSpPr>
              <p:spPr bwMode="auto">
                <a:xfrm>
                  <a:off x="-1712" y="1524"/>
                  <a:ext cx="906" cy="1832"/>
                </a:xfrm>
                <a:custGeom>
                  <a:avLst/>
                  <a:gdLst/>
                  <a:ahLst/>
                  <a:cxnLst>
                    <a:cxn ang="0">
                      <a:pos x="379" y="740"/>
                    </a:cxn>
                    <a:cxn ang="0">
                      <a:pos x="377" y="740"/>
                    </a:cxn>
                    <a:cxn ang="0">
                      <a:pos x="381" y="772"/>
                    </a:cxn>
                    <a:cxn ang="0">
                      <a:pos x="383" y="772"/>
                    </a:cxn>
                    <a:cxn ang="0">
                      <a:pos x="383" y="773"/>
                    </a:cxn>
                    <a:cxn ang="0">
                      <a:pos x="383" y="773"/>
                    </a:cxn>
                    <a:cxn ang="0">
                      <a:pos x="382" y="760"/>
                    </a:cxn>
                    <a:cxn ang="0">
                      <a:pos x="379" y="740"/>
                    </a:cxn>
                    <a:cxn ang="0">
                      <a:pos x="179" y="98"/>
                    </a:cxn>
                    <a:cxn ang="0">
                      <a:pos x="176" y="98"/>
                    </a:cxn>
                    <a:cxn ang="0">
                      <a:pos x="189" y="109"/>
                    </a:cxn>
                    <a:cxn ang="0">
                      <a:pos x="258" y="194"/>
                    </a:cxn>
                    <a:cxn ang="0">
                      <a:pos x="261" y="194"/>
                    </a:cxn>
                    <a:cxn ang="0">
                      <a:pos x="190" y="107"/>
                    </a:cxn>
                    <a:cxn ang="0">
                      <a:pos x="179" y="98"/>
                    </a:cxn>
                    <a:cxn ang="0">
                      <a:pos x="1" y="0"/>
                    </a:cxn>
                    <a:cxn ang="0">
                      <a:pos x="0" y="2"/>
                    </a:cxn>
                    <a:cxn ang="0">
                      <a:pos x="175" y="97"/>
                    </a:cxn>
                    <a:cxn ang="0">
                      <a:pos x="178" y="97"/>
                    </a:cxn>
                    <a:cxn ang="0">
                      <a:pos x="1" y="0"/>
                    </a:cxn>
                  </a:cxnLst>
                  <a:rect l="0" t="0" r="r" b="b"/>
                  <a:pathLst>
                    <a:path w="383" h="773">
                      <a:moveTo>
                        <a:pt x="379" y="740"/>
                      </a:moveTo>
                      <a:cubicBezTo>
                        <a:pt x="377" y="740"/>
                        <a:pt x="377" y="740"/>
                        <a:pt x="377" y="740"/>
                      </a:cubicBezTo>
                      <a:cubicBezTo>
                        <a:pt x="379" y="757"/>
                        <a:pt x="381" y="769"/>
                        <a:pt x="381" y="772"/>
                      </a:cubicBezTo>
                      <a:cubicBezTo>
                        <a:pt x="383" y="772"/>
                        <a:pt x="383" y="772"/>
                        <a:pt x="383" y="772"/>
                      </a:cubicBezTo>
                      <a:cubicBezTo>
                        <a:pt x="383" y="773"/>
                        <a:pt x="383" y="773"/>
                        <a:pt x="383" y="773"/>
                      </a:cubicBezTo>
                      <a:cubicBezTo>
                        <a:pt x="383" y="773"/>
                        <a:pt x="383" y="773"/>
                        <a:pt x="383" y="773"/>
                      </a:cubicBezTo>
                      <a:cubicBezTo>
                        <a:pt x="383" y="773"/>
                        <a:pt x="383" y="768"/>
                        <a:pt x="382" y="760"/>
                      </a:cubicBezTo>
                      <a:cubicBezTo>
                        <a:pt x="381" y="755"/>
                        <a:pt x="380" y="748"/>
                        <a:pt x="379" y="740"/>
                      </a:cubicBezTo>
                      <a:moveTo>
                        <a:pt x="179" y="98"/>
                      </a:moveTo>
                      <a:cubicBezTo>
                        <a:pt x="176" y="98"/>
                        <a:pt x="176" y="98"/>
                        <a:pt x="176" y="98"/>
                      </a:cubicBezTo>
                      <a:cubicBezTo>
                        <a:pt x="181" y="102"/>
                        <a:pt x="185" y="106"/>
                        <a:pt x="189" y="109"/>
                      </a:cubicBezTo>
                      <a:cubicBezTo>
                        <a:pt x="204" y="122"/>
                        <a:pt x="231" y="156"/>
                        <a:pt x="258" y="194"/>
                      </a:cubicBezTo>
                      <a:cubicBezTo>
                        <a:pt x="261" y="194"/>
                        <a:pt x="261" y="194"/>
                        <a:pt x="261" y="194"/>
                      </a:cubicBezTo>
                      <a:cubicBezTo>
                        <a:pt x="233" y="156"/>
                        <a:pt x="206" y="121"/>
                        <a:pt x="190" y="107"/>
                      </a:cubicBezTo>
                      <a:cubicBezTo>
                        <a:pt x="187" y="104"/>
                        <a:pt x="183" y="101"/>
                        <a:pt x="179" y="98"/>
                      </a:cubicBezTo>
                      <a:moveTo>
                        <a:pt x="1" y="0"/>
                      </a:moveTo>
                      <a:cubicBezTo>
                        <a:pt x="0" y="2"/>
                        <a:pt x="0" y="2"/>
                        <a:pt x="0" y="2"/>
                      </a:cubicBezTo>
                      <a:cubicBezTo>
                        <a:pt x="82" y="22"/>
                        <a:pt x="139" y="66"/>
                        <a:pt x="175" y="97"/>
                      </a:cubicBezTo>
                      <a:cubicBezTo>
                        <a:pt x="178" y="97"/>
                        <a:pt x="178" y="97"/>
                        <a:pt x="178" y="97"/>
                      </a:cubicBezTo>
                      <a:cubicBezTo>
                        <a:pt x="142" y="66"/>
                        <a:pt x="84" y="2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7" name="Freeform 117"/>
                <p:cNvSpPr>
                  <a:spLocks/>
                </p:cNvSpPr>
                <p:nvPr/>
              </p:nvSpPr>
              <p:spPr bwMode="auto">
                <a:xfrm>
                  <a:off x="-1298" y="1754"/>
                  <a:ext cx="10" cy="2"/>
                </a:xfrm>
                <a:custGeom>
                  <a:avLst/>
                  <a:gdLst/>
                  <a:ahLst/>
                  <a:cxnLst>
                    <a:cxn ang="0">
                      <a:pos x="3" y="0"/>
                    </a:cxn>
                    <a:cxn ang="0">
                      <a:pos x="0" y="0"/>
                    </a:cxn>
                    <a:cxn ang="0">
                      <a:pos x="1" y="1"/>
                    </a:cxn>
                    <a:cxn ang="0">
                      <a:pos x="4" y="1"/>
                    </a:cxn>
                    <a:cxn ang="0">
                      <a:pos x="3" y="0"/>
                    </a:cxn>
                  </a:cxnLst>
                  <a:rect l="0" t="0" r="r" b="b"/>
                  <a:pathLst>
                    <a:path w="4" h="1">
                      <a:moveTo>
                        <a:pt x="3" y="0"/>
                      </a:moveTo>
                      <a:cubicBezTo>
                        <a:pt x="0" y="0"/>
                        <a:pt x="0" y="0"/>
                        <a:pt x="0" y="0"/>
                      </a:cubicBezTo>
                      <a:cubicBezTo>
                        <a:pt x="1" y="1"/>
                        <a:pt x="1" y="1"/>
                        <a:pt x="1" y="1"/>
                      </a:cubicBezTo>
                      <a:cubicBezTo>
                        <a:pt x="4" y="1"/>
                        <a:pt x="4" y="1"/>
                        <a:pt x="4"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8" name="Freeform 118"/>
                <p:cNvSpPr>
                  <a:spLocks/>
                </p:cNvSpPr>
                <p:nvPr/>
              </p:nvSpPr>
              <p:spPr bwMode="auto">
                <a:xfrm>
                  <a:off x="-843" y="2809"/>
                  <a:ext cx="4"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9" name="Freeform 119"/>
                <p:cNvSpPr>
                  <a:spLocks/>
                </p:cNvSpPr>
                <p:nvPr/>
              </p:nvSpPr>
              <p:spPr bwMode="auto">
                <a:xfrm>
                  <a:off x="-820" y="3276"/>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0" name="Freeform 120"/>
                <p:cNvSpPr>
                  <a:spLocks/>
                </p:cNvSpPr>
                <p:nvPr/>
              </p:nvSpPr>
              <p:spPr bwMode="auto">
                <a:xfrm>
                  <a:off x="-810" y="3356"/>
                  <a:ext cx="2" cy="1"/>
                </a:xfrm>
                <a:custGeom>
                  <a:avLst/>
                  <a:gdLst/>
                  <a:ahLst/>
                  <a:cxnLst>
                    <a:cxn ang="0">
                      <a:pos x="1" y="0"/>
                    </a:cxn>
                    <a:cxn ang="0">
                      <a:pos x="0" y="0"/>
                    </a:cxn>
                    <a:cxn ang="0">
                      <a:pos x="0" y="0"/>
                    </a:cxn>
                    <a:cxn ang="0">
                      <a:pos x="1" y="0"/>
                    </a:cxn>
                  </a:cxnLst>
                  <a:rect l="0" t="0" r="r" b="b"/>
                  <a:pathLst>
                    <a:path w="1">
                      <a:moveTo>
                        <a:pt x="1" y="0"/>
                      </a:moveTo>
                      <a:cubicBezTo>
                        <a:pt x="0" y="0"/>
                        <a:pt x="0" y="0"/>
                        <a:pt x="0" y="0"/>
                      </a:cubicBezTo>
                      <a:cubicBezTo>
                        <a:pt x="0" y="0"/>
                        <a:pt x="0" y="0"/>
                        <a:pt x="0" y="0"/>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1" name="Freeform 121"/>
                <p:cNvSpPr>
                  <a:spLocks/>
                </p:cNvSpPr>
                <p:nvPr/>
              </p:nvSpPr>
              <p:spPr bwMode="auto">
                <a:xfrm>
                  <a:off x="-810" y="3354"/>
                  <a:ext cx="4" cy="2"/>
                </a:xfrm>
                <a:custGeom>
                  <a:avLst/>
                  <a:gdLst/>
                  <a:ahLst/>
                  <a:cxnLst>
                    <a:cxn ang="0">
                      <a:pos x="2" y="0"/>
                    </a:cxn>
                    <a:cxn ang="0">
                      <a:pos x="0" y="0"/>
                    </a:cxn>
                    <a:cxn ang="0">
                      <a:pos x="0" y="1"/>
                    </a:cxn>
                    <a:cxn ang="0">
                      <a:pos x="1" y="1"/>
                    </a:cxn>
                    <a:cxn ang="0">
                      <a:pos x="2" y="1"/>
                    </a:cxn>
                    <a:cxn ang="0">
                      <a:pos x="2" y="0"/>
                    </a:cxn>
                  </a:cxnLst>
                  <a:rect l="0" t="0" r="r" b="b"/>
                  <a:pathLst>
                    <a:path w="2" h="1">
                      <a:moveTo>
                        <a:pt x="2" y="0"/>
                      </a:moveTo>
                      <a:cubicBezTo>
                        <a:pt x="0" y="0"/>
                        <a:pt x="0" y="0"/>
                        <a:pt x="0" y="0"/>
                      </a:cubicBezTo>
                      <a:cubicBezTo>
                        <a:pt x="0" y="1"/>
                        <a:pt x="0" y="1"/>
                        <a:pt x="0" y="1"/>
                      </a:cubicBezTo>
                      <a:cubicBezTo>
                        <a:pt x="1" y="1"/>
                        <a:pt x="1" y="1"/>
                        <a:pt x="1"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2" name="Freeform 122"/>
                <p:cNvSpPr>
                  <a:spLocks/>
                </p:cNvSpPr>
                <p:nvPr/>
              </p:nvSpPr>
              <p:spPr bwMode="auto">
                <a:xfrm>
                  <a:off x="-858"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3" name="Freeform 123"/>
                <p:cNvSpPr>
                  <a:spLocks/>
                </p:cNvSpPr>
                <p:nvPr/>
              </p:nvSpPr>
              <p:spPr bwMode="auto">
                <a:xfrm>
                  <a:off x="-924" y="2256"/>
                  <a:ext cx="7" cy="3"/>
                </a:xfrm>
                <a:custGeom>
                  <a:avLst/>
                  <a:gdLst/>
                  <a:ahLst/>
                  <a:cxnLst>
                    <a:cxn ang="0">
                      <a:pos x="2" y="0"/>
                    </a:cxn>
                    <a:cxn ang="0">
                      <a:pos x="0" y="0"/>
                    </a:cxn>
                    <a:cxn ang="0">
                      <a:pos x="0" y="1"/>
                    </a:cxn>
                    <a:cxn ang="0">
                      <a:pos x="3" y="1"/>
                    </a:cxn>
                    <a:cxn ang="0">
                      <a:pos x="2" y="0"/>
                    </a:cxn>
                  </a:cxnLst>
                  <a:rect l="0" t="0" r="r" b="b"/>
                  <a:pathLst>
                    <a:path w="3" h="1">
                      <a:moveTo>
                        <a:pt x="2" y="0"/>
                      </a:moveTo>
                      <a:cubicBezTo>
                        <a:pt x="0" y="0"/>
                        <a:pt x="0" y="0"/>
                        <a:pt x="0" y="0"/>
                      </a:cubicBezTo>
                      <a:cubicBezTo>
                        <a:pt x="0" y="0"/>
                        <a:pt x="0" y="0"/>
                        <a:pt x="0" y="1"/>
                      </a:cubicBezTo>
                      <a:cubicBezTo>
                        <a:pt x="3" y="1"/>
                        <a:pt x="3" y="1"/>
                        <a:pt x="3"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4" name="Freeform 124"/>
                <p:cNvSpPr>
                  <a:spLocks noEditPoints="1"/>
                </p:cNvSpPr>
                <p:nvPr/>
              </p:nvSpPr>
              <p:spPr bwMode="auto">
                <a:xfrm>
                  <a:off x="-2699" y="2451"/>
                  <a:ext cx="106" cy="825"/>
                </a:xfrm>
                <a:custGeom>
                  <a:avLst/>
                  <a:gdLst/>
                  <a:ahLst/>
                  <a:cxnLst>
                    <a:cxn ang="0">
                      <a:pos x="16" y="262"/>
                    </a:cxn>
                    <a:cxn ang="0">
                      <a:pos x="14" y="262"/>
                    </a:cxn>
                    <a:cxn ang="0">
                      <a:pos x="14" y="266"/>
                    </a:cxn>
                    <a:cxn ang="0">
                      <a:pos x="0" y="348"/>
                    </a:cxn>
                    <a:cxn ang="0">
                      <a:pos x="2" y="348"/>
                    </a:cxn>
                    <a:cxn ang="0">
                      <a:pos x="16" y="262"/>
                    </a:cxn>
                    <a:cxn ang="0">
                      <a:pos x="34" y="152"/>
                    </a:cxn>
                    <a:cxn ang="0">
                      <a:pos x="32" y="152"/>
                    </a:cxn>
                    <a:cxn ang="0">
                      <a:pos x="20" y="239"/>
                    </a:cxn>
                    <a:cxn ang="0">
                      <a:pos x="16" y="256"/>
                    </a:cxn>
                    <a:cxn ang="0">
                      <a:pos x="15" y="260"/>
                    </a:cxn>
                    <a:cxn ang="0">
                      <a:pos x="15" y="260"/>
                    </a:cxn>
                    <a:cxn ang="0">
                      <a:pos x="15" y="261"/>
                    </a:cxn>
                    <a:cxn ang="0">
                      <a:pos x="15" y="261"/>
                    </a:cxn>
                    <a:cxn ang="0">
                      <a:pos x="15" y="261"/>
                    </a:cxn>
                    <a:cxn ang="0">
                      <a:pos x="17" y="261"/>
                    </a:cxn>
                    <a:cxn ang="0">
                      <a:pos x="34" y="152"/>
                    </a:cxn>
                    <a:cxn ang="0">
                      <a:pos x="43" y="21"/>
                    </a:cxn>
                    <a:cxn ang="0">
                      <a:pos x="41" y="21"/>
                    </a:cxn>
                    <a:cxn ang="0">
                      <a:pos x="43" y="52"/>
                    </a:cxn>
                    <a:cxn ang="0">
                      <a:pos x="43" y="55"/>
                    </a:cxn>
                    <a:cxn ang="0">
                      <a:pos x="43" y="55"/>
                    </a:cxn>
                    <a:cxn ang="0">
                      <a:pos x="42" y="66"/>
                    </a:cxn>
                    <a:cxn ang="0">
                      <a:pos x="32" y="151"/>
                    </a:cxn>
                    <a:cxn ang="0">
                      <a:pos x="34" y="151"/>
                    </a:cxn>
                    <a:cxn ang="0">
                      <a:pos x="45" y="55"/>
                    </a:cxn>
                    <a:cxn ang="0">
                      <a:pos x="45" y="55"/>
                    </a:cxn>
                    <a:cxn ang="0">
                      <a:pos x="45" y="52"/>
                    </a:cxn>
                    <a:cxn ang="0">
                      <a:pos x="43" y="21"/>
                    </a:cxn>
                    <a:cxn ang="0">
                      <a:pos x="41" y="0"/>
                    </a:cxn>
                    <a:cxn ang="0">
                      <a:pos x="41" y="1"/>
                    </a:cxn>
                    <a:cxn ang="0">
                      <a:pos x="39" y="1"/>
                    </a:cxn>
                    <a:cxn ang="0">
                      <a:pos x="39" y="1"/>
                    </a:cxn>
                    <a:cxn ang="0">
                      <a:pos x="41" y="20"/>
                    </a:cxn>
                    <a:cxn ang="0">
                      <a:pos x="43" y="20"/>
                    </a:cxn>
                    <a:cxn ang="0">
                      <a:pos x="41" y="0"/>
                    </a:cxn>
                  </a:cxnLst>
                  <a:rect l="0" t="0" r="r" b="b"/>
                  <a:pathLst>
                    <a:path w="45" h="348">
                      <a:moveTo>
                        <a:pt x="16" y="262"/>
                      </a:moveTo>
                      <a:cubicBezTo>
                        <a:pt x="14" y="262"/>
                        <a:pt x="14" y="262"/>
                        <a:pt x="14" y="262"/>
                      </a:cubicBezTo>
                      <a:cubicBezTo>
                        <a:pt x="14" y="263"/>
                        <a:pt x="14" y="264"/>
                        <a:pt x="14" y="266"/>
                      </a:cubicBezTo>
                      <a:cubicBezTo>
                        <a:pt x="13" y="278"/>
                        <a:pt x="9" y="309"/>
                        <a:pt x="0" y="348"/>
                      </a:cubicBezTo>
                      <a:cubicBezTo>
                        <a:pt x="2" y="348"/>
                        <a:pt x="2" y="348"/>
                        <a:pt x="2" y="348"/>
                      </a:cubicBezTo>
                      <a:cubicBezTo>
                        <a:pt x="13" y="303"/>
                        <a:pt x="16" y="268"/>
                        <a:pt x="16" y="262"/>
                      </a:cubicBezTo>
                      <a:moveTo>
                        <a:pt x="34" y="152"/>
                      </a:moveTo>
                      <a:cubicBezTo>
                        <a:pt x="32" y="152"/>
                        <a:pt x="32" y="152"/>
                        <a:pt x="32" y="152"/>
                      </a:cubicBezTo>
                      <a:cubicBezTo>
                        <a:pt x="28" y="195"/>
                        <a:pt x="23" y="222"/>
                        <a:pt x="20" y="239"/>
                      </a:cubicBezTo>
                      <a:cubicBezTo>
                        <a:pt x="18" y="247"/>
                        <a:pt x="17" y="252"/>
                        <a:pt x="16" y="256"/>
                      </a:cubicBezTo>
                      <a:cubicBezTo>
                        <a:pt x="16" y="258"/>
                        <a:pt x="15" y="259"/>
                        <a:pt x="15" y="260"/>
                      </a:cubicBezTo>
                      <a:cubicBezTo>
                        <a:pt x="15" y="260"/>
                        <a:pt x="15" y="260"/>
                        <a:pt x="15" y="260"/>
                      </a:cubicBezTo>
                      <a:cubicBezTo>
                        <a:pt x="15" y="261"/>
                        <a:pt x="15" y="261"/>
                        <a:pt x="15" y="261"/>
                      </a:cubicBezTo>
                      <a:cubicBezTo>
                        <a:pt x="15" y="261"/>
                        <a:pt x="15" y="261"/>
                        <a:pt x="15" y="261"/>
                      </a:cubicBezTo>
                      <a:cubicBezTo>
                        <a:pt x="15" y="261"/>
                        <a:pt x="15" y="261"/>
                        <a:pt x="15" y="261"/>
                      </a:cubicBezTo>
                      <a:cubicBezTo>
                        <a:pt x="17" y="261"/>
                        <a:pt x="17" y="261"/>
                        <a:pt x="17" y="261"/>
                      </a:cubicBezTo>
                      <a:cubicBezTo>
                        <a:pt x="18" y="257"/>
                        <a:pt x="26" y="232"/>
                        <a:pt x="34" y="152"/>
                      </a:cubicBezTo>
                      <a:moveTo>
                        <a:pt x="43" y="21"/>
                      </a:moveTo>
                      <a:cubicBezTo>
                        <a:pt x="41" y="21"/>
                        <a:pt x="41" y="21"/>
                        <a:pt x="41" y="21"/>
                      </a:cubicBezTo>
                      <a:cubicBezTo>
                        <a:pt x="42" y="33"/>
                        <a:pt x="43" y="45"/>
                        <a:pt x="43" y="52"/>
                      </a:cubicBezTo>
                      <a:cubicBezTo>
                        <a:pt x="43" y="53"/>
                        <a:pt x="43" y="54"/>
                        <a:pt x="43" y="55"/>
                      </a:cubicBezTo>
                      <a:cubicBezTo>
                        <a:pt x="43" y="55"/>
                        <a:pt x="43" y="55"/>
                        <a:pt x="43" y="55"/>
                      </a:cubicBezTo>
                      <a:cubicBezTo>
                        <a:pt x="43" y="55"/>
                        <a:pt x="43" y="59"/>
                        <a:pt x="42" y="66"/>
                      </a:cubicBezTo>
                      <a:cubicBezTo>
                        <a:pt x="41" y="86"/>
                        <a:pt x="37" y="130"/>
                        <a:pt x="32" y="151"/>
                      </a:cubicBezTo>
                      <a:cubicBezTo>
                        <a:pt x="34" y="151"/>
                        <a:pt x="34" y="151"/>
                        <a:pt x="34" y="151"/>
                      </a:cubicBezTo>
                      <a:cubicBezTo>
                        <a:pt x="41" y="122"/>
                        <a:pt x="45" y="55"/>
                        <a:pt x="45" y="55"/>
                      </a:cubicBezTo>
                      <a:cubicBezTo>
                        <a:pt x="45" y="55"/>
                        <a:pt x="45" y="55"/>
                        <a:pt x="45" y="55"/>
                      </a:cubicBezTo>
                      <a:cubicBezTo>
                        <a:pt x="45" y="54"/>
                        <a:pt x="45" y="53"/>
                        <a:pt x="45" y="52"/>
                      </a:cubicBezTo>
                      <a:cubicBezTo>
                        <a:pt x="45" y="45"/>
                        <a:pt x="44" y="33"/>
                        <a:pt x="43" y="21"/>
                      </a:cubicBezTo>
                      <a:moveTo>
                        <a:pt x="41" y="0"/>
                      </a:moveTo>
                      <a:cubicBezTo>
                        <a:pt x="41" y="1"/>
                        <a:pt x="41" y="1"/>
                        <a:pt x="41" y="1"/>
                      </a:cubicBezTo>
                      <a:cubicBezTo>
                        <a:pt x="39" y="1"/>
                        <a:pt x="39" y="1"/>
                        <a:pt x="39" y="1"/>
                      </a:cubicBezTo>
                      <a:cubicBezTo>
                        <a:pt x="39" y="1"/>
                        <a:pt x="39" y="1"/>
                        <a:pt x="39" y="1"/>
                      </a:cubicBezTo>
                      <a:cubicBezTo>
                        <a:pt x="39" y="6"/>
                        <a:pt x="40" y="13"/>
                        <a:pt x="41" y="20"/>
                      </a:cubicBezTo>
                      <a:cubicBezTo>
                        <a:pt x="43" y="20"/>
                        <a:pt x="43" y="20"/>
                        <a:pt x="43" y="20"/>
                      </a:cubicBezTo>
                      <a:cubicBezTo>
                        <a:pt x="42" y="13"/>
                        <a:pt x="41" y="6"/>
                        <a:pt x="4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5" name="Freeform 125"/>
                <p:cNvSpPr>
                  <a:spLocks/>
                </p:cNvSpPr>
                <p:nvPr/>
              </p:nvSpPr>
              <p:spPr bwMode="auto">
                <a:xfrm>
                  <a:off x="-2666" y="3069"/>
                  <a:ext cx="7" cy="3"/>
                </a:xfrm>
                <a:custGeom>
                  <a:avLst/>
                  <a:gdLst/>
                  <a:ahLst/>
                  <a:cxnLst>
                    <a:cxn ang="0">
                      <a:pos x="3" y="0"/>
                    </a:cxn>
                    <a:cxn ang="0">
                      <a:pos x="1" y="0"/>
                    </a:cxn>
                    <a:cxn ang="0">
                      <a:pos x="1" y="0"/>
                    </a:cxn>
                    <a:cxn ang="0">
                      <a:pos x="0" y="1"/>
                    </a:cxn>
                    <a:cxn ang="0">
                      <a:pos x="2" y="1"/>
                    </a:cxn>
                    <a:cxn ang="0">
                      <a:pos x="3" y="0"/>
                    </a:cxn>
                    <a:cxn ang="0">
                      <a:pos x="3" y="0"/>
                    </a:cxn>
                  </a:cxnLst>
                  <a:rect l="0" t="0" r="r" b="b"/>
                  <a:pathLst>
                    <a:path w="3" h="1">
                      <a:moveTo>
                        <a:pt x="3" y="0"/>
                      </a:moveTo>
                      <a:cubicBezTo>
                        <a:pt x="1" y="0"/>
                        <a:pt x="1" y="0"/>
                        <a:pt x="1" y="0"/>
                      </a:cubicBezTo>
                      <a:cubicBezTo>
                        <a:pt x="1" y="0"/>
                        <a:pt x="1" y="0"/>
                        <a:pt x="1" y="0"/>
                      </a:cubicBezTo>
                      <a:cubicBezTo>
                        <a:pt x="1" y="0"/>
                        <a:pt x="1" y="0"/>
                        <a:pt x="0" y="1"/>
                      </a:cubicBezTo>
                      <a:cubicBezTo>
                        <a:pt x="2" y="1"/>
                        <a:pt x="2" y="1"/>
                        <a:pt x="2" y="1"/>
                      </a:cubicBezTo>
                      <a:cubicBezTo>
                        <a:pt x="3" y="1"/>
                        <a:pt x="3" y="0"/>
                        <a:pt x="3" y="0"/>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6" name="Freeform 126"/>
                <p:cNvSpPr>
                  <a:spLocks/>
                </p:cNvSpPr>
                <p:nvPr/>
              </p:nvSpPr>
              <p:spPr bwMode="auto">
                <a:xfrm>
                  <a:off x="-2796" y="3278"/>
                  <a:ext cx="102" cy="258"/>
                </a:xfrm>
                <a:custGeom>
                  <a:avLst/>
                  <a:gdLst/>
                  <a:ahLst/>
                  <a:cxnLst>
                    <a:cxn ang="0">
                      <a:pos x="43" y="0"/>
                    </a:cxn>
                    <a:cxn ang="0">
                      <a:pos x="40" y="0"/>
                    </a:cxn>
                    <a:cxn ang="0">
                      <a:pos x="0" y="108"/>
                    </a:cxn>
                    <a:cxn ang="0">
                      <a:pos x="1" y="109"/>
                    </a:cxn>
                    <a:cxn ang="0">
                      <a:pos x="2" y="109"/>
                    </a:cxn>
                    <a:cxn ang="0">
                      <a:pos x="33" y="33"/>
                    </a:cxn>
                    <a:cxn ang="0">
                      <a:pos x="33" y="32"/>
                    </a:cxn>
                    <a:cxn ang="0">
                      <a:pos x="34" y="32"/>
                    </a:cxn>
                    <a:cxn ang="0">
                      <a:pos x="43" y="0"/>
                    </a:cxn>
                  </a:cxnLst>
                  <a:rect l="0" t="0" r="r" b="b"/>
                  <a:pathLst>
                    <a:path w="43" h="109">
                      <a:moveTo>
                        <a:pt x="43" y="0"/>
                      </a:moveTo>
                      <a:cubicBezTo>
                        <a:pt x="40" y="0"/>
                        <a:pt x="40" y="0"/>
                        <a:pt x="40" y="0"/>
                      </a:cubicBezTo>
                      <a:cubicBezTo>
                        <a:pt x="32" y="34"/>
                        <a:pt x="19" y="73"/>
                        <a:pt x="0" y="108"/>
                      </a:cubicBezTo>
                      <a:cubicBezTo>
                        <a:pt x="1" y="109"/>
                        <a:pt x="1" y="109"/>
                        <a:pt x="1" y="109"/>
                      </a:cubicBezTo>
                      <a:cubicBezTo>
                        <a:pt x="2" y="109"/>
                        <a:pt x="2" y="109"/>
                        <a:pt x="2" y="109"/>
                      </a:cubicBezTo>
                      <a:cubicBezTo>
                        <a:pt x="15" y="84"/>
                        <a:pt x="26" y="58"/>
                        <a:pt x="33" y="33"/>
                      </a:cubicBezTo>
                      <a:cubicBezTo>
                        <a:pt x="33" y="32"/>
                        <a:pt x="33" y="32"/>
                        <a:pt x="33" y="32"/>
                      </a:cubicBezTo>
                      <a:cubicBezTo>
                        <a:pt x="34" y="32"/>
                        <a:pt x="34" y="32"/>
                        <a:pt x="34" y="32"/>
                      </a:cubicBezTo>
                      <a:cubicBezTo>
                        <a:pt x="37" y="21"/>
                        <a:pt x="40" y="10"/>
                        <a:pt x="4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7" name="Freeform 127"/>
                <p:cNvSpPr>
                  <a:spLocks/>
                </p:cNvSpPr>
                <p:nvPr/>
              </p:nvSpPr>
              <p:spPr bwMode="auto">
                <a:xfrm>
                  <a:off x="-2623" y="2809"/>
                  <a:ext cx="4" cy="2"/>
                </a:xfrm>
                <a:custGeom>
                  <a:avLst/>
                  <a:gdLst/>
                  <a:ahLst/>
                  <a:cxnLst>
                    <a:cxn ang="0">
                      <a:pos x="2" y="0"/>
                    </a:cxn>
                    <a:cxn ang="0">
                      <a:pos x="0" y="0"/>
                    </a:cxn>
                    <a:cxn ang="0">
                      <a:pos x="0" y="0"/>
                    </a:cxn>
                    <a:cxn ang="0">
                      <a:pos x="0" y="0"/>
                    </a:cxn>
                    <a:cxn ang="0">
                      <a:pos x="0" y="0"/>
                    </a:cxn>
                    <a:cxn ang="0">
                      <a:pos x="0" y="1"/>
                    </a:cxn>
                    <a:cxn ang="0">
                      <a:pos x="2" y="1"/>
                    </a:cxn>
                    <a:cxn ang="0">
                      <a:pos x="2" y="1"/>
                    </a:cxn>
                    <a:cxn ang="0">
                      <a:pos x="2" y="1"/>
                    </a:cxn>
                    <a:cxn ang="0">
                      <a:pos x="2" y="0"/>
                    </a:cxn>
                  </a:cxnLst>
                  <a:rect l="0" t="0" r="r" b="b"/>
                  <a:pathLst>
                    <a:path w="2" h="1">
                      <a:moveTo>
                        <a:pt x="2" y="0"/>
                      </a:move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2" y="1"/>
                        <a:pt x="2" y="1"/>
                        <a:pt x="2" y="1"/>
                      </a:cubicBezTo>
                      <a:cubicBezTo>
                        <a:pt x="2" y="1"/>
                        <a:pt x="2" y="1"/>
                        <a:pt x="2"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8" name="Freeform 128"/>
                <p:cNvSpPr>
                  <a:spLocks/>
                </p:cNvSpPr>
                <p:nvPr/>
              </p:nvSpPr>
              <p:spPr bwMode="auto">
                <a:xfrm>
                  <a:off x="-2701" y="3276"/>
                  <a:ext cx="7" cy="2"/>
                </a:xfrm>
                <a:custGeom>
                  <a:avLst/>
                  <a:gdLst/>
                  <a:ahLst/>
                  <a:cxnLst>
                    <a:cxn ang="0">
                      <a:pos x="3" y="0"/>
                    </a:cxn>
                    <a:cxn ang="0">
                      <a:pos x="1" y="0"/>
                    </a:cxn>
                    <a:cxn ang="0">
                      <a:pos x="0" y="1"/>
                    </a:cxn>
                    <a:cxn ang="0">
                      <a:pos x="3" y="1"/>
                    </a:cxn>
                    <a:cxn ang="0">
                      <a:pos x="3" y="0"/>
                    </a:cxn>
                  </a:cxnLst>
                  <a:rect l="0" t="0" r="r" b="b"/>
                  <a:pathLst>
                    <a:path w="3" h="1">
                      <a:moveTo>
                        <a:pt x="3" y="0"/>
                      </a:moveTo>
                      <a:cubicBezTo>
                        <a:pt x="1" y="0"/>
                        <a:pt x="1" y="0"/>
                        <a:pt x="1" y="0"/>
                      </a:cubicBezTo>
                      <a:cubicBezTo>
                        <a:pt x="1" y="0"/>
                        <a:pt x="1" y="1"/>
                        <a:pt x="0"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9" name="Freeform 129"/>
                <p:cNvSpPr>
                  <a:spLocks/>
                </p:cNvSpPr>
                <p:nvPr/>
              </p:nvSpPr>
              <p:spPr bwMode="auto">
                <a:xfrm>
                  <a:off x="-2718" y="3354"/>
                  <a:ext cx="2" cy="2"/>
                </a:xfrm>
                <a:custGeom>
                  <a:avLst/>
                  <a:gdLst/>
                  <a:ahLst/>
                  <a:cxnLst>
                    <a:cxn ang="0">
                      <a:pos x="1" y="0"/>
                    </a:cxn>
                    <a:cxn ang="0">
                      <a:pos x="0" y="0"/>
                    </a:cxn>
                    <a:cxn ang="0">
                      <a:pos x="0" y="1"/>
                    </a:cxn>
                    <a:cxn ang="0">
                      <a:pos x="1" y="0"/>
                    </a:cxn>
                  </a:cxnLst>
                  <a:rect l="0" t="0" r="r" b="b"/>
                  <a:pathLst>
                    <a:path w="1" h="1">
                      <a:moveTo>
                        <a:pt x="1" y="0"/>
                      </a:moveTo>
                      <a:cubicBezTo>
                        <a:pt x="0" y="0"/>
                        <a:pt x="0" y="0"/>
                        <a:pt x="0" y="0"/>
                      </a:cubicBezTo>
                      <a:cubicBezTo>
                        <a:pt x="0" y="1"/>
                        <a:pt x="0" y="1"/>
                        <a:pt x="0" y="1"/>
                      </a:cubicBezTo>
                      <a:cubicBezTo>
                        <a:pt x="0" y="1"/>
                        <a:pt x="1" y="1"/>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0" name="Freeform 130"/>
                <p:cNvSpPr>
                  <a:spLocks/>
                </p:cNvSpPr>
                <p:nvPr/>
              </p:nvSpPr>
              <p:spPr bwMode="auto">
                <a:xfrm>
                  <a:off x="-2602"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1" name="Freeform 131"/>
                <p:cNvSpPr>
                  <a:spLocks noEditPoints="1"/>
                </p:cNvSpPr>
                <p:nvPr/>
              </p:nvSpPr>
              <p:spPr bwMode="auto">
                <a:xfrm>
                  <a:off x="-3769" y="1986"/>
                  <a:ext cx="118" cy="270"/>
                </a:xfrm>
                <a:custGeom>
                  <a:avLst/>
                  <a:gdLst/>
                  <a:ahLst/>
                  <a:cxnLst>
                    <a:cxn ang="0">
                      <a:pos x="6" y="101"/>
                    </a:cxn>
                    <a:cxn ang="0">
                      <a:pos x="4" y="101"/>
                    </a:cxn>
                    <a:cxn ang="0">
                      <a:pos x="0" y="114"/>
                    </a:cxn>
                    <a:cxn ang="0">
                      <a:pos x="3" y="114"/>
                    </a:cxn>
                    <a:cxn ang="0">
                      <a:pos x="6" y="101"/>
                    </a:cxn>
                    <a:cxn ang="0">
                      <a:pos x="50" y="0"/>
                    </a:cxn>
                    <a:cxn ang="0">
                      <a:pos x="48" y="0"/>
                    </a:cxn>
                    <a:cxn ang="0">
                      <a:pos x="4" y="100"/>
                    </a:cxn>
                    <a:cxn ang="0">
                      <a:pos x="6" y="100"/>
                    </a:cxn>
                    <a:cxn ang="0">
                      <a:pos x="21" y="55"/>
                    </a:cxn>
                    <a:cxn ang="0">
                      <a:pos x="41" y="13"/>
                    </a:cxn>
                    <a:cxn ang="0">
                      <a:pos x="48" y="3"/>
                    </a:cxn>
                    <a:cxn ang="0">
                      <a:pos x="50" y="0"/>
                    </a:cxn>
                    <a:cxn ang="0">
                      <a:pos x="50" y="0"/>
                    </a:cxn>
                  </a:cxnLst>
                  <a:rect l="0" t="0" r="r" b="b"/>
                  <a:pathLst>
                    <a:path w="50" h="114">
                      <a:moveTo>
                        <a:pt x="6" y="101"/>
                      </a:moveTo>
                      <a:cubicBezTo>
                        <a:pt x="4" y="101"/>
                        <a:pt x="4" y="101"/>
                        <a:pt x="4" y="101"/>
                      </a:cubicBezTo>
                      <a:cubicBezTo>
                        <a:pt x="3" y="105"/>
                        <a:pt x="1" y="109"/>
                        <a:pt x="0" y="114"/>
                      </a:cubicBezTo>
                      <a:cubicBezTo>
                        <a:pt x="3" y="114"/>
                        <a:pt x="3" y="114"/>
                        <a:pt x="3" y="114"/>
                      </a:cubicBezTo>
                      <a:cubicBezTo>
                        <a:pt x="4" y="109"/>
                        <a:pt x="5" y="105"/>
                        <a:pt x="6" y="101"/>
                      </a:cubicBezTo>
                      <a:moveTo>
                        <a:pt x="50" y="0"/>
                      </a:moveTo>
                      <a:cubicBezTo>
                        <a:pt x="48" y="0"/>
                        <a:pt x="48" y="0"/>
                        <a:pt x="48" y="0"/>
                      </a:cubicBezTo>
                      <a:cubicBezTo>
                        <a:pt x="43" y="6"/>
                        <a:pt x="20" y="40"/>
                        <a:pt x="4" y="100"/>
                      </a:cubicBezTo>
                      <a:cubicBezTo>
                        <a:pt x="6" y="100"/>
                        <a:pt x="6" y="100"/>
                        <a:pt x="6" y="100"/>
                      </a:cubicBezTo>
                      <a:cubicBezTo>
                        <a:pt x="11" y="83"/>
                        <a:pt x="16" y="68"/>
                        <a:pt x="21" y="55"/>
                      </a:cubicBezTo>
                      <a:cubicBezTo>
                        <a:pt x="28" y="36"/>
                        <a:pt x="36" y="22"/>
                        <a:pt x="41" y="13"/>
                      </a:cubicBezTo>
                      <a:cubicBezTo>
                        <a:pt x="44" y="9"/>
                        <a:pt x="46" y="5"/>
                        <a:pt x="48" y="3"/>
                      </a:cubicBezTo>
                      <a:cubicBezTo>
                        <a:pt x="49" y="2"/>
                        <a:pt x="49" y="1"/>
                        <a:pt x="50" y="0"/>
                      </a:cubicBezTo>
                      <a:cubicBezTo>
                        <a:pt x="50" y="0"/>
                        <a:pt x="50" y="0"/>
                        <a:pt x="5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2" name="Freeform 132"/>
                <p:cNvSpPr>
                  <a:spLocks/>
                </p:cNvSpPr>
                <p:nvPr/>
              </p:nvSpPr>
              <p:spPr bwMode="auto">
                <a:xfrm>
                  <a:off x="-3759" y="2223"/>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3" name="Freeform 133"/>
                <p:cNvSpPr>
                  <a:spLocks noEditPoints="1"/>
                </p:cNvSpPr>
                <p:nvPr/>
              </p:nvSpPr>
              <p:spPr bwMode="auto">
                <a:xfrm>
                  <a:off x="-3655" y="1522"/>
                  <a:ext cx="329" cy="462"/>
                </a:xfrm>
                <a:custGeom>
                  <a:avLst/>
                  <a:gdLst/>
                  <a:ahLst/>
                  <a:cxnLst>
                    <a:cxn ang="0">
                      <a:pos x="41" y="99"/>
                    </a:cxn>
                    <a:cxn ang="0">
                      <a:pos x="38" y="99"/>
                    </a:cxn>
                    <a:cxn ang="0">
                      <a:pos x="1" y="194"/>
                    </a:cxn>
                    <a:cxn ang="0">
                      <a:pos x="0" y="195"/>
                    </a:cxn>
                    <a:cxn ang="0">
                      <a:pos x="3" y="195"/>
                    </a:cxn>
                    <a:cxn ang="0">
                      <a:pos x="41" y="99"/>
                    </a:cxn>
                    <a:cxn ang="0">
                      <a:pos x="63" y="68"/>
                    </a:cxn>
                    <a:cxn ang="0">
                      <a:pos x="60" y="68"/>
                    </a:cxn>
                    <a:cxn ang="0">
                      <a:pos x="39" y="98"/>
                    </a:cxn>
                    <a:cxn ang="0">
                      <a:pos x="41" y="98"/>
                    </a:cxn>
                    <a:cxn ang="0">
                      <a:pos x="63" y="68"/>
                    </a:cxn>
                    <a:cxn ang="0">
                      <a:pos x="138" y="0"/>
                    </a:cxn>
                    <a:cxn ang="0">
                      <a:pos x="138" y="0"/>
                    </a:cxn>
                    <a:cxn ang="0">
                      <a:pos x="61" y="67"/>
                    </a:cxn>
                    <a:cxn ang="0">
                      <a:pos x="63" y="67"/>
                    </a:cxn>
                    <a:cxn ang="0">
                      <a:pos x="63" y="68"/>
                    </a:cxn>
                    <a:cxn ang="0">
                      <a:pos x="81" y="48"/>
                    </a:cxn>
                    <a:cxn ang="0">
                      <a:pos x="121" y="13"/>
                    </a:cxn>
                    <a:cxn ang="0">
                      <a:pos x="134" y="5"/>
                    </a:cxn>
                    <a:cxn ang="0">
                      <a:pos x="137" y="3"/>
                    </a:cxn>
                    <a:cxn ang="0">
                      <a:pos x="139" y="2"/>
                    </a:cxn>
                    <a:cxn ang="0">
                      <a:pos x="138" y="0"/>
                    </a:cxn>
                  </a:cxnLst>
                  <a:rect l="0" t="0" r="r" b="b"/>
                  <a:pathLst>
                    <a:path w="139" h="195">
                      <a:moveTo>
                        <a:pt x="41" y="99"/>
                      </a:moveTo>
                      <a:cubicBezTo>
                        <a:pt x="38" y="99"/>
                        <a:pt x="38" y="99"/>
                        <a:pt x="38" y="99"/>
                      </a:cubicBezTo>
                      <a:cubicBezTo>
                        <a:pt x="22" y="125"/>
                        <a:pt x="8" y="157"/>
                        <a:pt x="1" y="194"/>
                      </a:cubicBezTo>
                      <a:cubicBezTo>
                        <a:pt x="0" y="195"/>
                        <a:pt x="0" y="195"/>
                        <a:pt x="0" y="195"/>
                      </a:cubicBezTo>
                      <a:cubicBezTo>
                        <a:pt x="3" y="195"/>
                        <a:pt x="3" y="195"/>
                        <a:pt x="3" y="195"/>
                      </a:cubicBezTo>
                      <a:cubicBezTo>
                        <a:pt x="10" y="157"/>
                        <a:pt x="24" y="125"/>
                        <a:pt x="41" y="99"/>
                      </a:cubicBezTo>
                      <a:moveTo>
                        <a:pt x="63" y="68"/>
                      </a:moveTo>
                      <a:cubicBezTo>
                        <a:pt x="60" y="68"/>
                        <a:pt x="60" y="68"/>
                        <a:pt x="60" y="68"/>
                      </a:cubicBezTo>
                      <a:cubicBezTo>
                        <a:pt x="53" y="77"/>
                        <a:pt x="46" y="87"/>
                        <a:pt x="39" y="98"/>
                      </a:cubicBezTo>
                      <a:cubicBezTo>
                        <a:pt x="41" y="98"/>
                        <a:pt x="41" y="98"/>
                        <a:pt x="41" y="98"/>
                      </a:cubicBezTo>
                      <a:cubicBezTo>
                        <a:pt x="48" y="87"/>
                        <a:pt x="56" y="77"/>
                        <a:pt x="63" y="68"/>
                      </a:cubicBezTo>
                      <a:moveTo>
                        <a:pt x="138" y="0"/>
                      </a:moveTo>
                      <a:cubicBezTo>
                        <a:pt x="138" y="0"/>
                        <a:pt x="138" y="0"/>
                        <a:pt x="138" y="0"/>
                      </a:cubicBezTo>
                      <a:cubicBezTo>
                        <a:pt x="138" y="0"/>
                        <a:pt x="98" y="21"/>
                        <a:pt x="61" y="67"/>
                      </a:cubicBezTo>
                      <a:cubicBezTo>
                        <a:pt x="63" y="67"/>
                        <a:pt x="63" y="67"/>
                        <a:pt x="63" y="67"/>
                      </a:cubicBezTo>
                      <a:cubicBezTo>
                        <a:pt x="63" y="68"/>
                        <a:pt x="63" y="68"/>
                        <a:pt x="63" y="68"/>
                      </a:cubicBezTo>
                      <a:cubicBezTo>
                        <a:pt x="69" y="61"/>
                        <a:pt x="75" y="54"/>
                        <a:pt x="81" y="48"/>
                      </a:cubicBezTo>
                      <a:cubicBezTo>
                        <a:pt x="96" y="32"/>
                        <a:pt x="111" y="21"/>
                        <a:pt x="121" y="13"/>
                      </a:cubicBezTo>
                      <a:cubicBezTo>
                        <a:pt x="127" y="9"/>
                        <a:pt x="131" y="7"/>
                        <a:pt x="134" y="5"/>
                      </a:cubicBezTo>
                      <a:cubicBezTo>
                        <a:pt x="135" y="4"/>
                        <a:pt x="137" y="3"/>
                        <a:pt x="137" y="3"/>
                      </a:cubicBezTo>
                      <a:cubicBezTo>
                        <a:pt x="138" y="2"/>
                        <a:pt x="139" y="2"/>
                        <a:pt x="139" y="2"/>
                      </a:cubicBezTo>
                      <a:cubicBezTo>
                        <a:pt x="138" y="0"/>
                        <a:pt x="138" y="0"/>
                        <a:pt x="138"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4" name="Freeform 134"/>
                <p:cNvSpPr>
                  <a:spLocks/>
                </p:cNvSpPr>
                <p:nvPr/>
              </p:nvSpPr>
              <p:spPr bwMode="auto">
                <a:xfrm>
                  <a:off x="-3565" y="1754"/>
                  <a:ext cx="7" cy="2"/>
                </a:xfrm>
                <a:custGeom>
                  <a:avLst/>
                  <a:gdLst/>
                  <a:ahLst/>
                  <a:cxnLst>
                    <a:cxn ang="0">
                      <a:pos x="3" y="0"/>
                    </a:cxn>
                    <a:cxn ang="0">
                      <a:pos x="1" y="0"/>
                    </a:cxn>
                    <a:cxn ang="0">
                      <a:pos x="0" y="1"/>
                    </a:cxn>
                    <a:cxn ang="0">
                      <a:pos x="3" y="1"/>
                    </a:cxn>
                    <a:cxn ang="0">
                      <a:pos x="3" y="0"/>
                    </a:cxn>
                  </a:cxnLst>
                  <a:rect l="0" t="0" r="r" b="b"/>
                  <a:pathLst>
                    <a:path w="3" h="1">
                      <a:moveTo>
                        <a:pt x="3" y="0"/>
                      </a:moveTo>
                      <a:cubicBezTo>
                        <a:pt x="1" y="0"/>
                        <a:pt x="1" y="0"/>
                        <a:pt x="1" y="0"/>
                      </a:cubicBezTo>
                      <a:cubicBezTo>
                        <a:pt x="1" y="0"/>
                        <a:pt x="1" y="1"/>
                        <a:pt x="0"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5" name="Freeform 135"/>
                <p:cNvSpPr>
                  <a:spLocks/>
                </p:cNvSpPr>
                <p:nvPr/>
              </p:nvSpPr>
              <p:spPr bwMode="auto">
                <a:xfrm>
                  <a:off x="-3513" y="1681"/>
                  <a:ext cx="7" cy="2"/>
                </a:xfrm>
                <a:custGeom>
                  <a:avLst/>
                  <a:gdLst/>
                  <a:ahLst/>
                  <a:cxnLst>
                    <a:cxn ang="0">
                      <a:pos x="3" y="0"/>
                    </a:cxn>
                    <a:cxn ang="0">
                      <a:pos x="1" y="0"/>
                    </a:cxn>
                    <a:cxn ang="0">
                      <a:pos x="0" y="1"/>
                    </a:cxn>
                    <a:cxn ang="0">
                      <a:pos x="3" y="1"/>
                    </a:cxn>
                    <a:cxn ang="0">
                      <a:pos x="3" y="1"/>
                    </a:cxn>
                    <a:cxn ang="0">
                      <a:pos x="3" y="0"/>
                    </a:cxn>
                  </a:cxnLst>
                  <a:rect l="0" t="0" r="r" b="b"/>
                  <a:pathLst>
                    <a:path w="3" h="1">
                      <a:moveTo>
                        <a:pt x="3" y="0"/>
                      </a:moveTo>
                      <a:cubicBezTo>
                        <a:pt x="1" y="0"/>
                        <a:pt x="1" y="0"/>
                        <a:pt x="1" y="0"/>
                      </a:cubicBezTo>
                      <a:cubicBezTo>
                        <a:pt x="1" y="1"/>
                        <a:pt x="1" y="1"/>
                        <a:pt x="0" y="1"/>
                      </a:cubicBezTo>
                      <a:cubicBezTo>
                        <a:pt x="3" y="1"/>
                        <a:pt x="3" y="1"/>
                        <a:pt x="3"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6" name="Freeform 136"/>
                <p:cNvSpPr>
                  <a:spLocks noEditPoints="1"/>
                </p:cNvSpPr>
                <p:nvPr/>
              </p:nvSpPr>
              <p:spPr bwMode="auto">
                <a:xfrm>
                  <a:off x="-3800" y="2259"/>
                  <a:ext cx="36" cy="1017"/>
                </a:xfrm>
                <a:custGeom>
                  <a:avLst/>
                  <a:gdLst/>
                  <a:ahLst/>
                  <a:cxnLst>
                    <a:cxn ang="0">
                      <a:pos x="4" y="343"/>
                    </a:cxn>
                    <a:cxn ang="0">
                      <a:pos x="2" y="343"/>
                    </a:cxn>
                    <a:cxn ang="0">
                      <a:pos x="2" y="355"/>
                    </a:cxn>
                    <a:cxn ang="0">
                      <a:pos x="3" y="429"/>
                    </a:cxn>
                    <a:cxn ang="0">
                      <a:pos x="5" y="429"/>
                    </a:cxn>
                    <a:cxn ang="0">
                      <a:pos x="4" y="355"/>
                    </a:cxn>
                    <a:cxn ang="0">
                      <a:pos x="4" y="343"/>
                    </a:cxn>
                    <a:cxn ang="0">
                      <a:pos x="3" y="255"/>
                    </a:cxn>
                    <a:cxn ang="0">
                      <a:pos x="1" y="255"/>
                    </a:cxn>
                    <a:cxn ang="0">
                      <a:pos x="2" y="327"/>
                    </a:cxn>
                    <a:cxn ang="0">
                      <a:pos x="2" y="342"/>
                    </a:cxn>
                    <a:cxn ang="0">
                      <a:pos x="4" y="342"/>
                    </a:cxn>
                    <a:cxn ang="0">
                      <a:pos x="4" y="335"/>
                    </a:cxn>
                    <a:cxn ang="0">
                      <a:pos x="4" y="327"/>
                    </a:cxn>
                    <a:cxn ang="0">
                      <a:pos x="4" y="327"/>
                    </a:cxn>
                    <a:cxn ang="0">
                      <a:pos x="3" y="255"/>
                    </a:cxn>
                    <a:cxn ang="0">
                      <a:pos x="3" y="233"/>
                    </a:cxn>
                    <a:cxn ang="0">
                      <a:pos x="1" y="233"/>
                    </a:cxn>
                    <a:cxn ang="0">
                      <a:pos x="1" y="254"/>
                    </a:cxn>
                    <a:cxn ang="0">
                      <a:pos x="3" y="254"/>
                    </a:cxn>
                    <a:cxn ang="0">
                      <a:pos x="3" y="233"/>
                    </a:cxn>
                    <a:cxn ang="0">
                      <a:pos x="2" y="102"/>
                    </a:cxn>
                    <a:cxn ang="0">
                      <a:pos x="0" y="102"/>
                    </a:cxn>
                    <a:cxn ang="0">
                      <a:pos x="0" y="156"/>
                    </a:cxn>
                    <a:cxn ang="0">
                      <a:pos x="1" y="232"/>
                    </a:cxn>
                    <a:cxn ang="0">
                      <a:pos x="3" y="232"/>
                    </a:cxn>
                    <a:cxn ang="0">
                      <a:pos x="2" y="108"/>
                    </a:cxn>
                    <a:cxn ang="0">
                      <a:pos x="2" y="102"/>
                    </a:cxn>
                    <a:cxn ang="0">
                      <a:pos x="15" y="0"/>
                    </a:cxn>
                    <a:cxn ang="0">
                      <a:pos x="13" y="0"/>
                    </a:cxn>
                    <a:cxn ang="0">
                      <a:pos x="0" y="93"/>
                    </a:cxn>
                    <a:cxn ang="0">
                      <a:pos x="0" y="101"/>
                    </a:cxn>
                    <a:cxn ang="0">
                      <a:pos x="2" y="101"/>
                    </a:cxn>
                    <a:cxn ang="0">
                      <a:pos x="15" y="0"/>
                    </a:cxn>
                  </a:cxnLst>
                  <a:rect l="0" t="0" r="r" b="b"/>
                  <a:pathLst>
                    <a:path w="15" h="429">
                      <a:moveTo>
                        <a:pt x="4" y="343"/>
                      </a:moveTo>
                      <a:cubicBezTo>
                        <a:pt x="2" y="343"/>
                        <a:pt x="2" y="343"/>
                        <a:pt x="2" y="343"/>
                      </a:cubicBezTo>
                      <a:cubicBezTo>
                        <a:pt x="2" y="347"/>
                        <a:pt x="2" y="351"/>
                        <a:pt x="2" y="355"/>
                      </a:cubicBezTo>
                      <a:cubicBezTo>
                        <a:pt x="2" y="374"/>
                        <a:pt x="2" y="401"/>
                        <a:pt x="3" y="429"/>
                      </a:cubicBezTo>
                      <a:cubicBezTo>
                        <a:pt x="5" y="429"/>
                        <a:pt x="5" y="429"/>
                        <a:pt x="5" y="429"/>
                      </a:cubicBezTo>
                      <a:cubicBezTo>
                        <a:pt x="4" y="401"/>
                        <a:pt x="4" y="374"/>
                        <a:pt x="4" y="355"/>
                      </a:cubicBezTo>
                      <a:cubicBezTo>
                        <a:pt x="4" y="351"/>
                        <a:pt x="4" y="347"/>
                        <a:pt x="4" y="343"/>
                      </a:cubicBezTo>
                      <a:moveTo>
                        <a:pt x="3" y="255"/>
                      </a:moveTo>
                      <a:cubicBezTo>
                        <a:pt x="1" y="255"/>
                        <a:pt x="1" y="255"/>
                        <a:pt x="1" y="255"/>
                      </a:cubicBezTo>
                      <a:cubicBezTo>
                        <a:pt x="2" y="327"/>
                        <a:pt x="2" y="327"/>
                        <a:pt x="2" y="327"/>
                      </a:cubicBezTo>
                      <a:cubicBezTo>
                        <a:pt x="2" y="327"/>
                        <a:pt x="2" y="333"/>
                        <a:pt x="2" y="342"/>
                      </a:cubicBezTo>
                      <a:cubicBezTo>
                        <a:pt x="4" y="342"/>
                        <a:pt x="4" y="342"/>
                        <a:pt x="4" y="342"/>
                      </a:cubicBezTo>
                      <a:cubicBezTo>
                        <a:pt x="4" y="339"/>
                        <a:pt x="4" y="337"/>
                        <a:pt x="4" y="335"/>
                      </a:cubicBezTo>
                      <a:cubicBezTo>
                        <a:pt x="4" y="330"/>
                        <a:pt x="4" y="327"/>
                        <a:pt x="4" y="327"/>
                      </a:cubicBezTo>
                      <a:cubicBezTo>
                        <a:pt x="4" y="327"/>
                        <a:pt x="4" y="327"/>
                        <a:pt x="4" y="327"/>
                      </a:cubicBezTo>
                      <a:cubicBezTo>
                        <a:pt x="3" y="255"/>
                        <a:pt x="3" y="255"/>
                        <a:pt x="3" y="255"/>
                      </a:cubicBezTo>
                      <a:moveTo>
                        <a:pt x="3" y="233"/>
                      </a:moveTo>
                      <a:cubicBezTo>
                        <a:pt x="1" y="233"/>
                        <a:pt x="1" y="233"/>
                        <a:pt x="1" y="233"/>
                      </a:cubicBezTo>
                      <a:cubicBezTo>
                        <a:pt x="1" y="254"/>
                        <a:pt x="1" y="254"/>
                        <a:pt x="1" y="254"/>
                      </a:cubicBezTo>
                      <a:cubicBezTo>
                        <a:pt x="3" y="254"/>
                        <a:pt x="3" y="254"/>
                        <a:pt x="3" y="254"/>
                      </a:cubicBezTo>
                      <a:cubicBezTo>
                        <a:pt x="3" y="233"/>
                        <a:pt x="3" y="233"/>
                        <a:pt x="3" y="233"/>
                      </a:cubicBezTo>
                      <a:moveTo>
                        <a:pt x="2" y="102"/>
                      </a:moveTo>
                      <a:cubicBezTo>
                        <a:pt x="0" y="102"/>
                        <a:pt x="0" y="102"/>
                        <a:pt x="0" y="102"/>
                      </a:cubicBezTo>
                      <a:cubicBezTo>
                        <a:pt x="0" y="156"/>
                        <a:pt x="0" y="156"/>
                        <a:pt x="0" y="156"/>
                      </a:cubicBezTo>
                      <a:cubicBezTo>
                        <a:pt x="1" y="232"/>
                        <a:pt x="1" y="232"/>
                        <a:pt x="1" y="232"/>
                      </a:cubicBezTo>
                      <a:cubicBezTo>
                        <a:pt x="3" y="232"/>
                        <a:pt x="3" y="232"/>
                        <a:pt x="3" y="232"/>
                      </a:cubicBezTo>
                      <a:cubicBezTo>
                        <a:pt x="2" y="108"/>
                        <a:pt x="2" y="108"/>
                        <a:pt x="2" y="108"/>
                      </a:cubicBezTo>
                      <a:cubicBezTo>
                        <a:pt x="2" y="106"/>
                        <a:pt x="2" y="104"/>
                        <a:pt x="2" y="102"/>
                      </a:cubicBezTo>
                      <a:moveTo>
                        <a:pt x="15" y="0"/>
                      </a:moveTo>
                      <a:cubicBezTo>
                        <a:pt x="13" y="0"/>
                        <a:pt x="13" y="0"/>
                        <a:pt x="13" y="0"/>
                      </a:cubicBezTo>
                      <a:cubicBezTo>
                        <a:pt x="7" y="26"/>
                        <a:pt x="2" y="57"/>
                        <a:pt x="0" y="93"/>
                      </a:cubicBezTo>
                      <a:cubicBezTo>
                        <a:pt x="0" y="101"/>
                        <a:pt x="0" y="101"/>
                        <a:pt x="0" y="101"/>
                      </a:cubicBezTo>
                      <a:cubicBezTo>
                        <a:pt x="2" y="101"/>
                        <a:pt x="2" y="101"/>
                        <a:pt x="2" y="101"/>
                      </a:cubicBezTo>
                      <a:cubicBezTo>
                        <a:pt x="3" y="62"/>
                        <a:pt x="9" y="28"/>
                        <a:pt x="1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7" name="Freeform 137"/>
                <p:cNvSpPr>
                  <a:spLocks/>
                </p:cNvSpPr>
                <p:nvPr/>
              </p:nvSpPr>
              <p:spPr bwMode="auto">
                <a:xfrm>
                  <a:off x="-3795" y="3069"/>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8" name="Freeform 138"/>
                <p:cNvSpPr>
                  <a:spLocks/>
                </p:cNvSpPr>
                <p:nvPr/>
              </p:nvSpPr>
              <p:spPr bwMode="auto">
                <a:xfrm>
                  <a:off x="-3797" y="2861"/>
                  <a:ext cx="4" cy="2"/>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9" name="Freeform 139"/>
                <p:cNvSpPr>
                  <a:spLocks/>
                </p:cNvSpPr>
                <p:nvPr/>
              </p:nvSpPr>
              <p:spPr bwMode="auto">
                <a:xfrm>
                  <a:off x="-3793" y="3278"/>
                  <a:ext cx="15" cy="244"/>
                </a:xfrm>
                <a:custGeom>
                  <a:avLst/>
                  <a:gdLst/>
                  <a:ahLst/>
                  <a:cxnLst>
                    <a:cxn ang="0">
                      <a:pos x="2" y="0"/>
                    </a:cxn>
                    <a:cxn ang="0">
                      <a:pos x="0" y="0"/>
                    </a:cxn>
                    <a:cxn ang="0">
                      <a:pos x="4" y="103"/>
                    </a:cxn>
                    <a:cxn ang="0">
                      <a:pos x="6" y="102"/>
                    </a:cxn>
                    <a:cxn ang="0">
                      <a:pos x="3" y="31"/>
                    </a:cxn>
                    <a:cxn ang="0">
                      <a:pos x="1" y="31"/>
                    </a:cxn>
                    <a:cxn ang="0">
                      <a:pos x="1" y="31"/>
                    </a:cxn>
                    <a:cxn ang="0">
                      <a:pos x="3" y="31"/>
                    </a:cxn>
                    <a:cxn ang="0">
                      <a:pos x="2" y="0"/>
                    </a:cxn>
                  </a:cxnLst>
                  <a:rect l="0" t="0" r="r" b="b"/>
                  <a:pathLst>
                    <a:path w="6" h="103">
                      <a:moveTo>
                        <a:pt x="2" y="0"/>
                      </a:moveTo>
                      <a:cubicBezTo>
                        <a:pt x="0" y="0"/>
                        <a:pt x="0" y="0"/>
                        <a:pt x="0" y="0"/>
                      </a:cubicBezTo>
                      <a:cubicBezTo>
                        <a:pt x="1" y="35"/>
                        <a:pt x="2" y="73"/>
                        <a:pt x="4" y="103"/>
                      </a:cubicBezTo>
                      <a:cubicBezTo>
                        <a:pt x="6" y="102"/>
                        <a:pt x="6" y="102"/>
                        <a:pt x="6" y="102"/>
                      </a:cubicBezTo>
                      <a:cubicBezTo>
                        <a:pt x="5" y="82"/>
                        <a:pt x="3" y="57"/>
                        <a:pt x="3" y="31"/>
                      </a:cubicBezTo>
                      <a:cubicBezTo>
                        <a:pt x="1" y="31"/>
                        <a:pt x="1" y="31"/>
                        <a:pt x="1" y="31"/>
                      </a:cubicBezTo>
                      <a:cubicBezTo>
                        <a:pt x="1" y="31"/>
                        <a:pt x="1" y="31"/>
                        <a:pt x="1" y="31"/>
                      </a:cubicBezTo>
                      <a:cubicBezTo>
                        <a:pt x="3" y="31"/>
                        <a:pt x="3" y="31"/>
                        <a:pt x="3" y="31"/>
                      </a:cubicBezTo>
                      <a:cubicBezTo>
                        <a:pt x="2" y="20"/>
                        <a:pt x="2" y="1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0" name="Freeform 140"/>
                <p:cNvSpPr>
                  <a:spLocks/>
                </p:cNvSpPr>
                <p:nvPr/>
              </p:nvSpPr>
              <p:spPr bwMode="auto">
                <a:xfrm>
                  <a:off x="-3797" y="2809"/>
                  <a:ext cx="4" cy="2"/>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1" name="Freeform 141"/>
                <p:cNvSpPr>
                  <a:spLocks/>
                </p:cNvSpPr>
                <p:nvPr/>
              </p:nvSpPr>
              <p:spPr bwMode="auto">
                <a:xfrm>
                  <a:off x="-3793" y="3276"/>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2" name="Freeform 142"/>
                <p:cNvSpPr>
                  <a:spLocks/>
                </p:cNvSpPr>
                <p:nvPr/>
              </p:nvSpPr>
              <p:spPr bwMode="auto">
                <a:xfrm>
                  <a:off x="-3790" y="3351"/>
                  <a:ext cx="5" cy="1"/>
                </a:xfrm>
                <a:custGeom>
                  <a:avLst/>
                  <a:gdLst/>
                  <a:ahLst/>
                  <a:cxnLst>
                    <a:cxn ang="0">
                      <a:pos x="2" y="0"/>
                    </a:cxn>
                    <a:cxn ang="0">
                      <a:pos x="0" y="0"/>
                    </a:cxn>
                    <a:cxn ang="0">
                      <a:pos x="0" y="0"/>
                    </a:cxn>
                    <a:cxn ang="0">
                      <a:pos x="2" y="0"/>
                    </a:cxn>
                    <a:cxn ang="0">
                      <a:pos x="2" y="0"/>
                    </a:cxn>
                  </a:cxnLst>
                  <a:rect l="0" t="0" r="r" b="b"/>
                  <a:pathLst>
                    <a:path w="2">
                      <a:moveTo>
                        <a:pt x="2" y="0"/>
                      </a:moveTo>
                      <a:cubicBezTo>
                        <a:pt x="0" y="0"/>
                        <a:pt x="0" y="0"/>
                        <a:pt x="0" y="0"/>
                      </a:cubicBezTo>
                      <a:cubicBezTo>
                        <a:pt x="0" y="0"/>
                        <a:pt x="0" y="0"/>
                        <a:pt x="0" y="0"/>
                      </a:cubicBezTo>
                      <a:cubicBezTo>
                        <a:pt x="2" y="0"/>
                        <a:pt x="2" y="0"/>
                        <a:pt x="2" y="0"/>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3" name="Freeform 143"/>
                <p:cNvSpPr>
                  <a:spLocks/>
                </p:cNvSpPr>
                <p:nvPr/>
              </p:nvSpPr>
              <p:spPr bwMode="auto">
                <a:xfrm>
                  <a:off x="-3800"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4" name="Freeform 144"/>
                <p:cNvSpPr>
                  <a:spLocks/>
                </p:cNvSpPr>
                <p:nvPr/>
              </p:nvSpPr>
              <p:spPr bwMode="auto">
                <a:xfrm>
                  <a:off x="-3769" y="2256"/>
                  <a:ext cx="7" cy="3"/>
                </a:xfrm>
                <a:custGeom>
                  <a:avLst/>
                  <a:gdLst/>
                  <a:ahLst/>
                  <a:cxnLst>
                    <a:cxn ang="0">
                      <a:pos x="3" y="0"/>
                    </a:cxn>
                    <a:cxn ang="0">
                      <a:pos x="0" y="0"/>
                    </a:cxn>
                    <a:cxn ang="0">
                      <a:pos x="0" y="1"/>
                    </a:cxn>
                    <a:cxn ang="0">
                      <a:pos x="2" y="1"/>
                    </a:cxn>
                    <a:cxn ang="0">
                      <a:pos x="3" y="0"/>
                    </a:cxn>
                  </a:cxnLst>
                  <a:rect l="0" t="0" r="r" b="b"/>
                  <a:pathLst>
                    <a:path w="3" h="1">
                      <a:moveTo>
                        <a:pt x="3" y="0"/>
                      </a:moveTo>
                      <a:cubicBezTo>
                        <a:pt x="0" y="0"/>
                        <a:pt x="0" y="0"/>
                        <a:pt x="0" y="0"/>
                      </a:cubicBezTo>
                      <a:cubicBezTo>
                        <a:pt x="0" y="0"/>
                        <a:pt x="0" y="0"/>
                        <a:pt x="0" y="1"/>
                      </a:cubicBezTo>
                      <a:cubicBezTo>
                        <a:pt x="2" y="1"/>
                        <a:pt x="2" y="1"/>
                        <a:pt x="2" y="1"/>
                      </a:cubicBezTo>
                      <a:cubicBezTo>
                        <a:pt x="2" y="0"/>
                        <a:pt x="2"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5" name="Freeform 145"/>
                <p:cNvSpPr>
                  <a:spLocks noEditPoints="1"/>
                </p:cNvSpPr>
                <p:nvPr/>
              </p:nvSpPr>
              <p:spPr bwMode="auto">
                <a:xfrm>
                  <a:off x="-3669" y="1986"/>
                  <a:ext cx="168" cy="1290"/>
                </a:xfrm>
                <a:custGeom>
                  <a:avLst/>
                  <a:gdLst/>
                  <a:ahLst/>
                  <a:cxnLst>
                    <a:cxn ang="0">
                      <a:pos x="14" y="458"/>
                    </a:cxn>
                    <a:cxn ang="0">
                      <a:pos x="12" y="458"/>
                    </a:cxn>
                    <a:cxn ang="0">
                      <a:pos x="0" y="544"/>
                    </a:cxn>
                    <a:cxn ang="0">
                      <a:pos x="2" y="544"/>
                    </a:cxn>
                    <a:cxn ang="0">
                      <a:pos x="14" y="458"/>
                    </a:cxn>
                    <a:cxn ang="0">
                      <a:pos x="28" y="348"/>
                    </a:cxn>
                    <a:cxn ang="0">
                      <a:pos x="26" y="348"/>
                    </a:cxn>
                    <a:cxn ang="0">
                      <a:pos x="13" y="442"/>
                    </a:cxn>
                    <a:cxn ang="0">
                      <a:pos x="13" y="442"/>
                    </a:cxn>
                    <a:cxn ang="0">
                      <a:pos x="13" y="442"/>
                    </a:cxn>
                    <a:cxn ang="0">
                      <a:pos x="13" y="446"/>
                    </a:cxn>
                    <a:cxn ang="0">
                      <a:pos x="12" y="457"/>
                    </a:cxn>
                    <a:cxn ang="0">
                      <a:pos x="14" y="457"/>
                    </a:cxn>
                    <a:cxn ang="0">
                      <a:pos x="15" y="443"/>
                    </a:cxn>
                    <a:cxn ang="0">
                      <a:pos x="27" y="370"/>
                    </a:cxn>
                    <a:cxn ang="0">
                      <a:pos x="27" y="370"/>
                    </a:cxn>
                    <a:cxn ang="0">
                      <a:pos x="27" y="369"/>
                    </a:cxn>
                    <a:cxn ang="0">
                      <a:pos x="27" y="369"/>
                    </a:cxn>
                    <a:cxn ang="0">
                      <a:pos x="28" y="348"/>
                    </a:cxn>
                    <a:cxn ang="0">
                      <a:pos x="29" y="217"/>
                    </a:cxn>
                    <a:cxn ang="0">
                      <a:pos x="27" y="217"/>
                    </a:cxn>
                    <a:cxn ang="0">
                      <a:pos x="27" y="220"/>
                    </a:cxn>
                    <a:cxn ang="0">
                      <a:pos x="27" y="223"/>
                    </a:cxn>
                    <a:cxn ang="0">
                      <a:pos x="28" y="258"/>
                    </a:cxn>
                    <a:cxn ang="0">
                      <a:pos x="26" y="347"/>
                    </a:cxn>
                    <a:cxn ang="0">
                      <a:pos x="28" y="347"/>
                    </a:cxn>
                    <a:cxn ang="0">
                      <a:pos x="30" y="258"/>
                    </a:cxn>
                    <a:cxn ang="0">
                      <a:pos x="29" y="223"/>
                    </a:cxn>
                    <a:cxn ang="0">
                      <a:pos x="29" y="220"/>
                    </a:cxn>
                    <a:cxn ang="0">
                      <a:pos x="29" y="217"/>
                    </a:cxn>
                    <a:cxn ang="0">
                      <a:pos x="39" y="115"/>
                    </a:cxn>
                    <a:cxn ang="0">
                      <a:pos x="37" y="115"/>
                    </a:cxn>
                    <a:cxn ang="0">
                      <a:pos x="27" y="216"/>
                    </a:cxn>
                    <a:cxn ang="0">
                      <a:pos x="29" y="216"/>
                    </a:cxn>
                    <a:cxn ang="0">
                      <a:pos x="39" y="115"/>
                    </a:cxn>
                    <a:cxn ang="0">
                      <a:pos x="71" y="0"/>
                    </a:cxn>
                    <a:cxn ang="0">
                      <a:pos x="69" y="0"/>
                    </a:cxn>
                    <a:cxn ang="0">
                      <a:pos x="69" y="0"/>
                    </a:cxn>
                    <a:cxn ang="0">
                      <a:pos x="37" y="114"/>
                    </a:cxn>
                    <a:cxn ang="0">
                      <a:pos x="39" y="114"/>
                    </a:cxn>
                    <a:cxn ang="0">
                      <a:pos x="50" y="63"/>
                    </a:cxn>
                    <a:cxn ang="0">
                      <a:pos x="64" y="17"/>
                    </a:cxn>
                    <a:cxn ang="0">
                      <a:pos x="69" y="5"/>
                    </a:cxn>
                    <a:cxn ang="0">
                      <a:pos x="71" y="1"/>
                    </a:cxn>
                    <a:cxn ang="0">
                      <a:pos x="71" y="1"/>
                    </a:cxn>
                    <a:cxn ang="0">
                      <a:pos x="71" y="1"/>
                    </a:cxn>
                    <a:cxn ang="0">
                      <a:pos x="71" y="0"/>
                    </a:cxn>
                  </a:cxnLst>
                  <a:rect l="0" t="0" r="r" b="b"/>
                  <a:pathLst>
                    <a:path w="71" h="544">
                      <a:moveTo>
                        <a:pt x="14" y="458"/>
                      </a:moveTo>
                      <a:cubicBezTo>
                        <a:pt x="12" y="458"/>
                        <a:pt x="12" y="458"/>
                        <a:pt x="12" y="458"/>
                      </a:cubicBezTo>
                      <a:cubicBezTo>
                        <a:pt x="11" y="476"/>
                        <a:pt x="8" y="508"/>
                        <a:pt x="0" y="544"/>
                      </a:cubicBezTo>
                      <a:cubicBezTo>
                        <a:pt x="2" y="544"/>
                        <a:pt x="2" y="544"/>
                        <a:pt x="2" y="544"/>
                      </a:cubicBezTo>
                      <a:cubicBezTo>
                        <a:pt x="10" y="507"/>
                        <a:pt x="13" y="476"/>
                        <a:pt x="14" y="458"/>
                      </a:cubicBezTo>
                      <a:moveTo>
                        <a:pt x="28" y="348"/>
                      </a:moveTo>
                      <a:cubicBezTo>
                        <a:pt x="26" y="348"/>
                        <a:pt x="26" y="348"/>
                        <a:pt x="26" y="348"/>
                      </a:cubicBezTo>
                      <a:cubicBezTo>
                        <a:pt x="24" y="387"/>
                        <a:pt x="20" y="411"/>
                        <a:pt x="13" y="442"/>
                      </a:cubicBezTo>
                      <a:cubicBezTo>
                        <a:pt x="13" y="442"/>
                        <a:pt x="13" y="442"/>
                        <a:pt x="13" y="442"/>
                      </a:cubicBezTo>
                      <a:cubicBezTo>
                        <a:pt x="13" y="442"/>
                        <a:pt x="13" y="442"/>
                        <a:pt x="13" y="442"/>
                      </a:cubicBezTo>
                      <a:cubicBezTo>
                        <a:pt x="13" y="442"/>
                        <a:pt x="13" y="444"/>
                        <a:pt x="13" y="446"/>
                      </a:cubicBezTo>
                      <a:cubicBezTo>
                        <a:pt x="13" y="449"/>
                        <a:pt x="13" y="452"/>
                        <a:pt x="12" y="457"/>
                      </a:cubicBezTo>
                      <a:cubicBezTo>
                        <a:pt x="14" y="457"/>
                        <a:pt x="14" y="457"/>
                        <a:pt x="14" y="457"/>
                      </a:cubicBezTo>
                      <a:cubicBezTo>
                        <a:pt x="15" y="448"/>
                        <a:pt x="15" y="443"/>
                        <a:pt x="15" y="443"/>
                      </a:cubicBezTo>
                      <a:cubicBezTo>
                        <a:pt x="21" y="418"/>
                        <a:pt x="24" y="397"/>
                        <a:pt x="27" y="370"/>
                      </a:cubicBezTo>
                      <a:cubicBezTo>
                        <a:pt x="27" y="370"/>
                        <a:pt x="27" y="370"/>
                        <a:pt x="27" y="370"/>
                      </a:cubicBezTo>
                      <a:cubicBezTo>
                        <a:pt x="27" y="369"/>
                        <a:pt x="27" y="369"/>
                        <a:pt x="27" y="369"/>
                      </a:cubicBezTo>
                      <a:cubicBezTo>
                        <a:pt x="27" y="369"/>
                        <a:pt x="27" y="369"/>
                        <a:pt x="27" y="369"/>
                      </a:cubicBezTo>
                      <a:cubicBezTo>
                        <a:pt x="27" y="363"/>
                        <a:pt x="28" y="356"/>
                        <a:pt x="28" y="348"/>
                      </a:cubicBezTo>
                      <a:moveTo>
                        <a:pt x="29" y="217"/>
                      </a:moveTo>
                      <a:cubicBezTo>
                        <a:pt x="27" y="217"/>
                        <a:pt x="27" y="217"/>
                        <a:pt x="27" y="217"/>
                      </a:cubicBezTo>
                      <a:cubicBezTo>
                        <a:pt x="27" y="218"/>
                        <a:pt x="27" y="219"/>
                        <a:pt x="27" y="220"/>
                      </a:cubicBezTo>
                      <a:cubicBezTo>
                        <a:pt x="27" y="221"/>
                        <a:pt x="27" y="222"/>
                        <a:pt x="27" y="223"/>
                      </a:cubicBezTo>
                      <a:cubicBezTo>
                        <a:pt x="28" y="235"/>
                        <a:pt x="28" y="247"/>
                        <a:pt x="28" y="258"/>
                      </a:cubicBezTo>
                      <a:cubicBezTo>
                        <a:pt x="28" y="295"/>
                        <a:pt x="27" y="324"/>
                        <a:pt x="26" y="347"/>
                      </a:cubicBezTo>
                      <a:cubicBezTo>
                        <a:pt x="28" y="347"/>
                        <a:pt x="28" y="347"/>
                        <a:pt x="28" y="347"/>
                      </a:cubicBezTo>
                      <a:cubicBezTo>
                        <a:pt x="29" y="324"/>
                        <a:pt x="30" y="295"/>
                        <a:pt x="30" y="258"/>
                      </a:cubicBezTo>
                      <a:cubicBezTo>
                        <a:pt x="30" y="247"/>
                        <a:pt x="30" y="235"/>
                        <a:pt x="29" y="223"/>
                      </a:cubicBezTo>
                      <a:cubicBezTo>
                        <a:pt x="29" y="222"/>
                        <a:pt x="29" y="221"/>
                        <a:pt x="29" y="220"/>
                      </a:cubicBezTo>
                      <a:cubicBezTo>
                        <a:pt x="29" y="219"/>
                        <a:pt x="29" y="218"/>
                        <a:pt x="29" y="217"/>
                      </a:cubicBezTo>
                      <a:moveTo>
                        <a:pt x="39" y="115"/>
                      </a:moveTo>
                      <a:cubicBezTo>
                        <a:pt x="37" y="115"/>
                        <a:pt x="37" y="115"/>
                        <a:pt x="37" y="115"/>
                      </a:cubicBezTo>
                      <a:cubicBezTo>
                        <a:pt x="31" y="144"/>
                        <a:pt x="28" y="179"/>
                        <a:pt x="27" y="216"/>
                      </a:cubicBezTo>
                      <a:cubicBezTo>
                        <a:pt x="29" y="216"/>
                        <a:pt x="29" y="216"/>
                        <a:pt x="29" y="216"/>
                      </a:cubicBezTo>
                      <a:cubicBezTo>
                        <a:pt x="30" y="179"/>
                        <a:pt x="33" y="144"/>
                        <a:pt x="39" y="115"/>
                      </a:cubicBezTo>
                      <a:moveTo>
                        <a:pt x="71" y="0"/>
                      </a:moveTo>
                      <a:cubicBezTo>
                        <a:pt x="69" y="0"/>
                        <a:pt x="69" y="0"/>
                        <a:pt x="69" y="0"/>
                      </a:cubicBezTo>
                      <a:cubicBezTo>
                        <a:pt x="69" y="0"/>
                        <a:pt x="69" y="0"/>
                        <a:pt x="69" y="0"/>
                      </a:cubicBezTo>
                      <a:cubicBezTo>
                        <a:pt x="68" y="3"/>
                        <a:pt x="49" y="46"/>
                        <a:pt x="37" y="114"/>
                      </a:cubicBezTo>
                      <a:cubicBezTo>
                        <a:pt x="39" y="114"/>
                        <a:pt x="39" y="114"/>
                        <a:pt x="39" y="114"/>
                      </a:cubicBezTo>
                      <a:cubicBezTo>
                        <a:pt x="42" y="95"/>
                        <a:pt x="46" y="78"/>
                        <a:pt x="50" y="63"/>
                      </a:cubicBezTo>
                      <a:cubicBezTo>
                        <a:pt x="55" y="43"/>
                        <a:pt x="60" y="28"/>
                        <a:pt x="64" y="17"/>
                      </a:cubicBezTo>
                      <a:cubicBezTo>
                        <a:pt x="66" y="12"/>
                        <a:pt x="68" y="8"/>
                        <a:pt x="69" y="5"/>
                      </a:cubicBezTo>
                      <a:cubicBezTo>
                        <a:pt x="70" y="2"/>
                        <a:pt x="71" y="1"/>
                        <a:pt x="71" y="1"/>
                      </a:cubicBezTo>
                      <a:cubicBezTo>
                        <a:pt x="71" y="1"/>
                        <a:pt x="71" y="1"/>
                        <a:pt x="71" y="1"/>
                      </a:cubicBezTo>
                      <a:cubicBezTo>
                        <a:pt x="71" y="1"/>
                        <a:pt x="71" y="1"/>
                        <a:pt x="71" y="1"/>
                      </a:cubicBezTo>
                      <a:cubicBezTo>
                        <a:pt x="71" y="0"/>
                        <a:pt x="71" y="0"/>
                        <a:pt x="7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6" name="Freeform 146"/>
                <p:cNvSpPr>
                  <a:spLocks/>
                </p:cNvSpPr>
                <p:nvPr/>
              </p:nvSpPr>
              <p:spPr bwMode="auto">
                <a:xfrm>
                  <a:off x="-3641" y="3069"/>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7" name="Freeform 147"/>
                <p:cNvSpPr>
                  <a:spLocks/>
                </p:cNvSpPr>
                <p:nvPr/>
              </p:nvSpPr>
              <p:spPr bwMode="auto">
                <a:xfrm>
                  <a:off x="-3606" y="2861"/>
                  <a:ext cx="1" cy="2"/>
                </a:xfrm>
                <a:custGeom>
                  <a:avLst/>
                  <a:gdLst/>
                  <a:ahLst/>
                  <a:cxnLst>
                    <a:cxn ang="0">
                      <a:pos x="0" y="0"/>
                    </a:cxn>
                    <a:cxn ang="0">
                      <a:pos x="0" y="0"/>
                    </a:cxn>
                    <a:cxn ang="0">
                      <a:pos x="0" y="1"/>
                    </a:cxn>
                    <a:cxn ang="0">
                      <a:pos x="0" y="1"/>
                    </a:cxn>
                    <a:cxn ang="0">
                      <a:pos x="0" y="0"/>
                    </a:cxn>
                  </a:cxnLst>
                  <a:rect l="0" t="0" r="r" b="b"/>
                  <a:pathLst>
                    <a:path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8" name="Freeform 148"/>
                <p:cNvSpPr>
                  <a:spLocks noEditPoints="1"/>
                </p:cNvSpPr>
                <p:nvPr/>
              </p:nvSpPr>
              <p:spPr bwMode="auto">
                <a:xfrm>
                  <a:off x="-3714" y="1522"/>
                  <a:ext cx="435" cy="1912"/>
                </a:xfrm>
                <a:custGeom>
                  <a:avLst/>
                  <a:gdLst/>
                  <a:ahLst/>
                  <a:cxnLst>
                    <a:cxn ang="0">
                      <a:pos x="13" y="772"/>
                    </a:cxn>
                    <a:cxn ang="0">
                      <a:pos x="11" y="772"/>
                    </a:cxn>
                    <a:cxn ang="0">
                      <a:pos x="0" y="807"/>
                    </a:cxn>
                    <a:cxn ang="0">
                      <a:pos x="1" y="807"/>
                    </a:cxn>
                    <a:cxn ang="0">
                      <a:pos x="13" y="772"/>
                    </a:cxn>
                    <a:cxn ang="0">
                      <a:pos x="20" y="741"/>
                    </a:cxn>
                    <a:cxn ang="0">
                      <a:pos x="18" y="741"/>
                    </a:cxn>
                    <a:cxn ang="0">
                      <a:pos x="11" y="772"/>
                    </a:cxn>
                    <a:cxn ang="0">
                      <a:pos x="13" y="772"/>
                    </a:cxn>
                    <a:cxn ang="0">
                      <a:pos x="20" y="741"/>
                    </a:cxn>
                    <a:cxn ang="0">
                      <a:pos x="119" y="99"/>
                    </a:cxn>
                    <a:cxn ang="0">
                      <a:pos x="116" y="99"/>
                    </a:cxn>
                    <a:cxn ang="0">
                      <a:pos x="88" y="195"/>
                    </a:cxn>
                    <a:cxn ang="0">
                      <a:pos x="90" y="195"/>
                    </a:cxn>
                    <a:cxn ang="0">
                      <a:pos x="119" y="99"/>
                    </a:cxn>
                    <a:cxn ang="0">
                      <a:pos x="183" y="0"/>
                    </a:cxn>
                    <a:cxn ang="0">
                      <a:pos x="182" y="0"/>
                    </a:cxn>
                    <a:cxn ang="0">
                      <a:pos x="117" y="98"/>
                    </a:cxn>
                    <a:cxn ang="0">
                      <a:pos x="119" y="98"/>
                    </a:cxn>
                    <a:cxn ang="0">
                      <a:pos x="149" y="41"/>
                    </a:cxn>
                    <a:cxn ang="0">
                      <a:pos x="173" y="10"/>
                    </a:cxn>
                    <a:cxn ang="0">
                      <a:pos x="181" y="4"/>
                    </a:cxn>
                    <a:cxn ang="0">
                      <a:pos x="183" y="2"/>
                    </a:cxn>
                    <a:cxn ang="0">
                      <a:pos x="184" y="2"/>
                    </a:cxn>
                    <a:cxn ang="0">
                      <a:pos x="183" y="0"/>
                    </a:cxn>
                  </a:cxnLst>
                  <a:rect l="0" t="0" r="r" b="b"/>
                  <a:pathLst>
                    <a:path w="184" h="807">
                      <a:moveTo>
                        <a:pt x="13" y="772"/>
                      </a:moveTo>
                      <a:cubicBezTo>
                        <a:pt x="11" y="772"/>
                        <a:pt x="11" y="772"/>
                        <a:pt x="11" y="772"/>
                      </a:cubicBezTo>
                      <a:cubicBezTo>
                        <a:pt x="7" y="784"/>
                        <a:pt x="4" y="795"/>
                        <a:pt x="0" y="807"/>
                      </a:cubicBezTo>
                      <a:cubicBezTo>
                        <a:pt x="1" y="807"/>
                        <a:pt x="1" y="807"/>
                        <a:pt x="1" y="807"/>
                      </a:cubicBezTo>
                      <a:cubicBezTo>
                        <a:pt x="6" y="796"/>
                        <a:pt x="9" y="784"/>
                        <a:pt x="13" y="772"/>
                      </a:cubicBezTo>
                      <a:moveTo>
                        <a:pt x="20" y="741"/>
                      </a:moveTo>
                      <a:cubicBezTo>
                        <a:pt x="18" y="741"/>
                        <a:pt x="18" y="741"/>
                        <a:pt x="18" y="741"/>
                      </a:cubicBezTo>
                      <a:cubicBezTo>
                        <a:pt x="16" y="751"/>
                        <a:pt x="14" y="761"/>
                        <a:pt x="11" y="772"/>
                      </a:cubicBezTo>
                      <a:cubicBezTo>
                        <a:pt x="13" y="772"/>
                        <a:pt x="13" y="772"/>
                        <a:pt x="13" y="772"/>
                      </a:cubicBezTo>
                      <a:cubicBezTo>
                        <a:pt x="16" y="761"/>
                        <a:pt x="18" y="751"/>
                        <a:pt x="20" y="741"/>
                      </a:cubicBezTo>
                      <a:moveTo>
                        <a:pt x="119" y="99"/>
                      </a:moveTo>
                      <a:cubicBezTo>
                        <a:pt x="116" y="99"/>
                        <a:pt x="116" y="99"/>
                        <a:pt x="116" y="99"/>
                      </a:cubicBezTo>
                      <a:cubicBezTo>
                        <a:pt x="106" y="124"/>
                        <a:pt x="96" y="156"/>
                        <a:pt x="88" y="195"/>
                      </a:cubicBezTo>
                      <a:cubicBezTo>
                        <a:pt x="90" y="195"/>
                        <a:pt x="90" y="195"/>
                        <a:pt x="90" y="195"/>
                      </a:cubicBezTo>
                      <a:cubicBezTo>
                        <a:pt x="98" y="156"/>
                        <a:pt x="108" y="124"/>
                        <a:pt x="119" y="99"/>
                      </a:cubicBezTo>
                      <a:moveTo>
                        <a:pt x="183" y="0"/>
                      </a:moveTo>
                      <a:cubicBezTo>
                        <a:pt x="182" y="0"/>
                        <a:pt x="182" y="0"/>
                        <a:pt x="182" y="0"/>
                      </a:cubicBezTo>
                      <a:cubicBezTo>
                        <a:pt x="179" y="2"/>
                        <a:pt x="146" y="26"/>
                        <a:pt x="117" y="98"/>
                      </a:cubicBezTo>
                      <a:cubicBezTo>
                        <a:pt x="119" y="98"/>
                        <a:pt x="119" y="98"/>
                        <a:pt x="119" y="98"/>
                      </a:cubicBezTo>
                      <a:cubicBezTo>
                        <a:pt x="129" y="74"/>
                        <a:pt x="139" y="55"/>
                        <a:pt x="149" y="41"/>
                      </a:cubicBezTo>
                      <a:cubicBezTo>
                        <a:pt x="158" y="26"/>
                        <a:pt x="167" y="16"/>
                        <a:pt x="173" y="10"/>
                      </a:cubicBezTo>
                      <a:cubicBezTo>
                        <a:pt x="177" y="7"/>
                        <a:pt x="179" y="5"/>
                        <a:pt x="181" y="4"/>
                      </a:cubicBezTo>
                      <a:cubicBezTo>
                        <a:pt x="182" y="3"/>
                        <a:pt x="182" y="3"/>
                        <a:pt x="183" y="2"/>
                      </a:cubicBezTo>
                      <a:cubicBezTo>
                        <a:pt x="184" y="2"/>
                        <a:pt x="184" y="2"/>
                        <a:pt x="184" y="2"/>
                      </a:cubicBezTo>
                      <a:cubicBezTo>
                        <a:pt x="183" y="0"/>
                        <a:pt x="183" y="0"/>
                        <a:pt x="18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9" name="Freeform 149"/>
                <p:cNvSpPr>
                  <a:spLocks/>
                </p:cNvSpPr>
                <p:nvPr/>
              </p:nvSpPr>
              <p:spPr bwMode="auto">
                <a:xfrm>
                  <a:off x="-3440" y="1754"/>
                  <a:ext cx="7" cy="2"/>
                </a:xfrm>
                <a:custGeom>
                  <a:avLst/>
                  <a:gdLst/>
                  <a:ahLst/>
                  <a:cxnLst>
                    <a:cxn ang="0">
                      <a:pos x="3" y="0"/>
                    </a:cxn>
                    <a:cxn ang="0">
                      <a:pos x="1" y="0"/>
                    </a:cxn>
                    <a:cxn ang="0">
                      <a:pos x="0" y="1"/>
                    </a:cxn>
                    <a:cxn ang="0">
                      <a:pos x="3" y="1"/>
                    </a:cxn>
                    <a:cxn ang="0">
                      <a:pos x="3" y="0"/>
                    </a:cxn>
                  </a:cxnLst>
                  <a:rect l="0" t="0" r="r" b="b"/>
                  <a:pathLst>
                    <a:path w="3" h="1">
                      <a:moveTo>
                        <a:pt x="3" y="0"/>
                      </a:moveTo>
                      <a:cubicBezTo>
                        <a:pt x="1" y="0"/>
                        <a:pt x="1" y="0"/>
                        <a:pt x="1" y="0"/>
                      </a:cubicBezTo>
                      <a:cubicBezTo>
                        <a:pt x="1" y="0"/>
                        <a:pt x="1" y="1"/>
                        <a:pt x="0"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0" name="Freeform 150"/>
                <p:cNvSpPr>
                  <a:spLocks/>
                </p:cNvSpPr>
                <p:nvPr/>
              </p:nvSpPr>
              <p:spPr bwMode="auto">
                <a:xfrm>
                  <a:off x="-3608" y="2809"/>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1" name="Freeform 151"/>
                <p:cNvSpPr>
                  <a:spLocks/>
                </p:cNvSpPr>
                <p:nvPr/>
              </p:nvSpPr>
              <p:spPr bwMode="auto">
                <a:xfrm>
                  <a:off x="-3672" y="3276"/>
                  <a:ext cx="7" cy="2"/>
                </a:xfrm>
                <a:custGeom>
                  <a:avLst/>
                  <a:gdLst/>
                  <a:ahLst/>
                  <a:cxnLst>
                    <a:cxn ang="0">
                      <a:pos x="3" y="0"/>
                    </a:cxn>
                    <a:cxn ang="0">
                      <a:pos x="1" y="0"/>
                    </a:cxn>
                    <a:cxn ang="0">
                      <a:pos x="0" y="1"/>
                    </a:cxn>
                    <a:cxn ang="0">
                      <a:pos x="2" y="1"/>
                    </a:cxn>
                    <a:cxn ang="0">
                      <a:pos x="3" y="0"/>
                    </a:cxn>
                  </a:cxnLst>
                  <a:rect l="0" t="0" r="r" b="b"/>
                  <a:pathLst>
                    <a:path w="3" h="1">
                      <a:moveTo>
                        <a:pt x="3" y="0"/>
                      </a:moveTo>
                      <a:cubicBezTo>
                        <a:pt x="1" y="0"/>
                        <a:pt x="1" y="0"/>
                        <a:pt x="1" y="0"/>
                      </a:cubicBezTo>
                      <a:cubicBezTo>
                        <a:pt x="0" y="0"/>
                        <a:pt x="0" y="1"/>
                        <a:pt x="0" y="1"/>
                      </a:cubicBezTo>
                      <a:cubicBezTo>
                        <a:pt x="2" y="1"/>
                        <a:pt x="2" y="1"/>
                        <a:pt x="2"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2" name="Freeform 152"/>
                <p:cNvSpPr>
                  <a:spLocks/>
                </p:cNvSpPr>
                <p:nvPr/>
              </p:nvSpPr>
              <p:spPr bwMode="auto">
                <a:xfrm>
                  <a:off x="-3688" y="3351"/>
                  <a:ext cx="4" cy="1"/>
                </a:xfrm>
                <a:custGeom>
                  <a:avLst/>
                  <a:gdLst/>
                  <a:ahLst/>
                  <a:cxnLst>
                    <a:cxn ang="0">
                      <a:pos x="2" y="0"/>
                    </a:cxn>
                    <a:cxn ang="0">
                      <a:pos x="0" y="0"/>
                    </a:cxn>
                    <a:cxn ang="0">
                      <a:pos x="0" y="0"/>
                    </a:cxn>
                    <a:cxn ang="0">
                      <a:pos x="2" y="0"/>
                    </a:cxn>
                    <a:cxn ang="0">
                      <a:pos x="2" y="0"/>
                    </a:cxn>
                  </a:cxnLst>
                  <a:rect l="0" t="0" r="r" b="b"/>
                  <a:pathLst>
                    <a:path w="2">
                      <a:moveTo>
                        <a:pt x="2" y="0"/>
                      </a:moveTo>
                      <a:cubicBezTo>
                        <a:pt x="0" y="0"/>
                        <a:pt x="0" y="0"/>
                        <a:pt x="0" y="0"/>
                      </a:cubicBezTo>
                      <a:cubicBezTo>
                        <a:pt x="0" y="0"/>
                        <a:pt x="0" y="0"/>
                        <a:pt x="0" y="0"/>
                      </a:cubicBezTo>
                      <a:cubicBezTo>
                        <a:pt x="2" y="0"/>
                        <a:pt x="2" y="0"/>
                        <a:pt x="2" y="0"/>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3" name="Freeform 153"/>
                <p:cNvSpPr>
                  <a:spLocks/>
                </p:cNvSpPr>
                <p:nvPr/>
              </p:nvSpPr>
              <p:spPr bwMode="auto">
                <a:xfrm>
                  <a:off x="-3606"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4" name="Freeform 154"/>
                <p:cNvSpPr>
                  <a:spLocks/>
                </p:cNvSpPr>
                <p:nvPr/>
              </p:nvSpPr>
              <p:spPr bwMode="auto">
                <a:xfrm>
                  <a:off x="-3582"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5" name="Freeform 155"/>
                <p:cNvSpPr>
                  <a:spLocks noEditPoints="1"/>
                </p:cNvSpPr>
                <p:nvPr/>
              </p:nvSpPr>
              <p:spPr bwMode="auto">
                <a:xfrm>
                  <a:off x="-3395" y="1986"/>
                  <a:ext cx="45" cy="270"/>
                </a:xfrm>
                <a:custGeom>
                  <a:avLst/>
                  <a:gdLst/>
                  <a:ahLst/>
                  <a:cxnLst>
                    <a:cxn ang="0">
                      <a:pos x="3" y="101"/>
                    </a:cxn>
                    <a:cxn ang="0">
                      <a:pos x="1" y="101"/>
                    </a:cxn>
                    <a:cxn ang="0">
                      <a:pos x="0" y="114"/>
                    </a:cxn>
                    <a:cxn ang="0">
                      <a:pos x="2" y="114"/>
                    </a:cxn>
                    <a:cxn ang="0">
                      <a:pos x="3" y="101"/>
                    </a:cxn>
                    <a:cxn ang="0">
                      <a:pos x="19" y="0"/>
                    </a:cxn>
                    <a:cxn ang="0">
                      <a:pos x="17" y="0"/>
                    </a:cxn>
                    <a:cxn ang="0">
                      <a:pos x="17" y="2"/>
                    </a:cxn>
                    <a:cxn ang="0">
                      <a:pos x="17" y="2"/>
                    </a:cxn>
                    <a:cxn ang="0">
                      <a:pos x="16" y="10"/>
                    </a:cxn>
                    <a:cxn ang="0">
                      <a:pos x="13" y="25"/>
                    </a:cxn>
                    <a:cxn ang="0">
                      <a:pos x="1" y="100"/>
                    </a:cxn>
                    <a:cxn ang="0">
                      <a:pos x="3" y="100"/>
                    </a:cxn>
                    <a:cxn ang="0">
                      <a:pos x="15" y="25"/>
                    </a:cxn>
                    <a:cxn ang="0">
                      <a:pos x="19" y="2"/>
                    </a:cxn>
                    <a:cxn ang="0">
                      <a:pos x="19" y="2"/>
                    </a:cxn>
                    <a:cxn ang="0">
                      <a:pos x="19" y="2"/>
                    </a:cxn>
                    <a:cxn ang="0">
                      <a:pos x="19" y="0"/>
                    </a:cxn>
                  </a:cxnLst>
                  <a:rect l="0" t="0" r="r" b="b"/>
                  <a:pathLst>
                    <a:path w="19" h="114">
                      <a:moveTo>
                        <a:pt x="3" y="101"/>
                      </a:moveTo>
                      <a:cubicBezTo>
                        <a:pt x="1" y="101"/>
                        <a:pt x="1" y="101"/>
                        <a:pt x="1" y="101"/>
                      </a:cubicBezTo>
                      <a:cubicBezTo>
                        <a:pt x="0" y="105"/>
                        <a:pt x="0" y="109"/>
                        <a:pt x="0" y="114"/>
                      </a:cubicBezTo>
                      <a:cubicBezTo>
                        <a:pt x="2" y="114"/>
                        <a:pt x="2" y="114"/>
                        <a:pt x="2" y="114"/>
                      </a:cubicBezTo>
                      <a:cubicBezTo>
                        <a:pt x="2" y="109"/>
                        <a:pt x="2" y="105"/>
                        <a:pt x="3" y="101"/>
                      </a:cubicBezTo>
                      <a:moveTo>
                        <a:pt x="19" y="0"/>
                      </a:moveTo>
                      <a:cubicBezTo>
                        <a:pt x="17" y="0"/>
                        <a:pt x="17" y="0"/>
                        <a:pt x="17" y="0"/>
                      </a:cubicBezTo>
                      <a:cubicBezTo>
                        <a:pt x="17" y="0"/>
                        <a:pt x="17" y="1"/>
                        <a:pt x="17" y="2"/>
                      </a:cubicBezTo>
                      <a:cubicBezTo>
                        <a:pt x="17" y="2"/>
                        <a:pt x="17" y="2"/>
                        <a:pt x="17" y="2"/>
                      </a:cubicBezTo>
                      <a:cubicBezTo>
                        <a:pt x="17" y="2"/>
                        <a:pt x="16" y="5"/>
                        <a:pt x="16" y="10"/>
                      </a:cubicBezTo>
                      <a:cubicBezTo>
                        <a:pt x="15" y="14"/>
                        <a:pt x="14" y="20"/>
                        <a:pt x="13" y="25"/>
                      </a:cubicBezTo>
                      <a:cubicBezTo>
                        <a:pt x="12" y="36"/>
                        <a:pt x="5" y="62"/>
                        <a:pt x="1" y="100"/>
                      </a:cubicBezTo>
                      <a:cubicBezTo>
                        <a:pt x="3" y="100"/>
                        <a:pt x="3" y="100"/>
                        <a:pt x="3" y="100"/>
                      </a:cubicBezTo>
                      <a:cubicBezTo>
                        <a:pt x="7" y="63"/>
                        <a:pt x="14" y="36"/>
                        <a:pt x="15" y="25"/>
                      </a:cubicBezTo>
                      <a:cubicBezTo>
                        <a:pt x="17" y="15"/>
                        <a:pt x="19" y="2"/>
                        <a:pt x="19" y="2"/>
                      </a:cubicBezTo>
                      <a:cubicBezTo>
                        <a:pt x="19" y="2"/>
                        <a:pt x="19" y="2"/>
                        <a:pt x="19" y="2"/>
                      </a:cubicBezTo>
                      <a:cubicBezTo>
                        <a:pt x="19" y="2"/>
                        <a:pt x="19" y="2"/>
                        <a:pt x="19" y="2"/>
                      </a:cubicBezTo>
                      <a:cubicBezTo>
                        <a:pt x="19" y="1"/>
                        <a:pt x="19" y="0"/>
                        <a:pt x="19"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6" name="Freeform 156"/>
                <p:cNvSpPr>
                  <a:spLocks/>
                </p:cNvSpPr>
                <p:nvPr/>
              </p:nvSpPr>
              <p:spPr bwMode="auto">
                <a:xfrm>
                  <a:off x="-3393" y="2223"/>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7" name="Freeform 157"/>
                <p:cNvSpPr>
                  <a:spLocks noEditPoints="1"/>
                </p:cNvSpPr>
                <p:nvPr/>
              </p:nvSpPr>
              <p:spPr bwMode="auto">
                <a:xfrm>
                  <a:off x="-3355" y="1522"/>
                  <a:ext cx="119" cy="462"/>
                </a:xfrm>
                <a:custGeom>
                  <a:avLst/>
                  <a:gdLst/>
                  <a:ahLst/>
                  <a:cxnLst>
                    <a:cxn ang="0">
                      <a:pos x="12" y="99"/>
                    </a:cxn>
                    <a:cxn ang="0">
                      <a:pos x="9" y="99"/>
                    </a:cxn>
                    <a:cxn ang="0">
                      <a:pos x="0" y="195"/>
                    </a:cxn>
                    <a:cxn ang="0">
                      <a:pos x="2" y="195"/>
                    </a:cxn>
                    <a:cxn ang="0">
                      <a:pos x="12" y="99"/>
                    </a:cxn>
                    <a:cxn ang="0">
                      <a:pos x="19" y="68"/>
                    </a:cxn>
                    <a:cxn ang="0">
                      <a:pos x="17" y="68"/>
                    </a:cxn>
                    <a:cxn ang="0">
                      <a:pos x="10" y="98"/>
                    </a:cxn>
                    <a:cxn ang="0">
                      <a:pos x="12" y="98"/>
                    </a:cxn>
                    <a:cxn ang="0">
                      <a:pos x="19" y="68"/>
                    </a:cxn>
                    <a:cxn ang="0">
                      <a:pos x="48" y="0"/>
                    </a:cxn>
                    <a:cxn ang="0">
                      <a:pos x="48" y="0"/>
                    </a:cxn>
                    <a:cxn ang="0">
                      <a:pos x="17" y="67"/>
                    </a:cxn>
                    <a:cxn ang="0">
                      <a:pos x="19" y="67"/>
                    </a:cxn>
                    <a:cxn ang="0">
                      <a:pos x="26" y="47"/>
                    </a:cxn>
                    <a:cxn ang="0">
                      <a:pos x="42" y="12"/>
                    </a:cxn>
                    <a:cxn ang="0">
                      <a:pos x="48" y="4"/>
                    </a:cxn>
                    <a:cxn ang="0">
                      <a:pos x="49" y="2"/>
                    </a:cxn>
                    <a:cxn ang="0">
                      <a:pos x="50" y="2"/>
                    </a:cxn>
                    <a:cxn ang="0">
                      <a:pos x="48" y="0"/>
                    </a:cxn>
                  </a:cxnLst>
                  <a:rect l="0" t="0" r="r" b="b"/>
                  <a:pathLst>
                    <a:path w="50" h="195">
                      <a:moveTo>
                        <a:pt x="12" y="99"/>
                      </a:moveTo>
                      <a:cubicBezTo>
                        <a:pt x="9" y="99"/>
                        <a:pt x="9" y="99"/>
                        <a:pt x="9" y="99"/>
                      </a:cubicBezTo>
                      <a:cubicBezTo>
                        <a:pt x="4" y="125"/>
                        <a:pt x="0" y="157"/>
                        <a:pt x="0" y="195"/>
                      </a:cubicBezTo>
                      <a:cubicBezTo>
                        <a:pt x="2" y="195"/>
                        <a:pt x="2" y="195"/>
                        <a:pt x="2" y="195"/>
                      </a:cubicBezTo>
                      <a:cubicBezTo>
                        <a:pt x="2" y="157"/>
                        <a:pt x="6" y="125"/>
                        <a:pt x="12" y="99"/>
                      </a:cubicBezTo>
                      <a:moveTo>
                        <a:pt x="19" y="68"/>
                      </a:moveTo>
                      <a:cubicBezTo>
                        <a:pt x="17" y="68"/>
                        <a:pt x="17" y="68"/>
                        <a:pt x="17" y="68"/>
                      </a:cubicBezTo>
                      <a:cubicBezTo>
                        <a:pt x="14" y="77"/>
                        <a:pt x="12" y="87"/>
                        <a:pt x="10" y="98"/>
                      </a:cubicBezTo>
                      <a:cubicBezTo>
                        <a:pt x="12" y="98"/>
                        <a:pt x="12" y="98"/>
                        <a:pt x="12" y="98"/>
                      </a:cubicBezTo>
                      <a:cubicBezTo>
                        <a:pt x="14" y="87"/>
                        <a:pt x="16" y="77"/>
                        <a:pt x="19" y="68"/>
                      </a:cubicBezTo>
                      <a:moveTo>
                        <a:pt x="48" y="0"/>
                      </a:moveTo>
                      <a:cubicBezTo>
                        <a:pt x="48" y="0"/>
                        <a:pt x="48" y="0"/>
                        <a:pt x="48" y="0"/>
                      </a:cubicBezTo>
                      <a:cubicBezTo>
                        <a:pt x="48" y="0"/>
                        <a:pt x="31" y="21"/>
                        <a:pt x="17" y="67"/>
                      </a:cubicBezTo>
                      <a:cubicBezTo>
                        <a:pt x="19" y="67"/>
                        <a:pt x="19" y="67"/>
                        <a:pt x="19" y="67"/>
                      </a:cubicBezTo>
                      <a:cubicBezTo>
                        <a:pt x="22" y="60"/>
                        <a:pt x="24" y="53"/>
                        <a:pt x="26" y="47"/>
                      </a:cubicBezTo>
                      <a:cubicBezTo>
                        <a:pt x="32" y="31"/>
                        <a:pt x="38" y="20"/>
                        <a:pt x="42" y="12"/>
                      </a:cubicBezTo>
                      <a:cubicBezTo>
                        <a:pt x="45" y="9"/>
                        <a:pt x="46" y="6"/>
                        <a:pt x="48" y="4"/>
                      </a:cubicBezTo>
                      <a:cubicBezTo>
                        <a:pt x="48" y="3"/>
                        <a:pt x="49" y="3"/>
                        <a:pt x="49" y="2"/>
                      </a:cubicBezTo>
                      <a:cubicBezTo>
                        <a:pt x="50" y="2"/>
                        <a:pt x="50" y="2"/>
                        <a:pt x="50" y="2"/>
                      </a:cubicBezTo>
                      <a:cubicBezTo>
                        <a:pt x="48" y="0"/>
                        <a:pt x="48" y="0"/>
                        <a:pt x="48"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8" name="Freeform 158"/>
                <p:cNvSpPr>
                  <a:spLocks/>
                </p:cNvSpPr>
                <p:nvPr/>
              </p:nvSpPr>
              <p:spPr bwMode="auto">
                <a:xfrm>
                  <a:off x="-3333" y="1754"/>
                  <a:ext cx="7" cy="2"/>
                </a:xfrm>
                <a:custGeom>
                  <a:avLst/>
                  <a:gdLst/>
                  <a:ahLst/>
                  <a:cxnLst>
                    <a:cxn ang="0">
                      <a:pos x="3" y="0"/>
                    </a:cxn>
                    <a:cxn ang="0">
                      <a:pos x="1" y="0"/>
                    </a:cxn>
                    <a:cxn ang="0">
                      <a:pos x="0" y="1"/>
                    </a:cxn>
                    <a:cxn ang="0">
                      <a:pos x="3" y="1"/>
                    </a:cxn>
                    <a:cxn ang="0">
                      <a:pos x="3" y="0"/>
                    </a:cxn>
                  </a:cxnLst>
                  <a:rect l="0" t="0" r="r" b="b"/>
                  <a:pathLst>
                    <a:path w="3" h="1">
                      <a:moveTo>
                        <a:pt x="3" y="0"/>
                      </a:moveTo>
                      <a:cubicBezTo>
                        <a:pt x="1" y="0"/>
                        <a:pt x="1" y="0"/>
                        <a:pt x="1" y="0"/>
                      </a:cubicBezTo>
                      <a:cubicBezTo>
                        <a:pt x="1" y="0"/>
                        <a:pt x="1" y="1"/>
                        <a:pt x="0"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9" name="Freeform 159"/>
                <p:cNvSpPr>
                  <a:spLocks/>
                </p:cNvSpPr>
                <p:nvPr/>
              </p:nvSpPr>
              <p:spPr bwMode="auto">
                <a:xfrm>
                  <a:off x="-3314" y="1681"/>
                  <a:ext cx="4"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1"/>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90" name="Freeform 160"/>
                <p:cNvSpPr>
                  <a:spLocks noEditPoints="1"/>
                </p:cNvSpPr>
                <p:nvPr/>
              </p:nvSpPr>
              <p:spPr bwMode="auto">
                <a:xfrm>
                  <a:off x="-3556" y="2259"/>
                  <a:ext cx="166" cy="1017"/>
                </a:xfrm>
                <a:custGeom>
                  <a:avLst/>
                  <a:gdLst/>
                  <a:ahLst/>
                  <a:cxnLst>
                    <a:cxn ang="0">
                      <a:pos x="28" y="343"/>
                    </a:cxn>
                    <a:cxn ang="0">
                      <a:pos x="26" y="343"/>
                    </a:cxn>
                    <a:cxn ang="0">
                      <a:pos x="0" y="429"/>
                    </a:cxn>
                    <a:cxn ang="0">
                      <a:pos x="2" y="429"/>
                    </a:cxn>
                    <a:cxn ang="0">
                      <a:pos x="28" y="343"/>
                    </a:cxn>
                    <a:cxn ang="0">
                      <a:pos x="54" y="255"/>
                    </a:cxn>
                    <a:cxn ang="0">
                      <a:pos x="52" y="255"/>
                    </a:cxn>
                    <a:cxn ang="0">
                      <a:pos x="48" y="267"/>
                    </a:cxn>
                    <a:cxn ang="0">
                      <a:pos x="35" y="312"/>
                    </a:cxn>
                    <a:cxn ang="0">
                      <a:pos x="30" y="324"/>
                    </a:cxn>
                    <a:cxn ang="0">
                      <a:pos x="29" y="329"/>
                    </a:cxn>
                    <a:cxn ang="0">
                      <a:pos x="29" y="329"/>
                    </a:cxn>
                    <a:cxn ang="0">
                      <a:pos x="29" y="329"/>
                    </a:cxn>
                    <a:cxn ang="0">
                      <a:pos x="26" y="342"/>
                    </a:cxn>
                    <a:cxn ang="0">
                      <a:pos x="28" y="342"/>
                    </a:cxn>
                    <a:cxn ang="0">
                      <a:pos x="31" y="329"/>
                    </a:cxn>
                    <a:cxn ang="0">
                      <a:pos x="31" y="329"/>
                    </a:cxn>
                    <a:cxn ang="0">
                      <a:pos x="54" y="255"/>
                    </a:cxn>
                    <a:cxn ang="0">
                      <a:pos x="59" y="233"/>
                    </a:cxn>
                    <a:cxn ang="0">
                      <a:pos x="57" y="233"/>
                    </a:cxn>
                    <a:cxn ang="0">
                      <a:pos x="52" y="254"/>
                    </a:cxn>
                    <a:cxn ang="0">
                      <a:pos x="54" y="254"/>
                    </a:cxn>
                    <a:cxn ang="0">
                      <a:pos x="59" y="233"/>
                    </a:cxn>
                    <a:cxn ang="0">
                      <a:pos x="68" y="102"/>
                    </a:cxn>
                    <a:cxn ang="0">
                      <a:pos x="66" y="102"/>
                    </a:cxn>
                    <a:cxn ang="0">
                      <a:pos x="67" y="110"/>
                    </a:cxn>
                    <a:cxn ang="0">
                      <a:pos x="68" y="136"/>
                    </a:cxn>
                    <a:cxn ang="0">
                      <a:pos x="57" y="232"/>
                    </a:cxn>
                    <a:cxn ang="0">
                      <a:pos x="59" y="232"/>
                    </a:cxn>
                    <a:cxn ang="0">
                      <a:pos x="70" y="136"/>
                    </a:cxn>
                    <a:cxn ang="0">
                      <a:pos x="69" y="110"/>
                    </a:cxn>
                    <a:cxn ang="0">
                      <a:pos x="68" y="102"/>
                    </a:cxn>
                    <a:cxn ang="0">
                      <a:pos x="70" y="0"/>
                    </a:cxn>
                    <a:cxn ang="0">
                      <a:pos x="68" y="0"/>
                    </a:cxn>
                    <a:cxn ang="0">
                      <a:pos x="65" y="58"/>
                    </a:cxn>
                    <a:cxn ang="0">
                      <a:pos x="66" y="101"/>
                    </a:cxn>
                    <a:cxn ang="0">
                      <a:pos x="68" y="101"/>
                    </a:cxn>
                    <a:cxn ang="0">
                      <a:pos x="67" y="58"/>
                    </a:cxn>
                    <a:cxn ang="0">
                      <a:pos x="70" y="0"/>
                    </a:cxn>
                  </a:cxnLst>
                  <a:rect l="0" t="0" r="r" b="b"/>
                  <a:pathLst>
                    <a:path w="70" h="429">
                      <a:moveTo>
                        <a:pt x="28" y="343"/>
                      </a:moveTo>
                      <a:cubicBezTo>
                        <a:pt x="26" y="343"/>
                        <a:pt x="26" y="343"/>
                        <a:pt x="26" y="343"/>
                      </a:cubicBezTo>
                      <a:cubicBezTo>
                        <a:pt x="18" y="376"/>
                        <a:pt x="9" y="405"/>
                        <a:pt x="0" y="429"/>
                      </a:cubicBezTo>
                      <a:cubicBezTo>
                        <a:pt x="2" y="429"/>
                        <a:pt x="2" y="429"/>
                        <a:pt x="2" y="429"/>
                      </a:cubicBezTo>
                      <a:cubicBezTo>
                        <a:pt x="11" y="405"/>
                        <a:pt x="20" y="376"/>
                        <a:pt x="28" y="343"/>
                      </a:cubicBezTo>
                      <a:moveTo>
                        <a:pt x="54" y="255"/>
                      </a:moveTo>
                      <a:cubicBezTo>
                        <a:pt x="52" y="255"/>
                        <a:pt x="52" y="255"/>
                        <a:pt x="52" y="255"/>
                      </a:cubicBezTo>
                      <a:cubicBezTo>
                        <a:pt x="51" y="259"/>
                        <a:pt x="49" y="263"/>
                        <a:pt x="48" y="267"/>
                      </a:cubicBezTo>
                      <a:cubicBezTo>
                        <a:pt x="43" y="286"/>
                        <a:pt x="39" y="301"/>
                        <a:pt x="35" y="312"/>
                      </a:cubicBezTo>
                      <a:cubicBezTo>
                        <a:pt x="33" y="317"/>
                        <a:pt x="31" y="321"/>
                        <a:pt x="30" y="324"/>
                      </a:cubicBezTo>
                      <a:cubicBezTo>
                        <a:pt x="29" y="327"/>
                        <a:pt x="29" y="329"/>
                        <a:pt x="29" y="329"/>
                      </a:cubicBezTo>
                      <a:cubicBezTo>
                        <a:pt x="29" y="329"/>
                        <a:pt x="29" y="329"/>
                        <a:pt x="29" y="329"/>
                      </a:cubicBezTo>
                      <a:cubicBezTo>
                        <a:pt x="29" y="329"/>
                        <a:pt x="29" y="329"/>
                        <a:pt x="29" y="329"/>
                      </a:cubicBezTo>
                      <a:cubicBezTo>
                        <a:pt x="28" y="333"/>
                        <a:pt x="27" y="338"/>
                        <a:pt x="26" y="342"/>
                      </a:cubicBezTo>
                      <a:cubicBezTo>
                        <a:pt x="28" y="342"/>
                        <a:pt x="28" y="342"/>
                        <a:pt x="28" y="342"/>
                      </a:cubicBezTo>
                      <a:cubicBezTo>
                        <a:pt x="29" y="338"/>
                        <a:pt x="30" y="334"/>
                        <a:pt x="31" y="329"/>
                      </a:cubicBezTo>
                      <a:cubicBezTo>
                        <a:pt x="31" y="329"/>
                        <a:pt x="31" y="329"/>
                        <a:pt x="31" y="329"/>
                      </a:cubicBezTo>
                      <a:cubicBezTo>
                        <a:pt x="32" y="327"/>
                        <a:pt x="43" y="297"/>
                        <a:pt x="54" y="255"/>
                      </a:cubicBezTo>
                      <a:moveTo>
                        <a:pt x="59" y="233"/>
                      </a:moveTo>
                      <a:cubicBezTo>
                        <a:pt x="57" y="233"/>
                        <a:pt x="57" y="233"/>
                        <a:pt x="57" y="233"/>
                      </a:cubicBezTo>
                      <a:cubicBezTo>
                        <a:pt x="55" y="240"/>
                        <a:pt x="53" y="247"/>
                        <a:pt x="52" y="254"/>
                      </a:cubicBezTo>
                      <a:cubicBezTo>
                        <a:pt x="54" y="254"/>
                        <a:pt x="54" y="254"/>
                        <a:pt x="54" y="254"/>
                      </a:cubicBezTo>
                      <a:cubicBezTo>
                        <a:pt x="56" y="247"/>
                        <a:pt x="57" y="240"/>
                        <a:pt x="59" y="233"/>
                      </a:cubicBezTo>
                      <a:moveTo>
                        <a:pt x="68" y="102"/>
                      </a:moveTo>
                      <a:cubicBezTo>
                        <a:pt x="66" y="102"/>
                        <a:pt x="66" y="102"/>
                        <a:pt x="66" y="102"/>
                      </a:cubicBezTo>
                      <a:cubicBezTo>
                        <a:pt x="67" y="105"/>
                        <a:pt x="67" y="107"/>
                        <a:pt x="67" y="110"/>
                      </a:cubicBezTo>
                      <a:cubicBezTo>
                        <a:pt x="68" y="118"/>
                        <a:pt x="68" y="127"/>
                        <a:pt x="68" y="136"/>
                      </a:cubicBezTo>
                      <a:cubicBezTo>
                        <a:pt x="68" y="169"/>
                        <a:pt x="63" y="202"/>
                        <a:pt x="57" y="232"/>
                      </a:cubicBezTo>
                      <a:cubicBezTo>
                        <a:pt x="59" y="232"/>
                        <a:pt x="59" y="232"/>
                        <a:pt x="59" y="232"/>
                      </a:cubicBezTo>
                      <a:cubicBezTo>
                        <a:pt x="65" y="202"/>
                        <a:pt x="70" y="169"/>
                        <a:pt x="70" y="136"/>
                      </a:cubicBezTo>
                      <a:cubicBezTo>
                        <a:pt x="70" y="127"/>
                        <a:pt x="70" y="118"/>
                        <a:pt x="69" y="110"/>
                      </a:cubicBezTo>
                      <a:cubicBezTo>
                        <a:pt x="69" y="107"/>
                        <a:pt x="69" y="105"/>
                        <a:pt x="68" y="102"/>
                      </a:cubicBezTo>
                      <a:moveTo>
                        <a:pt x="70" y="0"/>
                      </a:moveTo>
                      <a:cubicBezTo>
                        <a:pt x="68" y="0"/>
                        <a:pt x="68" y="0"/>
                        <a:pt x="68" y="0"/>
                      </a:cubicBezTo>
                      <a:cubicBezTo>
                        <a:pt x="66" y="17"/>
                        <a:pt x="65" y="37"/>
                        <a:pt x="65" y="58"/>
                      </a:cubicBezTo>
                      <a:cubicBezTo>
                        <a:pt x="65" y="72"/>
                        <a:pt x="65" y="86"/>
                        <a:pt x="66" y="101"/>
                      </a:cubicBezTo>
                      <a:cubicBezTo>
                        <a:pt x="68" y="101"/>
                        <a:pt x="68" y="101"/>
                        <a:pt x="68" y="101"/>
                      </a:cubicBezTo>
                      <a:cubicBezTo>
                        <a:pt x="67" y="86"/>
                        <a:pt x="67" y="72"/>
                        <a:pt x="67" y="58"/>
                      </a:cubicBezTo>
                      <a:cubicBezTo>
                        <a:pt x="67" y="37"/>
                        <a:pt x="68" y="17"/>
                        <a:pt x="7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91" name="Freeform 161"/>
                <p:cNvSpPr>
                  <a:spLocks/>
                </p:cNvSpPr>
                <p:nvPr/>
              </p:nvSpPr>
              <p:spPr bwMode="auto">
                <a:xfrm>
                  <a:off x="-3494" y="3069"/>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92" name="Freeform 162"/>
                <p:cNvSpPr>
                  <a:spLocks/>
                </p:cNvSpPr>
                <p:nvPr/>
              </p:nvSpPr>
              <p:spPr bwMode="auto">
                <a:xfrm>
                  <a:off x="-3433" y="2861"/>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93" name="Freeform 163"/>
                <p:cNvSpPr>
                  <a:spLocks noEditPoints="1"/>
                </p:cNvSpPr>
                <p:nvPr/>
              </p:nvSpPr>
              <p:spPr bwMode="auto">
                <a:xfrm>
                  <a:off x="-3629" y="3278"/>
                  <a:ext cx="76" cy="154"/>
                </a:xfrm>
                <a:custGeom>
                  <a:avLst/>
                  <a:gdLst/>
                  <a:ahLst/>
                  <a:cxnLst>
                    <a:cxn ang="0">
                      <a:pos x="19" y="31"/>
                    </a:cxn>
                    <a:cxn ang="0">
                      <a:pos x="17" y="31"/>
                    </a:cxn>
                    <a:cxn ang="0">
                      <a:pos x="7" y="52"/>
                    </a:cxn>
                    <a:cxn ang="0">
                      <a:pos x="2" y="61"/>
                    </a:cxn>
                    <a:cxn ang="0">
                      <a:pos x="0" y="64"/>
                    </a:cxn>
                    <a:cxn ang="0">
                      <a:pos x="2" y="65"/>
                    </a:cxn>
                    <a:cxn ang="0">
                      <a:pos x="19" y="31"/>
                    </a:cxn>
                    <a:cxn ang="0">
                      <a:pos x="32" y="0"/>
                    </a:cxn>
                    <a:cxn ang="0">
                      <a:pos x="30" y="0"/>
                    </a:cxn>
                    <a:cxn ang="0">
                      <a:pos x="23" y="18"/>
                    </a:cxn>
                    <a:cxn ang="0">
                      <a:pos x="17" y="31"/>
                    </a:cxn>
                    <a:cxn ang="0">
                      <a:pos x="19" y="31"/>
                    </a:cxn>
                    <a:cxn ang="0">
                      <a:pos x="32" y="0"/>
                    </a:cxn>
                  </a:cxnLst>
                  <a:rect l="0" t="0" r="r" b="b"/>
                  <a:pathLst>
                    <a:path w="32" h="65">
                      <a:moveTo>
                        <a:pt x="19" y="31"/>
                      </a:moveTo>
                      <a:cubicBezTo>
                        <a:pt x="17" y="31"/>
                        <a:pt x="17" y="31"/>
                        <a:pt x="17" y="31"/>
                      </a:cubicBezTo>
                      <a:cubicBezTo>
                        <a:pt x="13" y="40"/>
                        <a:pt x="9" y="47"/>
                        <a:pt x="7" y="52"/>
                      </a:cubicBezTo>
                      <a:cubicBezTo>
                        <a:pt x="5" y="56"/>
                        <a:pt x="3" y="59"/>
                        <a:pt x="2" y="61"/>
                      </a:cubicBezTo>
                      <a:cubicBezTo>
                        <a:pt x="1" y="63"/>
                        <a:pt x="0" y="64"/>
                        <a:pt x="0" y="64"/>
                      </a:cubicBezTo>
                      <a:cubicBezTo>
                        <a:pt x="2" y="65"/>
                        <a:pt x="2" y="65"/>
                        <a:pt x="2" y="65"/>
                      </a:cubicBezTo>
                      <a:cubicBezTo>
                        <a:pt x="2" y="65"/>
                        <a:pt x="9" y="53"/>
                        <a:pt x="19" y="31"/>
                      </a:cubicBezTo>
                      <a:moveTo>
                        <a:pt x="32" y="0"/>
                      </a:moveTo>
                      <a:cubicBezTo>
                        <a:pt x="30" y="0"/>
                        <a:pt x="30" y="0"/>
                        <a:pt x="30" y="0"/>
                      </a:cubicBezTo>
                      <a:cubicBezTo>
                        <a:pt x="28" y="7"/>
                        <a:pt x="25" y="13"/>
                        <a:pt x="23" y="18"/>
                      </a:cubicBezTo>
                      <a:cubicBezTo>
                        <a:pt x="21" y="23"/>
                        <a:pt x="19" y="27"/>
                        <a:pt x="17" y="31"/>
                      </a:cubicBezTo>
                      <a:cubicBezTo>
                        <a:pt x="19" y="31"/>
                        <a:pt x="19" y="31"/>
                        <a:pt x="19" y="31"/>
                      </a:cubicBezTo>
                      <a:cubicBezTo>
                        <a:pt x="23" y="22"/>
                        <a:pt x="28" y="12"/>
                        <a:pt x="3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94" name="Freeform 164"/>
                <p:cNvSpPr>
                  <a:spLocks/>
                </p:cNvSpPr>
                <p:nvPr/>
              </p:nvSpPr>
              <p:spPr bwMode="auto">
                <a:xfrm>
                  <a:off x="-3421" y="2809"/>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95" name="Freeform 165"/>
                <p:cNvSpPr>
                  <a:spLocks/>
                </p:cNvSpPr>
                <p:nvPr/>
              </p:nvSpPr>
              <p:spPr bwMode="auto">
                <a:xfrm>
                  <a:off x="-3558" y="3276"/>
                  <a:ext cx="7" cy="2"/>
                </a:xfrm>
                <a:custGeom>
                  <a:avLst/>
                  <a:gdLst/>
                  <a:ahLst/>
                  <a:cxnLst>
                    <a:cxn ang="0">
                      <a:pos x="3" y="0"/>
                    </a:cxn>
                    <a:cxn ang="0">
                      <a:pos x="1" y="0"/>
                    </a:cxn>
                    <a:cxn ang="0">
                      <a:pos x="0" y="1"/>
                    </a:cxn>
                    <a:cxn ang="0">
                      <a:pos x="2" y="1"/>
                    </a:cxn>
                    <a:cxn ang="0">
                      <a:pos x="3" y="0"/>
                    </a:cxn>
                  </a:cxnLst>
                  <a:rect l="0" t="0" r="r" b="b"/>
                  <a:pathLst>
                    <a:path w="3" h="1">
                      <a:moveTo>
                        <a:pt x="3" y="0"/>
                      </a:moveTo>
                      <a:cubicBezTo>
                        <a:pt x="1" y="0"/>
                        <a:pt x="1" y="0"/>
                        <a:pt x="1" y="0"/>
                      </a:cubicBezTo>
                      <a:cubicBezTo>
                        <a:pt x="0" y="0"/>
                        <a:pt x="0" y="1"/>
                        <a:pt x="0" y="1"/>
                      </a:cubicBezTo>
                      <a:cubicBezTo>
                        <a:pt x="2" y="1"/>
                        <a:pt x="2" y="1"/>
                        <a:pt x="2"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96" name="Freeform 166"/>
                <p:cNvSpPr>
                  <a:spLocks/>
                </p:cNvSpPr>
                <p:nvPr/>
              </p:nvSpPr>
              <p:spPr bwMode="auto">
                <a:xfrm>
                  <a:off x="-3589" y="3351"/>
                  <a:ext cx="5" cy="1"/>
                </a:xfrm>
                <a:custGeom>
                  <a:avLst/>
                  <a:gdLst/>
                  <a:ahLst/>
                  <a:cxnLst>
                    <a:cxn ang="0">
                      <a:pos x="2" y="0"/>
                    </a:cxn>
                    <a:cxn ang="0">
                      <a:pos x="0" y="0"/>
                    </a:cxn>
                    <a:cxn ang="0">
                      <a:pos x="0" y="0"/>
                    </a:cxn>
                    <a:cxn ang="0">
                      <a:pos x="2" y="0"/>
                    </a:cxn>
                    <a:cxn ang="0">
                      <a:pos x="2" y="0"/>
                    </a:cxn>
                  </a:cxnLst>
                  <a:rect l="0" t="0" r="r" b="b"/>
                  <a:pathLst>
                    <a:path w="2">
                      <a:moveTo>
                        <a:pt x="2" y="0"/>
                      </a:moveTo>
                      <a:cubicBezTo>
                        <a:pt x="0" y="0"/>
                        <a:pt x="0" y="0"/>
                        <a:pt x="0" y="0"/>
                      </a:cubicBezTo>
                      <a:cubicBezTo>
                        <a:pt x="0" y="0"/>
                        <a:pt x="0" y="0"/>
                        <a:pt x="0" y="0"/>
                      </a:cubicBezTo>
                      <a:cubicBezTo>
                        <a:pt x="2" y="0"/>
                        <a:pt x="2" y="0"/>
                        <a:pt x="2" y="0"/>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97" name="Freeform 167"/>
                <p:cNvSpPr>
                  <a:spLocks/>
                </p:cNvSpPr>
                <p:nvPr/>
              </p:nvSpPr>
              <p:spPr bwMode="auto">
                <a:xfrm>
                  <a:off x="-3400"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98" name="Freeform 168"/>
                <p:cNvSpPr>
                  <a:spLocks/>
                </p:cNvSpPr>
                <p:nvPr/>
              </p:nvSpPr>
              <p:spPr bwMode="auto">
                <a:xfrm>
                  <a:off x="-3395"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99" name="Freeform 169"/>
                <p:cNvSpPr>
                  <a:spLocks/>
                </p:cNvSpPr>
                <p:nvPr/>
              </p:nvSpPr>
              <p:spPr bwMode="auto">
                <a:xfrm>
                  <a:off x="-3201" y="1986"/>
                  <a:ext cx="3" cy="270"/>
                </a:xfrm>
                <a:custGeom>
                  <a:avLst/>
                  <a:gdLst/>
                  <a:ahLst/>
                  <a:cxnLst>
                    <a:cxn ang="0">
                      <a:pos x="3" y="0"/>
                    </a:cxn>
                    <a:cxn ang="0">
                      <a:pos x="0" y="0"/>
                    </a:cxn>
                    <a:cxn ang="0">
                      <a:pos x="0" y="270"/>
                    </a:cxn>
                    <a:cxn ang="0">
                      <a:pos x="3" y="270"/>
                    </a:cxn>
                    <a:cxn ang="0">
                      <a:pos x="3" y="240"/>
                    </a:cxn>
                    <a:cxn ang="0">
                      <a:pos x="0" y="240"/>
                    </a:cxn>
                    <a:cxn ang="0">
                      <a:pos x="0" y="237"/>
                    </a:cxn>
                    <a:cxn ang="0">
                      <a:pos x="3" y="237"/>
                    </a:cxn>
                    <a:cxn ang="0">
                      <a:pos x="3" y="0"/>
                    </a:cxn>
                    <a:cxn ang="0">
                      <a:pos x="3" y="0"/>
                    </a:cxn>
                  </a:cxnLst>
                  <a:rect l="0" t="0" r="r" b="b"/>
                  <a:pathLst>
                    <a:path w="3" h="270">
                      <a:moveTo>
                        <a:pt x="3" y="0"/>
                      </a:moveTo>
                      <a:lnTo>
                        <a:pt x="0" y="0"/>
                      </a:lnTo>
                      <a:lnTo>
                        <a:pt x="0" y="270"/>
                      </a:lnTo>
                      <a:lnTo>
                        <a:pt x="3" y="270"/>
                      </a:lnTo>
                      <a:lnTo>
                        <a:pt x="3" y="240"/>
                      </a:lnTo>
                      <a:lnTo>
                        <a:pt x="0" y="240"/>
                      </a:lnTo>
                      <a:lnTo>
                        <a:pt x="0" y="237"/>
                      </a:lnTo>
                      <a:lnTo>
                        <a:pt x="3" y="237"/>
                      </a:lnTo>
                      <a:lnTo>
                        <a:pt x="3" y="0"/>
                      </a:lnTo>
                      <a:lnTo>
                        <a:pt x="3"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00" name="Freeform 170"/>
                <p:cNvSpPr>
                  <a:spLocks/>
                </p:cNvSpPr>
                <p:nvPr/>
              </p:nvSpPr>
              <p:spPr bwMode="auto">
                <a:xfrm>
                  <a:off x="-3201" y="2223"/>
                  <a:ext cx="3" cy="3"/>
                </a:xfrm>
                <a:custGeom>
                  <a:avLst/>
                  <a:gdLst/>
                  <a:ahLst/>
                  <a:cxnLst>
                    <a:cxn ang="0">
                      <a:pos x="3" y="0"/>
                    </a:cxn>
                    <a:cxn ang="0">
                      <a:pos x="0" y="0"/>
                    </a:cxn>
                    <a:cxn ang="0">
                      <a:pos x="0" y="3"/>
                    </a:cxn>
                    <a:cxn ang="0">
                      <a:pos x="3" y="3"/>
                    </a:cxn>
                    <a:cxn ang="0">
                      <a:pos x="3" y="0"/>
                    </a:cxn>
                    <a:cxn ang="0">
                      <a:pos x="3" y="0"/>
                    </a:cxn>
                  </a:cxnLst>
                  <a:rect l="0" t="0" r="r" b="b"/>
                  <a:pathLst>
                    <a:path w="3" h="3">
                      <a:moveTo>
                        <a:pt x="3" y="0"/>
                      </a:moveTo>
                      <a:lnTo>
                        <a:pt x="0" y="0"/>
                      </a:lnTo>
                      <a:lnTo>
                        <a:pt x="0" y="3"/>
                      </a:lnTo>
                      <a:lnTo>
                        <a:pt x="3" y="3"/>
                      </a:lnTo>
                      <a:lnTo>
                        <a:pt x="3" y="0"/>
                      </a:lnTo>
                      <a:lnTo>
                        <a:pt x="3"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01" name="Freeform 171"/>
                <p:cNvSpPr>
                  <a:spLocks noEditPoints="1"/>
                </p:cNvSpPr>
                <p:nvPr/>
              </p:nvSpPr>
              <p:spPr bwMode="auto">
                <a:xfrm>
                  <a:off x="-3203" y="1524"/>
                  <a:ext cx="7" cy="998"/>
                </a:xfrm>
                <a:custGeom>
                  <a:avLst/>
                  <a:gdLst/>
                  <a:ahLst/>
                  <a:cxnLst>
                    <a:cxn ang="0">
                      <a:pos x="7" y="977"/>
                    </a:cxn>
                    <a:cxn ang="0">
                      <a:pos x="5" y="977"/>
                    </a:cxn>
                    <a:cxn ang="0">
                      <a:pos x="5" y="998"/>
                    </a:cxn>
                    <a:cxn ang="0">
                      <a:pos x="7" y="998"/>
                    </a:cxn>
                    <a:cxn ang="0">
                      <a:pos x="7" y="977"/>
                    </a:cxn>
                    <a:cxn ang="0">
                      <a:pos x="7" y="977"/>
                    </a:cxn>
                    <a:cxn ang="0">
                      <a:pos x="5" y="735"/>
                    </a:cxn>
                    <a:cxn ang="0">
                      <a:pos x="2" y="735"/>
                    </a:cxn>
                    <a:cxn ang="0">
                      <a:pos x="5" y="974"/>
                    </a:cxn>
                    <a:cxn ang="0">
                      <a:pos x="7" y="974"/>
                    </a:cxn>
                    <a:cxn ang="0">
                      <a:pos x="5" y="735"/>
                    </a:cxn>
                    <a:cxn ang="0">
                      <a:pos x="5" y="735"/>
                    </a:cxn>
                    <a:cxn ang="0">
                      <a:pos x="2" y="232"/>
                    </a:cxn>
                    <a:cxn ang="0">
                      <a:pos x="0" y="232"/>
                    </a:cxn>
                    <a:cxn ang="0">
                      <a:pos x="2" y="460"/>
                    </a:cxn>
                    <a:cxn ang="0">
                      <a:pos x="2" y="460"/>
                    </a:cxn>
                    <a:cxn ang="0">
                      <a:pos x="2" y="232"/>
                    </a:cxn>
                    <a:cxn ang="0">
                      <a:pos x="2" y="232"/>
                    </a:cxn>
                    <a:cxn ang="0">
                      <a:pos x="2" y="0"/>
                    </a:cxn>
                    <a:cxn ang="0">
                      <a:pos x="0" y="0"/>
                    </a:cxn>
                    <a:cxn ang="0">
                      <a:pos x="0" y="230"/>
                    </a:cxn>
                    <a:cxn ang="0">
                      <a:pos x="2" y="230"/>
                    </a:cxn>
                    <a:cxn ang="0">
                      <a:pos x="2" y="0"/>
                    </a:cxn>
                    <a:cxn ang="0">
                      <a:pos x="2" y="0"/>
                    </a:cxn>
                  </a:cxnLst>
                  <a:rect l="0" t="0" r="r" b="b"/>
                  <a:pathLst>
                    <a:path w="7" h="998">
                      <a:moveTo>
                        <a:pt x="7" y="977"/>
                      </a:moveTo>
                      <a:lnTo>
                        <a:pt x="5" y="977"/>
                      </a:lnTo>
                      <a:lnTo>
                        <a:pt x="5" y="998"/>
                      </a:lnTo>
                      <a:lnTo>
                        <a:pt x="7" y="998"/>
                      </a:lnTo>
                      <a:lnTo>
                        <a:pt x="7" y="977"/>
                      </a:lnTo>
                      <a:lnTo>
                        <a:pt x="7" y="977"/>
                      </a:lnTo>
                      <a:close/>
                      <a:moveTo>
                        <a:pt x="5" y="735"/>
                      </a:moveTo>
                      <a:lnTo>
                        <a:pt x="2" y="735"/>
                      </a:lnTo>
                      <a:lnTo>
                        <a:pt x="5" y="974"/>
                      </a:lnTo>
                      <a:lnTo>
                        <a:pt x="7" y="974"/>
                      </a:lnTo>
                      <a:lnTo>
                        <a:pt x="5" y="735"/>
                      </a:lnTo>
                      <a:lnTo>
                        <a:pt x="5" y="735"/>
                      </a:lnTo>
                      <a:close/>
                      <a:moveTo>
                        <a:pt x="2" y="232"/>
                      </a:moveTo>
                      <a:lnTo>
                        <a:pt x="0" y="232"/>
                      </a:lnTo>
                      <a:lnTo>
                        <a:pt x="2" y="460"/>
                      </a:lnTo>
                      <a:lnTo>
                        <a:pt x="2" y="460"/>
                      </a:lnTo>
                      <a:lnTo>
                        <a:pt x="2" y="232"/>
                      </a:lnTo>
                      <a:lnTo>
                        <a:pt x="2" y="232"/>
                      </a:lnTo>
                      <a:close/>
                      <a:moveTo>
                        <a:pt x="2" y="0"/>
                      </a:moveTo>
                      <a:lnTo>
                        <a:pt x="0" y="0"/>
                      </a:lnTo>
                      <a:lnTo>
                        <a:pt x="0" y="230"/>
                      </a:lnTo>
                      <a:lnTo>
                        <a:pt x="2" y="230"/>
                      </a:lnTo>
                      <a:lnTo>
                        <a:pt x="2" y="0"/>
                      </a:lnTo>
                      <a:lnTo>
                        <a:pt x="2"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02" name="Freeform 172"/>
                <p:cNvSpPr>
                  <a:spLocks/>
                </p:cNvSpPr>
                <p:nvPr/>
              </p:nvSpPr>
              <p:spPr bwMode="auto">
                <a:xfrm>
                  <a:off x="-3203" y="1754"/>
                  <a:ext cx="2" cy="2"/>
                </a:xfrm>
                <a:custGeom>
                  <a:avLst/>
                  <a:gdLst/>
                  <a:ahLst/>
                  <a:cxnLst>
                    <a:cxn ang="0">
                      <a:pos x="2" y="0"/>
                    </a:cxn>
                    <a:cxn ang="0">
                      <a:pos x="0" y="0"/>
                    </a:cxn>
                    <a:cxn ang="0">
                      <a:pos x="0" y="2"/>
                    </a:cxn>
                    <a:cxn ang="0">
                      <a:pos x="2" y="2"/>
                    </a:cxn>
                    <a:cxn ang="0">
                      <a:pos x="2" y="0"/>
                    </a:cxn>
                    <a:cxn ang="0">
                      <a:pos x="2" y="0"/>
                    </a:cxn>
                  </a:cxnLst>
                  <a:rect l="0" t="0" r="r" b="b"/>
                  <a:pathLst>
                    <a:path w="2" h="2">
                      <a:moveTo>
                        <a:pt x="2" y="0"/>
                      </a:moveTo>
                      <a:lnTo>
                        <a:pt x="0" y="0"/>
                      </a:lnTo>
                      <a:lnTo>
                        <a:pt x="0" y="2"/>
                      </a:lnTo>
                      <a:lnTo>
                        <a:pt x="2" y="2"/>
                      </a:lnTo>
                      <a:lnTo>
                        <a:pt x="2" y="0"/>
                      </a:lnTo>
                      <a:lnTo>
                        <a:pt x="2"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03" name="Freeform 173"/>
                <p:cNvSpPr>
                  <a:spLocks/>
                </p:cNvSpPr>
                <p:nvPr/>
              </p:nvSpPr>
              <p:spPr bwMode="auto">
                <a:xfrm>
                  <a:off x="-3198" y="2498"/>
                  <a:ext cx="2" cy="3"/>
                </a:xfrm>
                <a:custGeom>
                  <a:avLst/>
                  <a:gdLst/>
                  <a:ahLst/>
                  <a:cxnLst>
                    <a:cxn ang="0">
                      <a:pos x="2" y="0"/>
                    </a:cxn>
                    <a:cxn ang="0">
                      <a:pos x="0" y="0"/>
                    </a:cxn>
                    <a:cxn ang="0">
                      <a:pos x="0" y="3"/>
                    </a:cxn>
                    <a:cxn ang="0">
                      <a:pos x="2" y="3"/>
                    </a:cxn>
                    <a:cxn ang="0">
                      <a:pos x="2" y="0"/>
                    </a:cxn>
                    <a:cxn ang="0">
                      <a:pos x="2" y="0"/>
                    </a:cxn>
                  </a:cxnLst>
                  <a:rect l="0" t="0" r="r" b="b"/>
                  <a:pathLst>
                    <a:path w="2" h="3">
                      <a:moveTo>
                        <a:pt x="2" y="0"/>
                      </a:moveTo>
                      <a:lnTo>
                        <a:pt x="0" y="0"/>
                      </a:lnTo>
                      <a:lnTo>
                        <a:pt x="0" y="3"/>
                      </a:lnTo>
                      <a:lnTo>
                        <a:pt x="2" y="3"/>
                      </a:lnTo>
                      <a:lnTo>
                        <a:pt x="2" y="0"/>
                      </a:lnTo>
                      <a:lnTo>
                        <a:pt x="2"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04" name="Freeform 174"/>
                <p:cNvSpPr>
                  <a:spLocks/>
                </p:cNvSpPr>
                <p:nvPr/>
              </p:nvSpPr>
              <p:spPr bwMode="auto">
                <a:xfrm>
                  <a:off x="-3201" y="2256"/>
                  <a:ext cx="3" cy="3"/>
                </a:xfrm>
                <a:custGeom>
                  <a:avLst/>
                  <a:gdLst/>
                  <a:ahLst/>
                  <a:cxnLst>
                    <a:cxn ang="0">
                      <a:pos x="3" y="0"/>
                    </a:cxn>
                    <a:cxn ang="0">
                      <a:pos x="0" y="0"/>
                    </a:cxn>
                    <a:cxn ang="0">
                      <a:pos x="0" y="3"/>
                    </a:cxn>
                    <a:cxn ang="0">
                      <a:pos x="3" y="3"/>
                    </a:cxn>
                    <a:cxn ang="0">
                      <a:pos x="3" y="0"/>
                    </a:cxn>
                    <a:cxn ang="0">
                      <a:pos x="3" y="0"/>
                    </a:cxn>
                  </a:cxnLst>
                  <a:rect l="0" t="0" r="r" b="b"/>
                  <a:pathLst>
                    <a:path w="3" h="3">
                      <a:moveTo>
                        <a:pt x="3" y="0"/>
                      </a:moveTo>
                      <a:lnTo>
                        <a:pt x="0" y="0"/>
                      </a:lnTo>
                      <a:lnTo>
                        <a:pt x="0" y="3"/>
                      </a:lnTo>
                      <a:lnTo>
                        <a:pt x="3" y="3"/>
                      </a:lnTo>
                      <a:lnTo>
                        <a:pt x="3" y="0"/>
                      </a:lnTo>
                      <a:lnTo>
                        <a:pt x="3"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05" name="Freeform 175"/>
                <p:cNvSpPr>
                  <a:spLocks noEditPoints="1"/>
                </p:cNvSpPr>
                <p:nvPr/>
              </p:nvSpPr>
              <p:spPr bwMode="auto">
                <a:xfrm>
                  <a:off x="-3161" y="1524"/>
                  <a:ext cx="152" cy="732"/>
                </a:xfrm>
                <a:custGeom>
                  <a:avLst/>
                  <a:gdLst/>
                  <a:ahLst/>
                  <a:cxnLst>
                    <a:cxn ang="0">
                      <a:pos x="50" y="195"/>
                    </a:cxn>
                    <a:cxn ang="0">
                      <a:pos x="48" y="195"/>
                    </a:cxn>
                    <a:cxn ang="0">
                      <a:pos x="62" y="309"/>
                    </a:cxn>
                    <a:cxn ang="0">
                      <a:pos x="64" y="309"/>
                    </a:cxn>
                    <a:cxn ang="0">
                      <a:pos x="50" y="195"/>
                    </a:cxn>
                    <a:cxn ang="0">
                      <a:pos x="29" y="98"/>
                    </a:cxn>
                    <a:cxn ang="0">
                      <a:pos x="27" y="98"/>
                    </a:cxn>
                    <a:cxn ang="0">
                      <a:pos x="48" y="194"/>
                    </a:cxn>
                    <a:cxn ang="0">
                      <a:pos x="50" y="194"/>
                    </a:cxn>
                    <a:cxn ang="0">
                      <a:pos x="29" y="98"/>
                    </a:cxn>
                    <a:cxn ang="0">
                      <a:pos x="2" y="0"/>
                    </a:cxn>
                    <a:cxn ang="0">
                      <a:pos x="0" y="0"/>
                    </a:cxn>
                    <a:cxn ang="0">
                      <a:pos x="2" y="9"/>
                    </a:cxn>
                    <a:cxn ang="0">
                      <a:pos x="19" y="66"/>
                    </a:cxn>
                    <a:cxn ang="0">
                      <a:pos x="21" y="66"/>
                    </a:cxn>
                    <a:cxn ang="0">
                      <a:pos x="21" y="67"/>
                    </a:cxn>
                    <a:cxn ang="0">
                      <a:pos x="19" y="67"/>
                    </a:cxn>
                    <a:cxn ang="0">
                      <a:pos x="27" y="97"/>
                    </a:cxn>
                    <a:cxn ang="0">
                      <a:pos x="29" y="97"/>
                    </a:cxn>
                    <a:cxn ang="0">
                      <a:pos x="2" y="0"/>
                    </a:cxn>
                  </a:cxnLst>
                  <a:rect l="0" t="0" r="r" b="b"/>
                  <a:pathLst>
                    <a:path w="64" h="309">
                      <a:moveTo>
                        <a:pt x="50" y="195"/>
                      </a:moveTo>
                      <a:cubicBezTo>
                        <a:pt x="48" y="195"/>
                        <a:pt x="48" y="195"/>
                        <a:pt x="48" y="195"/>
                      </a:cubicBezTo>
                      <a:cubicBezTo>
                        <a:pt x="55" y="233"/>
                        <a:pt x="61" y="273"/>
                        <a:pt x="62" y="309"/>
                      </a:cubicBezTo>
                      <a:cubicBezTo>
                        <a:pt x="64" y="309"/>
                        <a:pt x="64" y="309"/>
                        <a:pt x="64" y="309"/>
                      </a:cubicBezTo>
                      <a:cubicBezTo>
                        <a:pt x="63" y="273"/>
                        <a:pt x="57" y="233"/>
                        <a:pt x="50" y="195"/>
                      </a:cubicBezTo>
                      <a:moveTo>
                        <a:pt x="29" y="98"/>
                      </a:moveTo>
                      <a:cubicBezTo>
                        <a:pt x="27" y="98"/>
                        <a:pt x="27" y="98"/>
                        <a:pt x="27" y="98"/>
                      </a:cubicBezTo>
                      <a:cubicBezTo>
                        <a:pt x="34" y="127"/>
                        <a:pt x="42" y="160"/>
                        <a:pt x="48" y="194"/>
                      </a:cubicBezTo>
                      <a:cubicBezTo>
                        <a:pt x="50" y="194"/>
                        <a:pt x="50" y="194"/>
                        <a:pt x="50" y="194"/>
                      </a:cubicBezTo>
                      <a:cubicBezTo>
                        <a:pt x="44" y="160"/>
                        <a:pt x="36" y="127"/>
                        <a:pt x="29" y="98"/>
                      </a:cubicBezTo>
                      <a:moveTo>
                        <a:pt x="2" y="0"/>
                      </a:moveTo>
                      <a:cubicBezTo>
                        <a:pt x="0" y="0"/>
                        <a:pt x="0" y="0"/>
                        <a:pt x="0" y="0"/>
                      </a:cubicBezTo>
                      <a:cubicBezTo>
                        <a:pt x="0" y="0"/>
                        <a:pt x="1" y="3"/>
                        <a:pt x="2" y="9"/>
                      </a:cubicBezTo>
                      <a:cubicBezTo>
                        <a:pt x="5" y="19"/>
                        <a:pt x="12" y="40"/>
                        <a:pt x="19" y="66"/>
                      </a:cubicBezTo>
                      <a:cubicBezTo>
                        <a:pt x="21" y="66"/>
                        <a:pt x="21" y="66"/>
                        <a:pt x="21" y="66"/>
                      </a:cubicBezTo>
                      <a:cubicBezTo>
                        <a:pt x="21" y="67"/>
                        <a:pt x="21" y="67"/>
                        <a:pt x="21" y="67"/>
                      </a:cubicBezTo>
                      <a:cubicBezTo>
                        <a:pt x="19" y="67"/>
                        <a:pt x="19" y="67"/>
                        <a:pt x="19" y="67"/>
                      </a:cubicBezTo>
                      <a:cubicBezTo>
                        <a:pt x="21" y="77"/>
                        <a:pt x="24" y="87"/>
                        <a:pt x="27" y="97"/>
                      </a:cubicBezTo>
                      <a:cubicBezTo>
                        <a:pt x="29" y="97"/>
                        <a:pt x="29" y="97"/>
                        <a:pt x="29" y="97"/>
                      </a:cubicBezTo>
                      <a:cubicBezTo>
                        <a:pt x="15" y="41"/>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06" name="Freeform 176"/>
                <p:cNvSpPr>
                  <a:spLocks/>
                </p:cNvSpPr>
                <p:nvPr/>
              </p:nvSpPr>
              <p:spPr bwMode="auto">
                <a:xfrm>
                  <a:off x="-3097" y="1754"/>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07" name="Freeform 177"/>
                <p:cNvSpPr>
                  <a:spLocks/>
                </p:cNvSpPr>
                <p:nvPr/>
              </p:nvSpPr>
              <p:spPr bwMode="auto">
                <a:xfrm>
                  <a:off x="-3116" y="1681"/>
                  <a:ext cx="5" cy="2"/>
                </a:xfrm>
                <a:custGeom>
                  <a:avLst/>
                  <a:gdLst/>
                  <a:ahLst/>
                  <a:cxnLst>
                    <a:cxn ang="0">
                      <a:pos x="0" y="0"/>
                    </a:cxn>
                    <a:cxn ang="0">
                      <a:pos x="0" y="1"/>
                    </a:cxn>
                    <a:cxn ang="0">
                      <a:pos x="2" y="1"/>
                    </a:cxn>
                    <a:cxn ang="0">
                      <a:pos x="2" y="0"/>
                    </a:cxn>
                  </a:cxnLst>
                  <a:rect l="0" t="0" r="r" b="b"/>
                  <a:pathLst>
                    <a:path w="2" h="1">
                      <a:moveTo>
                        <a:pt x="0" y="0"/>
                      </a:move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08" name="Line 178"/>
                <p:cNvSpPr>
                  <a:spLocks noChangeShapeType="1"/>
                </p:cNvSpPr>
                <p:nvPr/>
              </p:nvSpPr>
              <p:spPr bwMode="auto">
                <a:xfrm>
                  <a:off x="-3111" y="1681"/>
                  <a:ext cx="1" cy="1"/>
                </a:xfrm>
                <a:prstGeom prst="line">
                  <a:avLst/>
                </a:prstGeom>
                <a:no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09" name="Line 179"/>
                <p:cNvSpPr>
                  <a:spLocks noChangeShapeType="1"/>
                </p:cNvSpPr>
                <p:nvPr/>
              </p:nvSpPr>
              <p:spPr bwMode="auto">
                <a:xfrm>
                  <a:off x="-3111" y="1681"/>
                  <a:ext cx="1" cy="1"/>
                </a:xfrm>
                <a:prstGeom prst="line">
                  <a:avLst/>
                </a:prstGeom>
                <a:no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10" name="Freeform 180"/>
                <p:cNvSpPr>
                  <a:spLocks noEditPoints="1"/>
                </p:cNvSpPr>
                <p:nvPr/>
              </p:nvSpPr>
              <p:spPr bwMode="auto">
                <a:xfrm>
                  <a:off x="-3014" y="2259"/>
                  <a:ext cx="92" cy="1017"/>
                </a:xfrm>
                <a:custGeom>
                  <a:avLst/>
                  <a:gdLst/>
                  <a:ahLst/>
                  <a:cxnLst>
                    <a:cxn ang="0">
                      <a:pos x="26" y="343"/>
                    </a:cxn>
                    <a:cxn ang="0">
                      <a:pos x="24" y="343"/>
                    </a:cxn>
                    <a:cxn ang="0">
                      <a:pos x="37" y="429"/>
                    </a:cxn>
                    <a:cxn ang="0">
                      <a:pos x="39" y="429"/>
                    </a:cxn>
                    <a:cxn ang="0">
                      <a:pos x="30" y="378"/>
                    </a:cxn>
                    <a:cxn ang="0">
                      <a:pos x="26" y="345"/>
                    </a:cxn>
                    <a:cxn ang="0">
                      <a:pos x="26" y="343"/>
                    </a:cxn>
                    <a:cxn ang="0">
                      <a:pos x="13" y="255"/>
                    </a:cxn>
                    <a:cxn ang="0">
                      <a:pos x="11" y="255"/>
                    </a:cxn>
                    <a:cxn ang="0">
                      <a:pos x="23" y="333"/>
                    </a:cxn>
                    <a:cxn ang="0">
                      <a:pos x="23" y="333"/>
                    </a:cxn>
                    <a:cxn ang="0">
                      <a:pos x="24" y="342"/>
                    </a:cxn>
                    <a:cxn ang="0">
                      <a:pos x="26" y="342"/>
                    </a:cxn>
                    <a:cxn ang="0">
                      <a:pos x="25" y="333"/>
                    </a:cxn>
                    <a:cxn ang="0">
                      <a:pos x="25" y="333"/>
                    </a:cxn>
                    <a:cxn ang="0">
                      <a:pos x="25" y="333"/>
                    </a:cxn>
                    <a:cxn ang="0">
                      <a:pos x="13" y="255"/>
                    </a:cxn>
                    <a:cxn ang="0">
                      <a:pos x="10" y="233"/>
                    </a:cxn>
                    <a:cxn ang="0">
                      <a:pos x="8" y="233"/>
                    </a:cxn>
                    <a:cxn ang="0">
                      <a:pos x="11" y="254"/>
                    </a:cxn>
                    <a:cxn ang="0">
                      <a:pos x="13" y="254"/>
                    </a:cxn>
                    <a:cxn ang="0">
                      <a:pos x="10" y="233"/>
                    </a:cxn>
                    <a:cxn ang="0">
                      <a:pos x="4" y="102"/>
                    </a:cxn>
                    <a:cxn ang="0">
                      <a:pos x="2" y="102"/>
                    </a:cxn>
                    <a:cxn ang="0">
                      <a:pos x="2" y="113"/>
                    </a:cxn>
                    <a:cxn ang="0">
                      <a:pos x="2" y="132"/>
                    </a:cxn>
                    <a:cxn ang="0">
                      <a:pos x="8" y="232"/>
                    </a:cxn>
                    <a:cxn ang="0">
                      <a:pos x="10" y="232"/>
                    </a:cxn>
                    <a:cxn ang="0">
                      <a:pos x="4" y="132"/>
                    </a:cxn>
                    <a:cxn ang="0">
                      <a:pos x="4" y="118"/>
                    </a:cxn>
                    <a:cxn ang="0">
                      <a:pos x="4" y="113"/>
                    </a:cxn>
                    <a:cxn ang="0">
                      <a:pos x="4" y="113"/>
                    </a:cxn>
                    <a:cxn ang="0">
                      <a:pos x="4" y="113"/>
                    </a:cxn>
                    <a:cxn ang="0">
                      <a:pos x="4" y="102"/>
                    </a:cxn>
                    <a:cxn ang="0">
                      <a:pos x="2" y="0"/>
                    </a:cxn>
                    <a:cxn ang="0">
                      <a:pos x="0" y="0"/>
                    </a:cxn>
                    <a:cxn ang="0">
                      <a:pos x="0" y="5"/>
                    </a:cxn>
                    <a:cxn ang="0">
                      <a:pos x="0" y="5"/>
                    </a:cxn>
                    <a:cxn ang="0">
                      <a:pos x="0" y="5"/>
                    </a:cxn>
                    <a:cxn ang="0">
                      <a:pos x="0" y="5"/>
                    </a:cxn>
                    <a:cxn ang="0">
                      <a:pos x="2" y="101"/>
                    </a:cxn>
                    <a:cxn ang="0">
                      <a:pos x="4" y="101"/>
                    </a:cxn>
                    <a:cxn ang="0">
                      <a:pos x="2" y="5"/>
                    </a:cxn>
                    <a:cxn ang="0">
                      <a:pos x="2" y="5"/>
                    </a:cxn>
                    <a:cxn ang="0">
                      <a:pos x="2" y="0"/>
                    </a:cxn>
                  </a:cxnLst>
                  <a:rect l="0" t="0" r="r" b="b"/>
                  <a:pathLst>
                    <a:path w="39" h="429">
                      <a:moveTo>
                        <a:pt x="26" y="343"/>
                      </a:moveTo>
                      <a:cubicBezTo>
                        <a:pt x="24" y="343"/>
                        <a:pt x="24" y="343"/>
                        <a:pt x="24" y="343"/>
                      </a:cubicBezTo>
                      <a:cubicBezTo>
                        <a:pt x="26" y="358"/>
                        <a:pt x="29" y="390"/>
                        <a:pt x="37" y="429"/>
                      </a:cubicBezTo>
                      <a:cubicBezTo>
                        <a:pt x="39" y="429"/>
                        <a:pt x="39" y="429"/>
                        <a:pt x="39" y="429"/>
                      </a:cubicBezTo>
                      <a:cubicBezTo>
                        <a:pt x="35" y="410"/>
                        <a:pt x="32" y="393"/>
                        <a:pt x="30" y="378"/>
                      </a:cubicBezTo>
                      <a:cubicBezTo>
                        <a:pt x="28" y="364"/>
                        <a:pt x="27" y="353"/>
                        <a:pt x="26" y="345"/>
                      </a:cubicBezTo>
                      <a:cubicBezTo>
                        <a:pt x="26" y="344"/>
                        <a:pt x="26" y="344"/>
                        <a:pt x="26" y="343"/>
                      </a:cubicBezTo>
                      <a:moveTo>
                        <a:pt x="13" y="255"/>
                      </a:moveTo>
                      <a:cubicBezTo>
                        <a:pt x="11" y="255"/>
                        <a:pt x="11" y="255"/>
                        <a:pt x="11" y="255"/>
                      </a:cubicBezTo>
                      <a:cubicBezTo>
                        <a:pt x="14" y="279"/>
                        <a:pt x="18" y="305"/>
                        <a:pt x="23" y="333"/>
                      </a:cubicBezTo>
                      <a:cubicBezTo>
                        <a:pt x="23" y="333"/>
                        <a:pt x="23" y="333"/>
                        <a:pt x="23" y="333"/>
                      </a:cubicBezTo>
                      <a:cubicBezTo>
                        <a:pt x="23" y="334"/>
                        <a:pt x="24" y="337"/>
                        <a:pt x="24" y="342"/>
                      </a:cubicBezTo>
                      <a:cubicBezTo>
                        <a:pt x="26" y="342"/>
                        <a:pt x="26" y="342"/>
                        <a:pt x="26" y="342"/>
                      </a:cubicBezTo>
                      <a:cubicBezTo>
                        <a:pt x="25" y="336"/>
                        <a:pt x="25" y="333"/>
                        <a:pt x="25" y="333"/>
                      </a:cubicBezTo>
                      <a:cubicBezTo>
                        <a:pt x="25" y="333"/>
                        <a:pt x="25" y="333"/>
                        <a:pt x="25" y="333"/>
                      </a:cubicBezTo>
                      <a:cubicBezTo>
                        <a:pt x="25" y="333"/>
                        <a:pt x="25" y="333"/>
                        <a:pt x="25" y="333"/>
                      </a:cubicBezTo>
                      <a:cubicBezTo>
                        <a:pt x="20" y="305"/>
                        <a:pt x="16" y="279"/>
                        <a:pt x="13" y="255"/>
                      </a:cubicBezTo>
                      <a:moveTo>
                        <a:pt x="10" y="233"/>
                      </a:moveTo>
                      <a:cubicBezTo>
                        <a:pt x="8" y="233"/>
                        <a:pt x="8" y="233"/>
                        <a:pt x="8" y="233"/>
                      </a:cubicBezTo>
                      <a:cubicBezTo>
                        <a:pt x="9" y="240"/>
                        <a:pt x="10" y="247"/>
                        <a:pt x="11" y="254"/>
                      </a:cubicBezTo>
                      <a:cubicBezTo>
                        <a:pt x="13" y="254"/>
                        <a:pt x="13" y="254"/>
                        <a:pt x="13" y="254"/>
                      </a:cubicBezTo>
                      <a:cubicBezTo>
                        <a:pt x="12" y="247"/>
                        <a:pt x="11" y="240"/>
                        <a:pt x="10" y="233"/>
                      </a:cubicBezTo>
                      <a:moveTo>
                        <a:pt x="4" y="102"/>
                      </a:moveTo>
                      <a:cubicBezTo>
                        <a:pt x="2" y="102"/>
                        <a:pt x="2" y="102"/>
                        <a:pt x="2" y="102"/>
                      </a:cubicBezTo>
                      <a:cubicBezTo>
                        <a:pt x="2" y="105"/>
                        <a:pt x="2" y="109"/>
                        <a:pt x="2" y="113"/>
                      </a:cubicBezTo>
                      <a:cubicBezTo>
                        <a:pt x="2" y="113"/>
                        <a:pt x="2" y="120"/>
                        <a:pt x="2" y="132"/>
                      </a:cubicBezTo>
                      <a:cubicBezTo>
                        <a:pt x="2" y="152"/>
                        <a:pt x="3" y="186"/>
                        <a:pt x="8" y="232"/>
                      </a:cubicBezTo>
                      <a:cubicBezTo>
                        <a:pt x="10" y="232"/>
                        <a:pt x="10" y="232"/>
                        <a:pt x="10" y="232"/>
                      </a:cubicBezTo>
                      <a:cubicBezTo>
                        <a:pt x="5" y="186"/>
                        <a:pt x="4" y="152"/>
                        <a:pt x="4" y="132"/>
                      </a:cubicBezTo>
                      <a:cubicBezTo>
                        <a:pt x="4" y="126"/>
                        <a:pt x="4" y="121"/>
                        <a:pt x="4" y="118"/>
                      </a:cubicBezTo>
                      <a:cubicBezTo>
                        <a:pt x="4" y="115"/>
                        <a:pt x="4" y="113"/>
                        <a:pt x="4" y="113"/>
                      </a:cubicBezTo>
                      <a:cubicBezTo>
                        <a:pt x="4" y="113"/>
                        <a:pt x="4" y="113"/>
                        <a:pt x="4" y="113"/>
                      </a:cubicBezTo>
                      <a:cubicBezTo>
                        <a:pt x="4" y="113"/>
                        <a:pt x="4" y="113"/>
                        <a:pt x="4" y="113"/>
                      </a:cubicBezTo>
                      <a:cubicBezTo>
                        <a:pt x="4" y="109"/>
                        <a:pt x="4" y="106"/>
                        <a:pt x="4" y="102"/>
                      </a:cubicBezTo>
                      <a:moveTo>
                        <a:pt x="2" y="0"/>
                      </a:moveTo>
                      <a:cubicBezTo>
                        <a:pt x="0" y="0"/>
                        <a:pt x="0" y="0"/>
                        <a:pt x="0" y="0"/>
                      </a:cubicBezTo>
                      <a:cubicBezTo>
                        <a:pt x="0" y="1"/>
                        <a:pt x="0" y="3"/>
                        <a:pt x="0" y="5"/>
                      </a:cubicBezTo>
                      <a:cubicBezTo>
                        <a:pt x="0" y="5"/>
                        <a:pt x="0" y="5"/>
                        <a:pt x="0" y="5"/>
                      </a:cubicBezTo>
                      <a:cubicBezTo>
                        <a:pt x="0" y="5"/>
                        <a:pt x="0" y="5"/>
                        <a:pt x="0" y="5"/>
                      </a:cubicBezTo>
                      <a:cubicBezTo>
                        <a:pt x="0" y="5"/>
                        <a:pt x="0" y="5"/>
                        <a:pt x="0" y="5"/>
                      </a:cubicBezTo>
                      <a:cubicBezTo>
                        <a:pt x="0" y="6"/>
                        <a:pt x="1" y="19"/>
                        <a:pt x="2" y="101"/>
                      </a:cubicBezTo>
                      <a:cubicBezTo>
                        <a:pt x="4" y="101"/>
                        <a:pt x="4" y="101"/>
                        <a:pt x="4" y="101"/>
                      </a:cubicBezTo>
                      <a:cubicBezTo>
                        <a:pt x="3" y="13"/>
                        <a:pt x="2" y="5"/>
                        <a:pt x="2" y="5"/>
                      </a:cubicBezTo>
                      <a:cubicBezTo>
                        <a:pt x="2" y="5"/>
                        <a:pt x="2" y="5"/>
                        <a:pt x="2" y="5"/>
                      </a:cubicBezTo>
                      <a:cubicBezTo>
                        <a:pt x="2" y="3"/>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11" name="Freeform 181"/>
                <p:cNvSpPr>
                  <a:spLocks/>
                </p:cNvSpPr>
                <p:nvPr/>
              </p:nvSpPr>
              <p:spPr bwMode="auto">
                <a:xfrm>
                  <a:off x="-2957" y="3069"/>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12" name="Freeform 182"/>
                <p:cNvSpPr>
                  <a:spLocks/>
                </p:cNvSpPr>
                <p:nvPr/>
              </p:nvSpPr>
              <p:spPr bwMode="auto">
                <a:xfrm>
                  <a:off x="-2988" y="2861"/>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13" name="Freeform 183"/>
                <p:cNvSpPr>
                  <a:spLocks/>
                </p:cNvSpPr>
                <p:nvPr/>
              </p:nvSpPr>
              <p:spPr bwMode="auto">
                <a:xfrm>
                  <a:off x="-2926" y="3278"/>
                  <a:ext cx="23" cy="76"/>
                </a:xfrm>
                <a:custGeom>
                  <a:avLst/>
                  <a:gdLst/>
                  <a:ahLst/>
                  <a:cxnLst>
                    <a:cxn ang="0">
                      <a:pos x="2" y="0"/>
                    </a:cxn>
                    <a:cxn ang="0">
                      <a:pos x="0" y="0"/>
                    </a:cxn>
                    <a:cxn ang="0">
                      <a:pos x="8" y="32"/>
                    </a:cxn>
                    <a:cxn ang="0">
                      <a:pos x="10" y="32"/>
                    </a:cxn>
                    <a:cxn ang="0">
                      <a:pos x="2" y="0"/>
                    </a:cxn>
                  </a:cxnLst>
                  <a:rect l="0" t="0" r="r" b="b"/>
                  <a:pathLst>
                    <a:path w="10" h="32">
                      <a:moveTo>
                        <a:pt x="2" y="0"/>
                      </a:moveTo>
                      <a:cubicBezTo>
                        <a:pt x="0" y="0"/>
                        <a:pt x="0" y="0"/>
                        <a:pt x="0" y="0"/>
                      </a:cubicBezTo>
                      <a:cubicBezTo>
                        <a:pt x="2" y="10"/>
                        <a:pt x="5" y="21"/>
                        <a:pt x="8" y="32"/>
                      </a:cubicBezTo>
                      <a:cubicBezTo>
                        <a:pt x="10" y="32"/>
                        <a:pt x="10" y="32"/>
                        <a:pt x="10" y="32"/>
                      </a:cubicBezTo>
                      <a:cubicBezTo>
                        <a:pt x="7" y="21"/>
                        <a:pt x="5" y="1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14" name="Freeform 184"/>
                <p:cNvSpPr>
                  <a:spLocks/>
                </p:cNvSpPr>
                <p:nvPr/>
              </p:nvSpPr>
              <p:spPr bwMode="auto">
                <a:xfrm>
                  <a:off x="-2995" y="2809"/>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15" name="Freeform 185"/>
                <p:cNvSpPr>
                  <a:spLocks/>
                </p:cNvSpPr>
                <p:nvPr/>
              </p:nvSpPr>
              <p:spPr bwMode="auto">
                <a:xfrm>
                  <a:off x="-2926" y="3276"/>
                  <a:ext cx="4"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16" name="Freeform 186"/>
                <p:cNvSpPr>
                  <a:spLocks/>
                </p:cNvSpPr>
                <p:nvPr/>
              </p:nvSpPr>
              <p:spPr bwMode="auto">
                <a:xfrm>
                  <a:off x="-2907" y="3356"/>
                  <a:ext cx="19" cy="57"/>
                </a:xfrm>
                <a:custGeom>
                  <a:avLst/>
                  <a:gdLst/>
                  <a:ahLst/>
                  <a:cxnLst>
                    <a:cxn ang="0">
                      <a:pos x="2" y="0"/>
                    </a:cxn>
                    <a:cxn ang="0">
                      <a:pos x="0" y="0"/>
                    </a:cxn>
                    <a:cxn ang="0">
                      <a:pos x="6" y="24"/>
                    </a:cxn>
                    <a:cxn ang="0">
                      <a:pos x="8" y="24"/>
                    </a:cxn>
                    <a:cxn ang="0">
                      <a:pos x="2" y="0"/>
                    </a:cxn>
                  </a:cxnLst>
                  <a:rect l="0" t="0" r="r" b="b"/>
                  <a:pathLst>
                    <a:path w="8" h="24">
                      <a:moveTo>
                        <a:pt x="2" y="0"/>
                      </a:moveTo>
                      <a:cubicBezTo>
                        <a:pt x="0" y="0"/>
                        <a:pt x="0" y="0"/>
                        <a:pt x="0" y="0"/>
                      </a:cubicBezTo>
                      <a:cubicBezTo>
                        <a:pt x="2" y="8"/>
                        <a:pt x="4" y="16"/>
                        <a:pt x="6" y="24"/>
                      </a:cubicBezTo>
                      <a:cubicBezTo>
                        <a:pt x="8" y="24"/>
                        <a:pt x="8" y="24"/>
                        <a:pt x="8" y="24"/>
                      </a:cubicBezTo>
                      <a:cubicBezTo>
                        <a:pt x="6" y="16"/>
                        <a:pt x="4" y="8"/>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17" name="Freeform 187"/>
                <p:cNvSpPr>
                  <a:spLocks/>
                </p:cNvSpPr>
                <p:nvPr/>
              </p:nvSpPr>
              <p:spPr bwMode="auto">
                <a:xfrm>
                  <a:off x="-2907" y="3354"/>
                  <a:ext cx="4"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1"/>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18" name="Freeform 188"/>
                <p:cNvSpPr>
                  <a:spLocks/>
                </p:cNvSpPr>
                <p:nvPr/>
              </p:nvSpPr>
              <p:spPr bwMode="auto">
                <a:xfrm>
                  <a:off x="-3009"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19" name="Freeform 189"/>
                <p:cNvSpPr>
                  <a:spLocks/>
                </p:cNvSpPr>
                <p:nvPr/>
              </p:nvSpPr>
              <p:spPr bwMode="auto">
                <a:xfrm>
                  <a:off x="-3014"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20" name="Freeform 190"/>
                <p:cNvSpPr>
                  <a:spLocks/>
                </p:cNvSpPr>
                <p:nvPr/>
              </p:nvSpPr>
              <p:spPr bwMode="auto">
                <a:xfrm>
                  <a:off x="-2903" y="1986"/>
                  <a:ext cx="83" cy="270"/>
                </a:xfrm>
                <a:custGeom>
                  <a:avLst/>
                  <a:gdLst/>
                  <a:ahLst/>
                  <a:cxnLst>
                    <a:cxn ang="0">
                      <a:pos x="2" y="0"/>
                    </a:cxn>
                    <a:cxn ang="0">
                      <a:pos x="0" y="0"/>
                    </a:cxn>
                    <a:cxn ang="0">
                      <a:pos x="0" y="5"/>
                    </a:cxn>
                    <a:cxn ang="0">
                      <a:pos x="1" y="5"/>
                    </a:cxn>
                    <a:cxn ang="0">
                      <a:pos x="1" y="5"/>
                    </a:cxn>
                    <a:cxn ang="0">
                      <a:pos x="2" y="8"/>
                    </a:cxn>
                    <a:cxn ang="0">
                      <a:pos x="33" y="114"/>
                    </a:cxn>
                    <a:cxn ang="0">
                      <a:pos x="35" y="114"/>
                    </a:cxn>
                    <a:cxn ang="0">
                      <a:pos x="32" y="101"/>
                    </a:cxn>
                    <a:cxn ang="0">
                      <a:pos x="30" y="101"/>
                    </a:cxn>
                    <a:cxn ang="0">
                      <a:pos x="30" y="100"/>
                    </a:cxn>
                    <a:cxn ang="0">
                      <a:pos x="32" y="100"/>
                    </a:cxn>
                    <a:cxn ang="0">
                      <a:pos x="2" y="4"/>
                    </a:cxn>
                    <a:cxn ang="0">
                      <a:pos x="2" y="0"/>
                    </a:cxn>
                  </a:cxnLst>
                  <a:rect l="0" t="0" r="r" b="b"/>
                  <a:pathLst>
                    <a:path w="35" h="114">
                      <a:moveTo>
                        <a:pt x="2" y="0"/>
                      </a:moveTo>
                      <a:cubicBezTo>
                        <a:pt x="0" y="0"/>
                        <a:pt x="0" y="0"/>
                        <a:pt x="0" y="0"/>
                      </a:cubicBezTo>
                      <a:cubicBezTo>
                        <a:pt x="0" y="1"/>
                        <a:pt x="0" y="3"/>
                        <a:pt x="0" y="5"/>
                      </a:cubicBezTo>
                      <a:cubicBezTo>
                        <a:pt x="1" y="5"/>
                        <a:pt x="1" y="5"/>
                        <a:pt x="1" y="5"/>
                      </a:cubicBezTo>
                      <a:cubicBezTo>
                        <a:pt x="1" y="5"/>
                        <a:pt x="1" y="5"/>
                        <a:pt x="1" y="5"/>
                      </a:cubicBezTo>
                      <a:cubicBezTo>
                        <a:pt x="1" y="5"/>
                        <a:pt x="1" y="6"/>
                        <a:pt x="2" y="8"/>
                      </a:cubicBezTo>
                      <a:cubicBezTo>
                        <a:pt x="7" y="20"/>
                        <a:pt x="23" y="60"/>
                        <a:pt x="33" y="114"/>
                      </a:cubicBezTo>
                      <a:cubicBezTo>
                        <a:pt x="35" y="114"/>
                        <a:pt x="35" y="114"/>
                        <a:pt x="35" y="114"/>
                      </a:cubicBezTo>
                      <a:cubicBezTo>
                        <a:pt x="34" y="109"/>
                        <a:pt x="33" y="105"/>
                        <a:pt x="32" y="101"/>
                      </a:cubicBezTo>
                      <a:cubicBezTo>
                        <a:pt x="30" y="101"/>
                        <a:pt x="30" y="101"/>
                        <a:pt x="30" y="101"/>
                      </a:cubicBezTo>
                      <a:cubicBezTo>
                        <a:pt x="30" y="100"/>
                        <a:pt x="30" y="100"/>
                        <a:pt x="30" y="100"/>
                      </a:cubicBezTo>
                      <a:cubicBezTo>
                        <a:pt x="32" y="100"/>
                        <a:pt x="32" y="100"/>
                        <a:pt x="32" y="100"/>
                      </a:cubicBezTo>
                      <a:cubicBezTo>
                        <a:pt x="20" y="45"/>
                        <a:pt x="3" y="7"/>
                        <a:pt x="2" y="4"/>
                      </a:cubicBezTo>
                      <a:cubicBezTo>
                        <a:pt x="2" y="3"/>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21" name="Freeform 191"/>
                <p:cNvSpPr>
                  <a:spLocks/>
                </p:cNvSpPr>
                <p:nvPr/>
              </p:nvSpPr>
              <p:spPr bwMode="auto">
                <a:xfrm>
                  <a:off x="-2832" y="2223"/>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22" name="Freeform 192"/>
                <p:cNvSpPr>
                  <a:spLocks noEditPoints="1"/>
                </p:cNvSpPr>
                <p:nvPr/>
              </p:nvSpPr>
              <p:spPr bwMode="auto">
                <a:xfrm>
                  <a:off x="-3113" y="1522"/>
                  <a:ext cx="215" cy="462"/>
                </a:xfrm>
                <a:custGeom>
                  <a:avLst/>
                  <a:gdLst/>
                  <a:ahLst/>
                  <a:cxnLst>
                    <a:cxn ang="0">
                      <a:pos x="67" y="99"/>
                    </a:cxn>
                    <a:cxn ang="0">
                      <a:pos x="65" y="99"/>
                    </a:cxn>
                    <a:cxn ang="0">
                      <a:pos x="89" y="195"/>
                    </a:cxn>
                    <a:cxn ang="0">
                      <a:pos x="91" y="195"/>
                    </a:cxn>
                    <a:cxn ang="0">
                      <a:pos x="67" y="99"/>
                    </a:cxn>
                    <a:cxn ang="0">
                      <a:pos x="53" y="68"/>
                    </a:cxn>
                    <a:cxn ang="0">
                      <a:pos x="53" y="68"/>
                    </a:cxn>
                    <a:cxn ang="0">
                      <a:pos x="51" y="68"/>
                    </a:cxn>
                    <a:cxn ang="0">
                      <a:pos x="64" y="98"/>
                    </a:cxn>
                    <a:cxn ang="0">
                      <a:pos x="66" y="98"/>
                    </a:cxn>
                    <a:cxn ang="0">
                      <a:pos x="53" y="68"/>
                    </a:cxn>
                    <a:cxn ang="0">
                      <a:pos x="2" y="0"/>
                    </a:cxn>
                    <a:cxn ang="0">
                      <a:pos x="1" y="0"/>
                    </a:cxn>
                    <a:cxn ang="0">
                      <a:pos x="0" y="1"/>
                    </a:cxn>
                    <a:cxn ang="0">
                      <a:pos x="1" y="2"/>
                    </a:cxn>
                    <a:cxn ang="0">
                      <a:pos x="50" y="67"/>
                    </a:cxn>
                    <a:cxn ang="0">
                      <a:pos x="52" y="67"/>
                    </a:cxn>
                    <a:cxn ang="0">
                      <a:pos x="2" y="0"/>
                    </a:cxn>
                  </a:cxnLst>
                  <a:rect l="0" t="0" r="r" b="b"/>
                  <a:pathLst>
                    <a:path w="91" h="195">
                      <a:moveTo>
                        <a:pt x="67" y="99"/>
                      </a:moveTo>
                      <a:cubicBezTo>
                        <a:pt x="65" y="99"/>
                        <a:pt x="65" y="99"/>
                        <a:pt x="65" y="99"/>
                      </a:cubicBezTo>
                      <a:cubicBezTo>
                        <a:pt x="75" y="125"/>
                        <a:pt x="84" y="157"/>
                        <a:pt x="89" y="195"/>
                      </a:cubicBezTo>
                      <a:cubicBezTo>
                        <a:pt x="91" y="195"/>
                        <a:pt x="91" y="195"/>
                        <a:pt x="91" y="195"/>
                      </a:cubicBezTo>
                      <a:cubicBezTo>
                        <a:pt x="86" y="157"/>
                        <a:pt x="77" y="125"/>
                        <a:pt x="67" y="99"/>
                      </a:cubicBezTo>
                      <a:moveTo>
                        <a:pt x="53" y="68"/>
                      </a:moveTo>
                      <a:cubicBezTo>
                        <a:pt x="53" y="68"/>
                        <a:pt x="53" y="68"/>
                        <a:pt x="53" y="68"/>
                      </a:cubicBezTo>
                      <a:cubicBezTo>
                        <a:pt x="51" y="68"/>
                        <a:pt x="51" y="68"/>
                        <a:pt x="51" y="68"/>
                      </a:cubicBezTo>
                      <a:cubicBezTo>
                        <a:pt x="55" y="77"/>
                        <a:pt x="60" y="87"/>
                        <a:pt x="64" y="98"/>
                      </a:cubicBezTo>
                      <a:cubicBezTo>
                        <a:pt x="66" y="98"/>
                        <a:pt x="66" y="98"/>
                        <a:pt x="66" y="98"/>
                      </a:cubicBezTo>
                      <a:cubicBezTo>
                        <a:pt x="62" y="87"/>
                        <a:pt x="57" y="77"/>
                        <a:pt x="53" y="68"/>
                      </a:cubicBezTo>
                      <a:moveTo>
                        <a:pt x="2" y="0"/>
                      </a:moveTo>
                      <a:cubicBezTo>
                        <a:pt x="1" y="0"/>
                        <a:pt x="1" y="0"/>
                        <a:pt x="1" y="0"/>
                      </a:cubicBezTo>
                      <a:cubicBezTo>
                        <a:pt x="0" y="1"/>
                        <a:pt x="0" y="1"/>
                        <a:pt x="0" y="1"/>
                      </a:cubicBezTo>
                      <a:cubicBezTo>
                        <a:pt x="1" y="2"/>
                        <a:pt x="1" y="2"/>
                        <a:pt x="1" y="2"/>
                      </a:cubicBezTo>
                      <a:cubicBezTo>
                        <a:pt x="6" y="6"/>
                        <a:pt x="28" y="26"/>
                        <a:pt x="50" y="67"/>
                      </a:cubicBezTo>
                      <a:cubicBezTo>
                        <a:pt x="52" y="67"/>
                        <a:pt x="52" y="67"/>
                        <a:pt x="52" y="67"/>
                      </a:cubicBezTo>
                      <a:cubicBezTo>
                        <a:pt x="30" y="24"/>
                        <a:pt x="6" y="3"/>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23" name="Freeform 193"/>
                <p:cNvSpPr>
                  <a:spLocks/>
                </p:cNvSpPr>
                <p:nvPr/>
              </p:nvSpPr>
              <p:spPr bwMode="auto">
                <a:xfrm>
                  <a:off x="-2962" y="1754"/>
                  <a:ext cx="7" cy="2"/>
                </a:xfrm>
                <a:custGeom>
                  <a:avLst/>
                  <a:gdLst/>
                  <a:ahLst/>
                  <a:cxnLst>
                    <a:cxn ang="0">
                      <a:pos x="2" y="0"/>
                    </a:cxn>
                    <a:cxn ang="0">
                      <a:pos x="0" y="0"/>
                    </a:cxn>
                    <a:cxn ang="0">
                      <a:pos x="1" y="1"/>
                    </a:cxn>
                    <a:cxn ang="0">
                      <a:pos x="3" y="1"/>
                    </a:cxn>
                    <a:cxn ang="0">
                      <a:pos x="2" y="0"/>
                    </a:cxn>
                  </a:cxnLst>
                  <a:rect l="0" t="0" r="r" b="b"/>
                  <a:pathLst>
                    <a:path w="3" h="1">
                      <a:moveTo>
                        <a:pt x="2" y="0"/>
                      </a:moveTo>
                      <a:cubicBezTo>
                        <a:pt x="0" y="0"/>
                        <a:pt x="0" y="0"/>
                        <a:pt x="0" y="0"/>
                      </a:cubicBezTo>
                      <a:cubicBezTo>
                        <a:pt x="0" y="0"/>
                        <a:pt x="0" y="1"/>
                        <a:pt x="1" y="1"/>
                      </a:cubicBezTo>
                      <a:cubicBezTo>
                        <a:pt x="3" y="1"/>
                        <a:pt x="3" y="1"/>
                        <a:pt x="3"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24" name="Freeform 194"/>
                <p:cNvSpPr>
                  <a:spLocks/>
                </p:cNvSpPr>
                <p:nvPr/>
              </p:nvSpPr>
              <p:spPr bwMode="auto">
                <a:xfrm>
                  <a:off x="-2990" y="1681"/>
                  <a:ext cx="2" cy="2"/>
                </a:xfrm>
                <a:custGeom>
                  <a:avLst/>
                  <a:gdLst/>
                  <a:ahLst/>
                  <a:cxnLst>
                    <a:cxn ang="0">
                      <a:pos x="1" y="1"/>
                    </a:cxn>
                    <a:cxn ang="0">
                      <a:pos x="0" y="0"/>
                    </a:cxn>
                  </a:cxnLst>
                  <a:rect l="0" t="0" r="r" b="b"/>
                  <a:pathLst>
                    <a:path w="1" h="1">
                      <a:moveTo>
                        <a:pt x="1" y="1"/>
                      </a:moveTo>
                      <a:cubicBezTo>
                        <a:pt x="1" y="1"/>
                        <a:pt x="0" y="1"/>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25" name="Freeform 195"/>
                <p:cNvSpPr>
                  <a:spLocks/>
                </p:cNvSpPr>
                <p:nvPr/>
              </p:nvSpPr>
              <p:spPr bwMode="auto">
                <a:xfrm>
                  <a:off x="-2995" y="1681"/>
                  <a:ext cx="5" cy="2"/>
                </a:xfrm>
                <a:custGeom>
                  <a:avLst/>
                  <a:gdLst/>
                  <a:ahLst/>
                  <a:cxnLst>
                    <a:cxn ang="0">
                      <a:pos x="2" y="0"/>
                    </a:cxn>
                    <a:cxn ang="0">
                      <a:pos x="0" y="0"/>
                    </a:cxn>
                    <a:cxn ang="0">
                      <a:pos x="1" y="1"/>
                    </a:cxn>
                  </a:cxnLst>
                  <a:rect l="0" t="0" r="r" b="b"/>
                  <a:pathLst>
                    <a:path w="2" h="1">
                      <a:moveTo>
                        <a:pt x="2" y="0"/>
                      </a:moveTo>
                      <a:cubicBezTo>
                        <a:pt x="0" y="0"/>
                        <a:pt x="0" y="0"/>
                        <a:pt x="0" y="0"/>
                      </a:cubicBezTo>
                      <a:cubicBezTo>
                        <a:pt x="0" y="1"/>
                        <a:pt x="0" y="1"/>
                        <a:pt x="1" y="1"/>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26" name="Freeform 196"/>
                <p:cNvSpPr>
                  <a:spLocks noEditPoints="1"/>
                </p:cNvSpPr>
                <p:nvPr/>
              </p:nvSpPr>
              <p:spPr bwMode="auto">
                <a:xfrm>
                  <a:off x="-2824" y="2259"/>
                  <a:ext cx="26" cy="1017"/>
                </a:xfrm>
                <a:custGeom>
                  <a:avLst/>
                  <a:gdLst/>
                  <a:ahLst/>
                  <a:cxnLst>
                    <a:cxn ang="0">
                      <a:pos x="8" y="343"/>
                    </a:cxn>
                    <a:cxn ang="0">
                      <a:pos x="6" y="343"/>
                    </a:cxn>
                    <a:cxn ang="0">
                      <a:pos x="6" y="429"/>
                    </a:cxn>
                    <a:cxn ang="0">
                      <a:pos x="8" y="429"/>
                    </a:cxn>
                    <a:cxn ang="0">
                      <a:pos x="8" y="343"/>
                    </a:cxn>
                    <a:cxn ang="0">
                      <a:pos x="11" y="233"/>
                    </a:cxn>
                    <a:cxn ang="0">
                      <a:pos x="9" y="233"/>
                    </a:cxn>
                    <a:cxn ang="0">
                      <a:pos x="5" y="333"/>
                    </a:cxn>
                    <a:cxn ang="0">
                      <a:pos x="6" y="342"/>
                    </a:cxn>
                    <a:cxn ang="0">
                      <a:pos x="8" y="342"/>
                    </a:cxn>
                    <a:cxn ang="0">
                      <a:pos x="8" y="333"/>
                    </a:cxn>
                    <a:cxn ang="0">
                      <a:pos x="11" y="233"/>
                    </a:cxn>
                    <a:cxn ang="0">
                      <a:pos x="10" y="102"/>
                    </a:cxn>
                    <a:cxn ang="0">
                      <a:pos x="8" y="102"/>
                    </a:cxn>
                    <a:cxn ang="0">
                      <a:pos x="9" y="178"/>
                    </a:cxn>
                    <a:cxn ang="0">
                      <a:pos x="9" y="232"/>
                    </a:cxn>
                    <a:cxn ang="0">
                      <a:pos x="11" y="232"/>
                    </a:cxn>
                    <a:cxn ang="0">
                      <a:pos x="11" y="178"/>
                    </a:cxn>
                    <a:cxn ang="0">
                      <a:pos x="10" y="102"/>
                    </a:cxn>
                    <a:cxn ang="0">
                      <a:pos x="2" y="0"/>
                    </a:cxn>
                    <a:cxn ang="0">
                      <a:pos x="0" y="0"/>
                    </a:cxn>
                    <a:cxn ang="0">
                      <a:pos x="7" y="60"/>
                    </a:cxn>
                    <a:cxn ang="0">
                      <a:pos x="7" y="69"/>
                    </a:cxn>
                    <a:cxn ang="0">
                      <a:pos x="8" y="101"/>
                    </a:cxn>
                    <a:cxn ang="0">
                      <a:pos x="10" y="101"/>
                    </a:cxn>
                    <a:cxn ang="0">
                      <a:pos x="9" y="60"/>
                    </a:cxn>
                    <a:cxn ang="0">
                      <a:pos x="2" y="0"/>
                    </a:cxn>
                  </a:cxnLst>
                  <a:rect l="0" t="0" r="r" b="b"/>
                  <a:pathLst>
                    <a:path w="11" h="429">
                      <a:moveTo>
                        <a:pt x="8" y="343"/>
                      </a:moveTo>
                      <a:cubicBezTo>
                        <a:pt x="6" y="343"/>
                        <a:pt x="6" y="343"/>
                        <a:pt x="6" y="343"/>
                      </a:cubicBezTo>
                      <a:cubicBezTo>
                        <a:pt x="6" y="429"/>
                        <a:pt x="6" y="429"/>
                        <a:pt x="6" y="429"/>
                      </a:cubicBezTo>
                      <a:cubicBezTo>
                        <a:pt x="8" y="429"/>
                        <a:pt x="8" y="429"/>
                        <a:pt x="8" y="429"/>
                      </a:cubicBezTo>
                      <a:cubicBezTo>
                        <a:pt x="8" y="343"/>
                        <a:pt x="8" y="343"/>
                        <a:pt x="8" y="343"/>
                      </a:cubicBezTo>
                      <a:moveTo>
                        <a:pt x="11" y="233"/>
                      </a:moveTo>
                      <a:cubicBezTo>
                        <a:pt x="9" y="233"/>
                        <a:pt x="9" y="233"/>
                        <a:pt x="9" y="233"/>
                      </a:cubicBezTo>
                      <a:cubicBezTo>
                        <a:pt x="8" y="264"/>
                        <a:pt x="7" y="298"/>
                        <a:pt x="5" y="333"/>
                      </a:cubicBezTo>
                      <a:cubicBezTo>
                        <a:pt x="6" y="342"/>
                        <a:pt x="6" y="342"/>
                        <a:pt x="6" y="342"/>
                      </a:cubicBezTo>
                      <a:cubicBezTo>
                        <a:pt x="8" y="342"/>
                        <a:pt x="8" y="342"/>
                        <a:pt x="8" y="342"/>
                      </a:cubicBezTo>
                      <a:cubicBezTo>
                        <a:pt x="8" y="333"/>
                        <a:pt x="8" y="333"/>
                        <a:pt x="8" y="333"/>
                      </a:cubicBezTo>
                      <a:cubicBezTo>
                        <a:pt x="9" y="298"/>
                        <a:pt x="10" y="264"/>
                        <a:pt x="11" y="233"/>
                      </a:cubicBezTo>
                      <a:moveTo>
                        <a:pt x="10" y="102"/>
                      </a:moveTo>
                      <a:cubicBezTo>
                        <a:pt x="8" y="102"/>
                        <a:pt x="8" y="102"/>
                        <a:pt x="8" y="102"/>
                      </a:cubicBezTo>
                      <a:cubicBezTo>
                        <a:pt x="9" y="122"/>
                        <a:pt x="9" y="147"/>
                        <a:pt x="9" y="178"/>
                      </a:cubicBezTo>
                      <a:cubicBezTo>
                        <a:pt x="9" y="195"/>
                        <a:pt x="9" y="213"/>
                        <a:pt x="9" y="232"/>
                      </a:cubicBezTo>
                      <a:cubicBezTo>
                        <a:pt x="11" y="232"/>
                        <a:pt x="11" y="232"/>
                        <a:pt x="11" y="232"/>
                      </a:cubicBezTo>
                      <a:cubicBezTo>
                        <a:pt x="11" y="213"/>
                        <a:pt x="11" y="195"/>
                        <a:pt x="11" y="178"/>
                      </a:cubicBezTo>
                      <a:cubicBezTo>
                        <a:pt x="11" y="147"/>
                        <a:pt x="11" y="122"/>
                        <a:pt x="10" y="102"/>
                      </a:cubicBezTo>
                      <a:moveTo>
                        <a:pt x="2" y="0"/>
                      </a:moveTo>
                      <a:cubicBezTo>
                        <a:pt x="0" y="0"/>
                        <a:pt x="0" y="0"/>
                        <a:pt x="0" y="0"/>
                      </a:cubicBezTo>
                      <a:cubicBezTo>
                        <a:pt x="3" y="18"/>
                        <a:pt x="6" y="39"/>
                        <a:pt x="7" y="60"/>
                      </a:cubicBezTo>
                      <a:cubicBezTo>
                        <a:pt x="7" y="60"/>
                        <a:pt x="7" y="63"/>
                        <a:pt x="7" y="69"/>
                      </a:cubicBezTo>
                      <a:cubicBezTo>
                        <a:pt x="8" y="76"/>
                        <a:pt x="8" y="87"/>
                        <a:pt x="8" y="101"/>
                      </a:cubicBezTo>
                      <a:cubicBezTo>
                        <a:pt x="10" y="101"/>
                        <a:pt x="10" y="101"/>
                        <a:pt x="10" y="101"/>
                      </a:cubicBezTo>
                      <a:cubicBezTo>
                        <a:pt x="10" y="75"/>
                        <a:pt x="9" y="60"/>
                        <a:pt x="9" y="60"/>
                      </a:cubicBezTo>
                      <a:cubicBezTo>
                        <a:pt x="8" y="39"/>
                        <a:pt x="5" y="18"/>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27" name="Freeform 197"/>
                <p:cNvSpPr>
                  <a:spLocks/>
                </p:cNvSpPr>
                <p:nvPr/>
              </p:nvSpPr>
              <p:spPr bwMode="auto">
                <a:xfrm>
                  <a:off x="-2810" y="3069"/>
                  <a:ext cx="4" cy="3"/>
                </a:xfrm>
                <a:custGeom>
                  <a:avLst/>
                  <a:gdLst/>
                  <a:ahLst/>
                  <a:cxnLst>
                    <a:cxn ang="0">
                      <a:pos x="4" y="0"/>
                    </a:cxn>
                    <a:cxn ang="0">
                      <a:pos x="0" y="0"/>
                    </a:cxn>
                    <a:cxn ang="0">
                      <a:pos x="0" y="3"/>
                    </a:cxn>
                    <a:cxn ang="0">
                      <a:pos x="4" y="3"/>
                    </a:cxn>
                    <a:cxn ang="0">
                      <a:pos x="4" y="0"/>
                    </a:cxn>
                    <a:cxn ang="0">
                      <a:pos x="4" y="0"/>
                    </a:cxn>
                  </a:cxnLst>
                  <a:rect l="0" t="0" r="r" b="b"/>
                  <a:pathLst>
                    <a:path w="4" h="3">
                      <a:moveTo>
                        <a:pt x="4" y="0"/>
                      </a:moveTo>
                      <a:lnTo>
                        <a:pt x="0" y="0"/>
                      </a:lnTo>
                      <a:lnTo>
                        <a:pt x="0" y="3"/>
                      </a:lnTo>
                      <a:lnTo>
                        <a:pt x="4" y="3"/>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28" name="Freeform 198"/>
                <p:cNvSpPr>
                  <a:spLocks/>
                </p:cNvSpPr>
                <p:nvPr/>
              </p:nvSpPr>
              <p:spPr bwMode="auto">
                <a:xfrm>
                  <a:off x="-2810" y="3278"/>
                  <a:ext cx="4" cy="76"/>
                </a:xfrm>
                <a:custGeom>
                  <a:avLst/>
                  <a:gdLst/>
                  <a:ahLst/>
                  <a:cxnLst>
                    <a:cxn ang="0">
                      <a:pos x="4" y="0"/>
                    </a:cxn>
                    <a:cxn ang="0">
                      <a:pos x="0" y="0"/>
                    </a:cxn>
                    <a:cxn ang="0">
                      <a:pos x="0" y="76"/>
                    </a:cxn>
                    <a:cxn ang="0">
                      <a:pos x="4" y="76"/>
                    </a:cxn>
                    <a:cxn ang="0">
                      <a:pos x="4" y="0"/>
                    </a:cxn>
                    <a:cxn ang="0">
                      <a:pos x="4" y="0"/>
                    </a:cxn>
                  </a:cxnLst>
                  <a:rect l="0" t="0" r="r" b="b"/>
                  <a:pathLst>
                    <a:path w="4" h="76">
                      <a:moveTo>
                        <a:pt x="4" y="0"/>
                      </a:moveTo>
                      <a:lnTo>
                        <a:pt x="0" y="0"/>
                      </a:lnTo>
                      <a:lnTo>
                        <a:pt x="0" y="76"/>
                      </a:lnTo>
                      <a:lnTo>
                        <a:pt x="4" y="76"/>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29" name="Freeform 199"/>
                <p:cNvSpPr>
                  <a:spLocks/>
                </p:cNvSpPr>
                <p:nvPr/>
              </p:nvSpPr>
              <p:spPr bwMode="auto">
                <a:xfrm>
                  <a:off x="-2803" y="2809"/>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30" name="Freeform 200"/>
                <p:cNvSpPr>
                  <a:spLocks/>
                </p:cNvSpPr>
                <p:nvPr/>
              </p:nvSpPr>
              <p:spPr bwMode="auto">
                <a:xfrm>
                  <a:off x="-2810" y="3276"/>
                  <a:ext cx="4" cy="2"/>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31" name="Freeform 201"/>
                <p:cNvSpPr>
                  <a:spLocks/>
                </p:cNvSpPr>
                <p:nvPr/>
              </p:nvSpPr>
              <p:spPr bwMode="auto">
                <a:xfrm>
                  <a:off x="-2810" y="3356"/>
                  <a:ext cx="4" cy="71"/>
                </a:xfrm>
                <a:custGeom>
                  <a:avLst/>
                  <a:gdLst/>
                  <a:ahLst/>
                  <a:cxnLst>
                    <a:cxn ang="0">
                      <a:pos x="4" y="0"/>
                    </a:cxn>
                    <a:cxn ang="0">
                      <a:pos x="0" y="0"/>
                    </a:cxn>
                    <a:cxn ang="0">
                      <a:pos x="0" y="71"/>
                    </a:cxn>
                    <a:cxn ang="0">
                      <a:pos x="4" y="71"/>
                    </a:cxn>
                    <a:cxn ang="0">
                      <a:pos x="4" y="0"/>
                    </a:cxn>
                    <a:cxn ang="0">
                      <a:pos x="4" y="0"/>
                    </a:cxn>
                  </a:cxnLst>
                  <a:rect l="0" t="0" r="r" b="b"/>
                  <a:pathLst>
                    <a:path w="4" h="71">
                      <a:moveTo>
                        <a:pt x="4" y="0"/>
                      </a:moveTo>
                      <a:lnTo>
                        <a:pt x="0" y="0"/>
                      </a:lnTo>
                      <a:lnTo>
                        <a:pt x="0" y="71"/>
                      </a:lnTo>
                      <a:lnTo>
                        <a:pt x="4" y="71"/>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32" name="Freeform 202"/>
                <p:cNvSpPr>
                  <a:spLocks/>
                </p:cNvSpPr>
                <p:nvPr/>
              </p:nvSpPr>
              <p:spPr bwMode="auto">
                <a:xfrm>
                  <a:off x="-2810" y="3354"/>
                  <a:ext cx="4" cy="2"/>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33" name="Freeform 203"/>
                <p:cNvSpPr>
                  <a:spLocks/>
                </p:cNvSpPr>
                <p:nvPr/>
              </p:nvSpPr>
              <p:spPr bwMode="auto">
                <a:xfrm>
                  <a:off x="-2806"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34" name="Freeform 204"/>
                <p:cNvSpPr>
                  <a:spLocks/>
                </p:cNvSpPr>
                <p:nvPr/>
              </p:nvSpPr>
              <p:spPr bwMode="auto">
                <a:xfrm>
                  <a:off x="-2824" y="2256"/>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41" name="Freeform 206"/>
              <p:cNvSpPr>
                <a:spLocks/>
              </p:cNvSpPr>
              <p:nvPr/>
            </p:nvSpPr>
            <p:spPr bwMode="auto">
              <a:xfrm>
                <a:off x="-4870447" y="2416173"/>
                <a:ext cx="349249" cy="368300"/>
              </a:xfrm>
              <a:custGeom>
                <a:avLst/>
                <a:gdLst/>
                <a:ahLst/>
                <a:cxnLst>
                  <a:cxn ang="0">
                    <a:pos x="0" y="0"/>
                  </a:cxn>
                  <a:cxn ang="0">
                    <a:pos x="0" y="1"/>
                  </a:cxn>
                  <a:cxn ang="0">
                    <a:pos x="1" y="2"/>
                  </a:cxn>
                  <a:cxn ang="0">
                    <a:pos x="91" y="98"/>
                  </a:cxn>
                  <a:cxn ang="0">
                    <a:pos x="93" y="98"/>
                  </a:cxn>
                  <a:cxn ang="0">
                    <a:pos x="71" y="68"/>
                  </a:cxn>
                  <a:cxn ang="0">
                    <a:pos x="70" y="68"/>
                  </a:cxn>
                  <a:cxn ang="0">
                    <a:pos x="70" y="68"/>
                  </a:cxn>
                  <a:cxn ang="0">
                    <a:pos x="0" y="0"/>
                  </a:cxn>
                </a:cxnLst>
                <a:rect l="0" t="0" r="r" b="b"/>
                <a:pathLst>
                  <a:path w="93" h="98">
                    <a:moveTo>
                      <a:pt x="0" y="0"/>
                    </a:moveTo>
                    <a:cubicBezTo>
                      <a:pt x="0" y="1"/>
                      <a:pt x="0" y="1"/>
                      <a:pt x="0" y="1"/>
                    </a:cubicBezTo>
                    <a:cubicBezTo>
                      <a:pt x="0" y="1"/>
                      <a:pt x="0" y="2"/>
                      <a:pt x="1" y="2"/>
                    </a:cubicBezTo>
                    <a:cubicBezTo>
                      <a:pt x="9" y="6"/>
                      <a:pt x="41" y="26"/>
                      <a:pt x="91" y="98"/>
                    </a:cubicBezTo>
                    <a:cubicBezTo>
                      <a:pt x="93" y="98"/>
                      <a:pt x="93" y="98"/>
                      <a:pt x="93" y="98"/>
                    </a:cubicBezTo>
                    <a:cubicBezTo>
                      <a:pt x="85" y="87"/>
                      <a:pt x="77" y="77"/>
                      <a:pt x="71" y="68"/>
                    </a:cubicBezTo>
                    <a:cubicBezTo>
                      <a:pt x="70" y="68"/>
                      <a:pt x="70" y="68"/>
                      <a:pt x="70" y="68"/>
                    </a:cubicBezTo>
                    <a:cubicBezTo>
                      <a:pt x="70" y="68"/>
                      <a:pt x="70" y="68"/>
                      <a:pt x="70" y="68"/>
                    </a:cubicBezTo>
                    <a:cubicBezTo>
                      <a:pt x="26" y="11"/>
                      <a:pt x="0" y="1"/>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2" name="Freeform 207"/>
              <p:cNvSpPr>
                <a:spLocks/>
              </p:cNvSpPr>
              <p:nvPr/>
            </p:nvSpPr>
            <p:spPr bwMode="auto">
              <a:xfrm>
                <a:off x="-4608511" y="2671760"/>
                <a:ext cx="4762" cy="1587"/>
              </a:xfrm>
              <a:custGeom>
                <a:avLst/>
                <a:gdLst/>
                <a:ahLst/>
                <a:cxnLst>
                  <a:cxn ang="0">
                    <a:pos x="0" y="0"/>
                  </a:cxn>
                  <a:cxn ang="0">
                    <a:pos x="0" y="0"/>
                  </a:cxn>
                  <a:cxn ang="0">
                    <a:pos x="1" y="0"/>
                  </a:cxn>
                  <a:cxn ang="0">
                    <a:pos x="0" y="0"/>
                  </a:cxn>
                </a:cxnLst>
                <a:rect l="0" t="0" r="r" b="b"/>
                <a:pathLst>
                  <a:path w="1">
                    <a:moveTo>
                      <a:pt x="0" y="0"/>
                    </a:moveTo>
                    <a:cubicBezTo>
                      <a:pt x="0" y="0"/>
                      <a:pt x="0" y="0"/>
                      <a:pt x="0" y="0"/>
                    </a:cubicBezTo>
                    <a:cubicBezTo>
                      <a:pt x="1" y="0"/>
                      <a:pt x="1" y="0"/>
                      <a:pt x="1" y="0"/>
                    </a:cubicBezTo>
                    <a:cubicBezTo>
                      <a:pt x="0" y="0"/>
                      <a:pt x="0" y="0"/>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3" name="Freeform 208"/>
              <p:cNvSpPr>
                <a:spLocks/>
              </p:cNvSpPr>
              <p:nvPr/>
            </p:nvSpPr>
            <p:spPr bwMode="auto">
              <a:xfrm>
                <a:off x="-4818061" y="2419348"/>
                <a:ext cx="481013" cy="365125"/>
              </a:xfrm>
              <a:custGeom>
                <a:avLst/>
                <a:gdLst/>
                <a:ahLst/>
                <a:cxnLst>
                  <a:cxn ang="0">
                    <a:pos x="1" y="0"/>
                  </a:cxn>
                  <a:cxn ang="0">
                    <a:pos x="0" y="1"/>
                  </a:cxn>
                  <a:cxn ang="0">
                    <a:pos x="3" y="1"/>
                  </a:cxn>
                  <a:cxn ang="0">
                    <a:pos x="102" y="66"/>
                  </a:cxn>
                  <a:cxn ang="0">
                    <a:pos x="103" y="66"/>
                  </a:cxn>
                  <a:cxn ang="0">
                    <a:pos x="103" y="67"/>
                  </a:cxn>
                  <a:cxn ang="0">
                    <a:pos x="103" y="67"/>
                  </a:cxn>
                  <a:cxn ang="0">
                    <a:pos x="127" y="97"/>
                  </a:cxn>
                  <a:cxn ang="0">
                    <a:pos x="128" y="97"/>
                  </a:cxn>
                  <a:cxn ang="0">
                    <a:pos x="1" y="0"/>
                  </a:cxn>
                </a:cxnLst>
                <a:rect l="0" t="0" r="r" b="b"/>
                <a:pathLst>
                  <a:path w="128" h="97">
                    <a:moveTo>
                      <a:pt x="1" y="0"/>
                    </a:moveTo>
                    <a:cubicBezTo>
                      <a:pt x="0" y="1"/>
                      <a:pt x="0" y="1"/>
                      <a:pt x="0" y="1"/>
                    </a:cubicBezTo>
                    <a:cubicBezTo>
                      <a:pt x="0" y="1"/>
                      <a:pt x="1" y="1"/>
                      <a:pt x="3" y="1"/>
                    </a:cubicBezTo>
                    <a:cubicBezTo>
                      <a:pt x="15" y="4"/>
                      <a:pt x="57" y="19"/>
                      <a:pt x="102" y="66"/>
                    </a:cubicBezTo>
                    <a:cubicBezTo>
                      <a:pt x="103" y="66"/>
                      <a:pt x="103" y="66"/>
                      <a:pt x="103" y="66"/>
                    </a:cubicBezTo>
                    <a:cubicBezTo>
                      <a:pt x="103" y="67"/>
                      <a:pt x="103" y="67"/>
                      <a:pt x="103" y="67"/>
                    </a:cubicBezTo>
                    <a:cubicBezTo>
                      <a:pt x="103" y="67"/>
                      <a:pt x="103" y="67"/>
                      <a:pt x="103" y="67"/>
                    </a:cubicBezTo>
                    <a:cubicBezTo>
                      <a:pt x="111" y="76"/>
                      <a:pt x="119" y="86"/>
                      <a:pt x="127" y="97"/>
                    </a:cubicBezTo>
                    <a:cubicBezTo>
                      <a:pt x="128" y="97"/>
                      <a:pt x="128" y="97"/>
                      <a:pt x="128" y="97"/>
                    </a:cubicBezTo>
                    <a:cubicBezTo>
                      <a:pt x="68" y="13"/>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4" name="Freeform 209"/>
              <p:cNvSpPr>
                <a:spLocks/>
              </p:cNvSpPr>
              <p:nvPr/>
            </p:nvSpPr>
            <p:spPr bwMode="auto">
              <a:xfrm>
                <a:off x="-4435474" y="2668584"/>
                <a:ext cx="4762" cy="3175"/>
              </a:xfrm>
              <a:custGeom>
                <a:avLst/>
                <a:gdLst/>
                <a:ahLst/>
                <a:cxnLst>
                  <a:cxn ang="0">
                    <a:pos x="1" y="0"/>
                  </a:cxn>
                  <a:cxn ang="0">
                    <a:pos x="0" y="0"/>
                  </a:cxn>
                  <a:cxn ang="0">
                    <a:pos x="1" y="1"/>
                  </a:cxn>
                  <a:cxn ang="0">
                    <a:pos x="1" y="1"/>
                  </a:cxn>
                  <a:cxn ang="0">
                    <a:pos x="1" y="0"/>
                  </a:cxn>
                </a:cxnLst>
                <a:rect l="0" t="0" r="r" b="b"/>
                <a:pathLst>
                  <a:path w="1" h="1">
                    <a:moveTo>
                      <a:pt x="1" y="0"/>
                    </a:moveTo>
                    <a:cubicBezTo>
                      <a:pt x="0" y="0"/>
                      <a:pt x="0" y="0"/>
                      <a:pt x="0" y="0"/>
                    </a:cubicBezTo>
                    <a:cubicBezTo>
                      <a:pt x="0" y="1"/>
                      <a:pt x="0" y="1"/>
                      <a:pt x="1"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5" name="Freeform 210"/>
              <p:cNvSpPr>
                <a:spLocks noEditPoints="1"/>
              </p:cNvSpPr>
              <p:nvPr/>
            </p:nvSpPr>
            <p:spPr bwMode="auto">
              <a:xfrm>
                <a:off x="-2679699" y="3152772"/>
                <a:ext cx="71438" cy="428625"/>
              </a:xfrm>
              <a:custGeom>
                <a:avLst/>
                <a:gdLst/>
                <a:ahLst/>
                <a:cxnLst>
                  <a:cxn ang="0">
                    <a:pos x="17" y="101"/>
                  </a:cxn>
                  <a:cxn ang="0">
                    <a:pos x="15" y="101"/>
                  </a:cxn>
                  <a:cxn ang="0">
                    <a:pos x="16" y="110"/>
                  </a:cxn>
                  <a:cxn ang="0">
                    <a:pos x="16" y="110"/>
                  </a:cxn>
                  <a:cxn ang="0">
                    <a:pos x="16" y="110"/>
                  </a:cxn>
                  <a:cxn ang="0">
                    <a:pos x="17" y="114"/>
                  </a:cxn>
                  <a:cxn ang="0">
                    <a:pos x="19" y="114"/>
                  </a:cxn>
                  <a:cxn ang="0">
                    <a:pos x="18" y="109"/>
                  </a:cxn>
                  <a:cxn ang="0">
                    <a:pos x="18" y="109"/>
                  </a:cxn>
                  <a:cxn ang="0">
                    <a:pos x="17" y="101"/>
                  </a:cxn>
                  <a:cxn ang="0">
                    <a:pos x="2" y="0"/>
                  </a:cxn>
                  <a:cxn ang="0">
                    <a:pos x="0" y="0"/>
                  </a:cxn>
                  <a:cxn ang="0">
                    <a:pos x="15" y="100"/>
                  </a:cxn>
                  <a:cxn ang="0">
                    <a:pos x="17" y="100"/>
                  </a:cxn>
                  <a:cxn ang="0">
                    <a:pos x="2" y="0"/>
                  </a:cxn>
                </a:cxnLst>
                <a:rect l="0" t="0" r="r" b="b"/>
                <a:pathLst>
                  <a:path w="19" h="114">
                    <a:moveTo>
                      <a:pt x="17" y="101"/>
                    </a:moveTo>
                    <a:cubicBezTo>
                      <a:pt x="15" y="101"/>
                      <a:pt x="15" y="101"/>
                      <a:pt x="15" y="101"/>
                    </a:cubicBezTo>
                    <a:cubicBezTo>
                      <a:pt x="16" y="104"/>
                      <a:pt x="16" y="107"/>
                      <a:pt x="16" y="110"/>
                    </a:cubicBezTo>
                    <a:cubicBezTo>
                      <a:pt x="16" y="110"/>
                      <a:pt x="16" y="110"/>
                      <a:pt x="16" y="110"/>
                    </a:cubicBezTo>
                    <a:cubicBezTo>
                      <a:pt x="16" y="110"/>
                      <a:pt x="16" y="110"/>
                      <a:pt x="16" y="110"/>
                    </a:cubicBezTo>
                    <a:cubicBezTo>
                      <a:pt x="16" y="110"/>
                      <a:pt x="16" y="111"/>
                      <a:pt x="17" y="114"/>
                    </a:cubicBezTo>
                    <a:cubicBezTo>
                      <a:pt x="19" y="114"/>
                      <a:pt x="19" y="114"/>
                      <a:pt x="19" y="114"/>
                    </a:cubicBezTo>
                    <a:cubicBezTo>
                      <a:pt x="18" y="111"/>
                      <a:pt x="18" y="109"/>
                      <a:pt x="18" y="109"/>
                    </a:cubicBezTo>
                    <a:cubicBezTo>
                      <a:pt x="18" y="109"/>
                      <a:pt x="18" y="109"/>
                      <a:pt x="18" y="109"/>
                    </a:cubicBezTo>
                    <a:cubicBezTo>
                      <a:pt x="18" y="106"/>
                      <a:pt x="18" y="104"/>
                      <a:pt x="17" y="101"/>
                    </a:cubicBezTo>
                    <a:moveTo>
                      <a:pt x="2" y="0"/>
                    </a:moveTo>
                    <a:cubicBezTo>
                      <a:pt x="0" y="0"/>
                      <a:pt x="0" y="0"/>
                      <a:pt x="0" y="0"/>
                    </a:cubicBezTo>
                    <a:cubicBezTo>
                      <a:pt x="6" y="29"/>
                      <a:pt x="11" y="62"/>
                      <a:pt x="15" y="100"/>
                    </a:cubicBezTo>
                    <a:cubicBezTo>
                      <a:pt x="17" y="100"/>
                      <a:pt x="17" y="100"/>
                      <a:pt x="17" y="100"/>
                    </a:cubicBezTo>
                    <a:cubicBezTo>
                      <a:pt x="13" y="62"/>
                      <a:pt x="8" y="29"/>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6" name="Freeform 211"/>
              <p:cNvSpPr>
                <a:spLocks/>
              </p:cNvSpPr>
              <p:nvPr/>
            </p:nvSpPr>
            <p:spPr bwMode="auto">
              <a:xfrm>
                <a:off x="-2624136" y="3529009"/>
                <a:ext cx="7937" cy="476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7" name="Freeform 212"/>
              <p:cNvSpPr>
                <a:spLocks noEditPoints="1"/>
              </p:cNvSpPr>
              <p:nvPr/>
            </p:nvSpPr>
            <p:spPr bwMode="auto">
              <a:xfrm>
                <a:off x="-2811462" y="3586159"/>
                <a:ext cx="233364" cy="1614486"/>
              </a:xfrm>
              <a:custGeom>
                <a:avLst/>
                <a:gdLst/>
                <a:ahLst/>
                <a:cxnLst>
                  <a:cxn ang="0">
                    <a:pos x="31" y="343"/>
                  </a:cxn>
                  <a:cxn ang="0">
                    <a:pos x="29" y="343"/>
                  </a:cxn>
                  <a:cxn ang="0">
                    <a:pos x="0" y="429"/>
                  </a:cxn>
                  <a:cxn ang="0">
                    <a:pos x="2" y="429"/>
                  </a:cxn>
                  <a:cxn ang="0">
                    <a:pos x="31" y="343"/>
                  </a:cxn>
                  <a:cxn ang="0">
                    <a:pos x="55" y="233"/>
                  </a:cxn>
                  <a:cxn ang="0">
                    <a:pos x="53" y="233"/>
                  </a:cxn>
                  <a:cxn ang="0">
                    <a:pos x="52" y="239"/>
                  </a:cxn>
                  <a:cxn ang="0">
                    <a:pos x="29" y="342"/>
                  </a:cxn>
                  <a:cxn ang="0">
                    <a:pos x="29" y="342"/>
                  </a:cxn>
                  <a:cxn ang="0">
                    <a:pos x="31" y="342"/>
                  </a:cxn>
                  <a:cxn ang="0">
                    <a:pos x="55" y="233"/>
                  </a:cxn>
                  <a:cxn ang="0">
                    <a:pos x="61" y="102"/>
                  </a:cxn>
                  <a:cxn ang="0">
                    <a:pos x="59" y="102"/>
                  </a:cxn>
                  <a:cxn ang="0">
                    <a:pos x="60" y="129"/>
                  </a:cxn>
                  <a:cxn ang="0">
                    <a:pos x="54" y="231"/>
                  </a:cxn>
                  <a:cxn ang="0">
                    <a:pos x="54" y="231"/>
                  </a:cxn>
                  <a:cxn ang="0">
                    <a:pos x="54" y="232"/>
                  </a:cxn>
                  <a:cxn ang="0">
                    <a:pos x="56" y="232"/>
                  </a:cxn>
                  <a:cxn ang="0">
                    <a:pos x="56" y="231"/>
                  </a:cxn>
                  <a:cxn ang="0">
                    <a:pos x="56" y="231"/>
                  </a:cxn>
                  <a:cxn ang="0">
                    <a:pos x="62" y="129"/>
                  </a:cxn>
                  <a:cxn ang="0">
                    <a:pos x="61" y="102"/>
                  </a:cxn>
                  <a:cxn ang="0">
                    <a:pos x="54" y="0"/>
                  </a:cxn>
                  <a:cxn ang="0">
                    <a:pos x="52" y="0"/>
                  </a:cxn>
                  <a:cxn ang="0">
                    <a:pos x="53" y="5"/>
                  </a:cxn>
                  <a:cxn ang="0">
                    <a:pos x="59" y="101"/>
                  </a:cxn>
                  <a:cxn ang="0">
                    <a:pos x="61" y="101"/>
                  </a:cxn>
                  <a:cxn ang="0">
                    <a:pos x="54" y="0"/>
                  </a:cxn>
                </a:cxnLst>
                <a:rect l="0" t="0" r="r" b="b"/>
                <a:pathLst>
                  <a:path w="62" h="429">
                    <a:moveTo>
                      <a:pt x="31" y="343"/>
                    </a:moveTo>
                    <a:cubicBezTo>
                      <a:pt x="29" y="343"/>
                      <a:pt x="29" y="343"/>
                      <a:pt x="29" y="343"/>
                    </a:cubicBezTo>
                    <a:cubicBezTo>
                      <a:pt x="18" y="386"/>
                      <a:pt x="8" y="411"/>
                      <a:pt x="0" y="429"/>
                    </a:cubicBezTo>
                    <a:cubicBezTo>
                      <a:pt x="2" y="429"/>
                      <a:pt x="2" y="429"/>
                      <a:pt x="2" y="429"/>
                    </a:cubicBezTo>
                    <a:cubicBezTo>
                      <a:pt x="10" y="411"/>
                      <a:pt x="20" y="385"/>
                      <a:pt x="31" y="343"/>
                    </a:cubicBezTo>
                    <a:moveTo>
                      <a:pt x="55" y="233"/>
                    </a:moveTo>
                    <a:cubicBezTo>
                      <a:pt x="53" y="233"/>
                      <a:pt x="53" y="233"/>
                      <a:pt x="53" y="233"/>
                    </a:cubicBezTo>
                    <a:cubicBezTo>
                      <a:pt x="53" y="234"/>
                      <a:pt x="53" y="236"/>
                      <a:pt x="52" y="239"/>
                    </a:cubicBezTo>
                    <a:cubicBezTo>
                      <a:pt x="50" y="254"/>
                      <a:pt x="42" y="290"/>
                      <a:pt x="29" y="342"/>
                    </a:cubicBezTo>
                    <a:cubicBezTo>
                      <a:pt x="29" y="342"/>
                      <a:pt x="29" y="342"/>
                      <a:pt x="29" y="342"/>
                    </a:cubicBezTo>
                    <a:cubicBezTo>
                      <a:pt x="31" y="342"/>
                      <a:pt x="31" y="342"/>
                      <a:pt x="31" y="342"/>
                    </a:cubicBezTo>
                    <a:cubicBezTo>
                      <a:pt x="46" y="282"/>
                      <a:pt x="54" y="242"/>
                      <a:pt x="55" y="233"/>
                    </a:cubicBezTo>
                    <a:moveTo>
                      <a:pt x="61" y="102"/>
                    </a:moveTo>
                    <a:cubicBezTo>
                      <a:pt x="59" y="102"/>
                      <a:pt x="59" y="102"/>
                      <a:pt x="59" y="102"/>
                    </a:cubicBezTo>
                    <a:cubicBezTo>
                      <a:pt x="60" y="111"/>
                      <a:pt x="60" y="119"/>
                      <a:pt x="60" y="129"/>
                    </a:cubicBezTo>
                    <a:cubicBezTo>
                      <a:pt x="60" y="161"/>
                      <a:pt x="58" y="196"/>
                      <a:pt x="54" y="231"/>
                    </a:cubicBezTo>
                    <a:cubicBezTo>
                      <a:pt x="54" y="231"/>
                      <a:pt x="54" y="231"/>
                      <a:pt x="54" y="231"/>
                    </a:cubicBezTo>
                    <a:cubicBezTo>
                      <a:pt x="54" y="231"/>
                      <a:pt x="54" y="231"/>
                      <a:pt x="54" y="232"/>
                    </a:cubicBezTo>
                    <a:cubicBezTo>
                      <a:pt x="56" y="232"/>
                      <a:pt x="56" y="232"/>
                      <a:pt x="56" y="232"/>
                    </a:cubicBezTo>
                    <a:cubicBezTo>
                      <a:pt x="56" y="231"/>
                      <a:pt x="56" y="231"/>
                      <a:pt x="56" y="231"/>
                    </a:cubicBezTo>
                    <a:cubicBezTo>
                      <a:pt x="56" y="231"/>
                      <a:pt x="56" y="231"/>
                      <a:pt x="56" y="231"/>
                    </a:cubicBezTo>
                    <a:cubicBezTo>
                      <a:pt x="60" y="196"/>
                      <a:pt x="62" y="161"/>
                      <a:pt x="62" y="129"/>
                    </a:cubicBezTo>
                    <a:cubicBezTo>
                      <a:pt x="62" y="119"/>
                      <a:pt x="62" y="111"/>
                      <a:pt x="61" y="102"/>
                    </a:cubicBezTo>
                    <a:moveTo>
                      <a:pt x="54" y="0"/>
                    </a:moveTo>
                    <a:cubicBezTo>
                      <a:pt x="52" y="0"/>
                      <a:pt x="52" y="0"/>
                      <a:pt x="52" y="0"/>
                    </a:cubicBezTo>
                    <a:cubicBezTo>
                      <a:pt x="52" y="1"/>
                      <a:pt x="52" y="3"/>
                      <a:pt x="53" y="5"/>
                    </a:cubicBezTo>
                    <a:cubicBezTo>
                      <a:pt x="55" y="22"/>
                      <a:pt x="58" y="57"/>
                      <a:pt x="59" y="101"/>
                    </a:cubicBezTo>
                    <a:cubicBezTo>
                      <a:pt x="61" y="101"/>
                      <a:pt x="61" y="101"/>
                      <a:pt x="61" y="101"/>
                    </a:cubicBezTo>
                    <a:cubicBezTo>
                      <a:pt x="60" y="51"/>
                      <a:pt x="56" y="13"/>
                      <a:pt x="54"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8" name="Freeform 213"/>
              <p:cNvSpPr>
                <a:spLocks/>
              </p:cNvSpPr>
              <p:nvPr/>
            </p:nvSpPr>
            <p:spPr bwMode="auto">
              <a:xfrm>
                <a:off x="-2703512" y="4872033"/>
                <a:ext cx="7937" cy="4762"/>
              </a:xfrm>
              <a:custGeom>
                <a:avLst/>
                <a:gdLst/>
                <a:ahLst/>
                <a:cxnLst>
                  <a:cxn ang="0">
                    <a:pos x="2" y="0"/>
                  </a:cxn>
                  <a:cxn ang="0">
                    <a:pos x="0" y="0"/>
                  </a:cxn>
                  <a:cxn ang="0">
                    <a:pos x="0" y="1"/>
                  </a:cxn>
                  <a:cxn ang="0">
                    <a:pos x="2" y="1"/>
                  </a:cxn>
                  <a:cxn ang="0">
                    <a:pos x="2" y="0"/>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1"/>
                      <a:pt x="2" y="1"/>
                      <a:pt x="2" y="0"/>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9" name="Freeform 214"/>
              <p:cNvSpPr>
                <a:spLocks noEditPoints="1"/>
              </p:cNvSpPr>
              <p:nvPr/>
            </p:nvSpPr>
            <p:spPr bwMode="auto">
              <a:xfrm>
                <a:off x="-2954336" y="2419348"/>
                <a:ext cx="280987" cy="2954335"/>
              </a:xfrm>
              <a:custGeom>
                <a:avLst/>
                <a:gdLst/>
                <a:ahLst/>
                <a:cxnLst>
                  <a:cxn ang="0">
                    <a:pos x="39" y="740"/>
                  </a:cxn>
                  <a:cxn ang="0">
                    <a:pos x="37" y="740"/>
                  </a:cxn>
                  <a:cxn ang="0">
                    <a:pos x="19" y="774"/>
                  </a:cxn>
                  <a:cxn ang="0">
                    <a:pos x="19" y="774"/>
                  </a:cxn>
                  <a:cxn ang="0">
                    <a:pos x="15" y="784"/>
                  </a:cxn>
                  <a:cxn ang="0">
                    <a:pos x="16" y="785"/>
                  </a:cxn>
                  <a:cxn ang="0">
                    <a:pos x="21" y="775"/>
                  </a:cxn>
                  <a:cxn ang="0">
                    <a:pos x="21" y="775"/>
                  </a:cxn>
                  <a:cxn ang="0">
                    <a:pos x="22" y="773"/>
                  </a:cxn>
                  <a:cxn ang="0">
                    <a:pos x="21" y="773"/>
                  </a:cxn>
                  <a:cxn ang="0">
                    <a:pos x="21" y="772"/>
                  </a:cxn>
                  <a:cxn ang="0">
                    <a:pos x="22" y="772"/>
                  </a:cxn>
                  <a:cxn ang="0">
                    <a:pos x="39" y="740"/>
                  </a:cxn>
                  <a:cxn ang="0">
                    <a:pos x="49" y="98"/>
                  </a:cxn>
                  <a:cxn ang="0">
                    <a:pos x="47" y="98"/>
                  </a:cxn>
                  <a:cxn ang="0">
                    <a:pos x="73" y="194"/>
                  </a:cxn>
                  <a:cxn ang="0">
                    <a:pos x="75" y="194"/>
                  </a:cxn>
                  <a:cxn ang="0">
                    <a:pos x="49" y="98"/>
                  </a:cxn>
                  <a:cxn ang="0">
                    <a:pos x="1" y="0"/>
                  </a:cxn>
                  <a:cxn ang="0">
                    <a:pos x="0" y="1"/>
                  </a:cxn>
                  <a:cxn ang="0">
                    <a:pos x="1" y="2"/>
                  </a:cxn>
                  <a:cxn ang="0">
                    <a:pos x="47" y="97"/>
                  </a:cxn>
                  <a:cxn ang="0">
                    <a:pos x="49" y="97"/>
                  </a:cxn>
                  <a:cxn ang="0">
                    <a:pos x="1" y="0"/>
                  </a:cxn>
                </a:cxnLst>
                <a:rect l="0" t="0" r="r" b="b"/>
                <a:pathLst>
                  <a:path w="75" h="785">
                    <a:moveTo>
                      <a:pt x="39" y="740"/>
                    </a:moveTo>
                    <a:cubicBezTo>
                      <a:pt x="37" y="740"/>
                      <a:pt x="37" y="740"/>
                      <a:pt x="37" y="740"/>
                    </a:cubicBezTo>
                    <a:cubicBezTo>
                      <a:pt x="30" y="755"/>
                      <a:pt x="24" y="764"/>
                      <a:pt x="19" y="774"/>
                    </a:cubicBezTo>
                    <a:cubicBezTo>
                      <a:pt x="19" y="774"/>
                      <a:pt x="19" y="774"/>
                      <a:pt x="19" y="774"/>
                    </a:cubicBezTo>
                    <a:cubicBezTo>
                      <a:pt x="15" y="784"/>
                      <a:pt x="15" y="784"/>
                      <a:pt x="15" y="784"/>
                    </a:cubicBezTo>
                    <a:cubicBezTo>
                      <a:pt x="16" y="785"/>
                      <a:pt x="16" y="785"/>
                      <a:pt x="16" y="785"/>
                    </a:cubicBezTo>
                    <a:cubicBezTo>
                      <a:pt x="21" y="775"/>
                      <a:pt x="21" y="775"/>
                      <a:pt x="21" y="775"/>
                    </a:cubicBezTo>
                    <a:cubicBezTo>
                      <a:pt x="21" y="775"/>
                      <a:pt x="21" y="775"/>
                      <a:pt x="21" y="775"/>
                    </a:cubicBezTo>
                    <a:cubicBezTo>
                      <a:pt x="21" y="774"/>
                      <a:pt x="21" y="774"/>
                      <a:pt x="22" y="773"/>
                    </a:cubicBezTo>
                    <a:cubicBezTo>
                      <a:pt x="21" y="773"/>
                      <a:pt x="21" y="773"/>
                      <a:pt x="21" y="773"/>
                    </a:cubicBezTo>
                    <a:cubicBezTo>
                      <a:pt x="21" y="772"/>
                      <a:pt x="21" y="772"/>
                      <a:pt x="21" y="772"/>
                    </a:cubicBezTo>
                    <a:cubicBezTo>
                      <a:pt x="22" y="772"/>
                      <a:pt x="22" y="772"/>
                      <a:pt x="22" y="772"/>
                    </a:cubicBezTo>
                    <a:cubicBezTo>
                      <a:pt x="27" y="763"/>
                      <a:pt x="33" y="754"/>
                      <a:pt x="39" y="740"/>
                    </a:cubicBezTo>
                    <a:moveTo>
                      <a:pt x="49" y="98"/>
                    </a:moveTo>
                    <a:cubicBezTo>
                      <a:pt x="47" y="98"/>
                      <a:pt x="47" y="98"/>
                      <a:pt x="47" y="98"/>
                    </a:cubicBezTo>
                    <a:cubicBezTo>
                      <a:pt x="56" y="124"/>
                      <a:pt x="65" y="156"/>
                      <a:pt x="73" y="194"/>
                    </a:cubicBezTo>
                    <a:cubicBezTo>
                      <a:pt x="75" y="194"/>
                      <a:pt x="75" y="194"/>
                      <a:pt x="75" y="194"/>
                    </a:cubicBezTo>
                    <a:cubicBezTo>
                      <a:pt x="67" y="156"/>
                      <a:pt x="58" y="124"/>
                      <a:pt x="49" y="98"/>
                    </a:cubicBezTo>
                    <a:moveTo>
                      <a:pt x="1" y="0"/>
                    </a:moveTo>
                    <a:cubicBezTo>
                      <a:pt x="0" y="1"/>
                      <a:pt x="0" y="1"/>
                      <a:pt x="0" y="1"/>
                    </a:cubicBezTo>
                    <a:cubicBezTo>
                      <a:pt x="0" y="1"/>
                      <a:pt x="0" y="1"/>
                      <a:pt x="1" y="2"/>
                    </a:cubicBezTo>
                    <a:cubicBezTo>
                      <a:pt x="5" y="7"/>
                      <a:pt x="26" y="36"/>
                      <a:pt x="47" y="97"/>
                    </a:cubicBezTo>
                    <a:cubicBezTo>
                      <a:pt x="49" y="97"/>
                      <a:pt x="49" y="97"/>
                      <a:pt x="49" y="97"/>
                    </a:cubicBezTo>
                    <a:cubicBezTo>
                      <a:pt x="25" y="28"/>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0" name="Freeform 215"/>
              <p:cNvSpPr>
                <a:spLocks/>
              </p:cNvSpPr>
              <p:nvPr/>
            </p:nvSpPr>
            <p:spPr bwMode="auto">
              <a:xfrm>
                <a:off x="-2778124" y="2784471"/>
                <a:ext cx="7937"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1" name="Freeform 216"/>
              <p:cNvSpPr>
                <a:spLocks/>
              </p:cNvSpPr>
              <p:nvPr/>
            </p:nvSpPr>
            <p:spPr bwMode="auto">
              <a:xfrm>
                <a:off x="-2613024" y="4459284"/>
                <a:ext cx="11114" cy="3175"/>
              </a:xfrm>
              <a:custGeom>
                <a:avLst/>
                <a:gdLst/>
                <a:ahLst/>
                <a:cxnLst>
                  <a:cxn ang="0">
                    <a:pos x="3" y="0"/>
                  </a:cxn>
                  <a:cxn ang="0">
                    <a:pos x="1" y="0"/>
                  </a:cxn>
                  <a:cxn ang="0">
                    <a:pos x="0" y="1"/>
                  </a:cxn>
                  <a:cxn ang="0">
                    <a:pos x="2" y="1"/>
                  </a:cxn>
                  <a:cxn ang="0">
                    <a:pos x="3" y="0"/>
                  </a:cxn>
                </a:cxnLst>
                <a:rect l="0" t="0" r="r" b="b"/>
                <a:pathLst>
                  <a:path w="3" h="1">
                    <a:moveTo>
                      <a:pt x="3" y="0"/>
                    </a:moveTo>
                    <a:cubicBezTo>
                      <a:pt x="1" y="0"/>
                      <a:pt x="1" y="0"/>
                      <a:pt x="1" y="0"/>
                    </a:cubicBezTo>
                    <a:cubicBezTo>
                      <a:pt x="1" y="0"/>
                      <a:pt x="1" y="1"/>
                      <a:pt x="0" y="1"/>
                    </a:cubicBezTo>
                    <a:cubicBezTo>
                      <a:pt x="2" y="1"/>
                      <a:pt x="2" y="1"/>
                      <a:pt x="2" y="1"/>
                    </a:cubicBezTo>
                    <a:cubicBezTo>
                      <a:pt x="3" y="1"/>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2" name="Freeform 217"/>
              <p:cNvSpPr>
                <a:spLocks/>
              </p:cNvSpPr>
              <p:nvPr/>
            </p:nvSpPr>
            <p:spPr bwMode="auto">
              <a:xfrm>
                <a:off x="-2816223" y="5200645"/>
                <a:ext cx="12700" cy="3175"/>
              </a:xfrm>
              <a:custGeom>
                <a:avLst/>
                <a:gdLst/>
                <a:ahLst/>
                <a:cxnLst>
                  <a:cxn ang="0">
                    <a:pos x="3" y="0"/>
                  </a:cxn>
                  <a:cxn ang="0">
                    <a:pos x="1" y="0"/>
                  </a:cxn>
                  <a:cxn ang="0">
                    <a:pos x="0" y="1"/>
                  </a:cxn>
                  <a:cxn ang="0">
                    <a:pos x="2" y="1"/>
                  </a:cxn>
                  <a:cxn ang="0">
                    <a:pos x="3" y="0"/>
                  </a:cxn>
                </a:cxnLst>
                <a:rect l="0" t="0" r="r" b="b"/>
                <a:pathLst>
                  <a:path w="3" h="1">
                    <a:moveTo>
                      <a:pt x="3" y="0"/>
                    </a:moveTo>
                    <a:cubicBezTo>
                      <a:pt x="1" y="0"/>
                      <a:pt x="1" y="0"/>
                      <a:pt x="1" y="0"/>
                    </a:cubicBezTo>
                    <a:cubicBezTo>
                      <a:pt x="0" y="0"/>
                      <a:pt x="0" y="1"/>
                      <a:pt x="0" y="1"/>
                    </a:cubicBezTo>
                    <a:cubicBezTo>
                      <a:pt x="2" y="1"/>
                      <a:pt x="2" y="1"/>
                      <a:pt x="2" y="1"/>
                    </a:cubicBezTo>
                    <a:cubicBezTo>
                      <a:pt x="3" y="1"/>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3" name="Freeform 218"/>
              <p:cNvSpPr>
                <a:spLocks/>
              </p:cNvSpPr>
              <p:nvPr/>
            </p:nvSpPr>
            <p:spPr bwMode="auto">
              <a:xfrm>
                <a:off x="-2874962" y="5324470"/>
                <a:ext cx="3175" cy="3175"/>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1"/>
                      <a:pt x="1" y="1"/>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4" name="Freeform 219"/>
              <p:cNvSpPr>
                <a:spLocks/>
              </p:cNvSpPr>
              <p:nvPr/>
            </p:nvSpPr>
            <p:spPr bwMode="auto">
              <a:xfrm>
                <a:off x="-2590798" y="3965572"/>
                <a:ext cx="7937" cy="476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5" name="Freeform 220"/>
              <p:cNvSpPr>
                <a:spLocks/>
              </p:cNvSpPr>
              <p:nvPr/>
            </p:nvSpPr>
            <p:spPr bwMode="auto">
              <a:xfrm>
                <a:off x="-2616199" y="3581397"/>
                <a:ext cx="7937" cy="476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6" name="Freeform 221"/>
              <p:cNvSpPr>
                <a:spLocks/>
              </p:cNvSpPr>
              <p:nvPr/>
            </p:nvSpPr>
            <p:spPr bwMode="auto">
              <a:xfrm>
                <a:off x="-5802311" y="3149597"/>
                <a:ext cx="11114" cy="3175"/>
              </a:xfrm>
              <a:custGeom>
                <a:avLst/>
                <a:gdLst/>
                <a:ahLst/>
                <a:cxnLst>
                  <a:cxn ang="0">
                    <a:pos x="3" y="0"/>
                  </a:cxn>
                  <a:cxn ang="0">
                    <a:pos x="0" y="0"/>
                  </a:cxn>
                  <a:cxn ang="0">
                    <a:pos x="0" y="1"/>
                  </a:cxn>
                  <a:cxn ang="0">
                    <a:pos x="2" y="1"/>
                  </a:cxn>
                  <a:cxn ang="0">
                    <a:pos x="2" y="1"/>
                  </a:cxn>
                  <a:cxn ang="0">
                    <a:pos x="2" y="0"/>
                  </a:cxn>
                  <a:cxn ang="0">
                    <a:pos x="2" y="0"/>
                  </a:cxn>
                  <a:cxn ang="0">
                    <a:pos x="3" y="0"/>
                  </a:cxn>
                </a:cxnLst>
                <a:rect l="0" t="0" r="r" b="b"/>
                <a:pathLst>
                  <a:path w="3" h="1">
                    <a:moveTo>
                      <a:pt x="3" y="0"/>
                    </a:moveTo>
                    <a:cubicBezTo>
                      <a:pt x="0" y="0"/>
                      <a:pt x="0" y="0"/>
                      <a:pt x="0" y="0"/>
                    </a:cubicBezTo>
                    <a:cubicBezTo>
                      <a:pt x="0" y="0"/>
                      <a:pt x="0" y="0"/>
                      <a:pt x="0" y="1"/>
                    </a:cubicBezTo>
                    <a:cubicBezTo>
                      <a:pt x="2" y="1"/>
                      <a:pt x="2" y="1"/>
                      <a:pt x="2" y="1"/>
                    </a:cubicBezTo>
                    <a:cubicBezTo>
                      <a:pt x="2" y="1"/>
                      <a:pt x="2" y="1"/>
                      <a:pt x="2" y="1"/>
                    </a:cubicBezTo>
                    <a:cubicBezTo>
                      <a:pt x="2" y="0"/>
                      <a:pt x="2" y="0"/>
                      <a:pt x="2" y="0"/>
                    </a:cubicBezTo>
                    <a:cubicBezTo>
                      <a:pt x="2" y="0"/>
                      <a:pt x="2" y="0"/>
                      <a:pt x="2" y="0"/>
                    </a:cubicBezTo>
                    <a:cubicBezTo>
                      <a:pt x="2" y="0"/>
                      <a:pt x="2"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7" name="Freeform 222"/>
              <p:cNvSpPr>
                <a:spLocks/>
              </p:cNvSpPr>
              <p:nvPr/>
            </p:nvSpPr>
            <p:spPr bwMode="auto">
              <a:xfrm>
                <a:off x="-5565772" y="3149597"/>
                <a:ext cx="7937"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8" name="Freeform 223"/>
              <p:cNvSpPr>
                <a:spLocks/>
              </p:cNvSpPr>
              <p:nvPr/>
            </p:nvSpPr>
            <p:spPr bwMode="auto">
              <a:xfrm>
                <a:off x="-5326061" y="3149597"/>
                <a:ext cx="7937"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9" name="Freeform 224"/>
              <p:cNvSpPr>
                <a:spLocks/>
              </p:cNvSpPr>
              <p:nvPr/>
            </p:nvSpPr>
            <p:spPr bwMode="auto">
              <a:xfrm>
                <a:off x="-5081586" y="3149597"/>
                <a:ext cx="4762" cy="3175"/>
              </a:xfrm>
              <a:custGeom>
                <a:avLst/>
                <a:gdLst/>
                <a:ahLst/>
                <a:cxnLst>
                  <a:cxn ang="0">
                    <a:pos x="0" y="0"/>
                  </a:cxn>
                  <a:cxn ang="0">
                    <a:pos x="0" y="0"/>
                  </a:cxn>
                  <a:cxn ang="0">
                    <a:pos x="0" y="2"/>
                  </a:cxn>
                  <a:cxn ang="0">
                    <a:pos x="3" y="2"/>
                  </a:cxn>
                  <a:cxn ang="0">
                    <a:pos x="0" y="0"/>
                  </a:cxn>
                  <a:cxn ang="0">
                    <a:pos x="0" y="0"/>
                  </a:cxn>
                </a:cxnLst>
                <a:rect l="0" t="0" r="r" b="b"/>
                <a:pathLst>
                  <a:path w="3" h="2">
                    <a:moveTo>
                      <a:pt x="0" y="0"/>
                    </a:moveTo>
                    <a:lnTo>
                      <a:pt x="0" y="0"/>
                    </a:lnTo>
                    <a:lnTo>
                      <a:pt x="0" y="2"/>
                    </a:lnTo>
                    <a:lnTo>
                      <a:pt x="3" y="2"/>
                    </a:lnTo>
                    <a:lnTo>
                      <a:pt x="0" y="0"/>
                    </a:lnTo>
                    <a:lnTo>
                      <a:pt x="0"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0" name="Freeform 225"/>
              <p:cNvSpPr>
                <a:spLocks/>
              </p:cNvSpPr>
              <p:nvPr/>
            </p:nvSpPr>
            <p:spPr bwMode="auto">
              <a:xfrm>
                <a:off x="-4837111" y="3149597"/>
                <a:ext cx="7937"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1" name="Freeform 226"/>
              <p:cNvSpPr>
                <a:spLocks/>
              </p:cNvSpPr>
              <p:nvPr/>
            </p:nvSpPr>
            <p:spPr bwMode="auto">
              <a:xfrm>
                <a:off x="-4608511" y="3149597"/>
                <a:ext cx="7937"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2" name="Freeform 227"/>
              <p:cNvSpPr>
                <a:spLocks/>
              </p:cNvSpPr>
              <p:nvPr/>
            </p:nvSpPr>
            <p:spPr bwMode="auto">
              <a:xfrm>
                <a:off x="-1955799" y="3149597"/>
                <a:ext cx="7937"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3" name="Freeform 228"/>
              <p:cNvSpPr>
                <a:spLocks/>
              </p:cNvSpPr>
              <p:nvPr/>
            </p:nvSpPr>
            <p:spPr bwMode="auto">
              <a:xfrm>
                <a:off x="-3641723" y="3149597"/>
                <a:ext cx="6350"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4" name="Freeform 229"/>
              <p:cNvSpPr>
                <a:spLocks/>
              </p:cNvSpPr>
              <p:nvPr/>
            </p:nvSpPr>
            <p:spPr bwMode="auto">
              <a:xfrm>
                <a:off x="-3421062" y="3149597"/>
                <a:ext cx="11114" cy="3175"/>
              </a:xfrm>
              <a:custGeom>
                <a:avLst/>
                <a:gdLst/>
                <a:ahLst/>
                <a:cxnLst>
                  <a:cxn ang="0">
                    <a:pos x="3" y="0"/>
                  </a:cxn>
                  <a:cxn ang="0">
                    <a:pos x="1" y="0"/>
                  </a:cxn>
                  <a:cxn ang="0">
                    <a:pos x="0" y="1"/>
                  </a:cxn>
                  <a:cxn ang="0">
                    <a:pos x="3" y="1"/>
                  </a:cxn>
                  <a:cxn ang="0">
                    <a:pos x="3" y="0"/>
                  </a:cxn>
                </a:cxnLst>
                <a:rect l="0" t="0" r="r" b="b"/>
                <a:pathLst>
                  <a:path w="3" h="1">
                    <a:moveTo>
                      <a:pt x="3" y="0"/>
                    </a:moveTo>
                    <a:cubicBezTo>
                      <a:pt x="1" y="0"/>
                      <a:pt x="1" y="0"/>
                      <a:pt x="1" y="0"/>
                    </a:cubicBezTo>
                    <a:cubicBezTo>
                      <a:pt x="1" y="0"/>
                      <a:pt x="1" y="0"/>
                      <a:pt x="0"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5" name="Freeform 230"/>
              <p:cNvSpPr>
                <a:spLocks/>
              </p:cNvSpPr>
              <p:nvPr/>
            </p:nvSpPr>
            <p:spPr bwMode="auto">
              <a:xfrm>
                <a:off x="-3171824" y="3149597"/>
                <a:ext cx="6350" cy="3175"/>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6" name="Freeform 231"/>
              <p:cNvSpPr>
                <a:spLocks/>
              </p:cNvSpPr>
              <p:nvPr/>
            </p:nvSpPr>
            <p:spPr bwMode="auto">
              <a:xfrm>
                <a:off x="-2920998" y="3149597"/>
                <a:ext cx="7937"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7" name="Freeform 232"/>
              <p:cNvSpPr>
                <a:spLocks/>
              </p:cNvSpPr>
              <p:nvPr/>
            </p:nvSpPr>
            <p:spPr bwMode="auto">
              <a:xfrm>
                <a:off x="-2398712" y="3149597"/>
                <a:ext cx="4762" cy="3175"/>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0"/>
                      <a:pt x="0" y="0"/>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8" name="Freeform 233"/>
              <p:cNvSpPr>
                <a:spLocks/>
              </p:cNvSpPr>
              <p:nvPr/>
            </p:nvSpPr>
            <p:spPr bwMode="auto">
              <a:xfrm>
                <a:off x="-2187574" y="3149597"/>
                <a:ext cx="11114" cy="3175"/>
              </a:xfrm>
              <a:custGeom>
                <a:avLst/>
                <a:gdLst/>
                <a:ahLst/>
                <a:cxnLst>
                  <a:cxn ang="0">
                    <a:pos x="3" y="0"/>
                  </a:cxn>
                  <a:cxn ang="0">
                    <a:pos x="0" y="0"/>
                  </a:cxn>
                  <a:cxn ang="0">
                    <a:pos x="1" y="1"/>
                  </a:cxn>
                  <a:cxn ang="0">
                    <a:pos x="3" y="1"/>
                  </a:cxn>
                  <a:cxn ang="0">
                    <a:pos x="3" y="0"/>
                  </a:cxn>
                </a:cxnLst>
                <a:rect l="0" t="0" r="r" b="b"/>
                <a:pathLst>
                  <a:path w="3" h="1">
                    <a:moveTo>
                      <a:pt x="3" y="0"/>
                    </a:moveTo>
                    <a:cubicBezTo>
                      <a:pt x="0" y="0"/>
                      <a:pt x="0" y="0"/>
                      <a:pt x="0" y="0"/>
                    </a:cubicBezTo>
                    <a:cubicBezTo>
                      <a:pt x="1" y="0"/>
                      <a:pt x="1" y="0"/>
                      <a:pt x="1"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9" name="Freeform 234"/>
              <p:cNvSpPr>
                <a:spLocks/>
              </p:cNvSpPr>
              <p:nvPr/>
            </p:nvSpPr>
            <p:spPr bwMode="auto">
              <a:xfrm>
                <a:off x="-1516062" y="3149597"/>
                <a:ext cx="11114" cy="3175"/>
              </a:xfrm>
              <a:custGeom>
                <a:avLst/>
                <a:gdLst/>
                <a:ahLst/>
                <a:cxnLst>
                  <a:cxn ang="0">
                    <a:pos x="2" y="0"/>
                  </a:cxn>
                  <a:cxn ang="0">
                    <a:pos x="0" y="0"/>
                  </a:cxn>
                  <a:cxn ang="0">
                    <a:pos x="0" y="1"/>
                  </a:cxn>
                  <a:cxn ang="0">
                    <a:pos x="3" y="1"/>
                  </a:cxn>
                  <a:cxn ang="0">
                    <a:pos x="2" y="0"/>
                  </a:cxn>
                </a:cxnLst>
                <a:rect l="0" t="0" r="r" b="b"/>
                <a:pathLst>
                  <a:path w="3" h="1">
                    <a:moveTo>
                      <a:pt x="2" y="0"/>
                    </a:moveTo>
                    <a:cubicBezTo>
                      <a:pt x="0" y="0"/>
                      <a:pt x="0" y="0"/>
                      <a:pt x="0" y="0"/>
                    </a:cubicBezTo>
                    <a:cubicBezTo>
                      <a:pt x="0" y="0"/>
                      <a:pt x="0" y="0"/>
                      <a:pt x="0" y="1"/>
                    </a:cubicBezTo>
                    <a:cubicBezTo>
                      <a:pt x="3" y="1"/>
                      <a:pt x="3" y="1"/>
                      <a:pt x="3" y="1"/>
                    </a:cubicBezTo>
                    <a:cubicBezTo>
                      <a:pt x="3"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0" name="Freeform 235"/>
              <p:cNvSpPr>
                <a:spLocks/>
              </p:cNvSpPr>
              <p:nvPr/>
            </p:nvSpPr>
            <p:spPr bwMode="auto">
              <a:xfrm>
                <a:off x="-1747838" y="3149597"/>
                <a:ext cx="11114" cy="3175"/>
              </a:xfrm>
              <a:custGeom>
                <a:avLst/>
                <a:gdLst/>
                <a:ahLst/>
                <a:cxnLst>
                  <a:cxn ang="0">
                    <a:pos x="3" y="0"/>
                  </a:cxn>
                  <a:cxn ang="0">
                    <a:pos x="0" y="0"/>
                  </a:cxn>
                  <a:cxn ang="0">
                    <a:pos x="1" y="1"/>
                  </a:cxn>
                  <a:cxn ang="0">
                    <a:pos x="3" y="1"/>
                  </a:cxn>
                  <a:cxn ang="0">
                    <a:pos x="3" y="0"/>
                  </a:cxn>
                </a:cxnLst>
                <a:rect l="0" t="0" r="r" b="b"/>
                <a:pathLst>
                  <a:path w="3" h="1">
                    <a:moveTo>
                      <a:pt x="3" y="0"/>
                    </a:moveTo>
                    <a:cubicBezTo>
                      <a:pt x="0" y="0"/>
                      <a:pt x="0" y="0"/>
                      <a:pt x="0" y="0"/>
                    </a:cubicBezTo>
                    <a:cubicBezTo>
                      <a:pt x="0" y="0"/>
                      <a:pt x="1" y="0"/>
                      <a:pt x="1"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1" name="Freeform 236"/>
              <p:cNvSpPr>
                <a:spLocks/>
              </p:cNvSpPr>
              <p:nvPr/>
            </p:nvSpPr>
            <p:spPr bwMode="auto">
              <a:xfrm>
                <a:off x="-2679699" y="3149597"/>
                <a:ext cx="6350"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2" name="Freeform 237"/>
              <p:cNvSpPr>
                <a:spLocks noEditPoints="1"/>
              </p:cNvSpPr>
              <p:nvPr/>
            </p:nvSpPr>
            <p:spPr bwMode="auto">
              <a:xfrm>
                <a:off x="-6346822" y="2366960"/>
                <a:ext cx="5613397" cy="3281360"/>
              </a:xfrm>
              <a:custGeom>
                <a:avLst/>
                <a:gdLst/>
                <a:ahLst/>
                <a:cxnLst>
                  <a:cxn ang="0">
                    <a:pos x="215" y="38"/>
                  </a:cxn>
                  <a:cxn ang="0">
                    <a:pos x="535" y="111"/>
                  </a:cxn>
                  <a:cxn ang="0">
                    <a:pos x="485" y="112"/>
                  </a:cxn>
                  <a:cxn ang="0">
                    <a:pos x="527" y="211"/>
                  </a:cxn>
                  <a:cxn ang="0">
                    <a:pos x="575" y="331"/>
                  </a:cxn>
                  <a:cxn ang="0">
                    <a:pos x="605" y="324"/>
                  </a:cxn>
                  <a:cxn ang="0">
                    <a:pos x="651" y="221"/>
                  </a:cxn>
                  <a:cxn ang="0">
                    <a:pos x="704" y="118"/>
                  </a:cxn>
                  <a:cxn ang="0">
                    <a:pos x="688" y="109"/>
                  </a:cxn>
                  <a:cxn ang="0">
                    <a:pos x="894" y="6"/>
                  </a:cxn>
                  <a:cxn ang="0">
                    <a:pos x="1266" y="104"/>
                  </a:cxn>
                  <a:cxn ang="0">
                    <a:pos x="1344" y="208"/>
                  </a:cxn>
                  <a:cxn ang="0">
                    <a:pos x="1450" y="323"/>
                  </a:cxn>
                  <a:cxn ang="0">
                    <a:pos x="1492" y="475"/>
                  </a:cxn>
                  <a:cxn ang="0">
                    <a:pos x="1467" y="667"/>
                  </a:cxn>
                  <a:cxn ang="0">
                    <a:pos x="1428" y="807"/>
                  </a:cxn>
                  <a:cxn ang="0">
                    <a:pos x="1219" y="787"/>
                  </a:cxn>
                  <a:cxn ang="0">
                    <a:pos x="1138" y="666"/>
                  </a:cxn>
                  <a:cxn ang="0">
                    <a:pos x="1104" y="556"/>
                  </a:cxn>
                  <a:cxn ang="0">
                    <a:pos x="1085" y="446"/>
                  </a:cxn>
                  <a:cxn ang="0">
                    <a:pos x="1057" y="579"/>
                  </a:cxn>
                  <a:cxn ang="0">
                    <a:pos x="1023" y="667"/>
                  </a:cxn>
                  <a:cxn ang="0">
                    <a:pos x="958" y="787"/>
                  </a:cxn>
                  <a:cxn ang="0">
                    <a:pos x="749" y="787"/>
                  </a:cxn>
                  <a:cxn ang="0">
                    <a:pos x="712" y="667"/>
                  </a:cxn>
                  <a:cxn ang="0">
                    <a:pos x="679" y="557"/>
                  </a:cxn>
                  <a:cxn ang="0">
                    <a:pos x="669" y="459"/>
                  </a:cxn>
                  <a:cxn ang="0">
                    <a:pos x="625" y="668"/>
                  </a:cxn>
                  <a:cxn ang="0">
                    <a:pos x="584" y="786"/>
                  </a:cxn>
                  <a:cxn ang="0">
                    <a:pos x="502" y="863"/>
                  </a:cxn>
                  <a:cxn ang="0">
                    <a:pos x="417" y="787"/>
                  </a:cxn>
                  <a:cxn ang="0">
                    <a:pos x="403" y="753"/>
                  </a:cxn>
                  <a:cxn ang="0">
                    <a:pos x="353" y="578"/>
                  </a:cxn>
                  <a:cxn ang="0">
                    <a:pos x="339" y="435"/>
                  </a:cxn>
                  <a:cxn ang="0">
                    <a:pos x="319" y="557"/>
                  </a:cxn>
                  <a:cxn ang="0">
                    <a:pos x="270" y="668"/>
                  </a:cxn>
                  <a:cxn ang="0">
                    <a:pos x="214" y="785"/>
                  </a:cxn>
                  <a:cxn ang="0">
                    <a:pos x="46" y="785"/>
                  </a:cxn>
                  <a:cxn ang="0">
                    <a:pos x="28" y="667"/>
                  </a:cxn>
                  <a:cxn ang="0">
                    <a:pos x="10" y="574"/>
                  </a:cxn>
                  <a:cxn ang="0">
                    <a:pos x="1" y="452"/>
                  </a:cxn>
                  <a:cxn ang="0">
                    <a:pos x="23" y="324"/>
                  </a:cxn>
                  <a:cxn ang="0">
                    <a:pos x="29" y="309"/>
                  </a:cxn>
                  <a:cxn ang="0">
                    <a:pos x="84" y="209"/>
                  </a:cxn>
                  <a:cxn ang="0">
                    <a:pos x="162" y="81"/>
                  </a:cxn>
                  <a:cxn ang="0">
                    <a:pos x="214" y="36"/>
                  </a:cxn>
                  <a:cxn ang="0">
                    <a:pos x="23" y="318"/>
                  </a:cxn>
                  <a:cxn ang="0">
                    <a:pos x="38" y="769"/>
                  </a:cxn>
                  <a:cxn ang="0">
                    <a:pos x="273" y="667"/>
                  </a:cxn>
                  <a:cxn ang="0">
                    <a:pos x="464" y="848"/>
                  </a:cxn>
                  <a:cxn ang="0">
                    <a:pos x="590" y="776"/>
                  </a:cxn>
                  <a:cxn ang="0">
                    <a:pos x="899" y="852"/>
                  </a:cxn>
                  <a:cxn ang="0">
                    <a:pos x="1345" y="872"/>
                  </a:cxn>
                  <a:cxn ang="0">
                    <a:pos x="1474" y="366"/>
                  </a:cxn>
                  <a:cxn ang="0">
                    <a:pos x="1236" y="87"/>
                  </a:cxn>
                  <a:cxn ang="0">
                    <a:pos x="742" y="53"/>
                  </a:cxn>
                  <a:cxn ang="0">
                    <a:pos x="577" y="331"/>
                  </a:cxn>
                </a:cxnLst>
                <a:rect l="0" t="0" r="r" b="b"/>
                <a:pathLst>
                  <a:path w="1494" h="872">
                    <a:moveTo>
                      <a:pt x="484" y="111"/>
                    </a:moveTo>
                    <a:cubicBezTo>
                      <a:pt x="484" y="111"/>
                      <a:pt x="484" y="111"/>
                      <a:pt x="484" y="111"/>
                    </a:cubicBezTo>
                    <a:cubicBezTo>
                      <a:pt x="485" y="111"/>
                      <a:pt x="485" y="111"/>
                      <a:pt x="485" y="111"/>
                    </a:cubicBezTo>
                    <a:cubicBezTo>
                      <a:pt x="485" y="111"/>
                      <a:pt x="485" y="111"/>
                      <a:pt x="484" y="111"/>
                    </a:cubicBezTo>
                    <a:cubicBezTo>
                      <a:pt x="484" y="111"/>
                      <a:pt x="484" y="111"/>
                      <a:pt x="484" y="111"/>
                    </a:cubicBezTo>
                    <a:moveTo>
                      <a:pt x="165" y="78"/>
                    </a:moveTo>
                    <a:cubicBezTo>
                      <a:pt x="166" y="78"/>
                      <a:pt x="169" y="75"/>
                      <a:pt x="173" y="71"/>
                    </a:cubicBezTo>
                    <a:cubicBezTo>
                      <a:pt x="175" y="69"/>
                      <a:pt x="178" y="67"/>
                      <a:pt x="180" y="65"/>
                    </a:cubicBezTo>
                    <a:cubicBezTo>
                      <a:pt x="191" y="56"/>
                      <a:pt x="205" y="44"/>
                      <a:pt x="215" y="38"/>
                    </a:cubicBezTo>
                    <a:cubicBezTo>
                      <a:pt x="224" y="33"/>
                      <a:pt x="240" y="25"/>
                      <a:pt x="255" y="18"/>
                    </a:cubicBezTo>
                    <a:cubicBezTo>
                      <a:pt x="271" y="12"/>
                      <a:pt x="286" y="6"/>
                      <a:pt x="292" y="5"/>
                    </a:cubicBezTo>
                    <a:cubicBezTo>
                      <a:pt x="299" y="4"/>
                      <a:pt x="312" y="1"/>
                      <a:pt x="331" y="1"/>
                    </a:cubicBezTo>
                    <a:cubicBezTo>
                      <a:pt x="347" y="1"/>
                      <a:pt x="367" y="3"/>
                      <a:pt x="390" y="8"/>
                    </a:cubicBezTo>
                    <a:cubicBezTo>
                      <a:pt x="429" y="17"/>
                      <a:pt x="474" y="38"/>
                      <a:pt x="501" y="55"/>
                    </a:cubicBezTo>
                    <a:cubicBezTo>
                      <a:pt x="509" y="60"/>
                      <a:pt x="525" y="74"/>
                      <a:pt x="539" y="88"/>
                    </a:cubicBezTo>
                    <a:cubicBezTo>
                      <a:pt x="546" y="94"/>
                      <a:pt x="553" y="100"/>
                      <a:pt x="558" y="105"/>
                    </a:cubicBezTo>
                    <a:cubicBezTo>
                      <a:pt x="561" y="107"/>
                      <a:pt x="563" y="109"/>
                      <a:pt x="564" y="111"/>
                    </a:cubicBezTo>
                    <a:cubicBezTo>
                      <a:pt x="535" y="111"/>
                      <a:pt x="535" y="111"/>
                      <a:pt x="535" y="111"/>
                    </a:cubicBezTo>
                    <a:cubicBezTo>
                      <a:pt x="535" y="111"/>
                      <a:pt x="535" y="111"/>
                      <a:pt x="535" y="111"/>
                    </a:cubicBezTo>
                    <a:cubicBezTo>
                      <a:pt x="534" y="112"/>
                      <a:pt x="534" y="112"/>
                      <a:pt x="534" y="112"/>
                    </a:cubicBezTo>
                    <a:cubicBezTo>
                      <a:pt x="534" y="111"/>
                      <a:pt x="534" y="111"/>
                      <a:pt x="534" y="111"/>
                    </a:cubicBezTo>
                    <a:cubicBezTo>
                      <a:pt x="486" y="111"/>
                      <a:pt x="486" y="111"/>
                      <a:pt x="486" y="111"/>
                    </a:cubicBezTo>
                    <a:cubicBezTo>
                      <a:pt x="486" y="111"/>
                      <a:pt x="486" y="111"/>
                      <a:pt x="486" y="111"/>
                    </a:cubicBezTo>
                    <a:cubicBezTo>
                      <a:pt x="486" y="112"/>
                      <a:pt x="486" y="112"/>
                      <a:pt x="486" y="112"/>
                    </a:cubicBezTo>
                    <a:cubicBezTo>
                      <a:pt x="486" y="112"/>
                      <a:pt x="486" y="112"/>
                      <a:pt x="486" y="112"/>
                    </a:cubicBezTo>
                    <a:cubicBezTo>
                      <a:pt x="485" y="112"/>
                      <a:pt x="485" y="112"/>
                      <a:pt x="485" y="112"/>
                    </a:cubicBezTo>
                    <a:cubicBezTo>
                      <a:pt x="485" y="112"/>
                      <a:pt x="485" y="112"/>
                      <a:pt x="485" y="112"/>
                    </a:cubicBezTo>
                    <a:cubicBezTo>
                      <a:pt x="485" y="112"/>
                      <a:pt x="487" y="116"/>
                      <a:pt x="490" y="122"/>
                    </a:cubicBezTo>
                    <a:cubicBezTo>
                      <a:pt x="499" y="140"/>
                      <a:pt x="517" y="179"/>
                      <a:pt x="525" y="208"/>
                    </a:cubicBezTo>
                    <a:cubicBezTo>
                      <a:pt x="525" y="208"/>
                      <a:pt x="525" y="208"/>
                      <a:pt x="525" y="208"/>
                    </a:cubicBezTo>
                    <a:cubicBezTo>
                      <a:pt x="525" y="209"/>
                      <a:pt x="525" y="209"/>
                      <a:pt x="525" y="209"/>
                    </a:cubicBezTo>
                    <a:cubicBezTo>
                      <a:pt x="525" y="209"/>
                      <a:pt x="525" y="209"/>
                      <a:pt x="525" y="209"/>
                    </a:cubicBezTo>
                    <a:cubicBezTo>
                      <a:pt x="525" y="209"/>
                      <a:pt x="525" y="209"/>
                      <a:pt x="525" y="209"/>
                    </a:cubicBezTo>
                    <a:cubicBezTo>
                      <a:pt x="525" y="209"/>
                      <a:pt x="525" y="209"/>
                      <a:pt x="525" y="209"/>
                    </a:cubicBezTo>
                    <a:cubicBezTo>
                      <a:pt x="525" y="209"/>
                      <a:pt x="525" y="209"/>
                      <a:pt x="525" y="209"/>
                    </a:cubicBezTo>
                    <a:cubicBezTo>
                      <a:pt x="525" y="209"/>
                      <a:pt x="526" y="210"/>
                      <a:pt x="527" y="211"/>
                    </a:cubicBezTo>
                    <a:cubicBezTo>
                      <a:pt x="533" y="220"/>
                      <a:pt x="556" y="254"/>
                      <a:pt x="570" y="309"/>
                    </a:cubicBezTo>
                    <a:cubicBezTo>
                      <a:pt x="571" y="309"/>
                      <a:pt x="571" y="309"/>
                      <a:pt x="571" y="309"/>
                    </a:cubicBezTo>
                    <a:cubicBezTo>
                      <a:pt x="571" y="310"/>
                      <a:pt x="571" y="310"/>
                      <a:pt x="571" y="310"/>
                    </a:cubicBezTo>
                    <a:cubicBezTo>
                      <a:pt x="570" y="310"/>
                      <a:pt x="570" y="310"/>
                      <a:pt x="570" y="310"/>
                    </a:cubicBezTo>
                    <a:cubicBezTo>
                      <a:pt x="571" y="314"/>
                      <a:pt x="572" y="318"/>
                      <a:pt x="573" y="323"/>
                    </a:cubicBezTo>
                    <a:cubicBezTo>
                      <a:pt x="574" y="323"/>
                      <a:pt x="574" y="323"/>
                      <a:pt x="574" y="323"/>
                    </a:cubicBezTo>
                    <a:cubicBezTo>
                      <a:pt x="574" y="324"/>
                      <a:pt x="574" y="324"/>
                      <a:pt x="574" y="324"/>
                    </a:cubicBezTo>
                    <a:cubicBezTo>
                      <a:pt x="573" y="324"/>
                      <a:pt x="573" y="324"/>
                      <a:pt x="573" y="324"/>
                    </a:cubicBezTo>
                    <a:cubicBezTo>
                      <a:pt x="574" y="326"/>
                      <a:pt x="574" y="329"/>
                      <a:pt x="575" y="331"/>
                    </a:cubicBezTo>
                    <a:cubicBezTo>
                      <a:pt x="575" y="331"/>
                      <a:pt x="575" y="333"/>
                      <a:pt x="576" y="337"/>
                    </a:cubicBezTo>
                    <a:cubicBezTo>
                      <a:pt x="579" y="349"/>
                      <a:pt x="584" y="376"/>
                      <a:pt x="587" y="402"/>
                    </a:cubicBezTo>
                    <a:cubicBezTo>
                      <a:pt x="587" y="402"/>
                      <a:pt x="587" y="402"/>
                      <a:pt x="587" y="402"/>
                    </a:cubicBezTo>
                    <a:cubicBezTo>
                      <a:pt x="588" y="406"/>
                      <a:pt x="588" y="406"/>
                      <a:pt x="588" y="406"/>
                    </a:cubicBezTo>
                    <a:cubicBezTo>
                      <a:pt x="588" y="406"/>
                      <a:pt x="588" y="406"/>
                      <a:pt x="588" y="406"/>
                    </a:cubicBezTo>
                    <a:cubicBezTo>
                      <a:pt x="590" y="405"/>
                      <a:pt x="590" y="405"/>
                      <a:pt x="590" y="405"/>
                    </a:cubicBezTo>
                    <a:cubicBezTo>
                      <a:pt x="590" y="405"/>
                      <a:pt x="590" y="405"/>
                      <a:pt x="590" y="405"/>
                    </a:cubicBezTo>
                    <a:cubicBezTo>
                      <a:pt x="592" y="385"/>
                      <a:pt x="592" y="385"/>
                      <a:pt x="592" y="385"/>
                    </a:cubicBezTo>
                    <a:cubicBezTo>
                      <a:pt x="595" y="363"/>
                      <a:pt x="600" y="342"/>
                      <a:pt x="605" y="324"/>
                    </a:cubicBezTo>
                    <a:cubicBezTo>
                      <a:pt x="604" y="324"/>
                      <a:pt x="604" y="324"/>
                      <a:pt x="604" y="324"/>
                    </a:cubicBezTo>
                    <a:cubicBezTo>
                      <a:pt x="604" y="323"/>
                      <a:pt x="604" y="323"/>
                      <a:pt x="604" y="323"/>
                    </a:cubicBezTo>
                    <a:cubicBezTo>
                      <a:pt x="605" y="323"/>
                      <a:pt x="605" y="323"/>
                      <a:pt x="605" y="323"/>
                    </a:cubicBezTo>
                    <a:cubicBezTo>
                      <a:pt x="606" y="318"/>
                      <a:pt x="608" y="314"/>
                      <a:pt x="609" y="310"/>
                    </a:cubicBezTo>
                    <a:cubicBezTo>
                      <a:pt x="608" y="310"/>
                      <a:pt x="608" y="310"/>
                      <a:pt x="608" y="310"/>
                    </a:cubicBezTo>
                    <a:cubicBezTo>
                      <a:pt x="608" y="309"/>
                      <a:pt x="608" y="309"/>
                      <a:pt x="608" y="309"/>
                    </a:cubicBezTo>
                    <a:cubicBezTo>
                      <a:pt x="609" y="309"/>
                      <a:pt x="609" y="309"/>
                      <a:pt x="609" y="309"/>
                    </a:cubicBezTo>
                    <a:cubicBezTo>
                      <a:pt x="616" y="288"/>
                      <a:pt x="624" y="271"/>
                      <a:pt x="631" y="256"/>
                    </a:cubicBezTo>
                    <a:cubicBezTo>
                      <a:pt x="639" y="241"/>
                      <a:pt x="646" y="229"/>
                      <a:pt x="651" y="221"/>
                    </a:cubicBezTo>
                    <a:cubicBezTo>
                      <a:pt x="654" y="217"/>
                      <a:pt x="656" y="214"/>
                      <a:pt x="657" y="212"/>
                    </a:cubicBezTo>
                    <a:cubicBezTo>
                      <a:pt x="659" y="210"/>
                      <a:pt x="660" y="209"/>
                      <a:pt x="660" y="209"/>
                    </a:cubicBezTo>
                    <a:cubicBezTo>
                      <a:pt x="660" y="209"/>
                      <a:pt x="660" y="209"/>
                      <a:pt x="660" y="209"/>
                    </a:cubicBezTo>
                    <a:cubicBezTo>
                      <a:pt x="660" y="209"/>
                      <a:pt x="660" y="209"/>
                      <a:pt x="660" y="209"/>
                    </a:cubicBezTo>
                    <a:cubicBezTo>
                      <a:pt x="659" y="209"/>
                      <a:pt x="659" y="209"/>
                      <a:pt x="659" y="209"/>
                    </a:cubicBezTo>
                    <a:cubicBezTo>
                      <a:pt x="659" y="208"/>
                      <a:pt x="659" y="208"/>
                      <a:pt x="659" y="208"/>
                    </a:cubicBezTo>
                    <a:cubicBezTo>
                      <a:pt x="660" y="208"/>
                      <a:pt x="660" y="208"/>
                      <a:pt x="660" y="208"/>
                    </a:cubicBezTo>
                    <a:cubicBezTo>
                      <a:pt x="670" y="174"/>
                      <a:pt x="682" y="151"/>
                      <a:pt x="692" y="135"/>
                    </a:cubicBezTo>
                    <a:cubicBezTo>
                      <a:pt x="696" y="127"/>
                      <a:pt x="701" y="121"/>
                      <a:pt x="704" y="118"/>
                    </a:cubicBezTo>
                    <a:cubicBezTo>
                      <a:pt x="705" y="116"/>
                      <a:pt x="706" y="114"/>
                      <a:pt x="707" y="114"/>
                    </a:cubicBezTo>
                    <a:cubicBezTo>
                      <a:pt x="708" y="113"/>
                      <a:pt x="708" y="112"/>
                      <a:pt x="708" y="112"/>
                    </a:cubicBezTo>
                    <a:cubicBezTo>
                      <a:pt x="708" y="112"/>
                      <a:pt x="708" y="112"/>
                      <a:pt x="708" y="112"/>
                    </a:cubicBezTo>
                    <a:cubicBezTo>
                      <a:pt x="707" y="112"/>
                      <a:pt x="707" y="112"/>
                      <a:pt x="707" y="112"/>
                    </a:cubicBezTo>
                    <a:cubicBezTo>
                      <a:pt x="707" y="111"/>
                      <a:pt x="707" y="111"/>
                      <a:pt x="707" y="111"/>
                    </a:cubicBezTo>
                    <a:cubicBezTo>
                      <a:pt x="709" y="111"/>
                      <a:pt x="709" y="111"/>
                      <a:pt x="709" y="111"/>
                    </a:cubicBezTo>
                    <a:cubicBezTo>
                      <a:pt x="710" y="111"/>
                      <a:pt x="710" y="111"/>
                      <a:pt x="710" y="111"/>
                    </a:cubicBezTo>
                    <a:cubicBezTo>
                      <a:pt x="687" y="110"/>
                      <a:pt x="687" y="110"/>
                      <a:pt x="687" y="110"/>
                    </a:cubicBezTo>
                    <a:cubicBezTo>
                      <a:pt x="687" y="110"/>
                      <a:pt x="687" y="110"/>
                      <a:pt x="688" y="109"/>
                    </a:cubicBezTo>
                    <a:cubicBezTo>
                      <a:pt x="689" y="107"/>
                      <a:pt x="691" y="105"/>
                      <a:pt x="694" y="102"/>
                    </a:cubicBezTo>
                    <a:cubicBezTo>
                      <a:pt x="698" y="96"/>
                      <a:pt x="704" y="89"/>
                      <a:pt x="712" y="81"/>
                    </a:cubicBezTo>
                    <a:cubicBezTo>
                      <a:pt x="712" y="81"/>
                      <a:pt x="712" y="81"/>
                      <a:pt x="712" y="81"/>
                    </a:cubicBezTo>
                    <a:cubicBezTo>
                      <a:pt x="712" y="80"/>
                      <a:pt x="712" y="80"/>
                      <a:pt x="712" y="80"/>
                    </a:cubicBezTo>
                    <a:cubicBezTo>
                      <a:pt x="713" y="80"/>
                      <a:pt x="713" y="80"/>
                      <a:pt x="713" y="80"/>
                    </a:cubicBezTo>
                    <a:cubicBezTo>
                      <a:pt x="721" y="72"/>
                      <a:pt x="731" y="63"/>
                      <a:pt x="743" y="55"/>
                    </a:cubicBezTo>
                    <a:cubicBezTo>
                      <a:pt x="758" y="43"/>
                      <a:pt x="775" y="33"/>
                      <a:pt x="795" y="24"/>
                    </a:cubicBezTo>
                    <a:cubicBezTo>
                      <a:pt x="820" y="13"/>
                      <a:pt x="849" y="5"/>
                      <a:pt x="881" y="5"/>
                    </a:cubicBezTo>
                    <a:cubicBezTo>
                      <a:pt x="885" y="5"/>
                      <a:pt x="890" y="6"/>
                      <a:pt x="894" y="6"/>
                    </a:cubicBezTo>
                    <a:cubicBezTo>
                      <a:pt x="894" y="6"/>
                      <a:pt x="894" y="6"/>
                      <a:pt x="894" y="6"/>
                    </a:cubicBezTo>
                    <a:cubicBezTo>
                      <a:pt x="894" y="6"/>
                      <a:pt x="894" y="6"/>
                      <a:pt x="894" y="6"/>
                    </a:cubicBezTo>
                    <a:cubicBezTo>
                      <a:pt x="894" y="6"/>
                      <a:pt x="896" y="6"/>
                      <a:pt x="900" y="6"/>
                    </a:cubicBezTo>
                    <a:cubicBezTo>
                      <a:pt x="918" y="6"/>
                      <a:pt x="971" y="7"/>
                      <a:pt x="1029" y="19"/>
                    </a:cubicBezTo>
                    <a:cubicBezTo>
                      <a:pt x="1083" y="31"/>
                      <a:pt x="1129" y="40"/>
                      <a:pt x="1203" y="73"/>
                    </a:cubicBezTo>
                    <a:cubicBezTo>
                      <a:pt x="1207" y="75"/>
                      <a:pt x="1210" y="76"/>
                      <a:pt x="1214" y="78"/>
                    </a:cubicBezTo>
                    <a:cubicBezTo>
                      <a:pt x="1217" y="80"/>
                      <a:pt x="1221" y="81"/>
                      <a:pt x="1225" y="83"/>
                    </a:cubicBezTo>
                    <a:cubicBezTo>
                      <a:pt x="1228" y="85"/>
                      <a:pt x="1232" y="87"/>
                      <a:pt x="1235" y="88"/>
                    </a:cubicBezTo>
                    <a:cubicBezTo>
                      <a:pt x="1245" y="93"/>
                      <a:pt x="1255" y="98"/>
                      <a:pt x="1266" y="104"/>
                    </a:cubicBezTo>
                    <a:cubicBezTo>
                      <a:pt x="1274" y="109"/>
                      <a:pt x="1283" y="113"/>
                      <a:pt x="1292" y="118"/>
                    </a:cubicBezTo>
                    <a:cubicBezTo>
                      <a:pt x="1292" y="118"/>
                      <a:pt x="1294" y="120"/>
                      <a:pt x="1299" y="122"/>
                    </a:cubicBezTo>
                    <a:cubicBezTo>
                      <a:pt x="1303" y="125"/>
                      <a:pt x="1309" y="129"/>
                      <a:pt x="1317" y="134"/>
                    </a:cubicBezTo>
                    <a:cubicBezTo>
                      <a:pt x="1318" y="135"/>
                      <a:pt x="1319" y="136"/>
                      <a:pt x="1321" y="137"/>
                    </a:cubicBezTo>
                    <a:cubicBezTo>
                      <a:pt x="1322" y="138"/>
                      <a:pt x="1324" y="139"/>
                      <a:pt x="1325" y="140"/>
                    </a:cubicBezTo>
                    <a:cubicBezTo>
                      <a:pt x="1349" y="156"/>
                      <a:pt x="1380" y="179"/>
                      <a:pt x="1404" y="207"/>
                    </a:cubicBezTo>
                    <a:cubicBezTo>
                      <a:pt x="1344" y="207"/>
                      <a:pt x="1344" y="207"/>
                      <a:pt x="1344" y="207"/>
                    </a:cubicBezTo>
                    <a:cubicBezTo>
                      <a:pt x="1344" y="207"/>
                      <a:pt x="1344" y="208"/>
                      <a:pt x="1345" y="208"/>
                    </a:cubicBezTo>
                    <a:cubicBezTo>
                      <a:pt x="1344" y="208"/>
                      <a:pt x="1344" y="208"/>
                      <a:pt x="1344" y="208"/>
                    </a:cubicBezTo>
                    <a:cubicBezTo>
                      <a:pt x="1344" y="209"/>
                      <a:pt x="1344" y="209"/>
                      <a:pt x="1344" y="209"/>
                    </a:cubicBezTo>
                    <a:cubicBezTo>
                      <a:pt x="1343" y="209"/>
                      <a:pt x="1343" y="209"/>
                      <a:pt x="1343" y="209"/>
                    </a:cubicBezTo>
                    <a:cubicBezTo>
                      <a:pt x="1344" y="209"/>
                      <a:pt x="1344" y="209"/>
                      <a:pt x="1344" y="209"/>
                    </a:cubicBezTo>
                    <a:cubicBezTo>
                      <a:pt x="1344" y="209"/>
                      <a:pt x="1345" y="210"/>
                      <a:pt x="1348" y="212"/>
                    </a:cubicBezTo>
                    <a:cubicBezTo>
                      <a:pt x="1362" y="224"/>
                      <a:pt x="1407" y="263"/>
                      <a:pt x="1440" y="309"/>
                    </a:cubicBezTo>
                    <a:cubicBezTo>
                      <a:pt x="1442" y="309"/>
                      <a:pt x="1442" y="309"/>
                      <a:pt x="1442" y="309"/>
                    </a:cubicBezTo>
                    <a:cubicBezTo>
                      <a:pt x="1442" y="310"/>
                      <a:pt x="1442" y="310"/>
                      <a:pt x="1442" y="310"/>
                    </a:cubicBezTo>
                    <a:cubicBezTo>
                      <a:pt x="1441" y="310"/>
                      <a:pt x="1441" y="310"/>
                      <a:pt x="1441" y="310"/>
                    </a:cubicBezTo>
                    <a:cubicBezTo>
                      <a:pt x="1444" y="314"/>
                      <a:pt x="1447" y="318"/>
                      <a:pt x="1450" y="323"/>
                    </a:cubicBezTo>
                    <a:cubicBezTo>
                      <a:pt x="1451" y="323"/>
                      <a:pt x="1451" y="323"/>
                      <a:pt x="1451" y="323"/>
                    </a:cubicBezTo>
                    <a:cubicBezTo>
                      <a:pt x="1451" y="324"/>
                      <a:pt x="1451" y="324"/>
                      <a:pt x="1451" y="324"/>
                    </a:cubicBezTo>
                    <a:cubicBezTo>
                      <a:pt x="1450" y="324"/>
                      <a:pt x="1450" y="324"/>
                      <a:pt x="1450" y="324"/>
                    </a:cubicBezTo>
                    <a:cubicBezTo>
                      <a:pt x="1459" y="338"/>
                      <a:pt x="1467" y="352"/>
                      <a:pt x="1472" y="367"/>
                    </a:cubicBezTo>
                    <a:cubicBezTo>
                      <a:pt x="1480" y="388"/>
                      <a:pt x="1485" y="407"/>
                      <a:pt x="1488" y="425"/>
                    </a:cubicBezTo>
                    <a:cubicBezTo>
                      <a:pt x="1489" y="425"/>
                      <a:pt x="1489" y="425"/>
                      <a:pt x="1489" y="425"/>
                    </a:cubicBezTo>
                    <a:cubicBezTo>
                      <a:pt x="1489" y="426"/>
                      <a:pt x="1489" y="426"/>
                      <a:pt x="1489" y="426"/>
                    </a:cubicBezTo>
                    <a:cubicBezTo>
                      <a:pt x="1488" y="426"/>
                      <a:pt x="1488" y="426"/>
                      <a:pt x="1488" y="426"/>
                    </a:cubicBezTo>
                    <a:cubicBezTo>
                      <a:pt x="1491" y="442"/>
                      <a:pt x="1492" y="458"/>
                      <a:pt x="1492" y="475"/>
                    </a:cubicBezTo>
                    <a:cubicBezTo>
                      <a:pt x="1492" y="498"/>
                      <a:pt x="1490" y="524"/>
                      <a:pt x="1485" y="556"/>
                    </a:cubicBezTo>
                    <a:cubicBezTo>
                      <a:pt x="1486" y="556"/>
                      <a:pt x="1486" y="556"/>
                      <a:pt x="1486" y="556"/>
                    </a:cubicBezTo>
                    <a:cubicBezTo>
                      <a:pt x="1486" y="557"/>
                      <a:pt x="1486" y="557"/>
                      <a:pt x="1486" y="557"/>
                    </a:cubicBezTo>
                    <a:cubicBezTo>
                      <a:pt x="1485" y="557"/>
                      <a:pt x="1485" y="557"/>
                      <a:pt x="1485" y="557"/>
                    </a:cubicBezTo>
                    <a:cubicBezTo>
                      <a:pt x="1483" y="574"/>
                      <a:pt x="1480" y="593"/>
                      <a:pt x="1477" y="614"/>
                    </a:cubicBezTo>
                    <a:cubicBezTo>
                      <a:pt x="1474" y="632"/>
                      <a:pt x="1470" y="650"/>
                      <a:pt x="1467" y="666"/>
                    </a:cubicBezTo>
                    <a:cubicBezTo>
                      <a:pt x="1468" y="666"/>
                      <a:pt x="1468" y="666"/>
                      <a:pt x="1468" y="666"/>
                    </a:cubicBezTo>
                    <a:cubicBezTo>
                      <a:pt x="1468" y="667"/>
                      <a:pt x="1468" y="667"/>
                      <a:pt x="1468" y="667"/>
                    </a:cubicBezTo>
                    <a:cubicBezTo>
                      <a:pt x="1467" y="667"/>
                      <a:pt x="1467" y="667"/>
                      <a:pt x="1467" y="667"/>
                    </a:cubicBezTo>
                    <a:cubicBezTo>
                      <a:pt x="1460" y="703"/>
                      <a:pt x="1453" y="732"/>
                      <a:pt x="1447" y="753"/>
                    </a:cubicBezTo>
                    <a:cubicBezTo>
                      <a:pt x="1447" y="753"/>
                      <a:pt x="1447" y="753"/>
                      <a:pt x="1447" y="753"/>
                    </a:cubicBezTo>
                    <a:cubicBezTo>
                      <a:pt x="1447" y="754"/>
                      <a:pt x="1447" y="754"/>
                      <a:pt x="1447" y="754"/>
                    </a:cubicBezTo>
                    <a:cubicBezTo>
                      <a:pt x="1446" y="754"/>
                      <a:pt x="1446" y="754"/>
                      <a:pt x="1446" y="754"/>
                    </a:cubicBezTo>
                    <a:cubicBezTo>
                      <a:pt x="1446" y="756"/>
                      <a:pt x="1445" y="759"/>
                      <a:pt x="1444" y="761"/>
                    </a:cubicBezTo>
                    <a:cubicBezTo>
                      <a:pt x="1440" y="777"/>
                      <a:pt x="1436" y="788"/>
                      <a:pt x="1433" y="796"/>
                    </a:cubicBezTo>
                    <a:cubicBezTo>
                      <a:pt x="1431" y="799"/>
                      <a:pt x="1430" y="802"/>
                      <a:pt x="1429" y="804"/>
                    </a:cubicBezTo>
                    <a:cubicBezTo>
                      <a:pt x="1429" y="806"/>
                      <a:pt x="1428" y="807"/>
                      <a:pt x="1428" y="807"/>
                    </a:cubicBezTo>
                    <a:cubicBezTo>
                      <a:pt x="1428" y="807"/>
                      <a:pt x="1428" y="807"/>
                      <a:pt x="1428" y="807"/>
                    </a:cubicBezTo>
                    <a:cubicBezTo>
                      <a:pt x="1428" y="807"/>
                      <a:pt x="1428" y="807"/>
                      <a:pt x="1428" y="807"/>
                    </a:cubicBezTo>
                    <a:cubicBezTo>
                      <a:pt x="1428" y="807"/>
                      <a:pt x="1428" y="808"/>
                      <a:pt x="1427" y="809"/>
                    </a:cubicBezTo>
                    <a:cubicBezTo>
                      <a:pt x="1425" y="814"/>
                      <a:pt x="1419" y="828"/>
                      <a:pt x="1411" y="840"/>
                    </a:cubicBezTo>
                    <a:cubicBezTo>
                      <a:pt x="1403" y="853"/>
                      <a:pt x="1392" y="864"/>
                      <a:pt x="1381" y="867"/>
                    </a:cubicBezTo>
                    <a:cubicBezTo>
                      <a:pt x="1374" y="869"/>
                      <a:pt x="1365" y="870"/>
                      <a:pt x="1355" y="870"/>
                    </a:cubicBezTo>
                    <a:cubicBezTo>
                      <a:pt x="1330" y="870"/>
                      <a:pt x="1296" y="860"/>
                      <a:pt x="1250" y="816"/>
                    </a:cubicBezTo>
                    <a:cubicBezTo>
                      <a:pt x="1243" y="809"/>
                      <a:pt x="1236" y="803"/>
                      <a:pt x="1230" y="797"/>
                    </a:cubicBezTo>
                    <a:cubicBezTo>
                      <a:pt x="1227" y="793"/>
                      <a:pt x="1224" y="790"/>
                      <a:pt x="1221" y="787"/>
                    </a:cubicBezTo>
                    <a:cubicBezTo>
                      <a:pt x="1219" y="787"/>
                      <a:pt x="1219" y="787"/>
                      <a:pt x="1219" y="787"/>
                    </a:cubicBezTo>
                    <a:cubicBezTo>
                      <a:pt x="1219" y="786"/>
                      <a:pt x="1219" y="786"/>
                      <a:pt x="1219" y="786"/>
                    </a:cubicBezTo>
                    <a:cubicBezTo>
                      <a:pt x="1220" y="786"/>
                      <a:pt x="1220" y="786"/>
                      <a:pt x="1220" y="786"/>
                    </a:cubicBezTo>
                    <a:cubicBezTo>
                      <a:pt x="1209" y="775"/>
                      <a:pt x="1199" y="765"/>
                      <a:pt x="1191" y="754"/>
                    </a:cubicBezTo>
                    <a:cubicBezTo>
                      <a:pt x="1189" y="754"/>
                      <a:pt x="1189" y="754"/>
                      <a:pt x="1189" y="754"/>
                    </a:cubicBezTo>
                    <a:cubicBezTo>
                      <a:pt x="1189" y="753"/>
                      <a:pt x="1189" y="753"/>
                      <a:pt x="1189" y="753"/>
                    </a:cubicBezTo>
                    <a:cubicBezTo>
                      <a:pt x="1190" y="753"/>
                      <a:pt x="1190" y="753"/>
                      <a:pt x="1190" y="753"/>
                    </a:cubicBezTo>
                    <a:cubicBezTo>
                      <a:pt x="1169" y="726"/>
                      <a:pt x="1154" y="700"/>
                      <a:pt x="1139" y="667"/>
                    </a:cubicBezTo>
                    <a:cubicBezTo>
                      <a:pt x="1138" y="667"/>
                      <a:pt x="1138" y="667"/>
                      <a:pt x="1138" y="667"/>
                    </a:cubicBezTo>
                    <a:cubicBezTo>
                      <a:pt x="1138" y="666"/>
                      <a:pt x="1138" y="666"/>
                      <a:pt x="1138" y="666"/>
                    </a:cubicBezTo>
                    <a:cubicBezTo>
                      <a:pt x="1139" y="666"/>
                      <a:pt x="1139" y="666"/>
                      <a:pt x="1139" y="666"/>
                    </a:cubicBezTo>
                    <a:cubicBezTo>
                      <a:pt x="1137" y="662"/>
                      <a:pt x="1135" y="658"/>
                      <a:pt x="1133" y="654"/>
                    </a:cubicBezTo>
                    <a:cubicBezTo>
                      <a:pt x="1124" y="632"/>
                      <a:pt x="1116" y="606"/>
                      <a:pt x="1110" y="579"/>
                    </a:cubicBezTo>
                    <a:cubicBezTo>
                      <a:pt x="1110" y="579"/>
                      <a:pt x="1110" y="579"/>
                      <a:pt x="1110" y="579"/>
                    </a:cubicBezTo>
                    <a:cubicBezTo>
                      <a:pt x="1110" y="578"/>
                      <a:pt x="1110" y="578"/>
                      <a:pt x="1110" y="578"/>
                    </a:cubicBezTo>
                    <a:cubicBezTo>
                      <a:pt x="1110" y="578"/>
                      <a:pt x="1110" y="578"/>
                      <a:pt x="1110" y="578"/>
                    </a:cubicBezTo>
                    <a:cubicBezTo>
                      <a:pt x="1108" y="571"/>
                      <a:pt x="1107" y="564"/>
                      <a:pt x="1105" y="557"/>
                    </a:cubicBezTo>
                    <a:cubicBezTo>
                      <a:pt x="1104" y="557"/>
                      <a:pt x="1104" y="557"/>
                      <a:pt x="1104" y="557"/>
                    </a:cubicBezTo>
                    <a:cubicBezTo>
                      <a:pt x="1104" y="556"/>
                      <a:pt x="1104" y="556"/>
                      <a:pt x="1104" y="556"/>
                    </a:cubicBezTo>
                    <a:cubicBezTo>
                      <a:pt x="1105" y="556"/>
                      <a:pt x="1105" y="556"/>
                      <a:pt x="1105" y="556"/>
                    </a:cubicBezTo>
                    <a:cubicBezTo>
                      <a:pt x="1102" y="544"/>
                      <a:pt x="1100" y="532"/>
                      <a:pt x="1098" y="521"/>
                    </a:cubicBezTo>
                    <a:cubicBezTo>
                      <a:pt x="1094" y="500"/>
                      <a:pt x="1091" y="481"/>
                      <a:pt x="1090" y="467"/>
                    </a:cubicBezTo>
                    <a:cubicBezTo>
                      <a:pt x="1089" y="461"/>
                      <a:pt x="1088" y="455"/>
                      <a:pt x="1087" y="452"/>
                    </a:cubicBezTo>
                    <a:cubicBezTo>
                      <a:pt x="1087" y="448"/>
                      <a:pt x="1087" y="446"/>
                      <a:pt x="1087" y="446"/>
                    </a:cubicBezTo>
                    <a:cubicBezTo>
                      <a:pt x="1086" y="446"/>
                      <a:pt x="1086" y="446"/>
                      <a:pt x="1086" y="446"/>
                    </a:cubicBezTo>
                    <a:cubicBezTo>
                      <a:pt x="1086" y="446"/>
                      <a:pt x="1086" y="446"/>
                      <a:pt x="1086" y="446"/>
                    </a:cubicBezTo>
                    <a:cubicBezTo>
                      <a:pt x="1085" y="446"/>
                      <a:pt x="1085" y="446"/>
                      <a:pt x="1085" y="446"/>
                    </a:cubicBezTo>
                    <a:cubicBezTo>
                      <a:pt x="1085" y="446"/>
                      <a:pt x="1085" y="446"/>
                      <a:pt x="1085" y="446"/>
                    </a:cubicBezTo>
                    <a:cubicBezTo>
                      <a:pt x="1085" y="446"/>
                      <a:pt x="1085" y="446"/>
                      <a:pt x="1085" y="446"/>
                    </a:cubicBezTo>
                    <a:cubicBezTo>
                      <a:pt x="1085" y="446"/>
                      <a:pt x="1085" y="447"/>
                      <a:pt x="1085" y="450"/>
                    </a:cubicBezTo>
                    <a:cubicBezTo>
                      <a:pt x="1083" y="463"/>
                      <a:pt x="1078" y="509"/>
                      <a:pt x="1065" y="556"/>
                    </a:cubicBezTo>
                    <a:cubicBezTo>
                      <a:pt x="1065" y="557"/>
                      <a:pt x="1065" y="557"/>
                      <a:pt x="1065" y="557"/>
                    </a:cubicBezTo>
                    <a:cubicBezTo>
                      <a:pt x="1064" y="557"/>
                      <a:pt x="1064" y="557"/>
                      <a:pt x="1064" y="557"/>
                    </a:cubicBezTo>
                    <a:cubicBezTo>
                      <a:pt x="1062" y="564"/>
                      <a:pt x="1060" y="571"/>
                      <a:pt x="1058" y="578"/>
                    </a:cubicBezTo>
                    <a:cubicBezTo>
                      <a:pt x="1058" y="578"/>
                      <a:pt x="1058" y="578"/>
                      <a:pt x="1058" y="578"/>
                    </a:cubicBezTo>
                    <a:cubicBezTo>
                      <a:pt x="1058" y="579"/>
                      <a:pt x="1058" y="579"/>
                      <a:pt x="1058" y="579"/>
                    </a:cubicBezTo>
                    <a:cubicBezTo>
                      <a:pt x="1057" y="579"/>
                      <a:pt x="1057" y="579"/>
                      <a:pt x="1057" y="579"/>
                    </a:cubicBezTo>
                    <a:cubicBezTo>
                      <a:pt x="1057" y="579"/>
                      <a:pt x="1057" y="579"/>
                      <a:pt x="1057" y="579"/>
                    </a:cubicBezTo>
                    <a:cubicBezTo>
                      <a:pt x="1055" y="585"/>
                      <a:pt x="1053" y="591"/>
                      <a:pt x="1050" y="597"/>
                    </a:cubicBezTo>
                    <a:cubicBezTo>
                      <a:pt x="1050" y="597"/>
                      <a:pt x="1050" y="597"/>
                      <a:pt x="1050" y="597"/>
                    </a:cubicBezTo>
                    <a:cubicBezTo>
                      <a:pt x="1050" y="597"/>
                      <a:pt x="1050" y="597"/>
                      <a:pt x="1050" y="597"/>
                    </a:cubicBezTo>
                    <a:cubicBezTo>
                      <a:pt x="1050" y="597"/>
                      <a:pt x="1050" y="599"/>
                      <a:pt x="1049" y="601"/>
                    </a:cubicBezTo>
                    <a:cubicBezTo>
                      <a:pt x="1045" y="611"/>
                      <a:pt x="1036" y="636"/>
                      <a:pt x="1023" y="666"/>
                    </a:cubicBezTo>
                    <a:cubicBezTo>
                      <a:pt x="1024" y="666"/>
                      <a:pt x="1024" y="666"/>
                      <a:pt x="1024" y="666"/>
                    </a:cubicBezTo>
                    <a:cubicBezTo>
                      <a:pt x="1024" y="667"/>
                      <a:pt x="1024" y="667"/>
                      <a:pt x="1024" y="667"/>
                    </a:cubicBezTo>
                    <a:cubicBezTo>
                      <a:pt x="1023" y="667"/>
                      <a:pt x="1023" y="667"/>
                      <a:pt x="1023" y="667"/>
                    </a:cubicBezTo>
                    <a:cubicBezTo>
                      <a:pt x="1011" y="694"/>
                      <a:pt x="996" y="725"/>
                      <a:pt x="981" y="751"/>
                    </a:cubicBezTo>
                    <a:cubicBezTo>
                      <a:pt x="980" y="751"/>
                      <a:pt x="980" y="752"/>
                      <a:pt x="979" y="753"/>
                    </a:cubicBezTo>
                    <a:cubicBezTo>
                      <a:pt x="980" y="753"/>
                      <a:pt x="980" y="753"/>
                      <a:pt x="980" y="753"/>
                    </a:cubicBezTo>
                    <a:cubicBezTo>
                      <a:pt x="980" y="754"/>
                      <a:pt x="980" y="754"/>
                      <a:pt x="980" y="754"/>
                    </a:cubicBezTo>
                    <a:cubicBezTo>
                      <a:pt x="979" y="754"/>
                      <a:pt x="979" y="754"/>
                      <a:pt x="979" y="754"/>
                    </a:cubicBezTo>
                    <a:cubicBezTo>
                      <a:pt x="971" y="766"/>
                      <a:pt x="965" y="777"/>
                      <a:pt x="958" y="786"/>
                    </a:cubicBezTo>
                    <a:cubicBezTo>
                      <a:pt x="959" y="786"/>
                      <a:pt x="959" y="786"/>
                      <a:pt x="959" y="786"/>
                    </a:cubicBezTo>
                    <a:cubicBezTo>
                      <a:pt x="959" y="787"/>
                      <a:pt x="959" y="787"/>
                      <a:pt x="959" y="787"/>
                    </a:cubicBezTo>
                    <a:cubicBezTo>
                      <a:pt x="958" y="787"/>
                      <a:pt x="958" y="787"/>
                      <a:pt x="958" y="787"/>
                    </a:cubicBezTo>
                    <a:cubicBezTo>
                      <a:pt x="953" y="795"/>
                      <a:pt x="948" y="802"/>
                      <a:pt x="944" y="808"/>
                    </a:cubicBezTo>
                    <a:cubicBezTo>
                      <a:pt x="932" y="824"/>
                      <a:pt x="920" y="837"/>
                      <a:pt x="898" y="850"/>
                    </a:cubicBezTo>
                    <a:cubicBezTo>
                      <a:pt x="886" y="858"/>
                      <a:pt x="878" y="862"/>
                      <a:pt x="871" y="865"/>
                    </a:cubicBezTo>
                    <a:cubicBezTo>
                      <a:pt x="864" y="868"/>
                      <a:pt x="859" y="869"/>
                      <a:pt x="854" y="869"/>
                    </a:cubicBezTo>
                    <a:cubicBezTo>
                      <a:pt x="854" y="869"/>
                      <a:pt x="854" y="869"/>
                      <a:pt x="854" y="869"/>
                    </a:cubicBezTo>
                    <a:cubicBezTo>
                      <a:pt x="848" y="869"/>
                      <a:pt x="841" y="867"/>
                      <a:pt x="829" y="865"/>
                    </a:cubicBezTo>
                    <a:cubicBezTo>
                      <a:pt x="804" y="860"/>
                      <a:pt x="786" y="846"/>
                      <a:pt x="769" y="821"/>
                    </a:cubicBezTo>
                    <a:cubicBezTo>
                      <a:pt x="767" y="818"/>
                      <a:pt x="765" y="815"/>
                      <a:pt x="763" y="813"/>
                    </a:cubicBezTo>
                    <a:cubicBezTo>
                      <a:pt x="759" y="805"/>
                      <a:pt x="754" y="797"/>
                      <a:pt x="749" y="787"/>
                    </a:cubicBezTo>
                    <a:cubicBezTo>
                      <a:pt x="748" y="787"/>
                      <a:pt x="748" y="787"/>
                      <a:pt x="748" y="787"/>
                    </a:cubicBezTo>
                    <a:cubicBezTo>
                      <a:pt x="748" y="786"/>
                      <a:pt x="748" y="786"/>
                      <a:pt x="748" y="786"/>
                    </a:cubicBezTo>
                    <a:cubicBezTo>
                      <a:pt x="748" y="786"/>
                      <a:pt x="748" y="786"/>
                      <a:pt x="748" y="786"/>
                    </a:cubicBezTo>
                    <a:cubicBezTo>
                      <a:pt x="743" y="777"/>
                      <a:pt x="739" y="766"/>
                      <a:pt x="734" y="754"/>
                    </a:cubicBezTo>
                    <a:cubicBezTo>
                      <a:pt x="733" y="754"/>
                      <a:pt x="733" y="754"/>
                      <a:pt x="733" y="754"/>
                    </a:cubicBezTo>
                    <a:cubicBezTo>
                      <a:pt x="733" y="753"/>
                      <a:pt x="733" y="753"/>
                      <a:pt x="733" y="753"/>
                    </a:cubicBezTo>
                    <a:cubicBezTo>
                      <a:pt x="734" y="753"/>
                      <a:pt x="734" y="753"/>
                      <a:pt x="734" y="753"/>
                    </a:cubicBezTo>
                    <a:cubicBezTo>
                      <a:pt x="724" y="728"/>
                      <a:pt x="716" y="699"/>
                      <a:pt x="713" y="667"/>
                    </a:cubicBezTo>
                    <a:cubicBezTo>
                      <a:pt x="712" y="667"/>
                      <a:pt x="712" y="667"/>
                      <a:pt x="712" y="667"/>
                    </a:cubicBezTo>
                    <a:cubicBezTo>
                      <a:pt x="712" y="666"/>
                      <a:pt x="712" y="666"/>
                      <a:pt x="712" y="666"/>
                    </a:cubicBezTo>
                    <a:cubicBezTo>
                      <a:pt x="713" y="666"/>
                      <a:pt x="713" y="666"/>
                      <a:pt x="713" y="666"/>
                    </a:cubicBezTo>
                    <a:cubicBezTo>
                      <a:pt x="713" y="666"/>
                      <a:pt x="712" y="666"/>
                      <a:pt x="712" y="665"/>
                    </a:cubicBezTo>
                    <a:cubicBezTo>
                      <a:pt x="710" y="662"/>
                      <a:pt x="695" y="638"/>
                      <a:pt x="684" y="579"/>
                    </a:cubicBezTo>
                    <a:cubicBezTo>
                      <a:pt x="683" y="579"/>
                      <a:pt x="683" y="579"/>
                      <a:pt x="683" y="579"/>
                    </a:cubicBezTo>
                    <a:cubicBezTo>
                      <a:pt x="683" y="578"/>
                      <a:pt x="683" y="578"/>
                      <a:pt x="683" y="578"/>
                    </a:cubicBezTo>
                    <a:cubicBezTo>
                      <a:pt x="684" y="578"/>
                      <a:pt x="684" y="578"/>
                      <a:pt x="684" y="578"/>
                    </a:cubicBezTo>
                    <a:cubicBezTo>
                      <a:pt x="682" y="571"/>
                      <a:pt x="681" y="565"/>
                      <a:pt x="680" y="557"/>
                    </a:cubicBezTo>
                    <a:cubicBezTo>
                      <a:pt x="679" y="557"/>
                      <a:pt x="679" y="557"/>
                      <a:pt x="679" y="557"/>
                    </a:cubicBezTo>
                    <a:cubicBezTo>
                      <a:pt x="679" y="556"/>
                      <a:pt x="679" y="556"/>
                      <a:pt x="679" y="556"/>
                    </a:cubicBezTo>
                    <a:cubicBezTo>
                      <a:pt x="680" y="556"/>
                      <a:pt x="680" y="556"/>
                      <a:pt x="680" y="556"/>
                    </a:cubicBezTo>
                    <a:cubicBezTo>
                      <a:pt x="676" y="530"/>
                      <a:pt x="673" y="497"/>
                      <a:pt x="671" y="459"/>
                    </a:cubicBezTo>
                    <a:cubicBezTo>
                      <a:pt x="671" y="458"/>
                      <a:pt x="671" y="458"/>
                      <a:pt x="671" y="458"/>
                    </a:cubicBezTo>
                    <a:cubicBezTo>
                      <a:pt x="671" y="458"/>
                      <a:pt x="671" y="458"/>
                      <a:pt x="671" y="458"/>
                    </a:cubicBezTo>
                    <a:cubicBezTo>
                      <a:pt x="671" y="458"/>
                      <a:pt x="671" y="458"/>
                      <a:pt x="671" y="458"/>
                    </a:cubicBezTo>
                    <a:cubicBezTo>
                      <a:pt x="670" y="458"/>
                      <a:pt x="670" y="458"/>
                      <a:pt x="670" y="458"/>
                    </a:cubicBezTo>
                    <a:cubicBezTo>
                      <a:pt x="669" y="458"/>
                      <a:pt x="669" y="458"/>
                      <a:pt x="669" y="458"/>
                    </a:cubicBezTo>
                    <a:cubicBezTo>
                      <a:pt x="669" y="459"/>
                      <a:pt x="669" y="459"/>
                      <a:pt x="669" y="459"/>
                    </a:cubicBezTo>
                    <a:cubicBezTo>
                      <a:pt x="669" y="467"/>
                      <a:pt x="668" y="505"/>
                      <a:pt x="658" y="556"/>
                    </a:cubicBezTo>
                    <a:cubicBezTo>
                      <a:pt x="659" y="556"/>
                      <a:pt x="659" y="556"/>
                      <a:pt x="659" y="556"/>
                    </a:cubicBezTo>
                    <a:cubicBezTo>
                      <a:pt x="659" y="557"/>
                      <a:pt x="659" y="557"/>
                      <a:pt x="659" y="557"/>
                    </a:cubicBezTo>
                    <a:cubicBezTo>
                      <a:pt x="658" y="557"/>
                      <a:pt x="658" y="557"/>
                      <a:pt x="658" y="557"/>
                    </a:cubicBezTo>
                    <a:cubicBezTo>
                      <a:pt x="652" y="590"/>
                      <a:pt x="642" y="627"/>
                      <a:pt x="625" y="666"/>
                    </a:cubicBezTo>
                    <a:cubicBezTo>
                      <a:pt x="626" y="666"/>
                      <a:pt x="626" y="666"/>
                      <a:pt x="626" y="666"/>
                    </a:cubicBezTo>
                    <a:cubicBezTo>
                      <a:pt x="626" y="667"/>
                      <a:pt x="626" y="667"/>
                      <a:pt x="626" y="667"/>
                    </a:cubicBezTo>
                    <a:cubicBezTo>
                      <a:pt x="625" y="667"/>
                      <a:pt x="625" y="667"/>
                      <a:pt x="625" y="667"/>
                    </a:cubicBezTo>
                    <a:cubicBezTo>
                      <a:pt x="625" y="668"/>
                      <a:pt x="625" y="668"/>
                      <a:pt x="625" y="668"/>
                    </a:cubicBezTo>
                    <a:cubicBezTo>
                      <a:pt x="624" y="676"/>
                      <a:pt x="619" y="708"/>
                      <a:pt x="598" y="753"/>
                    </a:cubicBezTo>
                    <a:cubicBezTo>
                      <a:pt x="599" y="753"/>
                      <a:pt x="599" y="753"/>
                      <a:pt x="599" y="753"/>
                    </a:cubicBezTo>
                    <a:cubicBezTo>
                      <a:pt x="599" y="754"/>
                      <a:pt x="599" y="754"/>
                      <a:pt x="599" y="754"/>
                    </a:cubicBezTo>
                    <a:cubicBezTo>
                      <a:pt x="598" y="754"/>
                      <a:pt x="598" y="754"/>
                      <a:pt x="598" y="754"/>
                    </a:cubicBezTo>
                    <a:cubicBezTo>
                      <a:pt x="595" y="761"/>
                      <a:pt x="592" y="768"/>
                      <a:pt x="588" y="776"/>
                    </a:cubicBezTo>
                    <a:cubicBezTo>
                      <a:pt x="588" y="776"/>
                      <a:pt x="588" y="776"/>
                      <a:pt x="588" y="776"/>
                    </a:cubicBezTo>
                    <a:cubicBezTo>
                      <a:pt x="584" y="786"/>
                      <a:pt x="584" y="786"/>
                      <a:pt x="584" y="786"/>
                    </a:cubicBezTo>
                    <a:cubicBezTo>
                      <a:pt x="584" y="786"/>
                      <a:pt x="584" y="786"/>
                      <a:pt x="584" y="786"/>
                    </a:cubicBezTo>
                    <a:cubicBezTo>
                      <a:pt x="584" y="786"/>
                      <a:pt x="584" y="786"/>
                      <a:pt x="584" y="786"/>
                    </a:cubicBezTo>
                    <a:cubicBezTo>
                      <a:pt x="584" y="786"/>
                      <a:pt x="584" y="786"/>
                      <a:pt x="584" y="786"/>
                    </a:cubicBezTo>
                    <a:cubicBezTo>
                      <a:pt x="584" y="787"/>
                      <a:pt x="584" y="787"/>
                      <a:pt x="584" y="787"/>
                    </a:cubicBezTo>
                    <a:cubicBezTo>
                      <a:pt x="583" y="787"/>
                      <a:pt x="583" y="787"/>
                      <a:pt x="583" y="787"/>
                    </a:cubicBezTo>
                    <a:cubicBezTo>
                      <a:pt x="580" y="798"/>
                      <a:pt x="576" y="804"/>
                      <a:pt x="570" y="815"/>
                    </a:cubicBezTo>
                    <a:cubicBezTo>
                      <a:pt x="562" y="826"/>
                      <a:pt x="554" y="837"/>
                      <a:pt x="549" y="843"/>
                    </a:cubicBezTo>
                    <a:cubicBezTo>
                      <a:pt x="546" y="847"/>
                      <a:pt x="541" y="851"/>
                      <a:pt x="536" y="854"/>
                    </a:cubicBezTo>
                    <a:cubicBezTo>
                      <a:pt x="528" y="859"/>
                      <a:pt x="518" y="863"/>
                      <a:pt x="506" y="863"/>
                    </a:cubicBezTo>
                    <a:cubicBezTo>
                      <a:pt x="505" y="863"/>
                      <a:pt x="504" y="863"/>
                      <a:pt x="503" y="863"/>
                    </a:cubicBezTo>
                    <a:cubicBezTo>
                      <a:pt x="502" y="863"/>
                      <a:pt x="502" y="863"/>
                      <a:pt x="502" y="863"/>
                    </a:cubicBezTo>
                    <a:cubicBezTo>
                      <a:pt x="491" y="863"/>
                      <a:pt x="481" y="859"/>
                      <a:pt x="475" y="854"/>
                    </a:cubicBezTo>
                    <a:cubicBezTo>
                      <a:pt x="472" y="852"/>
                      <a:pt x="469" y="850"/>
                      <a:pt x="468" y="849"/>
                    </a:cubicBezTo>
                    <a:cubicBezTo>
                      <a:pt x="467" y="848"/>
                      <a:pt x="466" y="847"/>
                      <a:pt x="466" y="847"/>
                    </a:cubicBezTo>
                    <a:cubicBezTo>
                      <a:pt x="465" y="846"/>
                      <a:pt x="465" y="846"/>
                      <a:pt x="465" y="846"/>
                    </a:cubicBezTo>
                    <a:cubicBezTo>
                      <a:pt x="465" y="846"/>
                      <a:pt x="465" y="846"/>
                      <a:pt x="465" y="846"/>
                    </a:cubicBezTo>
                    <a:cubicBezTo>
                      <a:pt x="465" y="846"/>
                      <a:pt x="465" y="846"/>
                      <a:pt x="465" y="846"/>
                    </a:cubicBezTo>
                    <a:cubicBezTo>
                      <a:pt x="450" y="834"/>
                      <a:pt x="437" y="818"/>
                      <a:pt x="427" y="803"/>
                    </a:cubicBezTo>
                    <a:cubicBezTo>
                      <a:pt x="424" y="798"/>
                      <a:pt x="421" y="792"/>
                      <a:pt x="418" y="787"/>
                    </a:cubicBezTo>
                    <a:cubicBezTo>
                      <a:pt x="417" y="787"/>
                      <a:pt x="417" y="787"/>
                      <a:pt x="417" y="787"/>
                    </a:cubicBezTo>
                    <a:cubicBezTo>
                      <a:pt x="417" y="786"/>
                      <a:pt x="417" y="786"/>
                      <a:pt x="417" y="786"/>
                    </a:cubicBezTo>
                    <a:cubicBezTo>
                      <a:pt x="417" y="786"/>
                      <a:pt x="417" y="786"/>
                      <a:pt x="417" y="786"/>
                    </a:cubicBezTo>
                    <a:cubicBezTo>
                      <a:pt x="414" y="781"/>
                      <a:pt x="412" y="776"/>
                      <a:pt x="410" y="772"/>
                    </a:cubicBezTo>
                    <a:cubicBezTo>
                      <a:pt x="408" y="768"/>
                      <a:pt x="407" y="764"/>
                      <a:pt x="406" y="762"/>
                    </a:cubicBezTo>
                    <a:cubicBezTo>
                      <a:pt x="405" y="759"/>
                      <a:pt x="404" y="758"/>
                      <a:pt x="404" y="758"/>
                    </a:cubicBezTo>
                    <a:cubicBezTo>
                      <a:pt x="404" y="758"/>
                      <a:pt x="404" y="757"/>
                      <a:pt x="403" y="754"/>
                    </a:cubicBezTo>
                    <a:cubicBezTo>
                      <a:pt x="402" y="754"/>
                      <a:pt x="402" y="754"/>
                      <a:pt x="402" y="754"/>
                    </a:cubicBezTo>
                    <a:cubicBezTo>
                      <a:pt x="402" y="753"/>
                      <a:pt x="402" y="753"/>
                      <a:pt x="402" y="753"/>
                    </a:cubicBezTo>
                    <a:cubicBezTo>
                      <a:pt x="403" y="753"/>
                      <a:pt x="403" y="753"/>
                      <a:pt x="403" y="753"/>
                    </a:cubicBezTo>
                    <a:cubicBezTo>
                      <a:pt x="402" y="752"/>
                      <a:pt x="402" y="752"/>
                      <a:pt x="402" y="751"/>
                    </a:cubicBezTo>
                    <a:cubicBezTo>
                      <a:pt x="397" y="737"/>
                      <a:pt x="387" y="704"/>
                      <a:pt x="383" y="667"/>
                    </a:cubicBezTo>
                    <a:cubicBezTo>
                      <a:pt x="382" y="667"/>
                      <a:pt x="382" y="667"/>
                      <a:pt x="382" y="667"/>
                    </a:cubicBezTo>
                    <a:cubicBezTo>
                      <a:pt x="382" y="666"/>
                      <a:pt x="382" y="666"/>
                      <a:pt x="382" y="666"/>
                    </a:cubicBezTo>
                    <a:cubicBezTo>
                      <a:pt x="382" y="666"/>
                      <a:pt x="382" y="666"/>
                      <a:pt x="382" y="666"/>
                    </a:cubicBezTo>
                    <a:cubicBezTo>
                      <a:pt x="382" y="666"/>
                      <a:pt x="382" y="665"/>
                      <a:pt x="381" y="663"/>
                    </a:cubicBezTo>
                    <a:cubicBezTo>
                      <a:pt x="377" y="653"/>
                      <a:pt x="363" y="619"/>
                      <a:pt x="355" y="579"/>
                    </a:cubicBezTo>
                    <a:cubicBezTo>
                      <a:pt x="353" y="579"/>
                      <a:pt x="353" y="579"/>
                      <a:pt x="353" y="579"/>
                    </a:cubicBezTo>
                    <a:cubicBezTo>
                      <a:pt x="353" y="578"/>
                      <a:pt x="353" y="578"/>
                      <a:pt x="353" y="578"/>
                    </a:cubicBezTo>
                    <a:cubicBezTo>
                      <a:pt x="354" y="578"/>
                      <a:pt x="354" y="578"/>
                      <a:pt x="354" y="578"/>
                    </a:cubicBezTo>
                    <a:cubicBezTo>
                      <a:pt x="353" y="571"/>
                      <a:pt x="351" y="564"/>
                      <a:pt x="350" y="557"/>
                    </a:cubicBezTo>
                    <a:cubicBezTo>
                      <a:pt x="349" y="557"/>
                      <a:pt x="349" y="557"/>
                      <a:pt x="349" y="557"/>
                    </a:cubicBezTo>
                    <a:cubicBezTo>
                      <a:pt x="349" y="556"/>
                      <a:pt x="349" y="556"/>
                      <a:pt x="349" y="556"/>
                    </a:cubicBezTo>
                    <a:cubicBezTo>
                      <a:pt x="350" y="556"/>
                      <a:pt x="350" y="556"/>
                      <a:pt x="350" y="556"/>
                    </a:cubicBezTo>
                    <a:cubicBezTo>
                      <a:pt x="350" y="552"/>
                      <a:pt x="349" y="548"/>
                      <a:pt x="349" y="543"/>
                    </a:cubicBezTo>
                    <a:cubicBezTo>
                      <a:pt x="345" y="513"/>
                      <a:pt x="343" y="486"/>
                      <a:pt x="342" y="466"/>
                    </a:cubicBezTo>
                    <a:cubicBezTo>
                      <a:pt x="341" y="457"/>
                      <a:pt x="340" y="449"/>
                      <a:pt x="340" y="443"/>
                    </a:cubicBezTo>
                    <a:cubicBezTo>
                      <a:pt x="339" y="438"/>
                      <a:pt x="339" y="435"/>
                      <a:pt x="339" y="435"/>
                    </a:cubicBezTo>
                    <a:cubicBezTo>
                      <a:pt x="339" y="435"/>
                      <a:pt x="339" y="435"/>
                      <a:pt x="339" y="435"/>
                    </a:cubicBezTo>
                    <a:cubicBezTo>
                      <a:pt x="339" y="435"/>
                      <a:pt x="339" y="435"/>
                      <a:pt x="339" y="435"/>
                    </a:cubicBezTo>
                    <a:cubicBezTo>
                      <a:pt x="338" y="435"/>
                      <a:pt x="338" y="435"/>
                      <a:pt x="338" y="435"/>
                    </a:cubicBezTo>
                    <a:cubicBezTo>
                      <a:pt x="338" y="435"/>
                      <a:pt x="338" y="435"/>
                      <a:pt x="338" y="435"/>
                    </a:cubicBezTo>
                    <a:cubicBezTo>
                      <a:pt x="337" y="435"/>
                      <a:pt x="337" y="435"/>
                      <a:pt x="337" y="435"/>
                    </a:cubicBezTo>
                    <a:cubicBezTo>
                      <a:pt x="337" y="435"/>
                      <a:pt x="337" y="440"/>
                      <a:pt x="336" y="449"/>
                    </a:cubicBezTo>
                    <a:cubicBezTo>
                      <a:pt x="335" y="473"/>
                      <a:pt x="330" y="524"/>
                      <a:pt x="319" y="556"/>
                    </a:cubicBezTo>
                    <a:cubicBezTo>
                      <a:pt x="319" y="556"/>
                      <a:pt x="319" y="556"/>
                      <a:pt x="319" y="556"/>
                    </a:cubicBezTo>
                    <a:cubicBezTo>
                      <a:pt x="319" y="557"/>
                      <a:pt x="319" y="557"/>
                      <a:pt x="319" y="557"/>
                    </a:cubicBezTo>
                    <a:cubicBezTo>
                      <a:pt x="318" y="557"/>
                      <a:pt x="318" y="557"/>
                      <a:pt x="318" y="557"/>
                    </a:cubicBezTo>
                    <a:cubicBezTo>
                      <a:pt x="318" y="559"/>
                      <a:pt x="317" y="561"/>
                      <a:pt x="316" y="562"/>
                    </a:cubicBezTo>
                    <a:cubicBezTo>
                      <a:pt x="308" y="583"/>
                      <a:pt x="296" y="609"/>
                      <a:pt x="287" y="630"/>
                    </a:cubicBezTo>
                    <a:cubicBezTo>
                      <a:pt x="282" y="640"/>
                      <a:pt x="278" y="649"/>
                      <a:pt x="275" y="656"/>
                    </a:cubicBezTo>
                    <a:cubicBezTo>
                      <a:pt x="273" y="662"/>
                      <a:pt x="271" y="666"/>
                      <a:pt x="271" y="666"/>
                    </a:cubicBezTo>
                    <a:cubicBezTo>
                      <a:pt x="272" y="666"/>
                      <a:pt x="272" y="666"/>
                      <a:pt x="272" y="666"/>
                    </a:cubicBezTo>
                    <a:cubicBezTo>
                      <a:pt x="272" y="667"/>
                      <a:pt x="272" y="667"/>
                      <a:pt x="272" y="667"/>
                    </a:cubicBezTo>
                    <a:cubicBezTo>
                      <a:pt x="270" y="667"/>
                      <a:pt x="270" y="667"/>
                      <a:pt x="270" y="667"/>
                    </a:cubicBezTo>
                    <a:cubicBezTo>
                      <a:pt x="270" y="668"/>
                      <a:pt x="270" y="668"/>
                      <a:pt x="270" y="668"/>
                    </a:cubicBezTo>
                    <a:cubicBezTo>
                      <a:pt x="268" y="677"/>
                      <a:pt x="259" y="712"/>
                      <a:pt x="234" y="753"/>
                    </a:cubicBezTo>
                    <a:cubicBezTo>
                      <a:pt x="235" y="753"/>
                      <a:pt x="235" y="753"/>
                      <a:pt x="235" y="753"/>
                    </a:cubicBezTo>
                    <a:cubicBezTo>
                      <a:pt x="235" y="754"/>
                      <a:pt x="235" y="754"/>
                      <a:pt x="235" y="754"/>
                    </a:cubicBezTo>
                    <a:cubicBezTo>
                      <a:pt x="234" y="754"/>
                      <a:pt x="234" y="754"/>
                      <a:pt x="234" y="754"/>
                    </a:cubicBezTo>
                    <a:cubicBezTo>
                      <a:pt x="232" y="757"/>
                      <a:pt x="230" y="759"/>
                      <a:pt x="229" y="762"/>
                    </a:cubicBezTo>
                    <a:cubicBezTo>
                      <a:pt x="223" y="771"/>
                      <a:pt x="218" y="778"/>
                      <a:pt x="214" y="785"/>
                    </a:cubicBezTo>
                    <a:cubicBezTo>
                      <a:pt x="214" y="785"/>
                      <a:pt x="214" y="785"/>
                      <a:pt x="214" y="785"/>
                    </a:cubicBezTo>
                    <a:cubicBezTo>
                      <a:pt x="214" y="785"/>
                      <a:pt x="214" y="785"/>
                      <a:pt x="214" y="785"/>
                    </a:cubicBezTo>
                    <a:cubicBezTo>
                      <a:pt x="214" y="785"/>
                      <a:pt x="214" y="785"/>
                      <a:pt x="214" y="785"/>
                    </a:cubicBezTo>
                    <a:cubicBezTo>
                      <a:pt x="210" y="791"/>
                      <a:pt x="206" y="796"/>
                      <a:pt x="203" y="800"/>
                    </a:cubicBezTo>
                    <a:cubicBezTo>
                      <a:pt x="189" y="821"/>
                      <a:pt x="181" y="828"/>
                      <a:pt x="170" y="836"/>
                    </a:cubicBezTo>
                    <a:cubicBezTo>
                      <a:pt x="162" y="841"/>
                      <a:pt x="150" y="849"/>
                      <a:pt x="136" y="854"/>
                    </a:cubicBezTo>
                    <a:cubicBezTo>
                      <a:pt x="127" y="857"/>
                      <a:pt x="117" y="860"/>
                      <a:pt x="108" y="860"/>
                    </a:cubicBezTo>
                    <a:cubicBezTo>
                      <a:pt x="104" y="860"/>
                      <a:pt x="100" y="859"/>
                      <a:pt x="96" y="858"/>
                    </a:cubicBezTo>
                    <a:cubicBezTo>
                      <a:pt x="83" y="855"/>
                      <a:pt x="72" y="844"/>
                      <a:pt x="64" y="830"/>
                    </a:cubicBezTo>
                    <a:cubicBezTo>
                      <a:pt x="55" y="816"/>
                      <a:pt x="50" y="799"/>
                      <a:pt x="47" y="785"/>
                    </a:cubicBezTo>
                    <a:cubicBezTo>
                      <a:pt x="46" y="785"/>
                      <a:pt x="46" y="785"/>
                      <a:pt x="46" y="785"/>
                    </a:cubicBezTo>
                    <a:cubicBezTo>
                      <a:pt x="46" y="785"/>
                      <a:pt x="46" y="785"/>
                      <a:pt x="46" y="785"/>
                    </a:cubicBezTo>
                    <a:cubicBezTo>
                      <a:pt x="47" y="785"/>
                      <a:pt x="47" y="785"/>
                      <a:pt x="47" y="785"/>
                    </a:cubicBezTo>
                    <a:cubicBezTo>
                      <a:pt x="47" y="784"/>
                      <a:pt x="47" y="784"/>
                      <a:pt x="47" y="784"/>
                    </a:cubicBezTo>
                    <a:cubicBezTo>
                      <a:pt x="46" y="784"/>
                      <a:pt x="46" y="784"/>
                      <a:pt x="46" y="784"/>
                    </a:cubicBezTo>
                    <a:cubicBezTo>
                      <a:pt x="46" y="784"/>
                      <a:pt x="42" y="780"/>
                      <a:pt x="38" y="764"/>
                    </a:cubicBezTo>
                    <a:cubicBezTo>
                      <a:pt x="38" y="761"/>
                      <a:pt x="37" y="758"/>
                      <a:pt x="36" y="754"/>
                    </a:cubicBezTo>
                    <a:cubicBezTo>
                      <a:pt x="36" y="754"/>
                      <a:pt x="36" y="754"/>
                      <a:pt x="36" y="754"/>
                    </a:cubicBezTo>
                    <a:cubicBezTo>
                      <a:pt x="36" y="753"/>
                      <a:pt x="36" y="753"/>
                      <a:pt x="36" y="753"/>
                    </a:cubicBezTo>
                    <a:cubicBezTo>
                      <a:pt x="36" y="753"/>
                      <a:pt x="36" y="753"/>
                      <a:pt x="36" y="753"/>
                    </a:cubicBezTo>
                    <a:cubicBezTo>
                      <a:pt x="33" y="736"/>
                      <a:pt x="30" y="709"/>
                      <a:pt x="28" y="667"/>
                    </a:cubicBezTo>
                    <a:cubicBezTo>
                      <a:pt x="27" y="667"/>
                      <a:pt x="27" y="667"/>
                      <a:pt x="27" y="667"/>
                    </a:cubicBezTo>
                    <a:cubicBezTo>
                      <a:pt x="27" y="666"/>
                      <a:pt x="27" y="666"/>
                      <a:pt x="27" y="666"/>
                    </a:cubicBezTo>
                    <a:cubicBezTo>
                      <a:pt x="28" y="666"/>
                      <a:pt x="28" y="666"/>
                      <a:pt x="28" y="666"/>
                    </a:cubicBezTo>
                    <a:cubicBezTo>
                      <a:pt x="28" y="665"/>
                      <a:pt x="27" y="663"/>
                      <a:pt x="26" y="659"/>
                    </a:cubicBezTo>
                    <a:cubicBezTo>
                      <a:pt x="23" y="646"/>
                      <a:pt x="16" y="616"/>
                      <a:pt x="11" y="579"/>
                    </a:cubicBezTo>
                    <a:cubicBezTo>
                      <a:pt x="10" y="579"/>
                      <a:pt x="10" y="579"/>
                      <a:pt x="10" y="579"/>
                    </a:cubicBezTo>
                    <a:cubicBezTo>
                      <a:pt x="10" y="578"/>
                      <a:pt x="10" y="578"/>
                      <a:pt x="10" y="578"/>
                    </a:cubicBezTo>
                    <a:cubicBezTo>
                      <a:pt x="10" y="578"/>
                      <a:pt x="10" y="578"/>
                      <a:pt x="10" y="578"/>
                    </a:cubicBezTo>
                    <a:cubicBezTo>
                      <a:pt x="10" y="577"/>
                      <a:pt x="10" y="576"/>
                      <a:pt x="10" y="574"/>
                    </a:cubicBezTo>
                    <a:cubicBezTo>
                      <a:pt x="10" y="574"/>
                      <a:pt x="10" y="574"/>
                      <a:pt x="10" y="574"/>
                    </a:cubicBezTo>
                    <a:cubicBezTo>
                      <a:pt x="9" y="557"/>
                      <a:pt x="9" y="557"/>
                      <a:pt x="9" y="557"/>
                    </a:cubicBezTo>
                    <a:cubicBezTo>
                      <a:pt x="8" y="557"/>
                      <a:pt x="8" y="557"/>
                      <a:pt x="8" y="557"/>
                    </a:cubicBezTo>
                    <a:cubicBezTo>
                      <a:pt x="8" y="556"/>
                      <a:pt x="8" y="556"/>
                      <a:pt x="8" y="556"/>
                    </a:cubicBezTo>
                    <a:cubicBezTo>
                      <a:pt x="9" y="556"/>
                      <a:pt x="9" y="556"/>
                      <a:pt x="9" y="556"/>
                    </a:cubicBezTo>
                    <a:cubicBezTo>
                      <a:pt x="8" y="551"/>
                      <a:pt x="8" y="551"/>
                      <a:pt x="8" y="551"/>
                    </a:cubicBezTo>
                    <a:cubicBezTo>
                      <a:pt x="8" y="551"/>
                      <a:pt x="8" y="551"/>
                      <a:pt x="8" y="551"/>
                    </a:cubicBezTo>
                    <a:cubicBezTo>
                      <a:pt x="8" y="551"/>
                      <a:pt x="8" y="548"/>
                      <a:pt x="7" y="543"/>
                    </a:cubicBezTo>
                    <a:cubicBezTo>
                      <a:pt x="5" y="526"/>
                      <a:pt x="1" y="488"/>
                      <a:pt x="1" y="452"/>
                    </a:cubicBezTo>
                    <a:cubicBezTo>
                      <a:pt x="1" y="445"/>
                      <a:pt x="1" y="439"/>
                      <a:pt x="1" y="432"/>
                    </a:cubicBezTo>
                    <a:cubicBezTo>
                      <a:pt x="1" y="432"/>
                      <a:pt x="1" y="432"/>
                      <a:pt x="1" y="432"/>
                    </a:cubicBezTo>
                    <a:cubicBezTo>
                      <a:pt x="2" y="430"/>
                      <a:pt x="2" y="428"/>
                      <a:pt x="2" y="426"/>
                    </a:cubicBezTo>
                    <a:cubicBezTo>
                      <a:pt x="1" y="426"/>
                      <a:pt x="1" y="426"/>
                      <a:pt x="1" y="426"/>
                    </a:cubicBezTo>
                    <a:cubicBezTo>
                      <a:pt x="1" y="425"/>
                      <a:pt x="1" y="425"/>
                      <a:pt x="1" y="425"/>
                    </a:cubicBezTo>
                    <a:cubicBezTo>
                      <a:pt x="2" y="425"/>
                      <a:pt x="2" y="425"/>
                      <a:pt x="2" y="425"/>
                    </a:cubicBezTo>
                    <a:cubicBezTo>
                      <a:pt x="4" y="400"/>
                      <a:pt x="9" y="375"/>
                      <a:pt x="14" y="355"/>
                    </a:cubicBezTo>
                    <a:cubicBezTo>
                      <a:pt x="17" y="345"/>
                      <a:pt x="19" y="336"/>
                      <a:pt x="21" y="329"/>
                    </a:cubicBezTo>
                    <a:cubicBezTo>
                      <a:pt x="22" y="327"/>
                      <a:pt x="23" y="325"/>
                      <a:pt x="23" y="324"/>
                    </a:cubicBezTo>
                    <a:cubicBezTo>
                      <a:pt x="22" y="324"/>
                      <a:pt x="22" y="324"/>
                      <a:pt x="22" y="324"/>
                    </a:cubicBezTo>
                    <a:cubicBezTo>
                      <a:pt x="22" y="323"/>
                      <a:pt x="22" y="323"/>
                      <a:pt x="22" y="323"/>
                    </a:cubicBezTo>
                    <a:cubicBezTo>
                      <a:pt x="23" y="323"/>
                      <a:pt x="23" y="323"/>
                      <a:pt x="23" y="323"/>
                    </a:cubicBezTo>
                    <a:cubicBezTo>
                      <a:pt x="24" y="321"/>
                      <a:pt x="24" y="319"/>
                      <a:pt x="25" y="319"/>
                    </a:cubicBezTo>
                    <a:cubicBezTo>
                      <a:pt x="25" y="319"/>
                      <a:pt x="25" y="319"/>
                      <a:pt x="25" y="319"/>
                    </a:cubicBezTo>
                    <a:cubicBezTo>
                      <a:pt x="26" y="316"/>
                      <a:pt x="27" y="313"/>
                      <a:pt x="28" y="310"/>
                    </a:cubicBezTo>
                    <a:cubicBezTo>
                      <a:pt x="27" y="310"/>
                      <a:pt x="27" y="310"/>
                      <a:pt x="27" y="310"/>
                    </a:cubicBezTo>
                    <a:cubicBezTo>
                      <a:pt x="27" y="309"/>
                      <a:pt x="27" y="309"/>
                      <a:pt x="27" y="309"/>
                    </a:cubicBezTo>
                    <a:cubicBezTo>
                      <a:pt x="29" y="309"/>
                      <a:pt x="29" y="309"/>
                      <a:pt x="29" y="309"/>
                    </a:cubicBezTo>
                    <a:cubicBezTo>
                      <a:pt x="30" y="306"/>
                      <a:pt x="31" y="303"/>
                      <a:pt x="32" y="300"/>
                    </a:cubicBezTo>
                    <a:cubicBezTo>
                      <a:pt x="51" y="258"/>
                      <a:pt x="64" y="235"/>
                      <a:pt x="72" y="223"/>
                    </a:cubicBezTo>
                    <a:cubicBezTo>
                      <a:pt x="76" y="217"/>
                      <a:pt x="79" y="213"/>
                      <a:pt x="81" y="211"/>
                    </a:cubicBezTo>
                    <a:cubicBezTo>
                      <a:pt x="82" y="210"/>
                      <a:pt x="83" y="210"/>
                      <a:pt x="83" y="209"/>
                    </a:cubicBezTo>
                    <a:cubicBezTo>
                      <a:pt x="84" y="209"/>
                      <a:pt x="84" y="209"/>
                      <a:pt x="84" y="209"/>
                    </a:cubicBezTo>
                    <a:cubicBezTo>
                      <a:pt x="84" y="209"/>
                      <a:pt x="84" y="209"/>
                      <a:pt x="84" y="209"/>
                    </a:cubicBezTo>
                    <a:cubicBezTo>
                      <a:pt x="84" y="209"/>
                      <a:pt x="84" y="209"/>
                      <a:pt x="84" y="209"/>
                    </a:cubicBezTo>
                    <a:cubicBezTo>
                      <a:pt x="84" y="209"/>
                      <a:pt x="84" y="209"/>
                      <a:pt x="84" y="209"/>
                    </a:cubicBezTo>
                    <a:cubicBezTo>
                      <a:pt x="84" y="209"/>
                      <a:pt x="84" y="209"/>
                      <a:pt x="84" y="209"/>
                    </a:cubicBezTo>
                    <a:cubicBezTo>
                      <a:pt x="83" y="209"/>
                      <a:pt x="83" y="209"/>
                      <a:pt x="83" y="209"/>
                    </a:cubicBezTo>
                    <a:cubicBezTo>
                      <a:pt x="83" y="208"/>
                      <a:pt x="83" y="208"/>
                      <a:pt x="83" y="208"/>
                    </a:cubicBezTo>
                    <a:cubicBezTo>
                      <a:pt x="85" y="208"/>
                      <a:pt x="85" y="208"/>
                      <a:pt x="85" y="208"/>
                    </a:cubicBezTo>
                    <a:cubicBezTo>
                      <a:pt x="85" y="207"/>
                      <a:pt x="85" y="206"/>
                      <a:pt x="86" y="205"/>
                    </a:cubicBezTo>
                    <a:cubicBezTo>
                      <a:pt x="90" y="194"/>
                      <a:pt x="106" y="154"/>
                      <a:pt x="137" y="112"/>
                    </a:cubicBezTo>
                    <a:cubicBezTo>
                      <a:pt x="136" y="112"/>
                      <a:pt x="136" y="112"/>
                      <a:pt x="136" y="112"/>
                    </a:cubicBezTo>
                    <a:cubicBezTo>
                      <a:pt x="136" y="111"/>
                      <a:pt x="136" y="111"/>
                      <a:pt x="136" y="111"/>
                    </a:cubicBezTo>
                    <a:cubicBezTo>
                      <a:pt x="137" y="111"/>
                      <a:pt x="137" y="111"/>
                      <a:pt x="137" y="111"/>
                    </a:cubicBezTo>
                    <a:cubicBezTo>
                      <a:pt x="145" y="101"/>
                      <a:pt x="153" y="91"/>
                      <a:pt x="162" y="81"/>
                    </a:cubicBezTo>
                    <a:cubicBezTo>
                      <a:pt x="162" y="81"/>
                      <a:pt x="162" y="81"/>
                      <a:pt x="162" y="81"/>
                    </a:cubicBezTo>
                    <a:cubicBezTo>
                      <a:pt x="162" y="80"/>
                      <a:pt x="162" y="80"/>
                      <a:pt x="162" y="80"/>
                    </a:cubicBezTo>
                    <a:cubicBezTo>
                      <a:pt x="163" y="80"/>
                      <a:pt x="163" y="80"/>
                      <a:pt x="163" y="80"/>
                    </a:cubicBezTo>
                    <a:cubicBezTo>
                      <a:pt x="164" y="80"/>
                      <a:pt x="165" y="79"/>
                      <a:pt x="165" y="78"/>
                    </a:cubicBezTo>
                    <a:moveTo>
                      <a:pt x="347" y="0"/>
                    </a:moveTo>
                    <a:cubicBezTo>
                      <a:pt x="315" y="0"/>
                      <a:pt x="315" y="0"/>
                      <a:pt x="315" y="0"/>
                    </a:cubicBezTo>
                    <a:cubicBezTo>
                      <a:pt x="304" y="1"/>
                      <a:pt x="296" y="2"/>
                      <a:pt x="291" y="3"/>
                    </a:cubicBezTo>
                    <a:cubicBezTo>
                      <a:pt x="285" y="4"/>
                      <a:pt x="270" y="10"/>
                      <a:pt x="255" y="16"/>
                    </a:cubicBezTo>
                    <a:cubicBezTo>
                      <a:pt x="239" y="23"/>
                      <a:pt x="223" y="31"/>
                      <a:pt x="214" y="36"/>
                    </a:cubicBezTo>
                    <a:cubicBezTo>
                      <a:pt x="204" y="43"/>
                      <a:pt x="190" y="54"/>
                      <a:pt x="179" y="63"/>
                    </a:cubicBezTo>
                    <a:cubicBezTo>
                      <a:pt x="177" y="65"/>
                      <a:pt x="174" y="68"/>
                      <a:pt x="172" y="69"/>
                    </a:cubicBezTo>
                    <a:cubicBezTo>
                      <a:pt x="167" y="74"/>
                      <a:pt x="164" y="76"/>
                      <a:pt x="164" y="76"/>
                    </a:cubicBezTo>
                    <a:cubicBezTo>
                      <a:pt x="164" y="76"/>
                      <a:pt x="164" y="76"/>
                      <a:pt x="164" y="76"/>
                    </a:cubicBezTo>
                    <a:cubicBezTo>
                      <a:pt x="164" y="76"/>
                      <a:pt x="164" y="76"/>
                      <a:pt x="164" y="76"/>
                    </a:cubicBezTo>
                    <a:cubicBezTo>
                      <a:pt x="108" y="134"/>
                      <a:pt x="85" y="202"/>
                      <a:pt x="83" y="207"/>
                    </a:cubicBezTo>
                    <a:cubicBezTo>
                      <a:pt x="81" y="208"/>
                      <a:pt x="78" y="211"/>
                      <a:pt x="70" y="222"/>
                    </a:cubicBezTo>
                    <a:cubicBezTo>
                      <a:pt x="62" y="234"/>
                      <a:pt x="49" y="257"/>
                      <a:pt x="30" y="299"/>
                    </a:cubicBezTo>
                    <a:cubicBezTo>
                      <a:pt x="28" y="306"/>
                      <a:pt x="25" y="312"/>
                      <a:pt x="23" y="318"/>
                    </a:cubicBezTo>
                    <a:cubicBezTo>
                      <a:pt x="23" y="318"/>
                      <a:pt x="23" y="318"/>
                      <a:pt x="23" y="318"/>
                    </a:cubicBezTo>
                    <a:cubicBezTo>
                      <a:pt x="23" y="318"/>
                      <a:pt x="3" y="377"/>
                      <a:pt x="0" y="430"/>
                    </a:cubicBezTo>
                    <a:cubicBezTo>
                      <a:pt x="0" y="476"/>
                      <a:pt x="0" y="476"/>
                      <a:pt x="0" y="476"/>
                    </a:cubicBezTo>
                    <a:cubicBezTo>
                      <a:pt x="1" y="516"/>
                      <a:pt x="6" y="551"/>
                      <a:pt x="6" y="551"/>
                    </a:cubicBezTo>
                    <a:cubicBezTo>
                      <a:pt x="6" y="551"/>
                      <a:pt x="6" y="551"/>
                      <a:pt x="6" y="551"/>
                    </a:cubicBezTo>
                    <a:cubicBezTo>
                      <a:pt x="8" y="575"/>
                      <a:pt x="8" y="575"/>
                      <a:pt x="8" y="575"/>
                    </a:cubicBezTo>
                    <a:cubicBezTo>
                      <a:pt x="8" y="575"/>
                      <a:pt x="8" y="575"/>
                      <a:pt x="8" y="575"/>
                    </a:cubicBezTo>
                    <a:cubicBezTo>
                      <a:pt x="15" y="626"/>
                      <a:pt x="25" y="664"/>
                      <a:pt x="26" y="667"/>
                    </a:cubicBezTo>
                    <a:cubicBezTo>
                      <a:pt x="29" y="724"/>
                      <a:pt x="33" y="753"/>
                      <a:pt x="38" y="769"/>
                    </a:cubicBezTo>
                    <a:cubicBezTo>
                      <a:pt x="41" y="782"/>
                      <a:pt x="44" y="785"/>
                      <a:pt x="45" y="786"/>
                    </a:cubicBezTo>
                    <a:cubicBezTo>
                      <a:pt x="48" y="800"/>
                      <a:pt x="54" y="817"/>
                      <a:pt x="62" y="831"/>
                    </a:cubicBezTo>
                    <a:cubicBezTo>
                      <a:pt x="71" y="845"/>
                      <a:pt x="82" y="857"/>
                      <a:pt x="96" y="860"/>
                    </a:cubicBezTo>
                    <a:cubicBezTo>
                      <a:pt x="100" y="861"/>
                      <a:pt x="104" y="862"/>
                      <a:pt x="108" y="862"/>
                    </a:cubicBezTo>
                    <a:cubicBezTo>
                      <a:pt x="118" y="862"/>
                      <a:pt x="128" y="859"/>
                      <a:pt x="137" y="855"/>
                    </a:cubicBezTo>
                    <a:cubicBezTo>
                      <a:pt x="151" y="850"/>
                      <a:pt x="163" y="843"/>
                      <a:pt x="171" y="837"/>
                    </a:cubicBezTo>
                    <a:cubicBezTo>
                      <a:pt x="182" y="830"/>
                      <a:pt x="190" y="822"/>
                      <a:pt x="205" y="802"/>
                    </a:cubicBezTo>
                    <a:cubicBezTo>
                      <a:pt x="212" y="792"/>
                      <a:pt x="220" y="780"/>
                      <a:pt x="230" y="763"/>
                    </a:cubicBezTo>
                    <a:cubicBezTo>
                      <a:pt x="263" y="713"/>
                      <a:pt x="272" y="669"/>
                      <a:pt x="273" y="667"/>
                    </a:cubicBezTo>
                    <a:cubicBezTo>
                      <a:pt x="274" y="664"/>
                      <a:pt x="301" y="604"/>
                      <a:pt x="318" y="563"/>
                    </a:cubicBezTo>
                    <a:cubicBezTo>
                      <a:pt x="327" y="542"/>
                      <a:pt x="332" y="510"/>
                      <a:pt x="335" y="483"/>
                    </a:cubicBezTo>
                    <a:cubicBezTo>
                      <a:pt x="337" y="470"/>
                      <a:pt x="338" y="459"/>
                      <a:pt x="338" y="450"/>
                    </a:cubicBezTo>
                    <a:cubicBezTo>
                      <a:pt x="340" y="469"/>
                      <a:pt x="342" y="504"/>
                      <a:pt x="347" y="544"/>
                    </a:cubicBezTo>
                    <a:cubicBezTo>
                      <a:pt x="353" y="602"/>
                      <a:pt x="379" y="663"/>
                      <a:pt x="381" y="667"/>
                    </a:cubicBezTo>
                    <a:cubicBezTo>
                      <a:pt x="386" y="716"/>
                      <a:pt x="402" y="757"/>
                      <a:pt x="402" y="759"/>
                    </a:cubicBezTo>
                    <a:cubicBezTo>
                      <a:pt x="402" y="759"/>
                      <a:pt x="402" y="759"/>
                      <a:pt x="402" y="759"/>
                    </a:cubicBezTo>
                    <a:cubicBezTo>
                      <a:pt x="402" y="759"/>
                      <a:pt x="410" y="780"/>
                      <a:pt x="426" y="805"/>
                    </a:cubicBezTo>
                    <a:cubicBezTo>
                      <a:pt x="435" y="819"/>
                      <a:pt x="448" y="835"/>
                      <a:pt x="464" y="848"/>
                    </a:cubicBezTo>
                    <a:cubicBezTo>
                      <a:pt x="465" y="849"/>
                      <a:pt x="479" y="865"/>
                      <a:pt x="502" y="865"/>
                    </a:cubicBezTo>
                    <a:cubicBezTo>
                      <a:pt x="503" y="865"/>
                      <a:pt x="503" y="865"/>
                      <a:pt x="503" y="865"/>
                    </a:cubicBezTo>
                    <a:cubicBezTo>
                      <a:pt x="504" y="865"/>
                      <a:pt x="505" y="865"/>
                      <a:pt x="506" y="865"/>
                    </a:cubicBezTo>
                    <a:cubicBezTo>
                      <a:pt x="519" y="865"/>
                      <a:pt x="529" y="861"/>
                      <a:pt x="537" y="856"/>
                    </a:cubicBezTo>
                    <a:cubicBezTo>
                      <a:pt x="542" y="853"/>
                      <a:pt x="547" y="848"/>
                      <a:pt x="551" y="844"/>
                    </a:cubicBezTo>
                    <a:cubicBezTo>
                      <a:pt x="556" y="838"/>
                      <a:pt x="564" y="828"/>
                      <a:pt x="571" y="816"/>
                    </a:cubicBezTo>
                    <a:cubicBezTo>
                      <a:pt x="578" y="805"/>
                      <a:pt x="583" y="798"/>
                      <a:pt x="586" y="786"/>
                    </a:cubicBezTo>
                    <a:cubicBezTo>
                      <a:pt x="586" y="786"/>
                      <a:pt x="586" y="786"/>
                      <a:pt x="586" y="786"/>
                    </a:cubicBezTo>
                    <a:cubicBezTo>
                      <a:pt x="590" y="776"/>
                      <a:pt x="590" y="776"/>
                      <a:pt x="590" y="776"/>
                    </a:cubicBezTo>
                    <a:cubicBezTo>
                      <a:pt x="622" y="713"/>
                      <a:pt x="627" y="669"/>
                      <a:pt x="627" y="667"/>
                    </a:cubicBezTo>
                    <a:cubicBezTo>
                      <a:pt x="659" y="590"/>
                      <a:pt x="668" y="517"/>
                      <a:pt x="670" y="481"/>
                    </a:cubicBezTo>
                    <a:cubicBezTo>
                      <a:pt x="679" y="617"/>
                      <a:pt x="708" y="663"/>
                      <a:pt x="711" y="667"/>
                    </a:cubicBezTo>
                    <a:cubicBezTo>
                      <a:pt x="716" y="730"/>
                      <a:pt x="742" y="783"/>
                      <a:pt x="762" y="814"/>
                    </a:cubicBezTo>
                    <a:cubicBezTo>
                      <a:pt x="763" y="817"/>
                      <a:pt x="765" y="819"/>
                      <a:pt x="767" y="822"/>
                    </a:cubicBezTo>
                    <a:cubicBezTo>
                      <a:pt x="785" y="848"/>
                      <a:pt x="803" y="862"/>
                      <a:pt x="829" y="867"/>
                    </a:cubicBezTo>
                    <a:cubicBezTo>
                      <a:pt x="840" y="869"/>
                      <a:pt x="847" y="871"/>
                      <a:pt x="854" y="871"/>
                    </a:cubicBezTo>
                    <a:cubicBezTo>
                      <a:pt x="860" y="871"/>
                      <a:pt x="865" y="870"/>
                      <a:pt x="872" y="867"/>
                    </a:cubicBezTo>
                    <a:cubicBezTo>
                      <a:pt x="879" y="864"/>
                      <a:pt x="887" y="859"/>
                      <a:pt x="899" y="852"/>
                    </a:cubicBezTo>
                    <a:cubicBezTo>
                      <a:pt x="921" y="839"/>
                      <a:pt x="934" y="825"/>
                      <a:pt x="945" y="809"/>
                    </a:cubicBezTo>
                    <a:cubicBezTo>
                      <a:pt x="957" y="794"/>
                      <a:pt x="967" y="776"/>
                      <a:pt x="982" y="752"/>
                    </a:cubicBezTo>
                    <a:cubicBezTo>
                      <a:pt x="1020" y="689"/>
                      <a:pt x="1052" y="598"/>
                      <a:pt x="1052" y="598"/>
                    </a:cubicBezTo>
                    <a:cubicBezTo>
                      <a:pt x="1052" y="598"/>
                      <a:pt x="1052" y="598"/>
                      <a:pt x="1052" y="598"/>
                    </a:cubicBezTo>
                    <a:cubicBezTo>
                      <a:pt x="1075" y="545"/>
                      <a:pt x="1083" y="480"/>
                      <a:pt x="1086" y="456"/>
                    </a:cubicBezTo>
                    <a:cubicBezTo>
                      <a:pt x="1090" y="487"/>
                      <a:pt x="1104" y="589"/>
                      <a:pt x="1132" y="655"/>
                    </a:cubicBezTo>
                    <a:cubicBezTo>
                      <a:pt x="1156" y="712"/>
                      <a:pt x="1179" y="748"/>
                      <a:pt x="1228" y="798"/>
                    </a:cubicBezTo>
                    <a:cubicBezTo>
                      <a:pt x="1235" y="804"/>
                      <a:pt x="1241" y="811"/>
                      <a:pt x="1249" y="818"/>
                    </a:cubicBezTo>
                    <a:cubicBezTo>
                      <a:pt x="1289" y="856"/>
                      <a:pt x="1321" y="869"/>
                      <a:pt x="1345" y="872"/>
                    </a:cubicBezTo>
                    <a:cubicBezTo>
                      <a:pt x="1366" y="872"/>
                      <a:pt x="1366" y="872"/>
                      <a:pt x="1366" y="872"/>
                    </a:cubicBezTo>
                    <a:cubicBezTo>
                      <a:pt x="1371" y="871"/>
                      <a:pt x="1377" y="870"/>
                      <a:pt x="1382" y="869"/>
                    </a:cubicBezTo>
                    <a:cubicBezTo>
                      <a:pt x="1396" y="866"/>
                      <a:pt x="1408" y="850"/>
                      <a:pt x="1416" y="836"/>
                    </a:cubicBezTo>
                    <a:cubicBezTo>
                      <a:pt x="1425" y="822"/>
                      <a:pt x="1430" y="808"/>
                      <a:pt x="1430" y="807"/>
                    </a:cubicBezTo>
                    <a:cubicBezTo>
                      <a:pt x="1430" y="807"/>
                      <a:pt x="1430" y="807"/>
                      <a:pt x="1430" y="807"/>
                    </a:cubicBezTo>
                    <a:cubicBezTo>
                      <a:pt x="1430" y="807"/>
                      <a:pt x="1457" y="750"/>
                      <a:pt x="1479" y="614"/>
                    </a:cubicBezTo>
                    <a:cubicBezTo>
                      <a:pt x="1487" y="564"/>
                      <a:pt x="1492" y="527"/>
                      <a:pt x="1494" y="496"/>
                    </a:cubicBezTo>
                    <a:cubicBezTo>
                      <a:pt x="1494" y="456"/>
                      <a:pt x="1494" y="456"/>
                      <a:pt x="1494" y="456"/>
                    </a:cubicBezTo>
                    <a:cubicBezTo>
                      <a:pt x="1492" y="426"/>
                      <a:pt x="1486" y="399"/>
                      <a:pt x="1474" y="366"/>
                    </a:cubicBezTo>
                    <a:cubicBezTo>
                      <a:pt x="1448" y="293"/>
                      <a:pt x="1362" y="221"/>
                      <a:pt x="1347" y="209"/>
                    </a:cubicBezTo>
                    <a:cubicBezTo>
                      <a:pt x="1409" y="209"/>
                      <a:pt x="1409" y="209"/>
                      <a:pt x="1409" y="209"/>
                    </a:cubicBezTo>
                    <a:cubicBezTo>
                      <a:pt x="1407" y="208"/>
                      <a:pt x="1407" y="208"/>
                      <a:pt x="1407" y="208"/>
                    </a:cubicBezTo>
                    <a:cubicBezTo>
                      <a:pt x="1383" y="178"/>
                      <a:pt x="1351" y="155"/>
                      <a:pt x="1327" y="138"/>
                    </a:cubicBezTo>
                    <a:cubicBezTo>
                      <a:pt x="1325" y="137"/>
                      <a:pt x="1323" y="136"/>
                      <a:pt x="1322" y="135"/>
                    </a:cubicBezTo>
                    <a:cubicBezTo>
                      <a:pt x="1320" y="134"/>
                      <a:pt x="1319" y="133"/>
                      <a:pt x="1318" y="132"/>
                    </a:cubicBezTo>
                    <a:cubicBezTo>
                      <a:pt x="1303" y="122"/>
                      <a:pt x="1293" y="117"/>
                      <a:pt x="1293" y="117"/>
                    </a:cubicBezTo>
                    <a:cubicBezTo>
                      <a:pt x="1284" y="112"/>
                      <a:pt x="1275" y="107"/>
                      <a:pt x="1267" y="102"/>
                    </a:cubicBezTo>
                    <a:cubicBezTo>
                      <a:pt x="1256" y="97"/>
                      <a:pt x="1246" y="91"/>
                      <a:pt x="1236" y="87"/>
                    </a:cubicBezTo>
                    <a:cubicBezTo>
                      <a:pt x="1233" y="85"/>
                      <a:pt x="1229" y="83"/>
                      <a:pt x="1225" y="81"/>
                    </a:cubicBezTo>
                    <a:cubicBezTo>
                      <a:pt x="1222" y="80"/>
                      <a:pt x="1218" y="78"/>
                      <a:pt x="1215" y="76"/>
                    </a:cubicBezTo>
                    <a:cubicBezTo>
                      <a:pt x="1211" y="74"/>
                      <a:pt x="1207" y="73"/>
                      <a:pt x="1204" y="71"/>
                    </a:cubicBezTo>
                    <a:cubicBezTo>
                      <a:pt x="1130" y="38"/>
                      <a:pt x="1083" y="29"/>
                      <a:pt x="1030" y="17"/>
                    </a:cubicBezTo>
                    <a:cubicBezTo>
                      <a:pt x="972" y="5"/>
                      <a:pt x="918" y="4"/>
                      <a:pt x="900" y="4"/>
                    </a:cubicBezTo>
                    <a:cubicBezTo>
                      <a:pt x="897" y="4"/>
                      <a:pt x="895" y="4"/>
                      <a:pt x="894" y="4"/>
                    </a:cubicBezTo>
                    <a:cubicBezTo>
                      <a:pt x="890" y="4"/>
                      <a:pt x="885" y="3"/>
                      <a:pt x="881" y="3"/>
                    </a:cubicBezTo>
                    <a:cubicBezTo>
                      <a:pt x="848" y="3"/>
                      <a:pt x="819" y="11"/>
                      <a:pt x="794" y="22"/>
                    </a:cubicBezTo>
                    <a:cubicBezTo>
                      <a:pt x="774" y="31"/>
                      <a:pt x="757" y="42"/>
                      <a:pt x="742" y="53"/>
                    </a:cubicBezTo>
                    <a:cubicBezTo>
                      <a:pt x="718" y="71"/>
                      <a:pt x="701" y="89"/>
                      <a:pt x="692" y="100"/>
                    </a:cubicBezTo>
                    <a:cubicBezTo>
                      <a:pt x="687" y="107"/>
                      <a:pt x="684" y="111"/>
                      <a:pt x="684" y="111"/>
                    </a:cubicBezTo>
                    <a:cubicBezTo>
                      <a:pt x="683" y="112"/>
                      <a:pt x="683" y="112"/>
                      <a:pt x="683" y="112"/>
                    </a:cubicBezTo>
                    <a:cubicBezTo>
                      <a:pt x="705" y="112"/>
                      <a:pt x="705" y="112"/>
                      <a:pt x="705" y="112"/>
                    </a:cubicBezTo>
                    <a:cubicBezTo>
                      <a:pt x="699" y="120"/>
                      <a:pt x="676" y="149"/>
                      <a:pt x="658" y="208"/>
                    </a:cubicBezTo>
                    <a:cubicBezTo>
                      <a:pt x="655" y="211"/>
                      <a:pt x="603" y="279"/>
                      <a:pt x="590" y="385"/>
                    </a:cubicBezTo>
                    <a:cubicBezTo>
                      <a:pt x="589" y="398"/>
                      <a:pt x="589" y="398"/>
                      <a:pt x="589" y="398"/>
                    </a:cubicBezTo>
                    <a:cubicBezTo>
                      <a:pt x="584" y="364"/>
                      <a:pt x="577" y="331"/>
                      <a:pt x="577" y="331"/>
                    </a:cubicBezTo>
                    <a:cubicBezTo>
                      <a:pt x="577" y="331"/>
                      <a:pt x="577" y="331"/>
                      <a:pt x="577" y="331"/>
                    </a:cubicBezTo>
                    <a:cubicBezTo>
                      <a:pt x="563" y="256"/>
                      <a:pt x="529" y="211"/>
                      <a:pt x="527" y="208"/>
                    </a:cubicBezTo>
                    <a:cubicBezTo>
                      <a:pt x="518" y="174"/>
                      <a:pt x="492" y="122"/>
                      <a:pt x="487" y="113"/>
                    </a:cubicBezTo>
                    <a:cubicBezTo>
                      <a:pt x="569" y="113"/>
                      <a:pt x="569" y="113"/>
                      <a:pt x="569" y="113"/>
                    </a:cubicBezTo>
                    <a:cubicBezTo>
                      <a:pt x="567" y="111"/>
                      <a:pt x="567" y="111"/>
                      <a:pt x="567" y="111"/>
                    </a:cubicBezTo>
                    <a:cubicBezTo>
                      <a:pt x="567" y="111"/>
                      <a:pt x="555" y="99"/>
                      <a:pt x="541" y="86"/>
                    </a:cubicBezTo>
                    <a:cubicBezTo>
                      <a:pt x="526" y="73"/>
                      <a:pt x="510" y="59"/>
                      <a:pt x="502" y="53"/>
                    </a:cubicBezTo>
                    <a:cubicBezTo>
                      <a:pt x="474" y="36"/>
                      <a:pt x="429" y="15"/>
                      <a:pt x="390" y="6"/>
                    </a:cubicBezTo>
                    <a:cubicBezTo>
                      <a:pt x="374" y="3"/>
                      <a:pt x="360" y="1"/>
                      <a:pt x="347"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3" name="Freeform 238"/>
              <p:cNvSpPr>
                <a:spLocks noEditPoints="1"/>
              </p:cNvSpPr>
              <p:nvPr/>
            </p:nvSpPr>
            <p:spPr bwMode="auto">
              <a:xfrm>
                <a:off x="-4911722" y="4872033"/>
                <a:ext cx="915988" cy="4762"/>
              </a:xfrm>
              <a:custGeom>
                <a:avLst/>
                <a:gdLst/>
                <a:ahLst/>
                <a:cxnLst>
                  <a:cxn ang="0">
                    <a:pos x="0" y="0"/>
                  </a:cxn>
                  <a:cxn ang="0">
                    <a:pos x="0" y="0"/>
                  </a:cxn>
                  <a:cxn ang="0">
                    <a:pos x="0" y="1"/>
                  </a:cxn>
                  <a:cxn ang="0">
                    <a:pos x="1" y="1"/>
                  </a:cxn>
                  <a:cxn ang="0">
                    <a:pos x="1" y="0"/>
                  </a:cxn>
                  <a:cxn ang="0">
                    <a:pos x="1" y="0"/>
                  </a:cxn>
                  <a:cxn ang="0">
                    <a:pos x="1" y="0"/>
                  </a:cxn>
                  <a:cxn ang="0">
                    <a:pos x="0" y="0"/>
                  </a:cxn>
                  <a:cxn ang="0">
                    <a:pos x="244" y="0"/>
                  </a:cxn>
                  <a:cxn ang="0">
                    <a:pos x="243" y="0"/>
                  </a:cxn>
                  <a:cxn ang="0">
                    <a:pos x="243" y="0"/>
                  </a:cxn>
                  <a:cxn ang="0">
                    <a:pos x="243" y="0"/>
                  </a:cxn>
                  <a:cxn ang="0">
                    <a:pos x="243" y="0"/>
                  </a:cxn>
                  <a:cxn ang="0">
                    <a:pos x="243" y="1"/>
                  </a:cxn>
                  <a:cxn ang="0">
                    <a:pos x="244" y="1"/>
                  </a:cxn>
                  <a:cxn ang="0">
                    <a:pos x="244" y="0"/>
                  </a:cxn>
                </a:cxnLst>
                <a:rect l="0" t="0" r="r" b="b"/>
                <a:pathLst>
                  <a:path w="244" h="1">
                    <a:moveTo>
                      <a:pt x="0" y="0"/>
                    </a:moveTo>
                    <a:cubicBezTo>
                      <a:pt x="0" y="0"/>
                      <a:pt x="0" y="0"/>
                      <a:pt x="0" y="0"/>
                    </a:cubicBezTo>
                    <a:cubicBezTo>
                      <a:pt x="0" y="1"/>
                      <a:pt x="0" y="1"/>
                      <a:pt x="0" y="1"/>
                    </a:cubicBezTo>
                    <a:cubicBezTo>
                      <a:pt x="1" y="1"/>
                      <a:pt x="1" y="1"/>
                      <a:pt x="1" y="1"/>
                    </a:cubicBezTo>
                    <a:cubicBezTo>
                      <a:pt x="1" y="1"/>
                      <a:pt x="1" y="1"/>
                      <a:pt x="1" y="0"/>
                    </a:cubicBezTo>
                    <a:cubicBezTo>
                      <a:pt x="1" y="0"/>
                      <a:pt x="1" y="0"/>
                      <a:pt x="1" y="0"/>
                    </a:cubicBezTo>
                    <a:cubicBezTo>
                      <a:pt x="1" y="0"/>
                      <a:pt x="1" y="0"/>
                      <a:pt x="1" y="0"/>
                    </a:cubicBezTo>
                    <a:cubicBezTo>
                      <a:pt x="0" y="0"/>
                      <a:pt x="0" y="0"/>
                      <a:pt x="0" y="0"/>
                    </a:cubicBezTo>
                    <a:moveTo>
                      <a:pt x="244" y="0"/>
                    </a:moveTo>
                    <a:cubicBezTo>
                      <a:pt x="243" y="0"/>
                      <a:pt x="243" y="0"/>
                      <a:pt x="243" y="0"/>
                    </a:cubicBezTo>
                    <a:cubicBezTo>
                      <a:pt x="243" y="0"/>
                      <a:pt x="243" y="0"/>
                      <a:pt x="243" y="0"/>
                    </a:cubicBezTo>
                    <a:cubicBezTo>
                      <a:pt x="243" y="0"/>
                      <a:pt x="243" y="0"/>
                      <a:pt x="243" y="0"/>
                    </a:cubicBezTo>
                    <a:cubicBezTo>
                      <a:pt x="243" y="0"/>
                      <a:pt x="243" y="0"/>
                      <a:pt x="243" y="0"/>
                    </a:cubicBezTo>
                    <a:cubicBezTo>
                      <a:pt x="243" y="1"/>
                      <a:pt x="243" y="1"/>
                      <a:pt x="243" y="1"/>
                    </a:cubicBezTo>
                    <a:cubicBezTo>
                      <a:pt x="244" y="1"/>
                      <a:pt x="244" y="1"/>
                      <a:pt x="244" y="1"/>
                    </a:cubicBezTo>
                    <a:cubicBezTo>
                      <a:pt x="244" y="0"/>
                      <a:pt x="244" y="0"/>
                      <a:pt x="244"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4" name="Freeform 239"/>
              <p:cNvSpPr>
                <a:spLocks noEditPoints="1"/>
              </p:cNvSpPr>
              <p:nvPr/>
            </p:nvSpPr>
            <p:spPr bwMode="auto">
              <a:xfrm>
                <a:off x="-3671886" y="4872033"/>
                <a:ext cx="1171574" cy="4762"/>
              </a:xfrm>
              <a:custGeom>
                <a:avLst/>
                <a:gdLst/>
                <a:ahLst/>
                <a:cxnLst>
                  <a:cxn ang="0">
                    <a:pos x="1" y="0"/>
                  </a:cxn>
                  <a:cxn ang="0">
                    <a:pos x="0" y="0"/>
                  </a:cxn>
                  <a:cxn ang="0">
                    <a:pos x="0" y="1"/>
                  </a:cxn>
                  <a:cxn ang="0">
                    <a:pos x="1" y="1"/>
                  </a:cxn>
                  <a:cxn ang="0">
                    <a:pos x="1" y="0"/>
                  </a:cxn>
                  <a:cxn ang="0">
                    <a:pos x="1" y="0"/>
                  </a:cxn>
                  <a:cxn ang="0">
                    <a:pos x="1" y="0"/>
                  </a:cxn>
                  <a:cxn ang="0">
                    <a:pos x="1" y="0"/>
                  </a:cxn>
                  <a:cxn ang="0">
                    <a:pos x="312" y="0"/>
                  </a:cxn>
                  <a:cxn ang="0">
                    <a:pos x="311" y="0"/>
                  </a:cxn>
                  <a:cxn ang="0">
                    <a:pos x="311" y="1"/>
                  </a:cxn>
                  <a:cxn ang="0">
                    <a:pos x="312" y="1"/>
                  </a:cxn>
                  <a:cxn ang="0">
                    <a:pos x="312" y="0"/>
                  </a:cxn>
                </a:cxnLst>
                <a:rect l="0" t="0" r="r" b="b"/>
                <a:pathLst>
                  <a:path w="312" h="1">
                    <a:moveTo>
                      <a:pt x="1" y="0"/>
                    </a:moveTo>
                    <a:cubicBezTo>
                      <a:pt x="0" y="0"/>
                      <a:pt x="0" y="0"/>
                      <a:pt x="0" y="0"/>
                    </a:cubicBezTo>
                    <a:cubicBezTo>
                      <a:pt x="0" y="1"/>
                      <a:pt x="0" y="1"/>
                      <a:pt x="0" y="1"/>
                    </a:cubicBezTo>
                    <a:cubicBezTo>
                      <a:pt x="1" y="1"/>
                      <a:pt x="1" y="1"/>
                      <a:pt x="1" y="1"/>
                    </a:cubicBezTo>
                    <a:cubicBezTo>
                      <a:pt x="1" y="1"/>
                      <a:pt x="1" y="1"/>
                      <a:pt x="1" y="0"/>
                    </a:cubicBezTo>
                    <a:cubicBezTo>
                      <a:pt x="1" y="0"/>
                      <a:pt x="1" y="0"/>
                      <a:pt x="1" y="0"/>
                    </a:cubicBezTo>
                    <a:cubicBezTo>
                      <a:pt x="1" y="0"/>
                      <a:pt x="1" y="0"/>
                      <a:pt x="1" y="0"/>
                    </a:cubicBezTo>
                    <a:cubicBezTo>
                      <a:pt x="1" y="0"/>
                      <a:pt x="1" y="0"/>
                      <a:pt x="1" y="0"/>
                    </a:cubicBezTo>
                    <a:moveTo>
                      <a:pt x="312" y="0"/>
                    </a:moveTo>
                    <a:cubicBezTo>
                      <a:pt x="311" y="0"/>
                      <a:pt x="311" y="0"/>
                      <a:pt x="311" y="0"/>
                    </a:cubicBezTo>
                    <a:cubicBezTo>
                      <a:pt x="311" y="1"/>
                      <a:pt x="311" y="1"/>
                      <a:pt x="311" y="1"/>
                    </a:cubicBezTo>
                    <a:cubicBezTo>
                      <a:pt x="312" y="1"/>
                      <a:pt x="312" y="1"/>
                      <a:pt x="312" y="1"/>
                    </a:cubicBezTo>
                    <a:cubicBezTo>
                      <a:pt x="312" y="0"/>
                      <a:pt x="312" y="0"/>
                      <a:pt x="31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5" name="Freeform 240"/>
              <p:cNvSpPr>
                <a:spLocks noEditPoints="1"/>
              </p:cNvSpPr>
              <p:nvPr/>
            </p:nvSpPr>
            <p:spPr bwMode="auto">
              <a:xfrm>
                <a:off x="-2071686" y="4872033"/>
                <a:ext cx="1239838" cy="4762"/>
              </a:xfrm>
              <a:custGeom>
                <a:avLst/>
                <a:gdLst/>
                <a:ahLst/>
                <a:cxnLst>
                  <a:cxn ang="0">
                    <a:pos x="1" y="0"/>
                  </a:cxn>
                  <a:cxn ang="0">
                    <a:pos x="0" y="0"/>
                  </a:cxn>
                  <a:cxn ang="0">
                    <a:pos x="0" y="1"/>
                  </a:cxn>
                  <a:cxn ang="0">
                    <a:pos x="1" y="1"/>
                  </a:cxn>
                  <a:cxn ang="0">
                    <a:pos x="1" y="0"/>
                  </a:cxn>
                  <a:cxn ang="0">
                    <a:pos x="330" y="0"/>
                  </a:cxn>
                  <a:cxn ang="0">
                    <a:pos x="329" y="0"/>
                  </a:cxn>
                  <a:cxn ang="0">
                    <a:pos x="329" y="1"/>
                  </a:cxn>
                  <a:cxn ang="0">
                    <a:pos x="330" y="1"/>
                  </a:cxn>
                  <a:cxn ang="0">
                    <a:pos x="330" y="0"/>
                  </a:cxn>
                </a:cxnLst>
                <a:rect l="0" t="0" r="r" b="b"/>
                <a:pathLst>
                  <a:path w="330" h="1">
                    <a:moveTo>
                      <a:pt x="1" y="0"/>
                    </a:moveTo>
                    <a:cubicBezTo>
                      <a:pt x="0" y="0"/>
                      <a:pt x="0" y="0"/>
                      <a:pt x="0" y="0"/>
                    </a:cubicBezTo>
                    <a:cubicBezTo>
                      <a:pt x="0" y="1"/>
                      <a:pt x="0" y="1"/>
                      <a:pt x="0" y="1"/>
                    </a:cubicBezTo>
                    <a:cubicBezTo>
                      <a:pt x="1" y="1"/>
                      <a:pt x="1" y="1"/>
                      <a:pt x="1" y="1"/>
                    </a:cubicBezTo>
                    <a:cubicBezTo>
                      <a:pt x="1" y="0"/>
                      <a:pt x="1" y="0"/>
                      <a:pt x="1" y="0"/>
                    </a:cubicBezTo>
                    <a:moveTo>
                      <a:pt x="330" y="0"/>
                    </a:moveTo>
                    <a:cubicBezTo>
                      <a:pt x="329" y="0"/>
                      <a:pt x="329" y="0"/>
                      <a:pt x="329" y="0"/>
                    </a:cubicBezTo>
                    <a:cubicBezTo>
                      <a:pt x="329" y="1"/>
                      <a:pt x="329" y="1"/>
                      <a:pt x="329" y="1"/>
                    </a:cubicBezTo>
                    <a:cubicBezTo>
                      <a:pt x="330" y="1"/>
                      <a:pt x="330" y="1"/>
                      <a:pt x="330" y="1"/>
                    </a:cubicBezTo>
                    <a:cubicBezTo>
                      <a:pt x="330" y="0"/>
                      <a:pt x="330" y="0"/>
                      <a:pt x="33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6" name="Freeform 241"/>
              <p:cNvSpPr>
                <a:spLocks noEditPoints="1"/>
              </p:cNvSpPr>
              <p:nvPr/>
            </p:nvSpPr>
            <p:spPr bwMode="auto">
              <a:xfrm>
                <a:off x="-6246811" y="4872033"/>
                <a:ext cx="920750" cy="4762"/>
              </a:xfrm>
              <a:custGeom>
                <a:avLst/>
                <a:gdLst/>
                <a:ahLst/>
                <a:cxnLst>
                  <a:cxn ang="0">
                    <a:pos x="1" y="0"/>
                  </a:cxn>
                  <a:cxn ang="0">
                    <a:pos x="0" y="0"/>
                  </a:cxn>
                  <a:cxn ang="0">
                    <a:pos x="0" y="1"/>
                  </a:cxn>
                  <a:cxn ang="0">
                    <a:pos x="1" y="1"/>
                  </a:cxn>
                  <a:cxn ang="0">
                    <a:pos x="1" y="0"/>
                  </a:cxn>
                  <a:cxn ang="0">
                    <a:pos x="1" y="0"/>
                  </a:cxn>
                  <a:cxn ang="0">
                    <a:pos x="1" y="0"/>
                  </a:cxn>
                  <a:cxn ang="0">
                    <a:pos x="1" y="0"/>
                  </a:cxn>
                  <a:cxn ang="0">
                    <a:pos x="245" y="0"/>
                  </a:cxn>
                  <a:cxn ang="0">
                    <a:pos x="244" y="0"/>
                  </a:cxn>
                  <a:cxn ang="0">
                    <a:pos x="244" y="0"/>
                  </a:cxn>
                  <a:cxn ang="0">
                    <a:pos x="244" y="0"/>
                  </a:cxn>
                  <a:cxn ang="0">
                    <a:pos x="244" y="0"/>
                  </a:cxn>
                  <a:cxn ang="0">
                    <a:pos x="243" y="1"/>
                  </a:cxn>
                  <a:cxn ang="0">
                    <a:pos x="245" y="1"/>
                  </a:cxn>
                  <a:cxn ang="0">
                    <a:pos x="245" y="0"/>
                  </a:cxn>
                </a:cxnLst>
                <a:rect l="0" t="0" r="r" b="b"/>
                <a:pathLst>
                  <a:path w="245" h="1">
                    <a:moveTo>
                      <a:pt x="1" y="0"/>
                    </a:moveTo>
                    <a:cubicBezTo>
                      <a:pt x="0" y="0"/>
                      <a:pt x="0" y="0"/>
                      <a:pt x="0" y="0"/>
                    </a:cubicBezTo>
                    <a:cubicBezTo>
                      <a:pt x="0" y="1"/>
                      <a:pt x="0" y="1"/>
                      <a:pt x="0" y="1"/>
                    </a:cubicBezTo>
                    <a:cubicBezTo>
                      <a:pt x="1" y="1"/>
                      <a:pt x="1" y="1"/>
                      <a:pt x="1" y="1"/>
                    </a:cubicBezTo>
                    <a:cubicBezTo>
                      <a:pt x="1" y="1"/>
                      <a:pt x="1" y="1"/>
                      <a:pt x="1" y="0"/>
                    </a:cubicBezTo>
                    <a:cubicBezTo>
                      <a:pt x="1" y="0"/>
                      <a:pt x="1" y="0"/>
                      <a:pt x="1" y="0"/>
                    </a:cubicBezTo>
                    <a:cubicBezTo>
                      <a:pt x="1" y="0"/>
                      <a:pt x="1" y="0"/>
                      <a:pt x="1" y="0"/>
                    </a:cubicBezTo>
                    <a:cubicBezTo>
                      <a:pt x="1" y="0"/>
                      <a:pt x="1" y="0"/>
                      <a:pt x="1" y="0"/>
                    </a:cubicBezTo>
                    <a:moveTo>
                      <a:pt x="245" y="0"/>
                    </a:moveTo>
                    <a:cubicBezTo>
                      <a:pt x="244" y="0"/>
                      <a:pt x="244" y="0"/>
                      <a:pt x="244" y="0"/>
                    </a:cubicBezTo>
                    <a:cubicBezTo>
                      <a:pt x="244" y="0"/>
                      <a:pt x="244" y="0"/>
                      <a:pt x="244" y="0"/>
                    </a:cubicBezTo>
                    <a:cubicBezTo>
                      <a:pt x="244" y="0"/>
                      <a:pt x="244" y="0"/>
                      <a:pt x="244" y="0"/>
                    </a:cubicBezTo>
                    <a:cubicBezTo>
                      <a:pt x="244" y="0"/>
                      <a:pt x="244" y="0"/>
                      <a:pt x="244" y="0"/>
                    </a:cubicBezTo>
                    <a:cubicBezTo>
                      <a:pt x="244" y="0"/>
                      <a:pt x="244" y="0"/>
                      <a:pt x="243" y="1"/>
                    </a:cubicBezTo>
                    <a:cubicBezTo>
                      <a:pt x="245" y="1"/>
                      <a:pt x="245" y="1"/>
                      <a:pt x="245" y="1"/>
                    </a:cubicBezTo>
                    <a:cubicBezTo>
                      <a:pt x="245" y="0"/>
                      <a:pt x="245" y="0"/>
                      <a:pt x="24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7" name="Freeform 242"/>
              <p:cNvSpPr>
                <a:spLocks/>
              </p:cNvSpPr>
              <p:nvPr/>
            </p:nvSpPr>
            <p:spPr bwMode="auto">
              <a:xfrm>
                <a:off x="-5021261" y="4541833"/>
                <a:ext cx="7937" cy="3175"/>
              </a:xfrm>
              <a:custGeom>
                <a:avLst/>
                <a:gdLst/>
                <a:ahLst/>
                <a:cxnLst>
                  <a:cxn ang="0">
                    <a:pos x="1" y="0"/>
                  </a:cxn>
                  <a:cxn ang="0">
                    <a:pos x="0" y="0"/>
                  </a:cxn>
                  <a:cxn ang="0">
                    <a:pos x="0" y="1"/>
                  </a:cxn>
                  <a:cxn ang="0">
                    <a:pos x="2" y="1"/>
                  </a:cxn>
                  <a:cxn ang="0">
                    <a:pos x="1" y="0"/>
                  </a:cxn>
                </a:cxnLst>
                <a:rect l="0" t="0" r="r" b="b"/>
                <a:pathLst>
                  <a:path w="2" h="1">
                    <a:moveTo>
                      <a:pt x="1" y="0"/>
                    </a:moveTo>
                    <a:cubicBezTo>
                      <a:pt x="0" y="0"/>
                      <a:pt x="0" y="0"/>
                      <a:pt x="0" y="0"/>
                    </a:cubicBezTo>
                    <a:cubicBezTo>
                      <a:pt x="0" y="1"/>
                      <a:pt x="0" y="1"/>
                      <a:pt x="0" y="1"/>
                    </a:cubicBezTo>
                    <a:cubicBezTo>
                      <a:pt x="2" y="1"/>
                      <a:pt x="2" y="1"/>
                      <a:pt x="2" y="1"/>
                    </a:cubicBezTo>
                    <a:cubicBezTo>
                      <a:pt x="1" y="1"/>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8" name="Freeform 243"/>
              <p:cNvSpPr>
                <a:spLocks noEditPoints="1"/>
              </p:cNvSpPr>
              <p:nvPr/>
            </p:nvSpPr>
            <p:spPr bwMode="auto">
              <a:xfrm>
                <a:off x="-3781423" y="4541833"/>
                <a:ext cx="1409699" cy="3175"/>
              </a:xfrm>
              <a:custGeom>
                <a:avLst/>
                <a:gdLst/>
                <a:ahLst/>
                <a:cxnLst>
                  <a:cxn ang="0">
                    <a:pos x="1" y="0"/>
                  </a:cxn>
                  <a:cxn ang="0">
                    <a:pos x="0" y="0"/>
                  </a:cxn>
                  <a:cxn ang="0">
                    <a:pos x="0" y="1"/>
                  </a:cxn>
                  <a:cxn ang="0">
                    <a:pos x="1" y="1"/>
                  </a:cxn>
                  <a:cxn ang="0">
                    <a:pos x="1" y="0"/>
                  </a:cxn>
                  <a:cxn ang="0">
                    <a:pos x="375" y="0"/>
                  </a:cxn>
                  <a:cxn ang="0">
                    <a:pos x="375" y="0"/>
                  </a:cxn>
                  <a:cxn ang="0">
                    <a:pos x="374" y="1"/>
                  </a:cxn>
                  <a:cxn ang="0">
                    <a:pos x="374" y="1"/>
                  </a:cxn>
                  <a:cxn ang="0">
                    <a:pos x="375" y="1"/>
                  </a:cxn>
                  <a:cxn ang="0">
                    <a:pos x="375" y="0"/>
                  </a:cxn>
                </a:cxnLst>
                <a:rect l="0" t="0" r="r" b="b"/>
                <a:pathLst>
                  <a:path w="375" h="1">
                    <a:moveTo>
                      <a:pt x="1" y="0"/>
                    </a:moveTo>
                    <a:cubicBezTo>
                      <a:pt x="0" y="0"/>
                      <a:pt x="0" y="0"/>
                      <a:pt x="0" y="0"/>
                    </a:cubicBezTo>
                    <a:cubicBezTo>
                      <a:pt x="0" y="1"/>
                      <a:pt x="0" y="1"/>
                      <a:pt x="0" y="1"/>
                    </a:cubicBezTo>
                    <a:cubicBezTo>
                      <a:pt x="1" y="1"/>
                      <a:pt x="1" y="1"/>
                      <a:pt x="1" y="1"/>
                    </a:cubicBezTo>
                    <a:cubicBezTo>
                      <a:pt x="1" y="0"/>
                      <a:pt x="1" y="0"/>
                      <a:pt x="1" y="0"/>
                    </a:cubicBezTo>
                    <a:moveTo>
                      <a:pt x="375" y="0"/>
                    </a:moveTo>
                    <a:cubicBezTo>
                      <a:pt x="375" y="0"/>
                      <a:pt x="375" y="0"/>
                      <a:pt x="375" y="0"/>
                    </a:cubicBezTo>
                    <a:cubicBezTo>
                      <a:pt x="375" y="0"/>
                      <a:pt x="375" y="0"/>
                      <a:pt x="374" y="1"/>
                    </a:cubicBezTo>
                    <a:cubicBezTo>
                      <a:pt x="374" y="1"/>
                      <a:pt x="374" y="1"/>
                      <a:pt x="374" y="1"/>
                    </a:cubicBezTo>
                    <a:cubicBezTo>
                      <a:pt x="375" y="1"/>
                      <a:pt x="375" y="1"/>
                      <a:pt x="375" y="1"/>
                    </a:cubicBezTo>
                    <a:cubicBezTo>
                      <a:pt x="375" y="0"/>
                      <a:pt x="375" y="0"/>
                      <a:pt x="37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9" name="Freeform 244"/>
              <p:cNvSpPr>
                <a:spLocks/>
              </p:cNvSpPr>
              <p:nvPr/>
            </p:nvSpPr>
            <p:spPr bwMode="auto">
              <a:xfrm>
                <a:off x="-2176461" y="4541833"/>
                <a:ext cx="1587" cy="3175"/>
              </a:xfrm>
              <a:custGeom>
                <a:avLst/>
                <a:gdLst/>
                <a:ahLst/>
                <a:cxnLst>
                  <a:cxn ang="0">
                    <a:pos x="0" y="0"/>
                  </a:cxn>
                  <a:cxn ang="0">
                    <a:pos x="0" y="0"/>
                  </a:cxn>
                  <a:cxn ang="0">
                    <a:pos x="0" y="1"/>
                  </a:cxn>
                  <a:cxn ang="0">
                    <a:pos x="0" y="1"/>
                  </a:cxn>
                  <a:cxn ang="0">
                    <a:pos x="0" y="0"/>
                  </a:cxn>
                </a:cxnLst>
                <a:rect l="0" t="0" r="r" b="b"/>
                <a:pathLst>
                  <a:path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0" name="Freeform 245"/>
              <p:cNvSpPr>
                <a:spLocks/>
              </p:cNvSpPr>
              <p:nvPr/>
            </p:nvSpPr>
            <p:spPr bwMode="auto">
              <a:xfrm>
                <a:off x="-6310310" y="4541833"/>
                <a:ext cx="4762" cy="3175"/>
              </a:xfrm>
              <a:custGeom>
                <a:avLst/>
                <a:gdLst/>
                <a:ahLst/>
                <a:cxnLst>
                  <a:cxn ang="0">
                    <a:pos x="0" y="0"/>
                  </a:cxn>
                  <a:cxn ang="0">
                    <a:pos x="0" y="0"/>
                  </a:cxn>
                  <a:cxn ang="0">
                    <a:pos x="0" y="1"/>
                  </a:cxn>
                  <a:cxn ang="0">
                    <a:pos x="1" y="1"/>
                  </a:cxn>
                  <a:cxn ang="0">
                    <a:pos x="0" y="0"/>
                  </a:cxn>
                </a:cxnLst>
                <a:rect l="0" t="0" r="r" b="b"/>
                <a:pathLst>
                  <a:path w="1" h="1">
                    <a:moveTo>
                      <a:pt x="0" y="0"/>
                    </a:moveTo>
                    <a:cubicBezTo>
                      <a:pt x="0" y="0"/>
                      <a:pt x="0" y="0"/>
                      <a:pt x="0" y="0"/>
                    </a:cubicBezTo>
                    <a:cubicBezTo>
                      <a:pt x="0" y="1"/>
                      <a:pt x="0" y="1"/>
                      <a:pt x="0" y="1"/>
                    </a:cubicBezTo>
                    <a:cubicBezTo>
                      <a:pt x="1" y="1"/>
                      <a:pt x="1" y="1"/>
                      <a:pt x="1" y="1"/>
                    </a:cubicBezTo>
                    <a:cubicBezTo>
                      <a:pt x="1" y="1"/>
                      <a:pt x="1" y="0"/>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1" name="Freeform 246"/>
              <p:cNvSpPr>
                <a:spLocks noEditPoints="1"/>
              </p:cNvSpPr>
              <p:nvPr/>
            </p:nvSpPr>
            <p:spPr bwMode="auto">
              <a:xfrm>
                <a:off x="-4062411" y="3529009"/>
                <a:ext cx="3133723" cy="4762"/>
              </a:xfrm>
              <a:custGeom>
                <a:avLst/>
                <a:gdLst/>
                <a:ahLst/>
                <a:cxnLst>
                  <a:cxn ang="0">
                    <a:pos x="1" y="0"/>
                  </a:cxn>
                  <a:cxn ang="0">
                    <a:pos x="0" y="0"/>
                  </a:cxn>
                  <a:cxn ang="0">
                    <a:pos x="0" y="1"/>
                  </a:cxn>
                  <a:cxn ang="0">
                    <a:pos x="1" y="1"/>
                  </a:cxn>
                  <a:cxn ang="0">
                    <a:pos x="1" y="0"/>
                  </a:cxn>
                  <a:cxn ang="0">
                    <a:pos x="834" y="0"/>
                  </a:cxn>
                  <a:cxn ang="0">
                    <a:pos x="832" y="0"/>
                  </a:cxn>
                  <a:cxn ang="0">
                    <a:pos x="833" y="1"/>
                  </a:cxn>
                  <a:cxn ang="0">
                    <a:pos x="834" y="1"/>
                  </a:cxn>
                  <a:cxn ang="0">
                    <a:pos x="834" y="0"/>
                  </a:cxn>
                </a:cxnLst>
                <a:rect l="0" t="0" r="r" b="b"/>
                <a:pathLst>
                  <a:path w="834" h="1">
                    <a:moveTo>
                      <a:pt x="1" y="0"/>
                    </a:moveTo>
                    <a:cubicBezTo>
                      <a:pt x="0" y="0"/>
                      <a:pt x="0" y="0"/>
                      <a:pt x="0" y="0"/>
                    </a:cubicBezTo>
                    <a:cubicBezTo>
                      <a:pt x="0" y="1"/>
                      <a:pt x="0" y="1"/>
                      <a:pt x="0" y="1"/>
                    </a:cubicBezTo>
                    <a:cubicBezTo>
                      <a:pt x="1" y="1"/>
                      <a:pt x="1" y="1"/>
                      <a:pt x="1" y="1"/>
                    </a:cubicBezTo>
                    <a:cubicBezTo>
                      <a:pt x="1" y="0"/>
                      <a:pt x="1" y="0"/>
                      <a:pt x="1" y="0"/>
                    </a:cubicBezTo>
                    <a:moveTo>
                      <a:pt x="834" y="0"/>
                    </a:moveTo>
                    <a:cubicBezTo>
                      <a:pt x="832" y="0"/>
                      <a:pt x="832" y="0"/>
                      <a:pt x="832" y="0"/>
                    </a:cubicBezTo>
                    <a:cubicBezTo>
                      <a:pt x="833" y="0"/>
                      <a:pt x="833" y="0"/>
                      <a:pt x="833" y="1"/>
                    </a:cubicBezTo>
                    <a:cubicBezTo>
                      <a:pt x="834" y="1"/>
                      <a:pt x="834" y="1"/>
                      <a:pt x="834" y="1"/>
                    </a:cubicBezTo>
                    <a:cubicBezTo>
                      <a:pt x="834" y="0"/>
                      <a:pt x="834" y="0"/>
                      <a:pt x="834"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2" name="Freeform 247"/>
              <p:cNvSpPr>
                <a:spLocks noEditPoints="1"/>
              </p:cNvSpPr>
              <p:nvPr/>
            </p:nvSpPr>
            <p:spPr bwMode="auto">
              <a:xfrm>
                <a:off x="-6246811" y="3529009"/>
                <a:ext cx="2044699" cy="4762"/>
              </a:xfrm>
              <a:custGeom>
                <a:avLst/>
                <a:gdLst/>
                <a:ahLst/>
                <a:cxnLst>
                  <a:cxn ang="0">
                    <a:pos x="2" y="0"/>
                  </a:cxn>
                  <a:cxn ang="0">
                    <a:pos x="0" y="0"/>
                  </a:cxn>
                  <a:cxn ang="0">
                    <a:pos x="0" y="1"/>
                  </a:cxn>
                  <a:cxn ang="0">
                    <a:pos x="1" y="1"/>
                  </a:cxn>
                  <a:cxn ang="0">
                    <a:pos x="2" y="0"/>
                  </a:cxn>
                  <a:cxn ang="0">
                    <a:pos x="544" y="0"/>
                  </a:cxn>
                  <a:cxn ang="0">
                    <a:pos x="543" y="0"/>
                  </a:cxn>
                  <a:cxn ang="0">
                    <a:pos x="543" y="1"/>
                  </a:cxn>
                  <a:cxn ang="0">
                    <a:pos x="544" y="1"/>
                  </a:cxn>
                  <a:cxn ang="0">
                    <a:pos x="544" y="0"/>
                  </a:cxn>
                </a:cxnLst>
                <a:rect l="0" t="0" r="r" b="b"/>
                <a:pathLst>
                  <a:path w="544" h="1">
                    <a:moveTo>
                      <a:pt x="2" y="0"/>
                    </a:moveTo>
                    <a:cubicBezTo>
                      <a:pt x="0" y="0"/>
                      <a:pt x="0" y="0"/>
                      <a:pt x="0" y="0"/>
                    </a:cubicBezTo>
                    <a:cubicBezTo>
                      <a:pt x="0" y="1"/>
                      <a:pt x="0" y="1"/>
                      <a:pt x="0" y="1"/>
                    </a:cubicBezTo>
                    <a:cubicBezTo>
                      <a:pt x="1" y="1"/>
                      <a:pt x="1" y="1"/>
                      <a:pt x="1" y="1"/>
                    </a:cubicBezTo>
                    <a:cubicBezTo>
                      <a:pt x="1" y="0"/>
                      <a:pt x="2" y="0"/>
                      <a:pt x="2" y="0"/>
                    </a:cubicBezTo>
                    <a:moveTo>
                      <a:pt x="544" y="0"/>
                    </a:moveTo>
                    <a:cubicBezTo>
                      <a:pt x="543" y="0"/>
                      <a:pt x="543" y="0"/>
                      <a:pt x="543" y="0"/>
                    </a:cubicBezTo>
                    <a:cubicBezTo>
                      <a:pt x="543" y="0"/>
                      <a:pt x="543" y="0"/>
                      <a:pt x="543" y="1"/>
                    </a:cubicBezTo>
                    <a:cubicBezTo>
                      <a:pt x="544" y="1"/>
                      <a:pt x="544" y="1"/>
                      <a:pt x="544" y="1"/>
                    </a:cubicBezTo>
                    <a:cubicBezTo>
                      <a:pt x="544" y="0"/>
                      <a:pt x="544" y="0"/>
                      <a:pt x="544"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3" name="Freeform 248"/>
              <p:cNvSpPr>
                <a:spLocks/>
              </p:cNvSpPr>
              <p:nvPr/>
            </p:nvSpPr>
            <p:spPr bwMode="auto">
              <a:xfrm>
                <a:off x="-3690937" y="2784472"/>
                <a:ext cx="7937" cy="3175"/>
              </a:xfrm>
              <a:custGeom>
                <a:avLst/>
                <a:gdLst/>
                <a:ahLst/>
                <a:cxnLst>
                  <a:cxn ang="0">
                    <a:pos x="5" y="0"/>
                  </a:cxn>
                  <a:cxn ang="0">
                    <a:pos x="0" y="0"/>
                  </a:cxn>
                  <a:cxn ang="0">
                    <a:pos x="0" y="2"/>
                  </a:cxn>
                  <a:cxn ang="0">
                    <a:pos x="2" y="2"/>
                  </a:cxn>
                  <a:cxn ang="0">
                    <a:pos x="5" y="0"/>
                  </a:cxn>
                  <a:cxn ang="0">
                    <a:pos x="5" y="0"/>
                  </a:cxn>
                </a:cxnLst>
                <a:rect l="0" t="0" r="r" b="b"/>
                <a:pathLst>
                  <a:path w="5" h="2">
                    <a:moveTo>
                      <a:pt x="5" y="0"/>
                    </a:moveTo>
                    <a:lnTo>
                      <a:pt x="0" y="0"/>
                    </a:lnTo>
                    <a:lnTo>
                      <a:pt x="0" y="2"/>
                    </a:lnTo>
                    <a:lnTo>
                      <a:pt x="2" y="2"/>
                    </a:lnTo>
                    <a:lnTo>
                      <a:pt x="5" y="0"/>
                    </a:lnTo>
                    <a:lnTo>
                      <a:pt x="5"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4" name="Freeform 249"/>
              <p:cNvSpPr>
                <a:spLocks noEditPoints="1"/>
              </p:cNvSpPr>
              <p:nvPr/>
            </p:nvSpPr>
            <p:spPr bwMode="auto">
              <a:xfrm>
                <a:off x="-5837235" y="2784472"/>
                <a:ext cx="1316037" cy="3175"/>
              </a:xfrm>
              <a:custGeom>
                <a:avLst/>
                <a:gdLst/>
                <a:ahLst/>
                <a:cxnLst>
                  <a:cxn ang="0">
                    <a:pos x="1" y="0"/>
                  </a:cxn>
                  <a:cxn ang="0">
                    <a:pos x="0" y="0"/>
                  </a:cxn>
                  <a:cxn ang="0">
                    <a:pos x="0" y="1"/>
                  </a:cxn>
                  <a:cxn ang="0">
                    <a:pos x="1" y="1"/>
                  </a:cxn>
                  <a:cxn ang="0">
                    <a:pos x="1" y="0"/>
                  </a:cxn>
                  <a:cxn ang="0">
                    <a:pos x="349" y="0"/>
                  </a:cxn>
                  <a:cxn ang="0">
                    <a:pos x="348" y="0"/>
                  </a:cxn>
                  <a:cxn ang="0">
                    <a:pos x="349" y="1"/>
                  </a:cxn>
                  <a:cxn ang="0">
                    <a:pos x="350" y="1"/>
                  </a:cxn>
                  <a:cxn ang="0">
                    <a:pos x="350" y="1"/>
                  </a:cxn>
                  <a:cxn ang="0">
                    <a:pos x="349" y="1"/>
                  </a:cxn>
                  <a:cxn ang="0">
                    <a:pos x="349" y="0"/>
                  </a:cxn>
                </a:cxnLst>
                <a:rect l="0" t="0" r="r" b="b"/>
                <a:pathLst>
                  <a:path w="350" h="1">
                    <a:moveTo>
                      <a:pt x="1" y="0"/>
                    </a:moveTo>
                    <a:cubicBezTo>
                      <a:pt x="0" y="0"/>
                      <a:pt x="0" y="0"/>
                      <a:pt x="0" y="0"/>
                    </a:cubicBezTo>
                    <a:cubicBezTo>
                      <a:pt x="0" y="1"/>
                      <a:pt x="0" y="1"/>
                      <a:pt x="0" y="1"/>
                    </a:cubicBezTo>
                    <a:cubicBezTo>
                      <a:pt x="1" y="1"/>
                      <a:pt x="1" y="1"/>
                      <a:pt x="1" y="1"/>
                    </a:cubicBezTo>
                    <a:cubicBezTo>
                      <a:pt x="1" y="0"/>
                      <a:pt x="1" y="0"/>
                      <a:pt x="1" y="0"/>
                    </a:cubicBezTo>
                    <a:moveTo>
                      <a:pt x="349" y="0"/>
                    </a:moveTo>
                    <a:cubicBezTo>
                      <a:pt x="348" y="0"/>
                      <a:pt x="348" y="0"/>
                      <a:pt x="348" y="0"/>
                    </a:cubicBezTo>
                    <a:cubicBezTo>
                      <a:pt x="349" y="1"/>
                      <a:pt x="349" y="1"/>
                      <a:pt x="349" y="1"/>
                    </a:cubicBezTo>
                    <a:cubicBezTo>
                      <a:pt x="350" y="1"/>
                      <a:pt x="350" y="1"/>
                      <a:pt x="350" y="1"/>
                    </a:cubicBezTo>
                    <a:cubicBezTo>
                      <a:pt x="350" y="1"/>
                      <a:pt x="350" y="1"/>
                      <a:pt x="350" y="1"/>
                    </a:cubicBezTo>
                    <a:cubicBezTo>
                      <a:pt x="349" y="1"/>
                      <a:pt x="349" y="1"/>
                      <a:pt x="349" y="1"/>
                    </a:cubicBezTo>
                    <a:cubicBezTo>
                      <a:pt x="349" y="0"/>
                      <a:pt x="349" y="0"/>
                      <a:pt x="349"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5" name="Freeform 250"/>
              <p:cNvSpPr>
                <a:spLocks/>
              </p:cNvSpPr>
              <p:nvPr/>
            </p:nvSpPr>
            <p:spPr bwMode="auto">
              <a:xfrm>
                <a:off x="-3671886" y="2668584"/>
                <a:ext cx="3175" cy="3175"/>
              </a:xfrm>
              <a:custGeom>
                <a:avLst/>
                <a:gdLst/>
                <a:ahLst/>
                <a:cxnLst>
                  <a:cxn ang="0">
                    <a:pos x="1" y="0"/>
                  </a:cxn>
                  <a:cxn ang="0">
                    <a:pos x="0" y="0"/>
                  </a:cxn>
                  <a:cxn ang="0">
                    <a:pos x="0" y="1"/>
                  </a:cxn>
                  <a:cxn ang="0">
                    <a:pos x="0" y="1"/>
                  </a:cxn>
                  <a:cxn ang="0">
                    <a:pos x="1" y="0"/>
                  </a:cxn>
                </a:cxnLst>
                <a:rect l="0" t="0" r="r" b="b"/>
                <a:pathLst>
                  <a:path w="1" h="1">
                    <a:moveTo>
                      <a:pt x="1" y="0"/>
                    </a:moveTo>
                    <a:cubicBezTo>
                      <a:pt x="0" y="0"/>
                      <a:pt x="0" y="0"/>
                      <a:pt x="0" y="0"/>
                    </a:cubicBezTo>
                    <a:cubicBezTo>
                      <a:pt x="0" y="1"/>
                      <a:pt x="0" y="1"/>
                      <a:pt x="0" y="1"/>
                    </a:cubicBezTo>
                    <a:cubicBezTo>
                      <a:pt x="0" y="1"/>
                      <a:pt x="0" y="1"/>
                      <a:pt x="0" y="1"/>
                    </a:cubicBezTo>
                    <a:cubicBezTo>
                      <a:pt x="0" y="1"/>
                      <a:pt x="1" y="1"/>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6" name="Freeform 251"/>
              <p:cNvSpPr>
                <a:spLocks/>
              </p:cNvSpPr>
              <p:nvPr/>
            </p:nvSpPr>
            <p:spPr bwMode="auto">
              <a:xfrm>
                <a:off x="-1308099" y="3146422"/>
                <a:ext cx="6350" cy="3175"/>
              </a:xfrm>
              <a:custGeom>
                <a:avLst/>
                <a:gdLst/>
                <a:ahLst/>
                <a:cxnLst>
                  <a:cxn ang="0">
                    <a:pos x="2" y="0"/>
                  </a:cxn>
                  <a:cxn ang="0">
                    <a:pos x="0" y="0"/>
                  </a:cxn>
                  <a:cxn ang="0">
                    <a:pos x="1" y="1"/>
                  </a:cxn>
                  <a:cxn ang="0">
                    <a:pos x="2" y="1"/>
                  </a:cxn>
                  <a:cxn ang="0">
                    <a:pos x="2" y="0"/>
                  </a:cxn>
                </a:cxnLst>
                <a:rect l="0" t="0" r="r" b="b"/>
                <a:pathLst>
                  <a:path w="2" h="1">
                    <a:moveTo>
                      <a:pt x="2" y="0"/>
                    </a:moveTo>
                    <a:cubicBezTo>
                      <a:pt x="0" y="0"/>
                      <a:pt x="0" y="0"/>
                      <a:pt x="0" y="0"/>
                    </a:cubicBezTo>
                    <a:cubicBezTo>
                      <a:pt x="1" y="1"/>
                      <a:pt x="1" y="1"/>
                      <a:pt x="1"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7" name="Freeform 252"/>
              <p:cNvSpPr>
                <a:spLocks/>
              </p:cNvSpPr>
              <p:nvPr/>
            </p:nvSpPr>
            <p:spPr bwMode="auto">
              <a:xfrm>
                <a:off x="-5738810" y="2668584"/>
                <a:ext cx="3175" cy="3175"/>
              </a:xfrm>
              <a:custGeom>
                <a:avLst/>
                <a:gdLst/>
                <a:ahLst/>
                <a:cxnLst>
                  <a:cxn ang="0">
                    <a:pos x="1" y="0"/>
                  </a:cxn>
                  <a:cxn ang="0">
                    <a:pos x="0" y="0"/>
                  </a:cxn>
                  <a:cxn ang="0">
                    <a:pos x="0" y="1"/>
                  </a:cxn>
                  <a:cxn ang="0">
                    <a:pos x="0" y="1"/>
                  </a:cxn>
                  <a:cxn ang="0">
                    <a:pos x="1" y="0"/>
                  </a:cxn>
                </a:cxnLst>
                <a:rect l="0" t="0" r="r" b="b"/>
                <a:pathLst>
                  <a:path w="1" h="1">
                    <a:moveTo>
                      <a:pt x="1" y="0"/>
                    </a:moveTo>
                    <a:cubicBezTo>
                      <a:pt x="0" y="0"/>
                      <a:pt x="0" y="0"/>
                      <a:pt x="0" y="0"/>
                    </a:cubicBezTo>
                    <a:cubicBezTo>
                      <a:pt x="0" y="1"/>
                      <a:pt x="0" y="1"/>
                      <a:pt x="0" y="1"/>
                    </a:cubicBezTo>
                    <a:cubicBezTo>
                      <a:pt x="0" y="1"/>
                      <a:pt x="0" y="1"/>
                      <a:pt x="0" y="1"/>
                    </a:cubicBezTo>
                    <a:cubicBezTo>
                      <a:pt x="1" y="1"/>
                      <a:pt x="1" y="1"/>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8" name="Freeform 253"/>
              <p:cNvSpPr>
                <a:spLocks noEditPoints="1"/>
              </p:cNvSpPr>
              <p:nvPr/>
            </p:nvSpPr>
            <p:spPr bwMode="auto">
              <a:xfrm>
                <a:off x="-5035547" y="4459284"/>
                <a:ext cx="1163637" cy="3175"/>
              </a:xfrm>
              <a:custGeom>
                <a:avLst/>
                <a:gdLst/>
                <a:ahLst/>
                <a:cxnLst>
                  <a:cxn ang="0">
                    <a:pos x="1" y="0"/>
                  </a:cxn>
                  <a:cxn ang="0">
                    <a:pos x="0" y="0"/>
                  </a:cxn>
                  <a:cxn ang="0">
                    <a:pos x="0" y="1"/>
                  </a:cxn>
                  <a:cxn ang="0">
                    <a:pos x="1" y="1"/>
                  </a:cxn>
                  <a:cxn ang="0">
                    <a:pos x="1" y="0"/>
                  </a:cxn>
                  <a:cxn ang="0">
                    <a:pos x="310" y="0"/>
                  </a:cxn>
                  <a:cxn ang="0">
                    <a:pos x="309" y="0"/>
                  </a:cxn>
                  <a:cxn ang="0">
                    <a:pos x="309" y="1"/>
                  </a:cxn>
                  <a:cxn ang="0">
                    <a:pos x="310" y="1"/>
                  </a:cxn>
                  <a:cxn ang="0">
                    <a:pos x="310" y="0"/>
                  </a:cxn>
                </a:cxnLst>
                <a:rect l="0" t="0" r="r" b="b"/>
                <a:pathLst>
                  <a:path w="310" h="1">
                    <a:moveTo>
                      <a:pt x="1" y="0"/>
                    </a:moveTo>
                    <a:cubicBezTo>
                      <a:pt x="0" y="0"/>
                      <a:pt x="0" y="0"/>
                      <a:pt x="0" y="0"/>
                    </a:cubicBezTo>
                    <a:cubicBezTo>
                      <a:pt x="0" y="1"/>
                      <a:pt x="0" y="1"/>
                      <a:pt x="0" y="1"/>
                    </a:cubicBezTo>
                    <a:cubicBezTo>
                      <a:pt x="1" y="1"/>
                      <a:pt x="1" y="1"/>
                      <a:pt x="1" y="1"/>
                    </a:cubicBezTo>
                    <a:cubicBezTo>
                      <a:pt x="1" y="0"/>
                      <a:pt x="1" y="0"/>
                      <a:pt x="1" y="0"/>
                    </a:cubicBezTo>
                    <a:moveTo>
                      <a:pt x="310" y="0"/>
                    </a:moveTo>
                    <a:cubicBezTo>
                      <a:pt x="309" y="0"/>
                      <a:pt x="309" y="0"/>
                      <a:pt x="309" y="0"/>
                    </a:cubicBezTo>
                    <a:cubicBezTo>
                      <a:pt x="309" y="1"/>
                      <a:pt x="309" y="1"/>
                      <a:pt x="309" y="1"/>
                    </a:cubicBezTo>
                    <a:cubicBezTo>
                      <a:pt x="310" y="1"/>
                      <a:pt x="310" y="1"/>
                      <a:pt x="310" y="1"/>
                    </a:cubicBezTo>
                    <a:cubicBezTo>
                      <a:pt x="310" y="0"/>
                      <a:pt x="310" y="0"/>
                      <a:pt x="31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9" name="Freeform 254"/>
              <p:cNvSpPr>
                <a:spLocks noEditPoints="1"/>
              </p:cNvSpPr>
              <p:nvPr/>
            </p:nvSpPr>
            <p:spPr bwMode="auto">
              <a:xfrm>
                <a:off x="-3795710" y="4459284"/>
                <a:ext cx="1449387" cy="3175"/>
              </a:xfrm>
              <a:custGeom>
                <a:avLst/>
                <a:gdLst/>
                <a:ahLst/>
                <a:cxnLst>
                  <a:cxn ang="0">
                    <a:pos x="386" y="0"/>
                  </a:cxn>
                  <a:cxn ang="0">
                    <a:pos x="385" y="1"/>
                  </a:cxn>
                  <a:cxn ang="0">
                    <a:pos x="386" y="1"/>
                  </a:cxn>
                  <a:cxn ang="0">
                    <a:pos x="386" y="0"/>
                  </a:cxn>
                  <a:cxn ang="0">
                    <a:pos x="1" y="0"/>
                  </a:cxn>
                  <a:cxn ang="0">
                    <a:pos x="0" y="0"/>
                  </a:cxn>
                  <a:cxn ang="0">
                    <a:pos x="0" y="1"/>
                  </a:cxn>
                  <a:cxn ang="0">
                    <a:pos x="1" y="1"/>
                  </a:cxn>
                  <a:cxn ang="0">
                    <a:pos x="1" y="0"/>
                  </a:cxn>
                </a:cxnLst>
                <a:rect l="0" t="0" r="r" b="b"/>
                <a:pathLst>
                  <a:path w="386" h="1">
                    <a:moveTo>
                      <a:pt x="386" y="0"/>
                    </a:moveTo>
                    <a:cubicBezTo>
                      <a:pt x="385" y="1"/>
                      <a:pt x="385" y="1"/>
                      <a:pt x="385" y="1"/>
                    </a:cubicBezTo>
                    <a:cubicBezTo>
                      <a:pt x="386" y="1"/>
                      <a:pt x="386" y="1"/>
                      <a:pt x="386" y="1"/>
                    </a:cubicBezTo>
                    <a:cubicBezTo>
                      <a:pt x="386" y="0"/>
                      <a:pt x="386" y="0"/>
                      <a:pt x="386" y="0"/>
                    </a:cubicBezTo>
                    <a:moveTo>
                      <a:pt x="1" y="0"/>
                    </a:moveTo>
                    <a:cubicBezTo>
                      <a:pt x="0" y="0"/>
                      <a:pt x="0" y="0"/>
                      <a:pt x="0" y="0"/>
                    </a:cubicBezTo>
                    <a:cubicBezTo>
                      <a:pt x="0" y="1"/>
                      <a:pt x="0" y="1"/>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0" name="Freeform 255"/>
              <p:cNvSpPr>
                <a:spLocks noEditPoints="1"/>
              </p:cNvSpPr>
              <p:nvPr/>
            </p:nvSpPr>
            <p:spPr bwMode="auto">
              <a:xfrm>
                <a:off x="-2198687" y="4459284"/>
                <a:ext cx="1435100" cy="3175"/>
              </a:xfrm>
              <a:custGeom>
                <a:avLst/>
                <a:gdLst/>
                <a:ahLst/>
                <a:cxnLst>
                  <a:cxn ang="0">
                    <a:pos x="1" y="0"/>
                  </a:cxn>
                  <a:cxn ang="0">
                    <a:pos x="0" y="0"/>
                  </a:cxn>
                  <a:cxn ang="0">
                    <a:pos x="0" y="1"/>
                  </a:cxn>
                  <a:cxn ang="0">
                    <a:pos x="1" y="1"/>
                  </a:cxn>
                  <a:cxn ang="0">
                    <a:pos x="1" y="0"/>
                  </a:cxn>
                  <a:cxn ang="0">
                    <a:pos x="382" y="0"/>
                  </a:cxn>
                  <a:cxn ang="0">
                    <a:pos x="381" y="0"/>
                  </a:cxn>
                  <a:cxn ang="0">
                    <a:pos x="381" y="1"/>
                  </a:cxn>
                  <a:cxn ang="0">
                    <a:pos x="382" y="1"/>
                  </a:cxn>
                  <a:cxn ang="0">
                    <a:pos x="382" y="0"/>
                  </a:cxn>
                </a:cxnLst>
                <a:rect l="0" t="0" r="r" b="b"/>
                <a:pathLst>
                  <a:path w="382" h="1">
                    <a:moveTo>
                      <a:pt x="1" y="0"/>
                    </a:moveTo>
                    <a:cubicBezTo>
                      <a:pt x="0" y="0"/>
                      <a:pt x="0" y="0"/>
                      <a:pt x="0" y="0"/>
                    </a:cubicBezTo>
                    <a:cubicBezTo>
                      <a:pt x="0" y="1"/>
                      <a:pt x="0" y="1"/>
                      <a:pt x="0" y="1"/>
                    </a:cubicBezTo>
                    <a:cubicBezTo>
                      <a:pt x="1" y="1"/>
                      <a:pt x="1" y="1"/>
                      <a:pt x="1" y="1"/>
                    </a:cubicBezTo>
                    <a:cubicBezTo>
                      <a:pt x="1" y="0"/>
                      <a:pt x="1" y="0"/>
                      <a:pt x="1" y="0"/>
                    </a:cubicBezTo>
                    <a:moveTo>
                      <a:pt x="382" y="0"/>
                    </a:moveTo>
                    <a:cubicBezTo>
                      <a:pt x="381" y="0"/>
                      <a:pt x="381" y="0"/>
                      <a:pt x="381" y="0"/>
                    </a:cubicBezTo>
                    <a:cubicBezTo>
                      <a:pt x="381" y="1"/>
                      <a:pt x="381" y="1"/>
                      <a:pt x="381" y="1"/>
                    </a:cubicBezTo>
                    <a:cubicBezTo>
                      <a:pt x="382" y="1"/>
                      <a:pt x="382" y="1"/>
                      <a:pt x="382" y="1"/>
                    </a:cubicBezTo>
                    <a:cubicBezTo>
                      <a:pt x="382" y="0"/>
                      <a:pt x="382" y="0"/>
                      <a:pt x="38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1" name="Freeform 256"/>
              <p:cNvSpPr>
                <a:spLocks noEditPoints="1"/>
              </p:cNvSpPr>
              <p:nvPr/>
            </p:nvSpPr>
            <p:spPr bwMode="auto">
              <a:xfrm>
                <a:off x="-6316660" y="4459284"/>
                <a:ext cx="1168399" cy="3175"/>
              </a:xfrm>
              <a:custGeom>
                <a:avLst/>
                <a:gdLst/>
                <a:ahLst/>
                <a:cxnLst>
                  <a:cxn ang="0">
                    <a:pos x="1" y="0"/>
                  </a:cxn>
                  <a:cxn ang="0">
                    <a:pos x="0" y="0"/>
                  </a:cxn>
                  <a:cxn ang="0">
                    <a:pos x="0" y="1"/>
                  </a:cxn>
                  <a:cxn ang="0">
                    <a:pos x="1" y="1"/>
                  </a:cxn>
                  <a:cxn ang="0">
                    <a:pos x="1" y="0"/>
                  </a:cxn>
                  <a:cxn ang="0">
                    <a:pos x="311" y="0"/>
                  </a:cxn>
                  <a:cxn ang="0">
                    <a:pos x="311" y="0"/>
                  </a:cxn>
                  <a:cxn ang="0">
                    <a:pos x="310" y="1"/>
                  </a:cxn>
                  <a:cxn ang="0">
                    <a:pos x="311" y="1"/>
                  </a:cxn>
                  <a:cxn ang="0">
                    <a:pos x="311" y="0"/>
                  </a:cxn>
                </a:cxnLst>
                <a:rect l="0" t="0" r="r" b="b"/>
                <a:pathLst>
                  <a:path w="311" h="1">
                    <a:moveTo>
                      <a:pt x="1" y="0"/>
                    </a:moveTo>
                    <a:cubicBezTo>
                      <a:pt x="0" y="0"/>
                      <a:pt x="0" y="0"/>
                      <a:pt x="0" y="0"/>
                    </a:cubicBezTo>
                    <a:cubicBezTo>
                      <a:pt x="0" y="1"/>
                      <a:pt x="0" y="1"/>
                      <a:pt x="0" y="1"/>
                    </a:cubicBezTo>
                    <a:cubicBezTo>
                      <a:pt x="1" y="1"/>
                      <a:pt x="1" y="1"/>
                      <a:pt x="1" y="1"/>
                    </a:cubicBezTo>
                    <a:cubicBezTo>
                      <a:pt x="1" y="0"/>
                      <a:pt x="1" y="0"/>
                      <a:pt x="1" y="0"/>
                    </a:cubicBezTo>
                    <a:moveTo>
                      <a:pt x="311" y="0"/>
                    </a:moveTo>
                    <a:cubicBezTo>
                      <a:pt x="311" y="0"/>
                      <a:pt x="311" y="0"/>
                      <a:pt x="311" y="0"/>
                    </a:cubicBezTo>
                    <a:cubicBezTo>
                      <a:pt x="311" y="0"/>
                      <a:pt x="311" y="1"/>
                      <a:pt x="310" y="1"/>
                    </a:cubicBezTo>
                    <a:cubicBezTo>
                      <a:pt x="311" y="1"/>
                      <a:pt x="311" y="1"/>
                      <a:pt x="311" y="1"/>
                    </a:cubicBezTo>
                    <a:cubicBezTo>
                      <a:pt x="311" y="0"/>
                      <a:pt x="311" y="0"/>
                      <a:pt x="31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2" name="Freeform 257"/>
              <p:cNvSpPr>
                <a:spLocks noEditPoints="1"/>
              </p:cNvSpPr>
              <p:nvPr/>
            </p:nvSpPr>
            <p:spPr bwMode="auto">
              <a:xfrm>
                <a:off x="-6211885" y="5200645"/>
                <a:ext cx="747713" cy="3175"/>
              </a:xfrm>
              <a:custGeom>
                <a:avLst/>
                <a:gdLst/>
                <a:ahLst/>
                <a:cxnLst>
                  <a:cxn ang="0">
                    <a:pos x="0" y="0"/>
                  </a:cxn>
                  <a:cxn ang="0">
                    <a:pos x="0" y="0"/>
                  </a:cxn>
                  <a:cxn ang="0">
                    <a:pos x="0" y="1"/>
                  </a:cxn>
                  <a:cxn ang="0">
                    <a:pos x="0" y="1"/>
                  </a:cxn>
                  <a:cxn ang="0">
                    <a:pos x="0" y="0"/>
                  </a:cxn>
                  <a:cxn ang="0">
                    <a:pos x="199" y="0"/>
                  </a:cxn>
                  <a:cxn ang="0">
                    <a:pos x="198" y="0"/>
                  </a:cxn>
                  <a:cxn ang="0">
                    <a:pos x="198" y="1"/>
                  </a:cxn>
                  <a:cxn ang="0">
                    <a:pos x="199" y="1"/>
                  </a:cxn>
                  <a:cxn ang="0">
                    <a:pos x="199" y="0"/>
                  </a:cxn>
                </a:cxnLst>
                <a:rect l="0" t="0" r="r" b="b"/>
                <a:pathLst>
                  <a:path w="199" h="1">
                    <a:moveTo>
                      <a:pt x="0" y="0"/>
                    </a:moveTo>
                    <a:cubicBezTo>
                      <a:pt x="0" y="0"/>
                      <a:pt x="0" y="0"/>
                      <a:pt x="0" y="0"/>
                    </a:cubicBezTo>
                    <a:cubicBezTo>
                      <a:pt x="0" y="1"/>
                      <a:pt x="0" y="1"/>
                      <a:pt x="0" y="1"/>
                    </a:cubicBezTo>
                    <a:cubicBezTo>
                      <a:pt x="0" y="1"/>
                      <a:pt x="0" y="1"/>
                      <a:pt x="0" y="1"/>
                    </a:cubicBezTo>
                    <a:cubicBezTo>
                      <a:pt x="0" y="0"/>
                      <a:pt x="0" y="0"/>
                      <a:pt x="0" y="0"/>
                    </a:cubicBezTo>
                    <a:moveTo>
                      <a:pt x="199" y="0"/>
                    </a:moveTo>
                    <a:cubicBezTo>
                      <a:pt x="198" y="0"/>
                      <a:pt x="198" y="0"/>
                      <a:pt x="198" y="0"/>
                    </a:cubicBezTo>
                    <a:cubicBezTo>
                      <a:pt x="198" y="1"/>
                      <a:pt x="198" y="1"/>
                      <a:pt x="198" y="1"/>
                    </a:cubicBezTo>
                    <a:cubicBezTo>
                      <a:pt x="199" y="1"/>
                      <a:pt x="199" y="1"/>
                      <a:pt x="199" y="1"/>
                    </a:cubicBezTo>
                    <a:cubicBezTo>
                      <a:pt x="199" y="0"/>
                      <a:pt x="199" y="0"/>
                      <a:pt x="199"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3" name="Freeform 258"/>
              <p:cNvSpPr>
                <a:spLocks noEditPoints="1"/>
              </p:cNvSpPr>
              <p:nvPr/>
            </p:nvSpPr>
            <p:spPr bwMode="auto">
              <a:xfrm>
                <a:off x="-4837110" y="5200645"/>
                <a:ext cx="739774" cy="3175"/>
              </a:xfrm>
              <a:custGeom>
                <a:avLst/>
                <a:gdLst/>
                <a:ahLst/>
                <a:cxnLst>
                  <a:cxn ang="0">
                    <a:pos x="1" y="0"/>
                  </a:cxn>
                  <a:cxn ang="0">
                    <a:pos x="0" y="0"/>
                  </a:cxn>
                  <a:cxn ang="0">
                    <a:pos x="0" y="1"/>
                  </a:cxn>
                  <a:cxn ang="0">
                    <a:pos x="1" y="1"/>
                  </a:cxn>
                  <a:cxn ang="0">
                    <a:pos x="1" y="0"/>
                  </a:cxn>
                  <a:cxn ang="0">
                    <a:pos x="197" y="0"/>
                  </a:cxn>
                  <a:cxn ang="0">
                    <a:pos x="196" y="0"/>
                  </a:cxn>
                  <a:cxn ang="0">
                    <a:pos x="196" y="1"/>
                  </a:cxn>
                  <a:cxn ang="0">
                    <a:pos x="197" y="1"/>
                  </a:cxn>
                  <a:cxn ang="0">
                    <a:pos x="197" y="0"/>
                  </a:cxn>
                </a:cxnLst>
                <a:rect l="0" t="0" r="r" b="b"/>
                <a:pathLst>
                  <a:path w="197" h="1">
                    <a:moveTo>
                      <a:pt x="1" y="0"/>
                    </a:moveTo>
                    <a:cubicBezTo>
                      <a:pt x="0" y="0"/>
                      <a:pt x="0" y="0"/>
                      <a:pt x="0" y="0"/>
                    </a:cubicBezTo>
                    <a:cubicBezTo>
                      <a:pt x="0" y="1"/>
                      <a:pt x="0" y="1"/>
                      <a:pt x="0" y="1"/>
                    </a:cubicBezTo>
                    <a:cubicBezTo>
                      <a:pt x="1" y="1"/>
                      <a:pt x="1" y="1"/>
                      <a:pt x="1" y="1"/>
                    </a:cubicBezTo>
                    <a:cubicBezTo>
                      <a:pt x="1" y="0"/>
                      <a:pt x="1" y="0"/>
                      <a:pt x="1" y="0"/>
                    </a:cubicBezTo>
                    <a:moveTo>
                      <a:pt x="197" y="0"/>
                    </a:moveTo>
                    <a:cubicBezTo>
                      <a:pt x="196" y="0"/>
                      <a:pt x="196" y="0"/>
                      <a:pt x="196" y="0"/>
                    </a:cubicBezTo>
                    <a:cubicBezTo>
                      <a:pt x="196" y="1"/>
                      <a:pt x="196" y="1"/>
                      <a:pt x="196" y="1"/>
                    </a:cubicBezTo>
                    <a:cubicBezTo>
                      <a:pt x="197" y="1"/>
                      <a:pt x="197" y="1"/>
                      <a:pt x="197" y="1"/>
                    </a:cubicBezTo>
                    <a:cubicBezTo>
                      <a:pt x="197" y="0"/>
                      <a:pt x="197" y="0"/>
                      <a:pt x="197"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4" name="Freeform 259"/>
              <p:cNvSpPr>
                <a:spLocks noEditPoints="1"/>
              </p:cNvSpPr>
              <p:nvPr/>
            </p:nvSpPr>
            <p:spPr bwMode="auto">
              <a:xfrm>
                <a:off x="-3594098" y="5200645"/>
                <a:ext cx="928687" cy="3175"/>
              </a:xfrm>
              <a:custGeom>
                <a:avLst/>
                <a:gdLst/>
                <a:ahLst/>
                <a:cxnLst>
                  <a:cxn ang="0">
                    <a:pos x="1" y="0"/>
                  </a:cxn>
                  <a:cxn ang="0">
                    <a:pos x="0" y="0"/>
                  </a:cxn>
                  <a:cxn ang="0">
                    <a:pos x="0" y="1"/>
                  </a:cxn>
                  <a:cxn ang="0">
                    <a:pos x="1" y="1"/>
                  </a:cxn>
                  <a:cxn ang="0">
                    <a:pos x="1" y="0"/>
                  </a:cxn>
                  <a:cxn ang="0">
                    <a:pos x="247" y="0"/>
                  </a:cxn>
                  <a:cxn ang="0">
                    <a:pos x="246" y="0"/>
                  </a:cxn>
                  <a:cxn ang="0">
                    <a:pos x="246" y="1"/>
                  </a:cxn>
                  <a:cxn ang="0">
                    <a:pos x="247" y="1"/>
                  </a:cxn>
                  <a:cxn ang="0">
                    <a:pos x="247" y="0"/>
                  </a:cxn>
                </a:cxnLst>
                <a:rect l="0" t="0" r="r" b="b"/>
                <a:pathLst>
                  <a:path w="247" h="1">
                    <a:moveTo>
                      <a:pt x="1" y="0"/>
                    </a:moveTo>
                    <a:cubicBezTo>
                      <a:pt x="0" y="0"/>
                      <a:pt x="0" y="0"/>
                      <a:pt x="0" y="0"/>
                    </a:cubicBezTo>
                    <a:cubicBezTo>
                      <a:pt x="0" y="1"/>
                      <a:pt x="0" y="1"/>
                      <a:pt x="0" y="1"/>
                    </a:cubicBezTo>
                    <a:cubicBezTo>
                      <a:pt x="1" y="1"/>
                      <a:pt x="1" y="1"/>
                      <a:pt x="1" y="1"/>
                    </a:cubicBezTo>
                    <a:cubicBezTo>
                      <a:pt x="1" y="0"/>
                      <a:pt x="1" y="0"/>
                      <a:pt x="1" y="0"/>
                    </a:cubicBezTo>
                    <a:moveTo>
                      <a:pt x="247" y="0"/>
                    </a:moveTo>
                    <a:cubicBezTo>
                      <a:pt x="246" y="0"/>
                      <a:pt x="246" y="0"/>
                      <a:pt x="246" y="0"/>
                    </a:cubicBezTo>
                    <a:cubicBezTo>
                      <a:pt x="246" y="1"/>
                      <a:pt x="246" y="1"/>
                      <a:pt x="246" y="1"/>
                    </a:cubicBezTo>
                    <a:cubicBezTo>
                      <a:pt x="247" y="1"/>
                      <a:pt x="247" y="1"/>
                      <a:pt x="247" y="1"/>
                    </a:cubicBezTo>
                    <a:cubicBezTo>
                      <a:pt x="247" y="0"/>
                      <a:pt x="247" y="0"/>
                      <a:pt x="247"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5" name="Freeform 260"/>
              <p:cNvSpPr>
                <a:spLocks noEditPoints="1"/>
              </p:cNvSpPr>
              <p:nvPr/>
            </p:nvSpPr>
            <p:spPr bwMode="auto">
              <a:xfrm>
                <a:off x="-1879599" y="5200645"/>
                <a:ext cx="968374" cy="3175"/>
              </a:xfrm>
              <a:custGeom>
                <a:avLst/>
                <a:gdLst/>
                <a:ahLst/>
                <a:cxnLst>
                  <a:cxn ang="0">
                    <a:pos x="1" y="0"/>
                  </a:cxn>
                  <a:cxn ang="0">
                    <a:pos x="0" y="0"/>
                  </a:cxn>
                  <a:cxn ang="0">
                    <a:pos x="0" y="1"/>
                  </a:cxn>
                  <a:cxn ang="0">
                    <a:pos x="2" y="1"/>
                  </a:cxn>
                  <a:cxn ang="0">
                    <a:pos x="1" y="0"/>
                  </a:cxn>
                  <a:cxn ang="0">
                    <a:pos x="258" y="0"/>
                  </a:cxn>
                  <a:cxn ang="0">
                    <a:pos x="258" y="0"/>
                  </a:cxn>
                  <a:cxn ang="0">
                    <a:pos x="257" y="1"/>
                  </a:cxn>
                  <a:cxn ang="0">
                    <a:pos x="258" y="1"/>
                  </a:cxn>
                  <a:cxn ang="0">
                    <a:pos x="258" y="0"/>
                  </a:cxn>
                </a:cxnLst>
                <a:rect l="0" t="0" r="r" b="b"/>
                <a:pathLst>
                  <a:path w="258" h="1">
                    <a:moveTo>
                      <a:pt x="1" y="0"/>
                    </a:moveTo>
                    <a:cubicBezTo>
                      <a:pt x="0" y="0"/>
                      <a:pt x="0" y="0"/>
                      <a:pt x="0" y="0"/>
                    </a:cubicBezTo>
                    <a:cubicBezTo>
                      <a:pt x="0" y="1"/>
                      <a:pt x="0" y="1"/>
                      <a:pt x="0" y="1"/>
                    </a:cubicBezTo>
                    <a:cubicBezTo>
                      <a:pt x="2" y="1"/>
                      <a:pt x="2" y="1"/>
                      <a:pt x="2" y="1"/>
                    </a:cubicBezTo>
                    <a:cubicBezTo>
                      <a:pt x="2" y="1"/>
                      <a:pt x="2" y="0"/>
                      <a:pt x="1" y="0"/>
                    </a:cubicBezTo>
                    <a:moveTo>
                      <a:pt x="258" y="0"/>
                    </a:moveTo>
                    <a:cubicBezTo>
                      <a:pt x="258" y="0"/>
                      <a:pt x="258" y="0"/>
                      <a:pt x="258" y="0"/>
                    </a:cubicBezTo>
                    <a:cubicBezTo>
                      <a:pt x="257" y="1"/>
                      <a:pt x="257" y="1"/>
                      <a:pt x="257" y="1"/>
                    </a:cubicBezTo>
                    <a:cubicBezTo>
                      <a:pt x="258" y="1"/>
                      <a:pt x="258" y="1"/>
                      <a:pt x="258" y="1"/>
                    </a:cubicBezTo>
                    <a:cubicBezTo>
                      <a:pt x="258" y="0"/>
                      <a:pt x="258" y="0"/>
                      <a:pt x="258"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6" name="Freeform 261"/>
              <p:cNvSpPr>
                <a:spLocks noEditPoints="1"/>
              </p:cNvSpPr>
              <p:nvPr/>
            </p:nvSpPr>
            <p:spPr bwMode="auto">
              <a:xfrm>
                <a:off x="-6175372" y="5319708"/>
                <a:ext cx="631824" cy="1587"/>
              </a:xfrm>
              <a:custGeom>
                <a:avLst/>
                <a:gdLst/>
                <a:ahLst/>
                <a:cxnLst>
                  <a:cxn ang="0">
                    <a:pos x="1" y="0"/>
                  </a:cxn>
                  <a:cxn ang="0">
                    <a:pos x="0" y="0"/>
                  </a:cxn>
                  <a:cxn ang="0">
                    <a:pos x="0" y="0"/>
                  </a:cxn>
                  <a:cxn ang="0">
                    <a:pos x="1" y="0"/>
                  </a:cxn>
                  <a:cxn ang="0">
                    <a:pos x="1" y="0"/>
                  </a:cxn>
                  <a:cxn ang="0">
                    <a:pos x="1" y="0"/>
                  </a:cxn>
                  <a:cxn ang="0">
                    <a:pos x="1" y="0"/>
                  </a:cxn>
                  <a:cxn ang="0">
                    <a:pos x="168" y="0"/>
                  </a:cxn>
                  <a:cxn ang="0">
                    <a:pos x="168" y="0"/>
                  </a:cxn>
                  <a:cxn ang="0">
                    <a:pos x="168" y="0"/>
                  </a:cxn>
                  <a:cxn ang="0">
                    <a:pos x="168" y="0"/>
                  </a:cxn>
                  <a:cxn ang="0">
                    <a:pos x="168" y="0"/>
                  </a:cxn>
                </a:cxnLst>
                <a:rect l="0" t="0" r="r" b="b"/>
                <a:pathLst>
                  <a:path w="168">
                    <a:moveTo>
                      <a:pt x="1" y="0"/>
                    </a:move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0"/>
                      <a:pt x="1" y="0"/>
                    </a:cubicBezTo>
                    <a:moveTo>
                      <a:pt x="168" y="0"/>
                    </a:moveTo>
                    <a:cubicBezTo>
                      <a:pt x="168" y="0"/>
                      <a:pt x="168" y="0"/>
                      <a:pt x="168" y="0"/>
                    </a:cubicBezTo>
                    <a:cubicBezTo>
                      <a:pt x="168" y="0"/>
                      <a:pt x="168" y="0"/>
                      <a:pt x="168" y="0"/>
                    </a:cubicBezTo>
                    <a:cubicBezTo>
                      <a:pt x="168" y="0"/>
                      <a:pt x="168" y="0"/>
                      <a:pt x="168" y="0"/>
                    </a:cubicBezTo>
                    <a:cubicBezTo>
                      <a:pt x="168" y="0"/>
                      <a:pt x="168" y="0"/>
                      <a:pt x="168"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7" name="Freeform 262"/>
              <p:cNvSpPr>
                <a:spLocks noEditPoints="1"/>
              </p:cNvSpPr>
              <p:nvPr/>
            </p:nvSpPr>
            <p:spPr bwMode="auto">
              <a:xfrm>
                <a:off x="-4779960" y="5324470"/>
                <a:ext cx="627063" cy="3175"/>
              </a:xfrm>
              <a:custGeom>
                <a:avLst/>
                <a:gdLst/>
                <a:ahLst/>
                <a:cxnLst>
                  <a:cxn ang="0">
                    <a:pos x="0" y="0"/>
                  </a:cxn>
                  <a:cxn ang="0">
                    <a:pos x="0" y="0"/>
                  </a:cxn>
                  <a:cxn ang="0">
                    <a:pos x="0" y="1"/>
                  </a:cxn>
                  <a:cxn ang="0">
                    <a:pos x="1" y="1"/>
                  </a:cxn>
                  <a:cxn ang="0">
                    <a:pos x="0" y="0"/>
                  </a:cxn>
                  <a:cxn ang="0">
                    <a:pos x="167" y="0"/>
                  </a:cxn>
                  <a:cxn ang="0">
                    <a:pos x="167" y="0"/>
                  </a:cxn>
                  <a:cxn ang="0">
                    <a:pos x="166" y="1"/>
                  </a:cxn>
                  <a:cxn ang="0">
                    <a:pos x="167" y="1"/>
                  </a:cxn>
                  <a:cxn ang="0">
                    <a:pos x="167" y="0"/>
                  </a:cxn>
                </a:cxnLst>
                <a:rect l="0" t="0" r="r" b="b"/>
                <a:pathLst>
                  <a:path w="167" h="1">
                    <a:moveTo>
                      <a:pt x="0" y="0"/>
                    </a:moveTo>
                    <a:cubicBezTo>
                      <a:pt x="0" y="0"/>
                      <a:pt x="0" y="0"/>
                      <a:pt x="0" y="0"/>
                    </a:cubicBezTo>
                    <a:cubicBezTo>
                      <a:pt x="0" y="1"/>
                      <a:pt x="0" y="1"/>
                      <a:pt x="0" y="1"/>
                    </a:cubicBezTo>
                    <a:cubicBezTo>
                      <a:pt x="1" y="1"/>
                      <a:pt x="1" y="1"/>
                      <a:pt x="1" y="1"/>
                    </a:cubicBezTo>
                    <a:cubicBezTo>
                      <a:pt x="1" y="1"/>
                      <a:pt x="1" y="1"/>
                      <a:pt x="0" y="0"/>
                    </a:cubicBezTo>
                    <a:moveTo>
                      <a:pt x="167" y="0"/>
                    </a:moveTo>
                    <a:cubicBezTo>
                      <a:pt x="167" y="0"/>
                      <a:pt x="167" y="0"/>
                      <a:pt x="167" y="0"/>
                    </a:cubicBezTo>
                    <a:cubicBezTo>
                      <a:pt x="166" y="1"/>
                      <a:pt x="166" y="1"/>
                      <a:pt x="166" y="1"/>
                    </a:cubicBezTo>
                    <a:cubicBezTo>
                      <a:pt x="167" y="1"/>
                      <a:pt x="167" y="1"/>
                      <a:pt x="167" y="1"/>
                    </a:cubicBezTo>
                    <a:cubicBezTo>
                      <a:pt x="167" y="0"/>
                      <a:pt x="167" y="0"/>
                      <a:pt x="167"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8" name="Freeform 263"/>
              <p:cNvSpPr>
                <a:spLocks noEditPoints="1"/>
              </p:cNvSpPr>
              <p:nvPr/>
            </p:nvSpPr>
            <p:spPr bwMode="auto">
              <a:xfrm>
                <a:off x="-3536948" y="5324470"/>
                <a:ext cx="792163" cy="3175"/>
              </a:xfrm>
              <a:custGeom>
                <a:avLst/>
                <a:gdLst/>
                <a:ahLst/>
                <a:cxnLst>
                  <a:cxn ang="0">
                    <a:pos x="0" y="0"/>
                  </a:cxn>
                  <a:cxn ang="0">
                    <a:pos x="0" y="0"/>
                  </a:cxn>
                  <a:cxn ang="0">
                    <a:pos x="0" y="1"/>
                  </a:cxn>
                  <a:cxn ang="0">
                    <a:pos x="1" y="1"/>
                  </a:cxn>
                  <a:cxn ang="0">
                    <a:pos x="0" y="0"/>
                  </a:cxn>
                  <a:cxn ang="0">
                    <a:pos x="211" y="0"/>
                  </a:cxn>
                  <a:cxn ang="0">
                    <a:pos x="210" y="0"/>
                  </a:cxn>
                  <a:cxn ang="0">
                    <a:pos x="210" y="1"/>
                  </a:cxn>
                  <a:cxn ang="0">
                    <a:pos x="211" y="1"/>
                  </a:cxn>
                  <a:cxn ang="0">
                    <a:pos x="211" y="0"/>
                  </a:cxn>
                </a:cxnLst>
                <a:rect l="0" t="0" r="r" b="b"/>
                <a:pathLst>
                  <a:path w="211" h="1">
                    <a:moveTo>
                      <a:pt x="0" y="0"/>
                    </a:moveTo>
                    <a:cubicBezTo>
                      <a:pt x="0" y="0"/>
                      <a:pt x="0" y="0"/>
                      <a:pt x="0" y="0"/>
                    </a:cubicBezTo>
                    <a:cubicBezTo>
                      <a:pt x="0" y="1"/>
                      <a:pt x="0" y="1"/>
                      <a:pt x="0" y="1"/>
                    </a:cubicBezTo>
                    <a:cubicBezTo>
                      <a:pt x="1" y="1"/>
                      <a:pt x="1" y="1"/>
                      <a:pt x="1" y="1"/>
                    </a:cubicBezTo>
                    <a:cubicBezTo>
                      <a:pt x="1" y="1"/>
                      <a:pt x="1" y="1"/>
                      <a:pt x="0" y="0"/>
                    </a:cubicBezTo>
                    <a:moveTo>
                      <a:pt x="211" y="0"/>
                    </a:moveTo>
                    <a:cubicBezTo>
                      <a:pt x="210" y="0"/>
                      <a:pt x="210" y="0"/>
                      <a:pt x="210" y="0"/>
                    </a:cubicBezTo>
                    <a:cubicBezTo>
                      <a:pt x="210" y="1"/>
                      <a:pt x="210" y="1"/>
                      <a:pt x="210" y="1"/>
                    </a:cubicBezTo>
                    <a:cubicBezTo>
                      <a:pt x="211" y="1"/>
                      <a:pt x="211" y="1"/>
                      <a:pt x="211" y="1"/>
                    </a:cubicBezTo>
                    <a:cubicBezTo>
                      <a:pt x="211" y="0"/>
                      <a:pt x="211" y="0"/>
                      <a:pt x="21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9" name="Freeform 264"/>
              <p:cNvSpPr>
                <a:spLocks/>
              </p:cNvSpPr>
              <p:nvPr/>
            </p:nvSpPr>
            <p:spPr bwMode="auto">
              <a:xfrm>
                <a:off x="-1766887" y="5324470"/>
                <a:ext cx="7937" cy="3175"/>
              </a:xfrm>
              <a:custGeom>
                <a:avLst/>
                <a:gdLst/>
                <a:ahLst/>
                <a:cxnLst>
                  <a:cxn ang="0">
                    <a:pos x="1" y="0"/>
                  </a:cxn>
                  <a:cxn ang="0">
                    <a:pos x="0" y="0"/>
                  </a:cxn>
                  <a:cxn ang="0">
                    <a:pos x="0" y="1"/>
                  </a:cxn>
                  <a:cxn ang="0">
                    <a:pos x="2" y="1"/>
                  </a:cxn>
                  <a:cxn ang="0">
                    <a:pos x="1" y="0"/>
                  </a:cxn>
                </a:cxnLst>
                <a:rect l="0" t="0" r="r" b="b"/>
                <a:pathLst>
                  <a:path w="2" h="1">
                    <a:moveTo>
                      <a:pt x="1" y="0"/>
                    </a:moveTo>
                    <a:cubicBezTo>
                      <a:pt x="0" y="0"/>
                      <a:pt x="0" y="0"/>
                      <a:pt x="0" y="0"/>
                    </a:cubicBezTo>
                    <a:cubicBezTo>
                      <a:pt x="0" y="1"/>
                      <a:pt x="0" y="1"/>
                      <a:pt x="0" y="1"/>
                    </a:cubicBezTo>
                    <a:cubicBezTo>
                      <a:pt x="2" y="1"/>
                      <a:pt x="2" y="1"/>
                      <a:pt x="2" y="1"/>
                    </a:cubicBezTo>
                    <a:cubicBezTo>
                      <a:pt x="1" y="1"/>
                      <a:pt x="1" y="1"/>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0" name="Freeform 265"/>
              <p:cNvSpPr>
                <a:spLocks noEditPoints="1"/>
              </p:cNvSpPr>
              <p:nvPr/>
            </p:nvSpPr>
            <p:spPr bwMode="auto">
              <a:xfrm>
                <a:off x="-6343647" y="3965572"/>
                <a:ext cx="5591173" cy="4762"/>
              </a:xfrm>
              <a:custGeom>
                <a:avLst/>
                <a:gdLst/>
                <a:ahLst/>
                <a:cxnLst>
                  <a:cxn ang="0">
                    <a:pos x="1" y="0"/>
                  </a:cxn>
                  <a:cxn ang="0">
                    <a:pos x="0" y="0"/>
                  </a:cxn>
                  <a:cxn ang="0">
                    <a:pos x="0" y="1"/>
                  </a:cxn>
                  <a:cxn ang="0">
                    <a:pos x="1" y="1"/>
                  </a:cxn>
                  <a:cxn ang="0">
                    <a:pos x="1" y="0"/>
                  </a:cxn>
                  <a:cxn ang="0">
                    <a:pos x="1488" y="0"/>
                  </a:cxn>
                  <a:cxn ang="0">
                    <a:pos x="1487" y="0"/>
                  </a:cxn>
                  <a:cxn ang="0">
                    <a:pos x="1487" y="1"/>
                  </a:cxn>
                  <a:cxn ang="0">
                    <a:pos x="1488" y="1"/>
                  </a:cxn>
                  <a:cxn ang="0">
                    <a:pos x="1488" y="0"/>
                  </a:cxn>
                </a:cxnLst>
                <a:rect l="0" t="0" r="r" b="b"/>
                <a:pathLst>
                  <a:path w="1488" h="1">
                    <a:moveTo>
                      <a:pt x="1" y="0"/>
                    </a:moveTo>
                    <a:cubicBezTo>
                      <a:pt x="0" y="0"/>
                      <a:pt x="0" y="0"/>
                      <a:pt x="0" y="0"/>
                    </a:cubicBezTo>
                    <a:cubicBezTo>
                      <a:pt x="0" y="1"/>
                      <a:pt x="0" y="1"/>
                      <a:pt x="0" y="1"/>
                    </a:cubicBezTo>
                    <a:cubicBezTo>
                      <a:pt x="1" y="1"/>
                      <a:pt x="1" y="1"/>
                      <a:pt x="1" y="1"/>
                    </a:cubicBezTo>
                    <a:cubicBezTo>
                      <a:pt x="1" y="0"/>
                      <a:pt x="1" y="0"/>
                      <a:pt x="1" y="0"/>
                    </a:cubicBezTo>
                    <a:moveTo>
                      <a:pt x="1488" y="0"/>
                    </a:moveTo>
                    <a:cubicBezTo>
                      <a:pt x="1487" y="0"/>
                      <a:pt x="1487" y="0"/>
                      <a:pt x="1487" y="0"/>
                    </a:cubicBezTo>
                    <a:cubicBezTo>
                      <a:pt x="1487" y="1"/>
                      <a:pt x="1487" y="1"/>
                      <a:pt x="1487" y="1"/>
                    </a:cubicBezTo>
                    <a:cubicBezTo>
                      <a:pt x="1488" y="1"/>
                      <a:pt x="1488" y="1"/>
                      <a:pt x="1488" y="1"/>
                    </a:cubicBezTo>
                    <a:cubicBezTo>
                      <a:pt x="1488" y="0"/>
                      <a:pt x="1488" y="0"/>
                      <a:pt x="1488"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1" name="Freeform 266"/>
              <p:cNvSpPr>
                <a:spLocks noEditPoints="1"/>
              </p:cNvSpPr>
              <p:nvPr/>
            </p:nvSpPr>
            <p:spPr bwMode="auto">
              <a:xfrm>
                <a:off x="-6264273" y="3581397"/>
                <a:ext cx="2073274" cy="4762"/>
              </a:xfrm>
              <a:custGeom>
                <a:avLst/>
                <a:gdLst/>
                <a:ahLst/>
                <a:cxnLst>
                  <a:cxn ang="0">
                    <a:pos x="1" y="0"/>
                  </a:cxn>
                  <a:cxn ang="0">
                    <a:pos x="0" y="0"/>
                  </a:cxn>
                  <a:cxn ang="0">
                    <a:pos x="0" y="1"/>
                  </a:cxn>
                  <a:cxn ang="0">
                    <a:pos x="1" y="1"/>
                  </a:cxn>
                  <a:cxn ang="0">
                    <a:pos x="1" y="0"/>
                  </a:cxn>
                  <a:cxn ang="0">
                    <a:pos x="552" y="0"/>
                  </a:cxn>
                  <a:cxn ang="0">
                    <a:pos x="551" y="0"/>
                  </a:cxn>
                  <a:cxn ang="0">
                    <a:pos x="551" y="1"/>
                  </a:cxn>
                  <a:cxn ang="0">
                    <a:pos x="552" y="1"/>
                  </a:cxn>
                  <a:cxn ang="0">
                    <a:pos x="552" y="0"/>
                  </a:cxn>
                </a:cxnLst>
                <a:rect l="0" t="0" r="r" b="b"/>
                <a:pathLst>
                  <a:path w="552" h="1">
                    <a:moveTo>
                      <a:pt x="1" y="0"/>
                    </a:moveTo>
                    <a:cubicBezTo>
                      <a:pt x="0" y="0"/>
                      <a:pt x="0" y="0"/>
                      <a:pt x="0" y="0"/>
                    </a:cubicBezTo>
                    <a:cubicBezTo>
                      <a:pt x="0" y="1"/>
                      <a:pt x="0" y="1"/>
                      <a:pt x="0" y="1"/>
                    </a:cubicBezTo>
                    <a:cubicBezTo>
                      <a:pt x="1" y="1"/>
                      <a:pt x="1" y="1"/>
                      <a:pt x="1" y="1"/>
                    </a:cubicBezTo>
                    <a:cubicBezTo>
                      <a:pt x="1" y="0"/>
                      <a:pt x="1" y="0"/>
                      <a:pt x="1" y="0"/>
                    </a:cubicBezTo>
                    <a:moveTo>
                      <a:pt x="552" y="0"/>
                    </a:moveTo>
                    <a:cubicBezTo>
                      <a:pt x="551" y="0"/>
                      <a:pt x="551" y="0"/>
                      <a:pt x="551" y="0"/>
                    </a:cubicBezTo>
                    <a:cubicBezTo>
                      <a:pt x="551" y="0"/>
                      <a:pt x="551" y="0"/>
                      <a:pt x="551" y="1"/>
                    </a:cubicBezTo>
                    <a:cubicBezTo>
                      <a:pt x="552" y="1"/>
                      <a:pt x="552" y="1"/>
                      <a:pt x="552" y="1"/>
                    </a:cubicBezTo>
                    <a:cubicBezTo>
                      <a:pt x="552" y="0"/>
                      <a:pt x="552" y="0"/>
                      <a:pt x="55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2" name="Freeform 267"/>
              <p:cNvSpPr>
                <a:spLocks noEditPoints="1"/>
              </p:cNvSpPr>
              <p:nvPr/>
            </p:nvSpPr>
            <p:spPr bwMode="auto">
              <a:xfrm>
                <a:off x="-4078287" y="3581397"/>
                <a:ext cx="3182937" cy="4762"/>
              </a:xfrm>
              <a:custGeom>
                <a:avLst/>
                <a:gdLst/>
                <a:ahLst/>
                <a:cxnLst>
                  <a:cxn ang="0">
                    <a:pos x="1" y="0"/>
                  </a:cxn>
                  <a:cxn ang="0">
                    <a:pos x="0" y="0"/>
                  </a:cxn>
                  <a:cxn ang="0">
                    <a:pos x="0" y="1"/>
                  </a:cxn>
                  <a:cxn ang="0">
                    <a:pos x="1" y="1"/>
                  </a:cxn>
                  <a:cxn ang="0">
                    <a:pos x="1" y="0"/>
                  </a:cxn>
                  <a:cxn ang="0">
                    <a:pos x="847" y="0"/>
                  </a:cxn>
                  <a:cxn ang="0">
                    <a:pos x="846" y="0"/>
                  </a:cxn>
                  <a:cxn ang="0">
                    <a:pos x="846" y="1"/>
                  </a:cxn>
                  <a:cxn ang="0">
                    <a:pos x="847" y="1"/>
                  </a:cxn>
                  <a:cxn ang="0">
                    <a:pos x="847" y="0"/>
                  </a:cxn>
                </a:cxnLst>
                <a:rect l="0" t="0" r="r" b="b"/>
                <a:pathLst>
                  <a:path w="847" h="1">
                    <a:moveTo>
                      <a:pt x="1" y="0"/>
                    </a:moveTo>
                    <a:cubicBezTo>
                      <a:pt x="0" y="0"/>
                      <a:pt x="0" y="0"/>
                      <a:pt x="0" y="0"/>
                    </a:cubicBezTo>
                    <a:cubicBezTo>
                      <a:pt x="0" y="1"/>
                      <a:pt x="0" y="1"/>
                      <a:pt x="0" y="1"/>
                    </a:cubicBezTo>
                    <a:cubicBezTo>
                      <a:pt x="1" y="1"/>
                      <a:pt x="1" y="1"/>
                      <a:pt x="1" y="1"/>
                    </a:cubicBezTo>
                    <a:cubicBezTo>
                      <a:pt x="1" y="0"/>
                      <a:pt x="1" y="0"/>
                      <a:pt x="1" y="0"/>
                    </a:cubicBezTo>
                    <a:moveTo>
                      <a:pt x="847" y="0"/>
                    </a:moveTo>
                    <a:cubicBezTo>
                      <a:pt x="846" y="0"/>
                      <a:pt x="846" y="0"/>
                      <a:pt x="846" y="0"/>
                    </a:cubicBezTo>
                    <a:cubicBezTo>
                      <a:pt x="846" y="0"/>
                      <a:pt x="846" y="0"/>
                      <a:pt x="846" y="1"/>
                    </a:cubicBezTo>
                    <a:cubicBezTo>
                      <a:pt x="847" y="1"/>
                      <a:pt x="847" y="1"/>
                      <a:pt x="847" y="1"/>
                    </a:cubicBezTo>
                    <a:cubicBezTo>
                      <a:pt x="847" y="0"/>
                      <a:pt x="847" y="0"/>
                      <a:pt x="847"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 name="Freeform 268"/>
              <p:cNvSpPr>
                <a:spLocks/>
              </p:cNvSpPr>
              <p:nvPr/>
            </p:nvSpPr>
            <p:spPr bwMode="auto">
              <a:xfrm>
                <a:off x="-3833811" y="4089396"/>
                <a:ext cx="3175" cy="1587"/>
              </a:xfrm>
              <a:custGeom>
                <a:avLst/>
                <a:gdLst/>
                <a:ahLst/>
                <a:cxnLst>
                  <a:cxn ang="0">
                    <a:pos x="1" y="0"/>
                  </a:cxn>
                  <a:cxn ang="0">
                    <a:pos x="0" y="0"/>
                  </a:cxn>
                  <a:cxn ang="0">
                    <a:pos x="0" y="0"/>
                  </a:cxn>
                  <a:cxn ang="0">
                    <a:pos x="1" y="0"/>
                  </a:cxn>
                </a:cxnLst>
                <a:rect l="0" t="0" r="r" b="b"/>
                <a:pathLst>
                  <a:path w="1">
                    <a:moveTo>
                      <a:pt x="1" y="0"/>
                    </a:moveTo>
                    <a:cubicBezTo>
                      <a:pt x="0" y="0"/>
                      <a:pt x="0" y="0"/>
                      <a:pt x="0" y="0"/>
                    </a:cubicBezTo>
                    <a:cubicBezTo>
                      <a:pt x="0" y="0"/>
                      <a:pt x="0" y="0"/>
                      <a:pt x="0" y="0"/>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 name="Freeform 269"/>
              <p:cNvSpPr>
                <a:spLocks/>
              </p:cNvSpPr>
              <p:nvPr/>
            </p:nvSpPr>
            <p:spPr bwMode="auto">
              <a:xfrm>
                <a:off x="-2270125" y="4044946"/>
                <a:ext cx="3175" cy="1587"/>
              </a:xfrm>
              <a:custGeom>
                <a:avLst/>
                <a:gdLst/>
                <a:ahLst/>
                <a:cxnLst>
                  <a:cxn ang="0">
                    <a:pos x="2" y="0"/>
                  </a:cxn>
                  <a:cxn ang="0">
                    <a:pos x="0" y="0"/>
                  </a:cxn>
                  <a:cxn ang="0">
                    <a:pos x="0" y="0"/>
                  </a:cxn>
                  <a:cxn ang="0">
                    <a:pos x="2" y="0"/>
                  </a:cxn>
                  <a:cxn ang="0">
                    <a:pos x="2" y="0"/>
                  </a:cxn>
                  <a:cxn ang="0">
                    <a:pos x="2" y="0"/>
                  </a:cxn>
                </a:cxnLst>
                <a:rect l="0" t="0" r="r" b="b"/>
                <a:pathLst>
                  <a:path w="2">
                    <a:moveTo>
                      <a:pt x="2" y="0"/>
                    </a:moveTo>
                    <a:lnTo>
                      <a:pt x="0" y="0"/>
                    </a:lnTo>
                    <a:lnTo>
                      <a:pt x="0" y="0"/>
                    </a:lnTo>
                    <a:lnTo>
                      <a:pt x="2" y="0"/>
                    </a:lnTo>
                    <a:lnTo>
                      <a:pt x="2" y="0"/>
                    </a:lnTo>
                    <a:lnTo>
                      <a:pt x="2"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 name="Freeform 270"/>
              <p:cNvSpPr>
                <a:spLocks/>
              </p:cNvSpPr>
              <p:nvPr/>
            </p:nvSpPr>
            <p:spPr bwMode="auto">
              <a:xfrm>
                <a:off x="-1301749" y="3146422"/>
                <a:ext cx="7937" cy="3175"/>
              </a:xfrm>
              <a:custGeom>
                <a:avLst/>
                <a:gdLst/>
                <a:ahLst/>
                <a:cxnLst>
                  <a:cxn ang="0">
                    <a:pos x="1" y="0"/>
                  </a:cxn>
                  <a:cxn ang="0">
                    <a:pos x="0" y="0"/>
                  </a:cxn>
                  <a:cxn ang="0">
                    <a:pos x="0" y="1"/>
                  </a:cxn>
                  <a:cxn ang="0">
                    <a:pos x="1" y="1"/>
                  </a:cxn>
                  <a:cxn ang="0">
                    <a:pos x="1" y="1"/>
                  </a:cxn>
                  <a:cxn ang="0">
                    <a:pos x="2" y="1"/>
                  </a:cxn>
                  <a:cxn ang="0">
                    <a:pos x="1" y="0"/>
                  </a:cxn>
                </a:cxnLst>
                <a:rect l="0" t="0" r="r" b="b"/>
                <a:pathLst>
                  <a:path w="2" h="1">
                    <a:moveTo>
                      <a:pt x="1" y="0"/>
                    </a:moveTo>
                    <a:cubicBezTo>
                      <a:pt x="0" y="0"/>
                      <a:pt x="0" y="0"/>
                      <a:pt x="0" y="0"/>
                    </a:cubicBezTo>
                    <a:cubicBezTo>
                      <a:pt x="0" y="1"/>
                      <a:pt x="0" y="1"/>
                      <a:pt x="0" y="1"/>
                    </a:cubicBezTo>
                    <a:cubicBezTo>
                      <a:pt x="1" y="1"/>
                      <a:pt x="1" y="1"/>
                      <a:pt x="1" y="1"/>
                    </a:cubicBezTo>
                    <a:cubicBezTo>
                      <a:pt x="1" y="1"/>
                      <a:pt x="1" y="1"/>
                      <a:pt x="1" y="1"/>
                    </a:cubicBezTo>
                    <a:cubicBezTo>
                      <a:pt x="2" y="1"/>
                      <a:pt x="2" y="1"/>
                      <a:pt x="2" y="1"/>
                    </a:cubicBezTo>
                    <a:cubicBezTo>
                      <a:pt x="1" y="1"/>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 name="Freeform 271"/>
              <p:cNvSpPr>
                <a:spLocks/>
              </p:cNvSpPr>
              <p:nvPr/>
            </p:nvSpPr>
            <p:spPr bwMode="auto">
              <a:xfrm>
                <a:off x="-4138612" y="3890960"/>
                <a:ext cx="7937" cy="3175"/>
              </a:xfrm>
              <a:custGeom>
                <a:avLst/>
                <a:gdLst/>
                <a:ahLst/>
                <a:cxnLst>
                  <a:cxn ang="0">
                    <a:pos x="2" y="0"/>
                  </a:cxn>
                  <a:cxn ang="0">
                    <a:pos x="0" y="1"/>
                  </a:cxn>
                  <a:cxn ang="0">
                    <a:pos x="2" y="1"/>
                  </a:cxn>
                  <a:cxn ang="0">
                    <a:pos x="2" y="0"/>
                  </a:cxn>
                  <a:cxn ang="0">
                    <a:pos x="2" y="0"/>
                  </a:cxn>
                </a:cxnLst>
                <a:rect l="0" t="0" r="r" b="b"/>
                <a:pathLst>
                  <a:path w="2" h="1">
                    <a:moveTo>
                      <a:pt x="2" y="0"/>
                    </a:moveTo>
                    <a:cubicBezTo>
                      <a:pt x="0" y="1"/>
                      <a:pt x="0" y="1"/>
                      <a:pt x="0" y="1"/>
                    </a:cubicBezTo>
                    <a:cubicBezTo>
                      <a:pt x="2" y="1"/>
                      <a:pt x="2" y="1"/>
                      <a:pt x="2" y="1"/>
                    </a:cubicBezTo>
                    <a:cubicBezTo>
                      <a:pt x="2" y="0"/>
                      <a:pt x="2" y="0"/>
                      <a:pt x="2" y="0"/>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 name="Freeform 272"/>
              <p:cNvSpPr>
                <a:spLocks/>
              </p:cNvSpPr>
              <p:nvPr/>
            </p:nvSpPr>
            <p:spPr bwMode="auto">
              <a:xfrm>
                <a:off x="-5076823" y="4003671"/>
                <a:ext cx="3175" cy="1587"/>
              </a:xfrm>
              <a:custGeom>
                <a:avLst/>
                <a:gdLst/>
                <a:ahLst/>
                <a:cxnLst>
                  <a:cxn ang="0">
                    <a:pos x="2" y="0"/>
                  </a:cxn>
                  <a:cxn ang="0">
                    <a:pos x="0" y="0"/>
                  </a:cxn>
                  <a:cxn ang="0">
                    <a:pos x="0" y="0"/>
                  </a:cxn>
                  <a:cxn ang="0">
                    <a:pos x="2" y="0"/>
                  </a:cxn>
                  <a:cxn ang="0">
                    <a:pos x="2" y="0"/>
                  </a:cxn>
                  <a:cxn ang="0">
                    <a:pos x="2" y="0"/>
                  </a:cxn>
                </a:cxnLst>
                <a:rect l="0" t="0" r="r" b="b"/>
                <a:pathLst>
                  <a:path w="2">
                    <a:moveTo>
                      <a:pt x="2" y="0"/>
                    </a:moveTo>
                    <a:lnTo>
                      <a:pt x="0" y="0"/>
                    </a:lnTo>
                    <a:lnTo>
                      <a:pt x="0" y="0"/>
                    </a:lnTo>
                    <a:lnTo>
                      <a:pt x="2" y="0"/>
                    </a:lnTo>
                    <a:lnTo>
                      <a:pt x="2" y="0"/>
                    </a:lnTo>
                    <a:lnTo>
                      <a:pt x="2"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 name="Freeform 273"/>
              <p:cNvSpPr>
                <a:spLocks/>
              </p:cNvSpPr>
              <p:nvPr/>
            </p:nvSpPr>
            <p:spPr bwMode="auto">
              <a:xfrm>
                <a:off x="-4529137" y="2784471"/>
                <a:ext cx="7937" cy="3175"/>
              </a:xfrm>
              <a:custGeom>
                <a:avLst/>
                <a:gdLst/>
                <a:ahLst/>
                <a:cxnLst>
                  <a:cxn ang="0">
                    <a:pos x="0" y="0"/>
                  </a:cxn>
                  <a:cxn ang="0">
                    <a:pos x="1" y="0"/>
                  </a:cxn>
                  <a:cxn ang="0">
                    <a:pos x="2" y="0"/>
                  </a:cxn>
                  <a:cxn ang="0">
                    <a:pos x="2" y="1"/>
                  </a:cxn>
                  <a:cxn ang="0">
                    <a:pos x="2" y="0"/>
                  </a:cxn>
                  <a:cxn ang="0">
                    <a:pos x="2" y="0"/>
                  </a:cxn>
                  <a:cxn ang="0">
                    <a:pos x="0" y="0"/>
                  </a:cxn>
                </a:cxnLst>
                <a:rect l="0" t="0" r="r" b="b"/>
                <a:pathLst>
                  <a:path w="2" h="1">
                    <a:moveTo>
                      <a:pt x="0" y="0"/>
                    </a:moveTo>
                    <a:cubicBezTo>
                      <a:pt x="1" y="0"/>
                      <a:pt x="1" y="0"/>
                      <a:pt x="1" y="0"/>
                    </a:cubicBezTo>
                    <a:cubicBezTo>
                      <a:pt x="2" y="0"/>
                      <a:pt x="2" y="0"/>
                      <a:pt x="2" y="0"/>
                    </a:cubicBezTo>
                    <a:cubicBezTo>
                      <a:pt x="2" y="1"/>
                      <a:pt x="2" y="1"/>
                      <a:pt x="2" y="1"/>
                    </a:cubicBezTo>
                    <a:cubicBezTo>
                      <a:pt x="2" y="0"/>
                      <a:pt x="2" y="0"/>
                      <a:pt x="2" y="0"/>
                    </a:cubicBezTo>
                    <a:cubicBezTo>
                      <a:pt x="2" y="0"/>
                      <a:pt x="2" y="0"/>
                      <a:pt x="2" y="0"/>
                    </a:cubicBezTo>
                    <a:cubicBezTo>
                      <a:pt x="0" y="0"/>
                      <a:pt x="0" y="0"/>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 name="Freeform 274"/>
              <p:cNvSpPr>
                <a:spLocks/>
              </p:cNvSpPr>
              <p:nvPr/>
            </p:nvSpPr>
            <p:spPr bwMode="auto">
              <a:xfrm>
                <a:off x="-4524373" y="2784471"/>
                <a:ext cx="3175" cy="3175"/>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 name="Freeform 275"/>
              <p:cNvSpPr>
                <a:spLocks/>
              </p:cNvSpPr>
              <p:nvPr/>
            </p:nvSpPr>
            <p:spPr bwMode="auto">
              <a:xfrm>
                <a:off x="-4341811" y="2784471"/>
                <a:ext cx="4762" cy="3175"/>
              </a:xfrm>
              <a:custGeom>
                <a:avLst/>
                <a:gdLst/>
                <a:ahLst/>
                <a:cxnLst>
                  <a:cxn ang="0">
                    <a:pos x="0" y="0"/>
                  </a:cxn>
                  <a:cxn ang="0">
                    <a:pos x="0" y="1"/>
                  </a:cxn>
                  <a:cxn ang="0">
                    <a:pos x="1" y="0"/>
                  </a:cxn>
                  <a:cxn ang="0">
                    <a:pos x="1" y="0"/>
                  </a:cxn>
                  <a:cxn ang="0">
                    <a:pos x="0" y="0"/>
                  </a:cxn>
                </a:cxnLst>
                <a:rect l="0" t="0" r="r" b="b"/>
                <a:pathLst>
                  <a:path w="1" h="1">
                    <a:moveTo>
                      <a:pt x="0" y="0"/>
                    </a:moveTo>
                    <a:cubicBezTo>
                      <a:pt x="0" y="1"/>
                      <a:pt x="0" y="1"/>
                      <a:pt x="0" y="1"/>
                    </a:cubicBezTo>
                    <a:cubicBezTo>
                      <a:pt x="1" y="0"/>
                      <a:pt x="1" y="0"/>
                      <a:pt x="1" y="0"/>
                    </a:cubicBezTo>
                    <a:cubicBezTo>
                      <a:pt x="1" y="0"/>
                      <a:pt x="1" y="0"/>
                      <a:pt x="1" y="0"/>
                    </a:cubicBezTo>
                    <a:cubicBezTo>
                      <a:pt x="0" y="0"/>
                      <a:pt x="0" y="0"/>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 name="Freeform 276"/>
              <p:cNvSpPr>
                <a:spLocks noEditPoints="1"/>
              </p:cNvSpPr>
              <p:nvPr/>
            </p:nvSpPr>
            <p:spPr bwMode="auto">
              <a:xfrm>
                <a:off x="-6035672" y="3149597"/>
                <a:ext cx="1660524" cy="3175"/>
              </a:xfrm>
              <a:custGeom>
                <a:avLst/>
                <a:gdLst/>
                <a:ahLst/>
                <a:cxnLst>
                  <a:cxn ang="0">
                    <a:pos x="2" y="0"/>
                  </a:cxn>
                  <a:cxn ang="0">
                    <a:pos x="0" y="0"/>
                  </a:cxn>
                  <a:cxn ang="0">
                    <a:pos x="0" y="1"/>
                  </a:cxn>
                  <a:cxn ang="0">
                    <a:pos x="1" y="1"/>
                  </a:cxn>
                  <a:cxn ang="0">
                    <a:pos x="1" y="0"/>
                  </a:cxn>
                  <a:cxn ang="0">
                    <a:pos x="2" y="0"/>
                  </a:cxn>
                  <a:cxn ang="0">
                    <a:pos x="442" y="0"/>
                  </a:cxn>
                  <a:cxn ang="0">
                    <a:pos x="442" y="0"/>
                  </a:cxn>
                  <a:cxn ang="0">
                    <a:pos x="442" y="1"/>
                  </a:cxn>
                  <a:cxn ang="0">
                    <a:pos x="442" y="1"/>
                  </a:cxn>
                  <a:cxn ang="0">
                    <a:pos x="442" y="0"/>
                  </a:cxn>
                </a:cxnLst>
                <a:rect l="0" t="0" r="r" b="b"/>
                <a:pathLst>
                  <a:path w="442" h="1">
                    <a:moveTo>
                      <a:pt x="2" y="0"/>
                    </a:moveTo>
                    <a:cubicBezTo>
                      <a:pt x="0" y="0"/>
                      <a:pt x="0" y="0"/>
                      <a:pt x="0" y="0"/>
                    </a:cubicBezTo>
                    <a:cubicBezTo>
                      <a:pt x="0" y="1"/>
                      <a:pt x="0" y="1"/>
                      <a:pt x="0" y="1"/>
                    </a:cubicBezTo>
                    <a:cubicBezTo>
                      <a:pt x="1" y="1"/>
                      <a:pt x="1" y="1"/>
                      <a:pt x="1" y="1"/>
                    </a:cubicBezTo>
                    <a:cubicBezTo>
                      <a:pt x="1" y="0"/>
                      <a:pt x="1" y="0"/>
                      <a:pt x="1" y="0"/>
                    </a:cubicBezTo>
                    <a:cubicBezTo>
                      <a:pt x="2" y="0"/>
                      <a:pt x="2" y="0"/>
                      <a:pt x="2" y="0"/>
                    </a:cubicBezTo>
                    <a:moveTo>
                      <a:pt x="442" y="0"/>
                    </a:moveTo>
                    <a:cubicBezTo>
                      <a:pt x="442" y="0"/>
                      <a:pt x="442" y="0"/>
                      <a:pt x="442" y="0"/>
                    </a:cubicBezTo>
                    <a:cubicBezTo>
                      <a:pt x="442" y="0"/>
                      <a:pt x="442" y="0"/>
                      <a:pt x="442" y="1"/>
                    </a:cubicBezTo>
                    <a:cubicBezTo>
                      <a:pt x="442" y="1"/>
                      <a:pt x="442" y="1"/>
                      <a:pt x="442" y="1"/>
                    </a:cubicBezTo>
                    <a:cubicBezTo>
                      <a:pt x="442" y="0"/>
                      <a:pt x="442" y="0"/>
                      <a:pt x="44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 name="Freeform 277"/>
              <p:cNvSpPr>
                <a:spLocks/>
              </p:cNvSpPr>
              <p:nvPr/>
            </p:nvSpPr>
            <p:spPr bwMode="auto">
              <a:xfrm>
                <a:off x="-1304924" y="3149597"/>
                <a:ext cx="7937" cy="3175"/>
              </a:xfrm>
              <a:custGeom>
                <a:avLst/>
                <a:gdLst/>
                <a:ahLst/>
                <a:cxnLst>
                  <a:cxn ang="0">
                    <a:pos x="1" y="0"/>
                  </a:cxn>
                  <a:cxn ang="0">
                    <a:pos x="0" y="0"/>
                  </a:cxn>
                  <a:cxn ang="0">
                    <a:pos x="1" y="1"/>
                  </a:cxn>
                  <a:cxn ang="0">
                    <a:pos x="2" y="1"/>
                  </a:cxn>
                  <a:cxn ang="0">
                    <a:pos x="2" y="0"/>
                  </a:cxn>
                  <a:cxn ang="0">
                    <a:pos x="2" y="0"/>
                  </a:cxn>
                  <a:cxn ang="0">
                    <a:pos x="1" y="0"/>
                  </a:cxn>
                </a:cxnLst>
                <a:rect l="0" t="0" r="r" b="b"/>
                <a:pathLst>
                  <a:path w="2" h="1">
                    <a:moveTo>
                      <a:pt x="1" y="0"/>
                    </a:moveTo>
                    <a:cubicBezTo>
                      <a:pt x="0" y="0"/>
                      <a:pt x="0" y="0"/>
                      <a:pt x="0" y="0"/>
                    </a:cubicBezTo>
                    <a:cubicBezTo>
                      <a:pt x="1" y="1"/>
                      <a:pt x="1" y="1"/>
                      <a:pt x="1" y="1"/>
                    </a:cubicBezTo>
                    <a:cubicBezTo>
                      <a:pt x="2" y="1"/>
                      <a:pt x="2" y="1"/>
                      <a:pt x="2" y="1"/>
                    </a:cubicBezTo>
                    <a:cubicBezTo>
                      <a:pt x="2" y="0"/>
                      <a:pt x="2" y="0"/>
                      <a:pt x="2" y="0"/>
                    </a:cubicBezTo>
                    <a:cubicBezTo>
                      <a:pt x="2" y="0"/>
                      <a:pt x="2" y="0"/>
                      <a:pt x="2" y="0"/>
                    </a:cubicBezTo>
                    <a:cubicBezTo>
                      <a:pt x="2" y="0"/>
                      <a:pt x="2"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3" name="Freeform 278"/>
              <p:cNvSpPr>
                <a:spLocks/>
              </p:cNvSpPr>
              <p:nvPr/>
            </p:nvSpPr>
            <p:spPr bwMode="auto">
              <a:xfrm>
                <a:off x="-1301749" y="3149597"/>
                <a:ext cx="4762" cy="1587"/>
              </a:xfrm>
              <a:custGeom>
                <a:avLst/>
                <a:gdLst/>
                <a:ahLst/>
                <a:cxnLst>
                  <a:cxn ang="0">
                    <a:pos x="1" y="0"/>
                  </a:cxn>
                  <a:cxn ang="0">
                    <a:pos x="0" y="0"/>
                  </a:cxn>
                  <a:cxn ang="0">
                    <a:pos x="1" y="0"/>
                  </a:cxn>
                  <a:cxn ang="0">
                    <a:pos x="1" y="0"/>
                  </a:cxn>
                  <a:cxn ang="0">
                    <a:pos x="1" y="0"/>
                  </a:cxn>
                </a:cxnLst>
                <a:rect l="0" t="0" r="r" b="b"/>
                <a:pathLst>
                  <a:path w="1">
                    <a:moveTo>
                      <a:pt x="1" y="0"/>
                    </a:moveTo>
                    <a:cubicBezTo>
                      <a:pt x="0" y="0"/>
                      <a:pt x="0" y="0"/>
                      <a:pt x="0" y="0"/>
                    </a:cubicBezTo>
                    <a:cubicBezTo>
                      <a:pt x="1" y="0"/>
                      <a:pt x="1" y="0"/>
                      <a:pt x="1" y="0"/>
                    </a:cubicBezTo>
                    <a:cubicBezTo>
                      <a:pt x="1" y="0"/>
                      <a:pt x="1" y="0"/>
                      <a:pt x="1" y="0"/>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4" name="Freeform 279"/>
              <p:cNvSpPr>
                <a:spLocks/>
              </p:cNvSpPr>
              <p:nvPr/>
            </p:nvSpPr>
            <p:spPr bwMode="auto">
              <a:xfrm>
                <a:off x="-3871911" y="3149597"/>
                <a:ext cx="4762" cy="3175"/>
              </a:xfrm>
              <a:custGeom>
                <a:avLst/>
                <a:gdLst/>
                <a:ahLst/>
                <a:cxnLst>
                  <a:cxn ang="0">
                    <a:pos x="1" y="0"/>
                  </a:cxn>
                  <a:cxn ang="0">
                    <a:pos x="0" y="0"/>
                  </a:cxn>
                  <a:cxn ang="0">
                    <a:pos x="0" y="1"/>
                  </a:cxn>
                  <a:cxn ang="0">
                    <a:pos x="1" y="1"/>
                  </a:cxn>
                  <a:cxn ang="0">
                    <a:pos x="1" y="0"/>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0"/>
                      <a:pt x="1" y="0"/>
                      <a:pt x="1" y="0"/>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5" name="Freeform 280"/>
              <p:cNvSpPr>
                <a:spLocks/>
              </p:cNvSpPr>
              <p:nvPr/>
            </p:nvSpPr>
            <p:spPr bwMode="auto">
              <a:xfrm>
                <a:off x="-5675310" y="2592385"/>
                <a:ext cx="1612899" cy="2509835"/>
              </a:xfrm>
              <a:custGeom>
                <a:avLst/>
                <a:gdLst/>
                <a:ahLst/>
                <a:cxnLst>
                  <a:cxn ang="0">
                    <a:pos x="104" y="6"/>
                  </a:cxn>
                  <a:cxn ang="0">
                    <a:pos x="177" y="34"/>
                  </a:cxn>
                  <a:cxn ang="0">
                    <a:pos x="216" y="87"/>
                  </a:cxn>
                  <a:cxn ang="0">
                    <a:pos x="211" y="41"/>
                  </a:cxn>
                  <a:cxn ang="0">
                    <a:pos x="238" y="57"/>
                  </a:cxn>
                  <a:cxn ang="0">
                    <a:pos x="242" y="47"/>
                  </a:cxn>
                  <a:cxn ang="0">
                    <a:pos x="276" y="86"/>
                  </a:cxn>
                  <a:cxn ang="0">
                    <a:pos x="257" y="108"/>
                  </a:cxn>
                  <a:cxn ang="0">
                    <a:pos x="269" y="119"/>
                  </a:cxn>
                  <a:cxn ang="0">
                    <a:pos x="236" y="155"/>
                  </a:cxn>
                  <a:cxn ang="0">
                    <a:pos x="229" y="230"/>
                  </a:cxn>
                  <a:cxn ang="0">
                    <a:pos x="230" y="230"/>
                  </a:cxn>
                  <a:cxn ang="0">
                    <a:pos x="225" y="221"/>
                  </a:cxn>
                  <a:cxn ang="0">
                    <a:pos x="177" y="269"/>
                  </a:cxn>
                  <a:cxn ang="0">
                    <a:pos x="201" y="277"/>
                  </a:cxn>
                  <a:cxn ang="0">
                    <a:pos x="215" y="282"/>
                  </a:cxn>
                  <a:cxn ang="0">
                    <a:pos x="225" y="313"/>
                  </a:cxn>
                  <a:cxn ang="0">
                    <a:pos x="319" y="323"/>
                  </a:cxn>
                  <a:cxn ang="0">
                    <a:pos x="378" y="381"/>
                  </a:cxn>
                  <a:cxn ang="0">
                    <a:pos x="301" y="662"/>
                  </a:cxn>
                  <a:cxn ang="0">
                    <a:pos x="303" y="663"/>
                  </a:cxn>
                  <a:cxn ang="0">
                    <a:pos x="303" y="663"/>
                  </a:cxn>
                  <a:cxn ang="0">
                    <a:pos x="250" y="346"/>
                  </a:cxn>
                  <a:cxn ang="0">
                    <a:pos x="203" y="293"/>
                  </a:cxn>
                  <a:cxn ang="0">
                    <a:pos x="112" y="200"/>
                  </a:cxn>
                  <a:cxn ang="0">
                    <a:pos x="118" y="241"/>
                  </a:cxn>
                  <a:cxn ang="0">
                    <a:pos x="117" y="239"/>
                  </a:cxn>
                  <a:cxn ang="0">
                    <a:pos x="120" y="239"/>
                  </a:cxn>
                  <a:cxn ang="0">
                    <a:pos x="63" y="48"/>
                  </a:cxn>
                  <a:cxn ang="0">
                    <a:pos x="3" y="64"/>
                  </a:cxn>
                  <a:cxn ang="0">
                    <a:pos x="5" y="65"/>
                  </a:cxn>
                  <a:cxn ang="0">
                    <a:pos x="9" y="43"/>
                  </a:cxn>
                  <a:cxn ang="0">
                    <a:pos x="6" y="35"/>
                  </a:cxn>
                  <a:cxn ang="0">
                    <a:pos x="0" y="65"/>
                  </a:cxn>
                  <a:cxn ang="0">
                    <a:pos x="66" y="52"/>
                  </a:cxn>
                  <a:cxn ang="0">
                    <a:pos x="117" y="243"/>
                  </a:cxn>
                  <a:cxn ang="0">
                    <a:pos x="110" y="201"/>
                  </a:cxn>
                  <a:cxn ang="0">
                    <a:pos x="109" y="201"/>
                  </a:cxn>
                  <a:cxn ang="0">
                    <a:pos x="129" y="238"/>
                  </a:cxn>
                  <a:cxn ang="0">
                    <a:pos x="218" y="323"/>
                  </a:cxn>
                  <a:cxn ang="0">
                    <a:pos x="237" y="397"/>
                  </a:cxn>
                  <a:cxn ang="0">
                    <a:pos x="306" y="662"/>
                  </a:cxn>
                  <a:cxn ang="0">
                    <a:pos x="378" y="377"/>
                  </a:cxn>
                  <a:cxn ang="0">
                    <a:pos x="320" y="319"/>
                  </a:cxn>
                  <a:cxn ang="0">
                    <a:pos x="229" y="311"/>
                  </a:cxn>
                  <a:cxn ang="0">
                    <a:pos x="211" y="280"/>
                  </a:cxn>
                  <a:cxn ang="0">
                    <a:pos x="192" y="260"/>
                  </a:cxn>
                  <a:cxn ang="0">
                    <a:pos x="216" y="212"/>
                  </a:cxn>
                  <a:cxn ang="0">
                    <a:pos x="233" y="219"/>
                  </a:cxn>
                  <a:cxn ang="0">
                    <a:pos x="261" y="123"/>
                  </a:cxn>
                  <a:cxn ang="0">
                    <a:pos x="254" y="105"/>
                  </a:cxn>
                  <a:cxn ang="0">
                    <a:pos x="255" y="106"/>
                  </a:cxn>
                  <a:cxn ang="0">
                    <a:pos x="242" y="43"/>
                  </a:cxn>
                  <a:cxn ang="0">
                    <a:pos x="207" y="44"/>
                  </a:cxn>
                  <a:cxn ang="0">
                    <a:pos x="213" y="88"/>
                  </a:cxn>
                  <a:cxn ang="0">
                    <a:pos x="214" y="89"/>
                  </a:cxn>
                  <a:cxn ang="0">
                    <a:pos x="177" y="47"/>
                  </a:cxn>
                  <a:cxn ang="0">
                    <a:pos x="108" y="1"/>
                  </a:cxn>
                  <a:cxn ang="0">
                    <a:pos x="38" y="6"/>
                  </a:cxn>
                </a:cxnLst>
                <a:rect l="0" t="0" r="r" b="b"/>
                <a:pathLst>
                  <a:path w="429" h="667">
                    <a:moveTo>
                      <a:pt x="38" y="6"/>
                    </a:moveTo>
                    <a:cubicBezTo>
                      <a:pt x="40" y="7"/>
                      <a:pt x="40" y="7"/>
                      <a:pt x="40" y="7"/>
                    </a:cubicBezTo>
                    <a:cubicBezTo>
                      <a:pt x="40" y="7"/>
                      <a:pt x="42" y="6"/>
                      <a:pt x="43" y="5"/>
                    </a:cubicBezTo>
                    <a:cubicBezTo>
                      <a:pt x="45" y="4"/>
                      <a:pt x="46" y="4"/>
                      <a:pt x="47" y="4"/>
                    </a:cubicBezTo>
                    <a:cubicBezTo>
                      <a:pt x="72" y="4"/>
                      <a:pt x="72" y="4"/>
                      <a:pt x="72" y="4"/>
                    </a:cubicBezTo>
                    <a:cubicBezTo>
                      <a:pt x="73" y="4"/>
                      <a:pt x="75" y="4"/>
                      <a:pt x="76" y="5"/>
                    </a:cubicBezTo>
                    <a:cubicBezTo>
                      <a:pt x="78" y="5"/>
                      <a:pt x="79" y="6"/>
                      <a:pt x="80" y="7"/>
                    </a:cubicBezTo>
                    <a:cubicBezTo>
                      <a:pt x="86" y="10"/>
                      <a:pt x="86" y="10"/>
                      <a:pt x="86" y="10"/>
                    </a:cubicBezTo>
                    <a:cubicBezTo>
                      <a:pt x="87" y="11"/>
                      <a:pt x="89" y="12"/>
                      <a:pt x="91" y="12"/>
                    </a:cubicBezTo>
                    <a:cubicBezTo>
                      <a:pt x="93" y="12"/>
                      <a:pt x="95" y="11"/>
                      <a:pt x="97" y="10"/>
                    </a:cubicBezTo>
                    <a:cubicBezTo>
                      <a:pt x="100" y="8"/>
                      <a:pt x="100" y="8"/>
                      <a:pt x="100" y="8"/>
                    </a:cubicBezTo>
                    <a:cubicBezTo>
                      <a:pt x="101" y="7"/>
                      <a:pt x="103" y="6"/>
                      <a:pt x="104" y="6"/>
                    </a:cubicBezTo>
                    <a:cubicBezTo>
                      <a:pt x="106" y="5"/>
                      <a:pt x="107" y="5"/>
                      <a:pt x="108" y="5"/>
                    </a:cubicBezTo>
                    <a:cubicBezTo>
                      <a:pt x="116" y="5"/>
                      <a:pt x="116" y="5"/>
                      <a:pt x="116" y="5"/>
                    </a:cubicBezTo>
                    <a:cubicBezTo>
                      <a:pt x="117" y="5"/>
                      <a:pt x="119" y="5"/>
                      <a:pt x="120" y="6"/>
                    </a:cubicBezTo>
                    <a:cubicBezTo>
                      <a:pt x="122" y="7"/>
                      <a:pt x="123" y="8"/>
                      <a:pt x="124" y="8"/>
                    </a:cubicBezTo>
                    <a:cubicBezTo>
                      <a:pt x="132" y="16"/>
                      <a:pt x="132" y="16"/>
                      <a:pt x="132" y="16"/>
                    </a:cubicBezTo>
                    <a:cubicBezTo>
                      <a:pt x="133" y="17"/>
                      <a:pt x="135" y="18"/>
                      <a:pt x="137" y="18"/>
                    </a:cubicBezTo>
                    <a:cubicBezTo>
                      <a:pt x="139" y="18"/>
                      <a:pt x="141" y="17"/>
                      <a:pt x="143" y="15"/>
                    </a:cubicBezTo>
                    <a:cubicBezTo>
                      <a:pt x="144" y="14"/>
                      <a:pt x="145" y="13"/>
                      <a:pt x="147" y="13"/>
                    </a:cubicBezTo>
                    <a:cubicBezTo>
                      <a:pt x="148" y="13"/>
                      <a:pt x="148" y="13"/>
                      <a:pt x="148" y="13"/>
                    </a:cubicBezTo>
                    <a:cubicBezTo>
                      <a:pt x="175" y="28"/>
                      <a:pt x="175" y="28"/>
                      <a:pt x="175" y="28"/>
                    </a:cubicBezTo>
                    <a:cubicBezTo>
                      <a:pt x="176" y="29"/>
                      <a:pt x="177" y="30"/>
                      <a:pt x="177" y="32"/>
                    </a:cubicBezTo>
                    <a:cubicBezTo>
                      <a:pt x="177" y="33"/>
                      <a:pt x="177" y="34"/>
                      <a:pt x="177" y="34"/>
                    </a:cubicBezTo>
                    <a:cubicBezTo>
                      <a:pt x="173" y="46"/>
                      <a:pt x="173" y="46"/>
                      <a:pt x="173" y="46"/>
                    </a:cubicBezTo>
                    <a:cubicBezTo>
                      <a:pt x="172" y="47"/>
                      <a:pt x="172" y="48"/>
                      <a:pt x="172" y="49"/>
                    </a:cubicBezTo>
                    <a:cubicBezTo>
                      <a:pt x="172" y="53"/>
                      <a:pt x="173" y="56"/>
                      <a:pt x="176" y="57"/>
                    </a:cubicBezTo>
                    <a:cubicBezTo>
                      <a:pt x="198" y="72"/>
                      <a:pt x="198" y="72"/>
                      <a:pt x="198" y="72"/>
                    </a:cubicBezTo>
                    <a:cubicBezTo>
                      <a:pt x="200" y="73"/>
                      <a:pt x="203" y="77"/>
                      <a:pt x="204" y="79"/>
                    </a:cubicBezTo>
                    <a:cubicBezTo>
                      <a:pt x="210" y="90"/>
                      <a:pt x="210" y="90"/>
                      <a:pt x="210" y="90"/>
                    </a:cubicBezTo>
                    <a:cubicBezTo>
                      <a:pt x="210" y="90"/>
                      <a:pt x="210" y="91"/>
                      <a:pt x="211" y="91"/>
                    </a:cubicBezTo>
                    <a:cubicBezTo>
                      <a:pt x="211" y="92"/>
                      <a:pt x="211" y="92"/>
                      <a:pt x="212" y="92"/>
                    </a:cubicBezTo>
                    <a:cubicBezTo>
                      <a:pt x="213" y="93"/>
                      <a:pt x="213" y="93"/>
                      <a:pt x="213" y="93"/>
                    </a:cubicBezTo>
                    <a:cubicBezTo>
                      <a:pt x="214" y="93"/>
                      <a:pt x="215" y="92"/>
                      <a:pt x="215" y="92"/>
                    </a:cubicBezTo>
                    <a:cubicBezTo>
                      <a:pt x="216" y="91"/>
                      <a:pt x="216" y="90"/>
                      <a:pt x="216" y="90"/>
                    </a:cubicBezTo>
                    <a:cubicBezTo>
                      <a:pt x="216" y="89"/>
                      <a:pt x="216" y="88"/>
                      <a:pt x="216" y="87"/>
                    </a:cubicBezTo>
                    <a:cubicBezTo>
                      <a:pt x="216" y="70"/>
                      <a:pt x="216" y="70"/>
                      <a:pt x="216" y="70"/>
                    </a:cubicBezTo>
                    <a:cubicBezTo>
                      <a:pt x="216" y="66"/>
                      <a:pt x="216" y="60"/>
                      <a:pt x="215" y="56"/>
                    </a:cubicBezTo>
                    <a:cubicBezTo>
                      <a:pt x="212" y="43"/>
                      <a:pt x="212" y="43"/>
                      <a:pt x="212" y="43"/>
                    </a:cubicBezTo>
                    <a:cubicBezTo>
                      <a:pt x="211" y="43"/>
                      <a:pt x="211" y="42"/>
                      <a:pt x="211" y="42"/>
                    </a:cubicBezTo>
                    <a:cubicBezTo>
                      <a:pt x="211" y="41"/>
                      <a:pt x="211" y="41"/>
                      <a:pt x="211" y="41"/>
                    </a:cubicBezTo>
                    <a:cubicBezTo>
                      <a:pt x="211" y="41"/>
                      <a:pt x="211" y="41"/>
                      <a:pt x="211" y="41"/>
                    </a:cubicBezTo>
                    <a:cubicBezTo>
                      <a:pt x="211" y="41"/>
                      <a:pt x="211" y="41"/>
                      <a:pt x="211" y="41"/>
                    </a:cubicBezTo>
                    <a:cubicBezTo>
                      <a:pt x="211" y="41"/>
                      <a:pt x="211" y="41"/>
                      <a:pt x="211" y="41"/>
                    </a:cubicBezTo>
                    <a:cubicBezTo>
                      <a:pt x="211" y="41"/>
                      <a:pt x="211" y="41"/>
                      <a:pt x="211" y="41"/>
                    </a:cubicBezTo>
                    <a:cubicBezTo>
                      <a:pt x="211" y="41"/>
                      <a:pt x="211" y="41"/>
                      <a:pt x="211" y="41"/>
                    </a:cubicBezTo>
                    <a:cubicBezTo>
                      <a:pt x="211" y="41"/>
                      <a:pt x="211" y="41"/>
                      <a:pt x="211" y="41"/>
                    </a:cubicBezTo>
                    <a:cubicBezTo>
                      <a:pt x="211" y="41"/>
                      <a:pt x="211" y="41"/>
                      <a:pt x="211" y="41"/>
                    </a:cubicBezTo>
                    <a:cubicBezTo>
                      <a:pt x="211" y="42"/>
                      <a:pt x="211" y="42"/>
                      <a:pt x="211" y="42"/>
                    </a:cubicBezTo>
                    <a:cubicBezTo>
                      <a:pt x="211" y="41"/>
                      <a:pt x="211" y="41"/>
                      <a:pt x="211" y="41"/>
                    </a:cubicBezTo>
                    <a:cubicBezTo>
                      <a:pt x="211" y="41"/>
                      <a:pt x="211" y="41"/>
                      <a:pt x="211" y="41"/>
                    </a:cubicBezTo>
                    <a:cubicBezTo>
                      <a:pt x="211" y="42"/>
                      <a:pt x="211" y="42"/>
                      <a:pt x="211" y="42"/>
                    </a:cubicBezTo>
                    <a:cubicBezTo>
                      <a:pt x="211" y="42"/>
                      <a:pt x="211" y="42"/>
                      <a:pt x="211" y="42"/>
                    </a:cubicBezTo>
                    <a:cubicBezTo>
                      <a:pt x="211" y="42"/>
                      <a:pt x="211" y="42"/>
                      <a:pt x="211" y="42"/>
                    </a:cubicBezTo>
                    <a:cubicBezTo>
                      <a:pt x="211" y="42"/>
                      <a:pt x="211" y="42"/>
                      <a:pt x="211" y="42"/>
                    </a:cubicBezTo>
                    <a:cubicBezTo>
                      <a:pt x="211" y="42"/>
                      <a:pt x="211" y="42"/>
                      <a:pt x="211" y="42"/>
                    </a:cubicBezTo>
                    <a:cubicBezTo>
                      <a:pt x="211" y="42"/>
                      <a:pt x="211" y="42"/>
                      <a:pt x="211" y="42"/>
                    </a:cubicBezTo>
                    <a:cubicBezTo>
                      <a:pt x="211" y="42"/>
                      <a:pt x="211" y="42"/>
                      <a:pt x="211" y="42"/>
                    </a:cubicBezTo>
                    <a:cubicBezTo>
                      <a:pt x="235" y="56"/>
                      <a:pt x="235" y="56"/>
                      <a:pt x="235" y="56"/>
                    </a:cubicBezTo>
                    <a:cubicBezTo>
                      <a:pt x="236" y="57"/>
                      <a:pt x="237" y="57"/>
                      <a:pt x="238" y="57"/>
                    </a:cubicBezTo>
                    <a:cubicBezTo>
                      <a:pt x="239" y="57"/>
                      <a:pt x="241" y="56"/>
                      <a:pt x="241" y="55"/>
                    </a:cubicBezTo>
                    <a:cubicBezTo>
                      <a:pt x="242" y="54"/>
                      <a:pt x="243" y="52"/>
                      <a:pt x="243" y="51"/>
                    </a:cubicBezTo>
                    <a:cubicBezTo>
                      <a:pt x="243" y="49"/>
                      <a:pt x="243" y="49"/>
                      <a:pt x="243" y="49"/>
                    </a:cubicBezTo>
                    <a:cubicBezTo>
                      <a:pt x="243" y="48"/>
                      <a:pt x="243" y="47"/>
                      <a:pt x="243" y="47"/>
                    </a:cubicBezTo>
                    <a:cubicBezTo>
                      <a:pt x="243" y="47"/>
                      <a:pt x="243" y="47"/>
                      <a:pt x="243" y="47"/>
                    </a:cubicBezTo>
                    <a:cubicBezTo>
                      <a:pt x="243" y="47"/>
                      <a:pt x="243" y="47"/>
                      <a:pt x="243" y="47"/>
                    </a:cubicBezTo>
                    <a:cubicBezTo>
                      <a:pt x="243" y="47"/>
                      <a:pt x="243" y="47"/>
                      <a:pt x="243" y="47"/>
                    </a:cubicBezTo>
                    <a:cubicBezTo>
                      <a:pt x="243" y="47"/>
                      <a:pt x="243" y="47"/>
                      <a:pt x="243" y="47"/>
                    </a:cubicBezTo>
                    <a:cubicBezTo>
                      <a:pt x="243" y="47"/>
                      <a:pt x="243" y="47"/>
                      <a:pt x="243" y="47"/>
                    </a:cubicBezTo>
                    <a:cubicBezTo>
                      <a:pt x="243" y="47"/>
                      <a:pt x="243" y="47"/>
                      <a:pt x="243" y="47"/>
                    </a:cubicBezTo>
                    <a:cubicBezTo>
                      <a:pt x="242" y="46"/>
                      <a:pt x="242" y="46"/>
                      <a:pt x="242" y="46"/>
                    </a:cubicBezTo>
                    <a:cubicBezTo>
                      <a:pt x="242" y="47"/>
                      <a:pt x="242" y="47"/>
                      <a:pt x="242" y="47"/>
                    </a:cubicBezTo>
                    <a:cubicBezTo>
                      <a:pt x="243" y="47"/>
                      <a:pt x="243" y="47"/>
                      <a:pt x="243" y="47"/>
                    </a:cubicBezTo>
                    <a:cubicBezTo>
                      <a:pt x="242" y="46"/>
                      <a:pt x="242" y="46"/>
                      <a:pt x="242" y="46"/>
                    </a:cubicBezTo>
                    <a:cubicBezTo>
                      <a:pt x="242" y="47"/>
                      <a:pt x="242" y="47"/>
                      <a:pt x="242" y="47"/>
                    </a:cubicBezTo>
                    <a:cubicBezTo>
                      <a:pt x="242" y="47"/>
                      <a:pt x="242" y="47"/>
                      <a:pt x="242" y="47"/>
                    </a:cubicBezTo>
                    <a:cubicBezTo>
                      <a:pt x="242" y="47"/>
                      <a:pt x="242" y="47"/>
                      <a:pt x="242" y="47"/>
                    </a:cubicBezTo>
                    <a:cubicBezTo>
                      <a:pt x="242" y="47"/>
                      <a:pt x="242" y="47"/>
                      <a:pt x="242" y="47"/>
                    </a:cubicBezTo>
                    <a:cubicBezTo>
                      <a:pt x="242" y="47"/>
                      <a:pt x="242" y="47"/>
                      <a:pt x="242" y="47"/>
                    </a:cubicBezTo>
                    <a:cubicBezTo>
                      <a:pt x="242" y="47"/>
                      <a:pt x="242" y="47"/>
                      <a:pt x="242" y="47"/>
                    </a:cubicBezTo>
                    <a:cubicBezTo>
                      <a:pt x="242" y="47"/>
                      <a:pt x="242" y="47"/>
                      <a:pt x="242" y="47"/>
                    </a:cubicBezTo>
                    <a:cubicBezTo>
                      <a:pt x="243" y="48"/>
                      <a:pt x="243" y="48"/>
                      <a:pt x="243" y="48"/>
                    </a:cubicBezTo>
                    <a:cubicBezTo>
                      <a:pt x="275" y="83"/>
                      <a:pt x="275" y="83"/>
                      <a:pt x="275" y="83"/>
                    </a:cubicBezTo>
                    <a:cubicBezTo>
                      <a:pt x="275" y="84"/>
                      <a:pt x="276" y="85"/>
                      <a:pt x="276" y="86"/>
                    </a:cubicBezTo>
                    <a:cubicBezTo>
                      <a:pt x="276" y="87"/>
                      <a:pt x="276" y="88"/>
                      <a:pt x="275" y="89"/>
                    </a:cubicBezTo>
                    <a:cubicBezTo>
                      <a:pt x="275" y="89"/>
                      <a:pt x="274" y="90"/>
                      <a:pt x="272" y="91"/>
                    </a:cubicBezTo>
                    <a:cubicBezTo>
                      <a:pt x="271" y="92"/>
                      <a:pt x="270" y="92"/>
                      <a:pt x="269" y="92"/>
                    </a:cubicBezTo>
                    <a:cubicBezTo>
                      <a:pt x="260" y="92"/>
                      <a:pt x="260" y="92"/>
                      <a:pt x="260" y="92"/>
                    </a:cubicBezTo>
                    <a:cubicBezTo>
                      <a:pt x="258" y="92"/>
                      <a:pt x="256" y="93"/>
                      <a:pt x="254" y="94"/>
                    </a:cubicBezTo>
                    <a:cubicBezTo>
                      <a:pt x="253" y="96"/>
                      <a:pt x="252" y="98"/>
                      <a:pt x="251" y="100"/>
                    </a:cubicBezTo>
                    <a:cubicBezTo>
                      <a:pt x="251" y="103"/>
                      <a:pt x="251" y="103"/>
                      <a:pt x="251" y="103"/>
                    </a:cubicBezTo>
                    <a:cubicBezTo>
                      <a:pt x="250" y="104"/>
                      <a:pt x="250" y="104"/>
                      <a:pt x="250" y="105"/>
                    </a:cubicBezTo>
                    <a:cubicBezTo>
                      <a:pt x="250" y="106"/>
                      <a:pt x="250" y="107"/>
                      <a:pt x="251" y="108"/>
                    </a:cubicBezTo>
                    <a:cubicBezTo>
                      <a:pt x="252" y="109"/>
                      <a:pt x="252" y="109"/>
                      <a:pt x="252" y="109"/>
                    </a:cubicBezTo>
                    <a:cubicBezTo>
                      <a:pt x="253" y="109"/>
                      <a:pt x="253" y="109"/>
                      <a:pt x="254" y="109"/>
                    </a:cubicBezTo>
                    <a:cubicBezTo>
                      <a:pt x="255" y="109"/>
                      <a:pt x="256" y="109"/>
                      <a:pt x="257" y="108"/>
                    </a:cubicBezTo>
                    <a:cubicBezTo>
                      <a:pt x="258" y="108"/>
                      <a:pt x="258" y="108"/>
                      <a:pt x="258" y="108"/>
                    </a:cubicBezTo>
                    <a:cubicBezTo>
                      <a:pt x="259" y="108"/>
                      <a:pt x="261" y="108"/>
                      <a:pt x="261" y="110"/>
                    </a:cubicBezTo>
                    <a:cubicBezTo>
                      <a:pt x="268" y="118"/>
                      <a:pt x="268" y="118"/>
                      <a:pt x="268" y="118"/>
                    </a:cubicBezTo>
                    <a:cubicBezTo>
                      <a:pt x="269" y="119"/>
                      <a:pt x="269" y="119"/>
                      <a:pt x="269" y="119"/>
                    </a:cubicBezTo>
                    <a:cubicBezTo>
                      <a:pt x="270" y="119"/>
                      <a:pt x="270" y="119"/>
                      <a:pt x="270" y="119"/>
                    </a:cubicBezTo>
                    <a:cubicBezTo>
                      <a:pt x="269" y="119"/>
                      <a:pt x="269" y="119"/>
                      <a:pt x="269" y="119"/>
                    </a:cubicBezTo>
                    <a:cubicBezTo>
                      <a:pt x="269" y="119"/>
                      <a:pt x="269" y="119"/>
                      <a:pt x="269" y="119"/>
                    </a:cubicBezTo>
                    <a:cubicBezTo>
                      <a:pt x="270" y="119"/>
                      <a:pt x="270" y="119"/>
                      <a:pt x="270" y="119"/>
                    </a:cubicBezTo>
                    <a:cubicBezTo>
                      <a:pt x="269" y="119"/>
                      <a:pt x="269" y="119"/>
                      <a:pt x="269" y="119"/>
                    </a:cubicBezTo>
                    <a:cubicBezTo>
                      <a:pt x="270" y="120"/>
                      <a:pt x="270" y="120"/>
                      <a:pt x="270" y="120"/>
                    </a:cubicBezTo>
                    <a:cubicBezTo>
                      <a:pt x="269" y="119"/>
                      <a:pt x="269" y="119"/>
                      <a:pt x="269" y="119"/>
                    </a:cubicBezTo>
                    <a:cubicBezTo>
                      <a:pt x="269" y="119"/>
                      <a:pt x="269" y="119"/>
                      <a:pt x="269" y="119"/>
                    </a:cubicBezTo>
                    <a:cubicBezTo>
                      <a:pt x="270" y="120"/>
                      <a:pt x="270" y="120"/>
                      <a:pt x="270" y="120"/>
                    </a:cubicBezTo>
                    <a:cubicBezTo>
                      <a:pt x="269" y="119"/>
                      <a:pt x="269" y="119"/>
                      <a:pt x="269" y="119"/>
                    </a:cubicBezTo>
                    <a:cubicBezTo>
                      <a:pt x="270" y="119"/>
                      <a:pt x="270" y="119"/>
                      <a:pt x="270" y="119"/>
                    </a:cubicBezTo>
                    <a:cubicBezTo>
                      <a:pt x="269" y="119"/>
                      <a:pt x="269" y="119"/>
                      <a:pt x="269" y="119"/>
                    </a:cubicBezTo>
                    <a:cubicBezTo>
                      <a:pt x="269" y="119"/>
                      <a:pt x="269" y="119"/>
                      <a:pt x="269" y="119"/>
                    </a:cubicBezTo>
                    <a:cubicBezTo>
                      <a:pt x="270" y="119"/>
                      <a:pt x="270" y="119"/>
                      <a:pt x="270" y="119"/>
                    </a:cubicBezTo>
                    <a:cubicBezTo>
                      <a:pt x="269" y="119"/>
                      <a:pt x="269" y="119"/>
                      <a:pt x="269" y="119"/>
                    </a:cubicBezTo>
                    <a:cubicBezTo>
                      <a:pt x="269" y="119"/>
                      <a:pt x="269" y="119"/>
                      <a:pt x="269" y="119"/>
                    </a:cubicBezTo>
                    <a:cubicBezTo>
                      <a:pt x="261" y="119"/>
                      <a:pt x="261" y="119"/>
                      <a:pt x="261" y="119"/>
                    </a:cubicBezTo>
                    <a:cubicBezTo>
                      <a:pt x="259" y="119"/>
                      <a:pt x="257" y="120"/>
                      <a:pt x="255" y="121"/>
                    </a:cubicBezTo>
                    <a:cubicBezTo>
                      <a:pt x="254" y="122"/>
                      <a:pt x="252" y="124"/>
                      <a:pt x="251" y="126"/>
                    </a:cubicBezTo>
                    <a:cubicBezTo>
                      <a:pt x="236" y="155"/>
                      <a:pt x="236" y="155"/>
                      <a:pt x="236" y="155"/>
                    </a:cubicBezTo>
                    <a:cubicBezTo>
                      <a:pt x="234" y="159"/>
                      <a:pt x="233" y="164"/>
                      <a:pt x="233" y="168"/>
                    </a:cubicBezTo>
                    <a:cubicBezTo>
                      <a:pt x="233" y="176"/>
                      <a:pt x="233" y="176"/>
                      <a:pt x="233" y="176"/>
                    </a:cubicBezTo>
                    <a:cubicBezTo>
                      <a:pt x="233" y="179"/>
                      <a:pt x="232" y="185"/>
                      <a:pt x="230" y="187"/>
                    </a:cubicBezTo>
                    <a:cubicBezTo>
                      <a:pt x="228" y="191"/>
                      <a:pt x="228" y="191"/>
                      <a:pt x="228" y="191"/>
                    </a:cubicBezTo>
                    <a:cubicBezTo>
                      <a:pt x="226" y="194"/>
                      <a:pt x="225" y="200"/>
                      <a:pt x="225" y="204"/>
                    </a:cubicBezTo>
                    <a:cubicBezTo>
                      <a:pt x="225" y="206"/>
                      <a:pt x="225" y="206"/>
                      <a:pt x="225" y="206"/>
                    </a:cubicBezTo>
                    <a:cubicBezTo>
                      <a:pt x="225" y="208"/>
                      <a:pt x="225" y="210"/>
                      <a:pt x="225" y="212"/>
                    </a:cubicBezTo>
                    <a:cubicBezTo>
                      <a:pt x="226" y="214"/>
                      <a:pt x="226" y="215"/>
                      <a:pt x="227" y="217"/>
                    </a:cubicBezTo>
                    <a:cubicBezTo>
                      <a:pt x="228" y="217"/>
                      <a:pt x="228" y="218"/>
                      <a:pt x="229" y="220"/>
                    </a:cubicBezTo>
                    <a:cubicBezTo>
                      <a:pt x="229" y="222"/>
                      <a:pt x="229" y="224"/>
                      <a:pt x="229" y="225"/>
                    </a:cubicBezTo>
                    <a:cubicBezTo>
                      <a:pt x="229" y="228"/>
                      <a:pt x="229" y="228"/>
                      <a:pt x="229" y="228"/>
                    </a:cubicBezTo>
                    <a:cubicBezTo>
                      <a:pt x="229" y="229"/>
                      <a:pt x="229" y="230"/>
                      <a:pt x="229" y="230"/>
                    </a:cubicBezTo>
                    <a:cubicBezTo>
                      <a:pt x="229" y="230"/>
                      <a:pt x="229" y="230"/>
                      <a:pt x="229" y="230"/>
                    </a:cubicBezTo>
                    <a:cubicBezTo>
                      <a:pt x="230" y="230"/>
                      <a:pt x="230" y="230"/>
                      <a:pt x="230" y="230"/>
                    </a:cubicBezTo>
                    <a:cubicBezTo>
                      <a:pt x="229" y="230"/>
                      <a:pt x="229" y="230"/>
                      <a:pt x="229" y="230"/>
                    </a:cubicBezTo>
                    <a:cubicBezTo>
                      <a:pt x="229" y="230"/>
                      <a:pt x="229" y="230"/>
                      <a:pt x="229" y="230"/>
                    </a:cubicBezTo>
                    <a:cubicBezTo>
                      <a:pt x="230" y="230"/>
                      <a:pt x="230" y="230"/>
                      <a:pt x="230" y="230"/>
                    </a:cubicBezTo>
                    <a:cubicBezTo>
                      <a:pt x="229" y="230"/>
                      <a:pt x="229" y="230"/>
                      <a:pt x="229" y="230"/>
                    </a:cubicBezTo>
                    <a:cubicBezTo>
                      <a:pt x="230" y="231"/>
                      <a:pt x="230" y="231"/>
                      <a:pt x="230" y="231"/>
                    </a:cubicBezTo>
                    <a:cubicBezTo>
                      <a:pt x="230" y="230"/>
                      <a:pt x="230" y="230"/>
                      <a:pt x="230" y="230"/>
                    </a:cubicBezTo>
                    <a:cubicBezTo>
                      <a:pt x="229" y="230"/>
                      <a:pt x="229" y="230"/>
                      <a:pt x="229" y="230"/>
                    </a:cubicBezTo>
                    <a:cubicBezTo>
                      <a:pt x="230" y="231"/>
                      <a:pt x="230" y="231"/>
                      <a:pt x="230" y="231"/>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29"/>
                      <a:pt x="230" y="229"/>
                      <a:pt x="230" y="229"/>
                    </a:cubicBezTo>
                    <a:cubicBezTo>
                      <a:pt x="227" y="225"/>
                      <a:pt x="227" y="225"/>
                      <a:pt x="227" y="225"/>
                    </a:cubicBezTo>
                    <a:cubicBezTo>
                      <a:pt x="226" y="224"/>
                      <a:pt x="225" y="223"/>
                      <a:pt x="225" y="221"/>
                    </a:cubicBezTo>
                    <a:cubicBezTo>
                      <a:pt x="224" y="219"/>
                      <a:pt x="224" y="217"/>
                      <a:pt x="224" y="216"/>
                    </a:cubicBezTo>
                    <a:cubicBezTo>
                      <a:pt x="224" y="214"/>
                      <a:pt x="223" y="212"/>
                      <a:pt x="222" y="211"/>
                    </a:cubicBezTo>
                    <a:cubicBezTo>
                      <a:pt x="220" y="209"/>
                      <a:pt x="218" y="208"/>
                      <a:pt x="216" y="208"/>
                    </a:cubicBezTo>
                    <a:cubicBezTo>
                      <a:pt x="181" y="208"/>
                      <a:pt x="181" y="208"/>
                      <a:pt x="181" y="208"/>
                    </a:cubicBezTo>
                    <a:cubicBezTo>
                      <a:pt x="179" y="208"/>
                      <a:pt x="177" y="209"/>
                      <a:pt x="176" y="210"/>
                    </a:cubicBezTo>
                    <a:cubicBezTo>
                      <a:pt x="174" y="212"/>
                      <a:pt x="173" y="213"/>
                      <a:pt x="172" y="216"/>
                    </a:cubicBezTo>
                    <a:cubicBezTo>
                      <a:pt x="166" y="234"/>
                      <a:pt x="166" y="234"/>
                      <a:pt x="166" y="234"/>
                    </a:cubicBezTo>
                    <a:cubicBezTo>
                      <a:pt x="165" y="237"/>
                      <a:pt x="164" y="240"/>
                      <a:pt x="164" y="242"/>
                    </a:cubicBezTo>
                    <a:cubicBezTo>
                      <a:pt x="164" y="244"/>
                      <a:pt x="165" y="246"/>
                      <a:pt x="165" y="248"/>
                    </a:cubicBezTo>
                    <a:cubicBezTo>
                      <a:pt x="168" y="261"/>
                      <a:pt x="168" y="261"/>
                      <a:pt x="168" y="261"/>
                    </a:cubicBezTo>
                    <a:cubicBezTo>
                      <a:pt x="169" y="263"/>
                      <a:pt x="170" y="265"/>
                      <a:pt x="171" y="267"/>
                    </a:cubicBezTo>
                    <a:cubicBezTo>
                      <a:pt x="173" y="268"/>
                      <a:pt x="175" y="269"/>
                      <a:pt x="177" y="269"/>
                    </a:cubicBezTo>
                    <a:cubicBezTo>
                      <a:pt x="187" y="269"/>
                      <a:pt x="187" y="269"/>
                      <a:pt x="187" y="269"/>
                    </a:cubicBezTo>
                    <a:cubicBezTo>
                      <a:pt x="189" y="269"/>
                      <a:pt x="191" y="268"/>
                      <a:pt x="192" y="267"/>
                    </a:cubicBezTo>
                    <a:cubicBezTo>
                      <a:pt x="194" y="265"/>
                      <a:pt x="195" y="264"/>
                      <a:pt x="196" y="262"/>
                    </a:cubicBezTo>
                    <a:cubicBezTo>
                      <a:pt x="196" y="261"/>
                      <a:pt x="196" y="261"/>
                      <a:pt x="196" y="261"/>
                    </a:cubicBezTo>
                    <a:cubicBezTo>
                      <a:pt x="197" y="260"/>
                      <a:pt x="197" y="258"/>
                      <a:pt x="198" y="257"/>
                    </a:cubicBezTo>
                    <a:cubicBezTo>
                      <a:pt x="199" y="257"/>
                      <a:pt x="201" y="256"/>
                      <a:pt x="201" y="256"/>
                    </a:cubicBezTo>
                    <a:cubicBezTo>
                      <a:pt x="203" y="256"/>
                      <a:pt x="203" y="256"/>
                      <a:pt x="203" y="256"/>
                    </a:cubicBezTo>
                    <a:cubicBezTo>
                      <a:pt x="203" y="256"/>
                      <a:pt x="204" y="256"/>
                      <a:pt x="204" y="257"/>
                    </a:cubicBezTo>
                    <a:cubicBezTo>
                      <a:pt x="204" y="257"/>
                      <a:pt x="205" y="258"/>
                      <a:pt x="205" y="259"/>
                    </a:cubicBezTo>
                    <a:cubicBezTo>
                      <a:pt x="205" y="260"/>
                      <a:pt x="205" y="260"/>
                      <a:pt x="205" y="260"/>
                    </a:cubicBezTo>
                    <a:cubicBezTo>
                      <a:pt x="202" y="275"/>
                      <a:pt x="202" y="275"/>
                      <a:pt x="202" y="275"/>
                    </a:cubicBezTo>
                    <a:cubicBezTo>
                      <a:pt x="202" y="276"/>
                      <a:pt x="201" y="277"/>
                      <a:pt x="201" y="277"/>
                    </a:cubicBezTo>
                    <a:cubicBezTo>
                      <a:pt x="201" y="279"/>
                      <a:pt x="202" y="281"/>
                      <a:pt x="203" y="282"/>
                    </a:cubicBezTo>
                    <a:cubicBezTo>
                      <a:pt x="204" y="284"/>
                      <a:pt x="206" y="285"/>
                      <a:pt x="207" y="285"/>
                    </a:cubicBezTo>
                    <a:cubicBezTo>
                      <a:pt x="209" y="285"/>
                      <a:pt x="211" y="284"/>
                      <a:pt x="212" y="284"/>
                    </a:cubicBezTo>
                    <a:cubicBezTo>
                      <a:pt x="214" y="283"/>
                      <a:pt x="215" y="283"/>
                      <a:pt x="216" y="281"/>
                    </a:cubicBezTo>
                    <a:cubicBezTo>
                      <a:pt x="215" y="281"/>
                      <a:pt x="215" y="281"/>
                      <a:pt x="215" y="281"/>
                    </a:cubicBezTo>
                    <a:cubicBezTo>
                      <a:pt x="215" y="282"/>
                      <a:pt x="215" y="282"/>
                      <a:pt x="215" y="282"/>
                    </a:cubicBezTo>
                    <a:cubicBezTo>
                      <a:pt x="216" y="281"/>
                      <a:pt x="216" y="281"/>
                      <a:pt x="216" y="281"/>
                    </a:cubicBezTo>
                    <a:cubicBezTo>
                      <a:pt x="215" y="281"/>
                      <a:pt x="215" y="281"/>
                      <a:pt x="215" y="281"/>
                    </a:cubicBezTo>
                    <a:cubicBezTo>
                      <a:pt x="215" y="282"/>
                      <a:pt x="215" y="282"/>
                      <a:pt x="215" y="282"/>
                    </a:cubicBezTo>
                    <a:cubicBezTo>
                      <a:pt x="215" y="281"/>
                      <a:pt x="215" y="281"/>
                      <a:pt x="215" y="281"/>
                    </a:cubicBezTo>
                    <a:cubicBezTo>
                      <a:pt x="215" y="282"/>
                      <a:pt x="215" y="282"/>
                      <a:pt x="215" y="282"/>
                    </a:cubicBezTo>
                    <a:cubicBezTo>
                      <a:pt x="215" y="282"/>
                      <a:pt x="215" y="282"/>
                      <a:pt x="215" y="282"/>
                    </a:cubicBezTo>
                    <a:cubicBezTo>
                      <a:pt x="215" y="281"/>
                      <a:pt x="215" y="281"/>
                      <a:pt x="215" y="281"/>
                    </a:cubicBezTo>
                    <a:cubicBezTo>
                      <a:pt x="215" y="282"/>
                      <a:pt x="215" y="282"/>
                      <a:pt x="215" y="282"/>
                    </a:cubicBezTo>
                    <a:cubicBezTo>
                      <a:pt x="216" y="282"/>
                      <a:pt x="216" y="282"/>
                      <a:pt x="216" y="282"/>
                    </a:cubicBezTo>
                    <a:cubicBezTo>
                      <a:pt x="217" y="283"/>
                      <a:pt x="217" y="283"/>
                      <a:pt x="218" y="284"/>
                    </a:cubicBezTo>
                    <a:cubicBezTo>
                      <a:pt x="222" y="290"/>
                      <a:pt x="222" y="290"/>
                      <a:pt x="222" y="290"/>
                    </a:cubicBezTo>
                    <a:cubicBezTo>
                      <a:pt x="223" y="292"/>
                      <a:pt x="223" y="293"/>
                      <a:pt x="223" y="295"/>
                    </a:cubicBezTo>
                    <a:cubicBezTo>
                      <a:pt x="223" y="296"/>
                      <a:pt x="223" y="296"/>
                      <a:pt x="223" y="296"/>
                    </a:cubicBezTo>
                    <a:cubicBezTo>
                      <a:pt x="223" y="296"/>
                      <a:pt x="223" y="296"/>
                      <a:pt x="223" y="296"/>
                    </a:cubicBezTo>
                    <a:cubicBezTo>
                      <a:pt x="223" y="296"/>
                      <a:pt x="223" y="296"/>
                      <a:pt x="223" y="296"/>
                    </a:cubicBezTo>
                    <a:cubicBezTo>
                      <a:pt x="222" y="297"/>
                      <a:pt x="222" y="299"/>
                      <a:pt x="222" y="301"/>
                    </a:cubicBezTo>
                    <a:cubicBezTo>
                      <a:pt x="222" y="303"/>
                      <a:pt x="222" y="305"/>
                      <a:pt x="223" y="307"/>
                    </a:cubicBezTo>
                    <a:cubicBezTo>
                      <a:pt x="225" y="313"/>
                      <a:pt x="225" y="313"/>
                      <a:pt x="225" y="313"/>
                    </a:cubicBezTo>
                    <a:cubicBezTo>
                      <a:pt x="225" y="315"/>
                      <a:pt x="227" y="316"/>
                      <a:pt x="228" y="318"/>
                    </a:cubicBezTo>
                    <a:cubicBezTo>
                      <a:pt x="230" y="319"/>
                      <a:pt x="232" y="320"/>
                      <a:pt x="234" y="320"/>
                    </a:cubicBezTo>
                    <a:cubicBezTo>
                      <a:pt x="240" y="320"/>
                      <a:pt x="240" y="320"/>
                      <a:pt x="240" y="320"/>
                    </a:cubicBezTo>
                    <a:cubicBezTo>
                      <a:pt x="241" y="320"/>
                      <a:pt x="242" y="320"/>
                      <a:pt x="244" y="321"/>
                    </a:cubicBezTo>
                    <a:cubicBezTo>
                      <a:pt x="245" y="322"/>
                      <a:pt x="247" y="323"/>
                      <a:pt x="248" y="323"/>
                    </a:cubicBezTo>
                    <a:cubicBezTo>
                      <a:pt x="249" y="325"/>
                      <a:pt x="249" y="325"/>
                      <a:pt x="249" y="325"/>
                    </a:cubicBezTo>
                    <a:cubicBezTo>
                      <a:pt x="251" y="326"/>
                      <a:pt x="252" y="327"/>
                      <a:pt x="254" y="327"/>
                    </a:cubicBezTo>
                    <a:cubicBezTo>
                      <a:pt x="256" y="327"/>
                      <a:pt x="259" y="326"/>
                      <a:pt x="260" y="324"/>
                    </a:cubicBezTo>
                    <a:cubicBezTo>
                      <a:pt x="273" y="307"/>
                      <a:pt x="273" y="307"/>
                      <a:pt x="273" y="307"/>
                    </a:cubicBezTo>
                    <a:cubicBezTo>
                      <a:pt x="274" y="306"/>
                      <a:pt x="276" y="305"/>
                      <a:pt x="277" y="305"/>
                    </a:cubicBezTo>
                    <a:cubicBezTo>
                      <a:pt x="278" y="305"/>
                      <a:pt x="278" y="305"/>
                      <a:pt x="279" y="305"/>
                    </a:cubicBezTo>
                    <a:cubicBezTo>
                      <a:pt x="319" y="323"/>
                      <a:pt x="319" y="323"/>
                      <a:pt x="319" y="323"/>
                    </a:cubicBezTo>
                    <a:cubicBezTo>
                      <a:pt x="321" y="324"/>
                      <a:pt x="325" y="326"/>
                      <a:pt x="327" y="328"/>
                    </a:cubicBezTo>
                    <a:cubicBezTo>
                      <a:pt x="359" y="359"/>
                      <a:pt x="359" y="359"/>
                      <a:pt x="359" y="359"/>
                    </a:cubicBezTo>
                    <a:cubicBezTo>
                      <a:pt x="359" y="360"/>
                      <a:pt x="360" y="361"/>
                      <a:pt x="360" y="362"/>
                    </a:cubicBezTo>
                    <a:cubicBezTo>
                      <a:pt x="361" y="364"/>
                      <a:pt x="361" y="365"/>
                      <a:pt x="361" y="367"/>
                    </a:cubicBezTo>
                    <a:cubicBezTo>
                      <a:pt x="361" y="368"/>
                      <a:pt x="361" y="368"/>
                      <a:pt x="361" y="368"/>
                    </a:cubicBezTo>
                    <a:cubicBezTo>
                      <a:pt x="360" y="374"/>
                      <a:pt x="360" y="374"/>
                      <a:pt x="360" y="374"/>
                    </a:cubicBezTo>
                    <a:cubicBezTo>
                      <a:pt x="360" y="374"/>
                      <a:pt x="360" y="375"/>
                      <a:pt x="360" y="376"/>
                    </a:cubicBezTo>
                    <a:cubicBezTo>
                      <a:pt x="360" y="378"/>
                      <a:pt x="360" y="379"/>
                      <a:pt x="361" y="381"/>
                    </a:cubicBezTo>
                    <a:cubicBezTo>
                      <a:pt x="362" y="383"/>
                      <a:pt x="363" y="384"/>
                      <a:pt x="364" y="385"/>
                    </a:cubicBezTo>
                    <a:cubicBezTo>
                      <a:pt x="365" y="386"/>
                      <a:pt x="367" y="386"/>
                      <a:pt x="368" y="386"/>
                    </a:cubicBezTo>
                    <a:cubicBezTo>
                      <a:pt x="370" y="386"/>
                      <a:pt x="373" y="385"/>
                      <a:pt x="375" y="383"/>
                    </a:cubicBezTo>
                    <a:cubicBezTo>
                      <a:pt x="376" y="382"/>
                      <a:pt x="377" y="381"/>
                      <a:pt x="378" y="381"/>
                    </a:cubicBezTo>
                    <a:cubicBezTo>
                      <a:pt x="379" y="381"/>
                      <a:pt x="380" y="381"/>
                      <a:pt x="380" y="382"/>
                    </a:cubicBezTo>
                    <a:cubicBezTo>
                      <a:pt x="422" y="407"/>
                      <a:pt x="422" y="407"/>
                      <a:pt x="422" y="407"/>
                    </a:cubicBezTo>
                    <a:cubicBezTo>
                      <a:pt x="423" y="407"/>
                      <a:pt x="424" y="408"/>
                      <a:pt x="424" y="409"/>
                    </a:cubicBezTo>
                    <a:cubicBezTo>
                      <a:pt x="425" y="410"/>
                      <a:pt x="425" y="412"/>
                      <a:pt x="425" y="413"/>
                    </a:cubicBezTo>
                    <a:cubicBezTo>
                      <a:pt x="425" y="414"/>
                      <a:pt x="425" y="414"/>
                      <a:pt x="425" y="414"/>
                    </a:cubicBezTo>
                    <a:cubicBezTo>
                      <a:pt x="423" y="426"/>
                      <a:pt x="423" y="426"/>
                      <a:pt x="423" y="426"/>
                    </a:cubicBezTo>
                    <a:cubicBezTo>
                      <a:pt x="423" y="429"/>
                      <a:pt x="421" y="434"/>
                      <a:pt x="419" y="436"/>
                    </a:cubicBezTo>
                    <a:cubicBezTo>
                      <a:pt x="315" y="584"/>
                      <a:pt x="315" y="584"/>
                      <a:pt x="315" y="584"/>
                    </a:cubicBezTo>
                    <a:cubicBezTo>
                      <a:pt x="313" y="587"/>
                      <a:pt x="311" y="592"/>
                      <a:pt x="310" y="596"/>
                    </a:cubicBezTo>
                    <a:cubicBezTo>
                      <a:pt x="303" y="621"/>
                      <a:pt x="303" y="621"/>
                      <a:pt x="303" y="621"/>
                    </a:cubicBezTo>
                    <a:cubicBezTo>
                      <a:pt x="302" y="625"/>
                      <a:pt x="301" y="631"/>
                      <a:pt x="301" y="635"/>
                    </a:cubicBezTo>
                    <a:cubicBezTo>
                      <a:pt x="301" y="662"/>
                      <a:pt x="301" y="662"/>
                      <a:pt x="301" y="662"/>
                    </a:cubicBezTo>
                    <a:cubicBezTo>
                      <a:pt x="301" y="663"/>
                      <a:pt x="301" y="663"/>
                      <a:pt x="301" y="663"/>
                    </a:cubicBezTo>
                    <a:cubicBezTo>
                      <a:pt x="301" y="663"/>
                      <a:pt x="301" y="663"/>
                      <a:pt x="301" y="663"/>
                    </a:cubicBezTo>
                    <a:cubicBezTo>
                      <a:pt x="302" y="664"/>
                      <a:pt x="302" y="664"/>
                      <a:pt x="302" y="664"/>
                    </a:cubicBezTo>
                    <a:cubicBezTo>
                      <a:pt x="302" y="663"/>
                      <a:pt x="302" y="663"/>
                      <a:pt x="302" y="663"/>
                    </a:cubicBezTo>
                    <a:cubicBezTo>
                      <a:pt x="301" y="663"/>
                      <a:pt x="301" y="663"/>
                      <a:pt x="301" y="663"/>
                    </a:cubicBezTo>
                    <a:cubicBezTo>
                      <a:pt x="302" y="664"/>
                      <a:pt x="302" y="664"/>
                      <a:pt x="302" y="664"/>
                    </a:cubicBezTo>
                    <a:cubicBezTo>
                      <a:pt x="302" y="663"/>
                      <a:pt x="302" y="663"/>
                      <a:pt x="302" y="663"/>
                    </a:cubicBezTo>
                    <a:cubicBezTo>
                      <a:pt x="303" y="664"/>
                      <a:pt x="303" y="664"/>
                      <a:pt x="303" y="664"/>
                    </a:cubicBezTo>
                    <a:cubicBezTo>
                      <a:pt x="303" y="663"/>
                      <a:pt x="303" y="663"/>
                      <a:pt x="303" y="663"/>
                    </a:cubicBezTo>
                    <a:cubicBezTo>
                      <a:pt x="302" y="663"/>
                      <a:pt x="302" y="663"/>
                      <a:pt x="302" y="663"/>
                    </a:cubicBezTo>
                    <a:cubicBezTo>
                      <a:pt x="303" y="664"/>
                      <a:pt x="303" y="664"/>
                      <a:pt x="303" y="664"/>
                    </a:cubicBezTo>
                    <a:cubicBezTo>
                      <a:pt x="303" y="663"/>
                      <a:pt x="303" y="663"/>
                      <a:pt x="303" y="663"/>
                    </a:cubicBezTo>
                    <a:cubicBezTo>
                      <a:pt x="303" y="664"/>
                      <a:pt x="303" y="664"/>
                      <a:pt x="303" y="664"/>
                    </a:cubicBezTo>
                    <a:cubicBezTo>
                      <a:pt x="303" y="663"/>
                      <a:pt x="303" y="663"/>
                      <a:pt x="303" y="663"/>
                    </a:cubicBezTo>
                    <a:cubicBezTo>
                      <a:pt x="303" y="663"/>
                      <a:pt x="303" y="663"/>
                      <a:pt x="303" y="663"/>
                    </a:cubicBezTo>
                    <a:cubicBezTo>
                      <a:pt x="303" y="664"/>
                      <a:pt x="303" y="664"/>
                      <a:pt x="303" y="664"/>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2"/>
                    </a:cubicBezTo>
                    <a:cubicBezTo>
                      <a:pt x="286" y="629"/>
                      <a:pt x="286" y="629"/>
                      <a:pt x="286" y="629"/>
                    </a:cubicBezTo>
                    <a:cubicBezTo>
                      <a:pt x="284" y="627"/>
                      <a:pt x="283" y="621"/>
                      <a:pt x="283" y="618"/>
                    </a:cubicBezTo>
                    <a:cubicBezTo>
                      <a:pt x="283" y="479"/>
                      <a:pt x="283" y="479"/>
                      <a:pt x="283" y="479"/>
                    </a:cubicBezTo>
                    <a:cubicBezTo>
                      <a:pt x="283" y="474"/>
                      <a:pt x="282" y="469"/>
                      <a:pt x="280" y="465"/>
                    </a:cubicBezTo>
                    <a:cubicBezTo>
                      <a:pt x="244" y="405"/>
                      <a:pt x="244" y="405"/>
                      <a:pt x="244" y="405"/>
                    </a:cubicBezTo>
                    <a:cubicBezTo>
                      <a:pt x="243" y="403"/>
                      <a:pt x="242" y="400"/>
                      <a:pt x="242" y="397"/>
                    </a:cubicBezTo>
                    <a:cubicBezTo>
                      <a:pt x="242" y="396"/>
                      <a:pt x="242" y="395"/>
                      <a:pt x="242" y="395"/>
                    </a:cubicBezTo>
                    <a:cubicBezTo>
                      <a:pt x="250" y="346"/>
                      <a:pt x="250" y="346"/>
                      <a:pt x="250" y="346"/>
                    </a:cubicBezTo>
                    <a:cubicBezTo>
                      <a:pt x="251" y="345"/>
                      <a:pt x="251" y="344"/>
                      <a:pt x="251" y="343"/>
                    </a:cubicBezTo>
                    <a:cubicBezTo>
                      <a:pt x="251" y="340"/>
                      <a:pt x="250" y="336"/>
                      <a:pt x="248" y="333"/>
                    </a:cubicBezTo>
                    <a:cubicBezTo>
                      <a:pt x="248" y="333"/>
                      <a:pt x="248" y="333"/>
                      <a:pt x="248" y="333"/>
                    </a:cubicBezTo>
                    <a:cubicBezTo>
                      <a:pt x="247" y="332"/>
                      <a:pt x="247" y="332"/>
                      <a:pt x="247" y="332"/>
                    </a:cubicBezTo>
                    <a:cubicBezTo>
                      <a:pt x="247" y="332"/>
                      <a:pt x="247" y="332"/>
                      <a:pt x="247" y="332"/>
                    </a:cubicBezTo>
                    <a:cubicBezTo>
                      <a:pt x="246" y="330"/>
                      <a:pt x="245" y="328"/>
                      <a:pt x="243" y="327"/>
                    </a:cubicBezTo>
                    <a:cubicBezTo>
                      <a:pt x="241" y="326"/>
                      <a:pt x="239" y="325"/>
                      <a:pt x="237" y="325"/>
                    </a:cubicBezTo>
                    <a:cubicBezTo>
                      <a:pt x="228" y="325"/>
                      <a:pt x="228" y="325"/>
                      <a:pt x="228" y="325"/>
                    </a:cubicBezTo>
                    <a:cubicBezTo>
                      <a:pt x="227" y="325"/>
                      <a:pt x="225" y="325"/>
                      <a:pt x="224" y="324"/>
                    </a:cubicBezTo>
                    <a:cubicBezTo>
                      <a:pt x="223" y="323"/>
                      <a:pt x="222" y="322"/>
                      <a:pt x="221" y="321"/>
                    </a:cubicBezTo>
                    <a:cubicBezTo>
                      <a:pt x="211" y="302"/>
                      <a:pt x="211" y="302"/>
                      <a:pt x="211" y="302"/>
                    </a:cubicBezTo>
                    <a:cubicBezTo>
                      <a:pt x="209" y="299"/>
                      <a:pt x="206" y="295"/>
                      <a:pt x="203" y="293"/>
                    </a:cubicBezTo>
                    <a:cubicBezTo>
                      <a:pt x="181" y="280"/>
                      <a:pt x="181" y="280"/>
                      <a:pt x="181" y="280"/>
                    </a:cubicBezTo>
                    <a:cubicBezTo>
                      <a:pt x="178" y="278"/>
                      <a:pt x="174" y="277"/>
                      <a:pt x="170" y="277"/>
                    </a:cubicBezTo>
                    <a:cubicBezTo>
                      <a:pt x="162" y="277"/>
                      <a:pt x="162" y="277"/>
                      <a:pt x="162" y="277"/>
                    </a:cubicBezTo>
                    <a:cubicBezTo>
                      <a:pt x="161" y="277"/>
                      <a:pt x="159" y="276"/>
                      <a:pt x="157" y="276"/>
                    </a:cubicBezTo>
                    <a:cubicBezTo>
                      <a:pt x="156" y="275"/>
                      <a:pt x="154" y="274"/>
                      <a:pt x="153" y="274"/>
                    </a:cubicBezTo>
                    <a:cubicBezTo>
                      <a:pt x="140" y="263"/>
                      <a:pt x="140" y="263"/>
                      <a:pt x="140" y="263"/>
                    </a:cubicBezTo>
                    <a:cubicBezTo>
                      <a:pt x="139" y="262"/>
                      <a:pt x="138" y="261"/>
                      <a:pt x="137" y="259"/>
                    </a:cubicBezTo>
                    <a:cubicBezTo>
                      <a:pt x="136" y="258"/>
                      <a:pt x="136" y="256"/>
                      <a:pt x="136" y="254"/>
                    </a:cubicBezTo>
                    <a:cubicBezTo>
                      <a:pt x="136" y="249"/>
                      <a:pt x="136" y="249"/>
                      <a:pt x="136" y="249"/>
                    </a:cubicBezTo>
                    <a:cubicBezTo>
                      <a:pt x="136" y="245"/>
                      <a:pt x="135" y="239"/>
                      <a:pt x="133" y="236"/>
                    </a:cubicBezTo>
                    <a:cubicBezTo>
                      <a:pt x="113" y="201"/>
                      <a:pt x="113" y="201"/>
                      <a:pt x="113" y="201"/>
                    </a:cubicBezTo>
                    <a:cubicBezTo>
                      <a:pt x="112" y="201"/>
                      <a:pt x="112" y="200"/>
                      <a:pt x="112" y="200"/>
                    </a:cubicBezTo>
                    <a:cubicBezTo>
                      <a:pt x="111" y="199"/>
                      <a:pt x="111" y="199"/>
                      <a:pt x="111" y="199"/>
                    </a:cubicBezTo>
                    <a:cubicBezTo>
                      <a:pt x="110" y="199"/>
                      <a:pt x="110" y="198"/>
                      <a:pt x="109" y="198"/>
                    </a:cubicBezTo>
                    <a:cubicBezTo>
                      <a:pt x="108" y="199"/>
                      <a:pt x="108" y="199"/>
                      <a:pt x="108" y="199"/>
                    </a:cubicBezTo>
                    <a:cubicBezTo>
                      <a:pt x="107" y="199"/>
                      <a:pt x="107" y="200"/>
                      <a:pt x="107" y="200"/>
                    </a:cubicBezTo>
                    <a:cubicBezTo>
                      <a:pt x="107" y="201"/>
                      <a:pt x="107" y="201"/>
                      <a:pt x="107" y="201"/>
                    </a:cubicBezTo>
                    <a:cubicBezTo>
                      <a:pt x="107" y="202"/>
                      <a:pt x="107" y="203"/>
                      <a:pt x="107" y="204"/>
                    </a:cubicBezTo>
                    <a:cubicBezTo>
                      <a:pt x="116" y="239"/>
                      <a:pt x="116" y="239"/>
                      <a:pt x="116" y="239"/>
                    </a:cubicBezTo>
                    <a:cubicBezTo>
                      <a:pt x="116" y="240"/>
                      <a:pt x="116" y="240"/>
                      <a:pt x="116" y="240"/>
                    </a:cubicBezTo>
                    <a:cubicBezTo>
                      <a:pt x="116" y="240"/>
                      <a:pt x="116" y="240"/>
                      <a:pt x="116" y="240"/>
                    </a:cubicBezTo>
                    <a:cubicBezTo>
                      <a:pt x="116" y="241"/>
                      <a:pt x="116" y="241"/>
                      <a:pt x="116" y="241"/>
                    </a:cubicBezTo>
                    <a:cubicBezTo>
                      <a:pt x="116" y="241"/>
                      <a:pt x="116" y="241"/>
                      <a:pt x="116" y="241"/>
                    </a:cubicBezTo>
                    <a:cubicBezTo>
                      <a:pt x="118" y="241"/>
                      <a:pt x="118" y="241"/>
                      <a:pt x="118" y="241"/>
                    </a:cubicBezTo>
                    <a:cubicBezTo>
                      <a:pt x="116" y="240"/>
                      <a:pt x="116" y="240"/>
                      <a:pt x="116" y="240"/>
                    </a:cubicBezTo>
                    <a:cubicBezTo>
                      <a:pt x="116" y="241"/>
                      <a:pt x="116" y="241"/>
                      <a:pt x="116" y="241"/>
                    </a:cubicBezTo>
                    <a:cubicBezTo>
                      <a:pt x="118" y="241"/>
                      <a:pt x="118" y="241"/>
                      <a:pt x="118" y="241"/>
                    </a:cubicBezTo>
                    <a:cubicBezTo>
                      <a:pt x="116" y="240"/>
                      <a:pt x="116" y="240"/>
                      <a:pt x="116" y="240"/>
                    </a:cubicBezTo>
                    <a:cubicBezTo>
                      <a:pt x="118" y="241"/>
                      <a:pt x="118" y="241"/>
                      <a:pt x="118" y="241"/>
                    </a:cubicBezTo>
                    <a:cubicBezTo>
                      <a:pt x="117" y="239"/>
                      <a:pt x="117" y="239"/>
                      <a:pt x="117" y="239"/>
                    </a:cubicBezTo>
                    <a:cubicBezTo>
                      <a:pt x="116" y="240"/>
                      <a:pt x="116" y="240"/>
                      <a:pt x="116" y="240"/>
                    </a:cubicBezTo>
                    <a:cubicBezTo>
                      <a:pt x="118" y="241"/>
                      <a:pt x="118" y="241"/>
                      <a:pt x="118" y="241"/>
                    </a:cubicBezTo>
                    <a:cubicBezTo>
                      <a:pt x="117" y="239"/>
                      <a:pt x="117" y="239"/>
                      <a:pt x="117" y="239"/>
                    </a:cubicBezTo>
                    <a:cubicBezTo>
                      <a:pt x="118" y="241"/>
                      <a:pt x="118" y="241"/>
                      <a:pt x="118" y="241"/>
                    </a:cubicBezTo>
                    <a:cubicBezTo>
                      <a:pt x="118" y="239"/>
                      <a:pt x="118" y="239"/>
                      <a:pt x="118" y="239"/>
                    </a:cubicBezTo>
                    <a:cubicBezTo>
                      <a:pt x="117" y="239"/>
                      <a:pt x="117" y="239"/>
                      <a:pt x="117" y="239"/>
                    </a:cubicBezTo>
                    <a:cubicBezTo>
                      <a:pt x="118" y="241"/>
                      <a:pt x="118" y="241"/>
                      <a:pt x="118" y="241"/>
                    </a:cubicBezTo>
                    <a:cubicBezTo>
                      <a:pt x="118" y="239"/>
                      <a:pt x="118" y="239"/>
                      <a:pt x="118" y="239"/>
                    </a:cubicBezTo>
                    <a:cubicBezTo>
                      <a:pt x="118" y="241"/>
                      <a:pt x="118" y="241"/>
                      <a:pt x="118" y="241"/>
                    </a:cubicBezTo>
                    <a:cubicBezTo>
                      <a:pt x="120" y="239"/>
                      <a:pt x="120" y="239"/>
                      <a:pt x="120" y="239"/>
                    </a:cubicBezTo>
                    <a:cubicBezTo>
                      <a:pt x="119" y="239"/>
                      <a:pt x="119" y="239"/>
                      <a:pt x="118" y="239"/>
                    </a:cubicBezTo>
                    <a:cubicBezTo>
                      <a:pt x="118" y="241"/>
                      <a:pt x="118" y="241"/>
                      <a:pt x="118" y="241"/>
                    </a:cubicBezTo>
                    <a:cubicBezTo>
                      <a:pt x="120" y="239"/>
                      <a:pt x="120" y="239"/>
                      <a:pt x="120" y="239"/>
                    </a:cubicBezTo>
                    <a:cubicBezTo>
                      <a:pt x="119" y="240"/>
                      <a:pt x="119" y="240"/>
                      <a:pt x="119" y="240"/>
                    </a:cubicBezTo>
                    <a:cubicBezTo>
                      <a:pt x="120" y="239"/>
                      <a:pt x="120" y="239"/>
                      <a:pt x="120" y="239"/>
                    </a:cubicBezTo>
                    <a:cubicBezTo>
                      <a:pt x="120" y="239"/>
                      <a:pt x="120" y="239"/>
                      <a:pt x="120" y="239"/>
                    </a:cubicBezTo>
                    <a:cubicBezTo>
                      <a:pt x="119" y="240"/>
                      <a:pt x="119" y="240"/>
                      <a:pt x="119" y="240"/>
                    </a:cubicBezTo>
                    <a:cubicBezTo>
                      <a:pt x="120" y="239"/>
                      <a:pt x="120" y="239"/>
                      <a:pt x="120" y="239"/>
                    </a:cubicBezTo>
                    <a:cubicBezTo>
                      <a:pt x="120" y="239"/>
                      <a:pt x="119" y="239"/>
                      <a:pt x="119" y="238"/>
                    </a:cubicBezTo>
                    <a:cubicBezTo>
                      <a:pt x="84" y="155"/>
                      <a:pt x="84" y="155"/>
                      <a:pt x="84" y="155"/>
                    </a:cubicBezTo>
                    <a:cubicBezTo>
                      <a:pt x="83" y="153"/>
                      <a:pt x="83" y="150"/>
                      <a:pt x="83" y="147"/>
                    </a:cubicBezTo>
                    <a:cubicBezTo>
                      <a:pt x="83" y="146"/>
                      <a:pt x="83" y="145"/>
                      <a:pt x="83" y="144"/>
                    </a:cubicBezTo>
                    <a:cubicBezTo>
                      <a:pt x="91" y="108"/>
                      <a:pt x="91" y="108"/>
                      <a:pt x="91" y="108"/>
                    </a:cubicBezTo>
                    <a:cubicBezTo>
                      <a:pt x="92" y="107"/>
                      <a:pt x="92" y="105"/>
                      <a:pt x="92" y="104"/>
                    </a:cubicBezTo>
                    <a:cubicBezTo>
                      <a:pt x="92" y="100"/>
                      <a:pt x="91" y="97"/>
                      <a:pt x="90" y="95"/>
                    </a:cubicBezTo>
                    <a:cubicBezTo>
                      <a:pt x="72" y="53"/>
                      <a:pt x="72" y="53"/>
                      <a:pt x="72" y="53"/>
                    </a:cubicBezTo>
                    <a:cubicBezTo>
                      <a:pt x="72" y="51"/>
                      <a:pt x="71" y="50"/>
                      <a:pt x="70" y="49"/>
                    </a:cubicBezTo>
                    <a:cubicBezTo>
                      <a:pt x="69" y="48"/>
                      <a:pt x="67" y="48"/>
                      <a:pt x="66" y="48"/>
                    </a:cubicBezTo>
                    <a:cubicBezTo>
                      <a:pt x="65" y="48"/>
                      <a:pt x="64" y="48"/>
                      <a:pt x="63" y="48"/>
                    </a:cubicBezTo>
                    <a:cubicBezTo>
                      <a:pt x="63" y="48"/>
                      <a:pt x="63" y="48"/>
                      <a:pt x="63" y="48"/>
                    </a:cubicBezTo>
                    <a:cubicBezTo>
                      <a:pt x="63" y="48"/>
                      <a:pt x="63" y="48"/>
                      <a:pt x="63" y="48"/>
                    </a:cubicBezTo>
                    <a:cubicBezTo>
                      <a:pt x="63" y="49"/>
                      <a:pt x="62" y="49"/>
                      <a:pt x="61" y="49"/>
                    </a:cubicBezTo>
                    <a:cubicBezTo>
                      <a:pt x="60" y="49"/>
                      <a:pt x="58" y="48"/>
                      <a:pt x="57" y="47"/>
                    </a:cubicBezTo>
                    <a:cubicBezTo>
                      <a:pt x="50" y="42"/>
                      <a:pt x="50" y="42"/>
                      <a:pt x="50" y="42"/>
                    </a:cubicBezTo>
                    <a:cubicBezTo>
                      <a:pt x="48" y="40"/>
                      <a:pt x="46" y="39"/>
                      <a:pt x="44" y="39"/>
                    </a:cubicBezTo>
                    <a:cubicBezTo>
                      <a:pt x="42" y="39"/>
                      <a:pt x="40" y="40"/>
                      <a:pt x="39" y="41"/>
                    </a:cubicBezTo>
                    <a:cubicBezTo>
                      <a:pt x="4" y="63"/>
                      <a:pt x="4" y="63"/>
                      <a:pt x="4" y="63"/>
                    </a:cubicBezTo>
                    <a:cubicBezTo>
                      <a:pt x="3" y="64"/>
                      <a:pt x="3" y="64"/>
                      <a:pt x="3" y="64"/>
                    </a:cubicBezTo>
                    <a:cubicBezTo>
                      <a:pt x="3" y="64"/>
                      <a:pt x="3" y="64"/>
                      <a:pt x="3" y="64"/>
                    </a:cubicBezTo>
                    <a:cubicBezTo>
                      <a:pt x="3" y="64"/>
                      <a:pt x="3" y="64"/>
                      <a:pt x="3" y="64"/>
                    </a:cubicBezTo>
                    <a:cubicBezTo>
                      <a:pt x="3" y="64"/>
                      <a:pt x="3" y="64"/>
                      <a:pt x="3" y="64"/>
                    </a:cubicBezTo>
                    <a:cubicBezTo>
                      <a:pt x="3" y="64"/>
                      <a:pt x="3" y="64"/>
                      <a:pt x="3" y="64"/>
                    </a:cubicBezTo>
                    <a:cubicBezTo>
                      <a:pt x="3" y="64"/>
                      <a:pt x="3" y="64"/>
                      <a:pt x="3" y="64"/>
                    </a:cubicBezTo>
                    <a:cubicBezTo>
                      <a:pt x="3" y="64"/>
                      <a:pt x="3" y="64"/>
                      <a:pt x="3" y="64"/>
                    </a:cubicBezTo>
                    <a:cubicBezTo>
                      <a:pt x="3" y="65"/>
                      <a:pt x="3" y="65"/>
                      <a:pt x="3" y="65"/>
                    </a:cubicBezTo>
                    <a:cubicBezTo>
                      <a:pt x="4" y="64"/>
                      <a:pt x="4" y="64"/>
                      <a:pt x="4" y="64"/>
                    </a:cubicBezTo>
                    <a:cubicBezTo>
                      <a:pt x="3" y="64"/>
                      <a:pt x="3" y="64"/>
                      <a:pt x="3" y="64"/>
                    </a:cubicBezTo>
                    <a:cubicBezTo>
                      <a:pt x="3" y="65"/>
                      <a:pt x="3" y="65"/>
                      <a:pt x="3" y="65"/>
                    </a:cubicBezTo>
                    <a:cubicBezTo>
                      <a:pt x="4" y="64"/>
                      <a:pt x="4" y="64"/>
                      <a:pt x="4" y="64"/>
                    </a:cubicBezTo>
                    <a:cubicBezTo>
                      <a:pt x="3" y="65"/>
                      <a:pt x="3" y="65"/>
                      <a:pt x="3" y="65"/>
                    </a:cubicBezTo>
                    <a:cubicBezTo>
                      <a:pt x="5" y="65"/>
                      <a:pt x="5" y="65"/>
                      <a:pt x="5" y="65"/>
                    </a:cubicBezTo>
                    <a:cubicBezTo>
                      <a:pt x="5" y="65"/>
                      <a:pt x="5" y="65"/>
                      <a:pt x="4" y="64"/>
                    </a:cubicBezTo>
                    <a:cubicBezTo>
                      <a:pt x="3" y="65"/>
                      <a:pt x="3" y="65"/>
                      <a:pt x="3" y="65"/>
                    </a:cubicBezTo>
                    <a:cubicBezTo>
                      <a:pt x="5" y="65"/>
                      <a:pt x="5" y="65"/>
                      <a:pt x="5" y="65"/>
                    </a:cubicBezTo>
                    <a:cubicBezTo>
                      <a:pt x="4" y="65"/>
                      <a:pt x="4" y="65"/>
                      <a:pt x="4" y="65"/>
                    </a:cubicBezTo>
                    <a:cubicBezTo>
                      <a:pt x="5" y="65"/>
                      <a:pt x="5" y="65"/>
                      <a:pt x="5" y="65"/>
                    </a:cubicBezTo>
                    <a:cubicBezTo>
                      <a:pt x="5" y="65"/>
                      <a:pt x="5" y="65"/>
                      <a:pt x="5" y="65"/>
                    </a:cubicBezTo>
                    <a:cubicBezTo>
                      <a:pt x="4" y="65"/>
                      <a:pt x="4" y="65"/>
                      <a:pt x="4" y="65"/>
                    </a:cubicBezTo>
                    <a:cubicBezTo>
                      <a:pt x="5" y="65"/>
                      <a:pt x="5" y="65"/>
                      <a:pt x="5" y="65"/>
                    </a:cubicBezTo>
                    <a:cubicBezTo>
                      <a:pt x="5" y="65"/>
                      <a:pt x="5" y="65"/>
                      <a:pt x="5" y="64"/>
                    </a:cubicBezTo>
                    <a:cubicBezTo>
                      <a:pt x="11" y="54"/>
                      <a:pt x="11" y="54"/>
                      <a:pt x="11" y="54"/>
                    </a:cubicBezTo>
                    <a:cubicBezTo>
                      <a:pt x="12" y="53"/>
                      <a:pt x="12" y="51"/>
                      <a:pt x="12" y="50"/>
                    </a:cubicBezTo>
                    <a:cubicBezTo>
                      <a:pt x="12" y="47"/>
                      <a:pt x="11" y="44"/>
                      <a:pt x="9" y="43"/>
                    </a:cubicBezTo>
                    <a:cubicBezTo>
                      <a:pt x="8" y="44"/>
                      <a:pt x="8" y="44"/>
                      <a:pt x="8" y="44"/>
                    </a:cubicBezTo>
                    <a:cubicBezTo>
                      <a:pt x="9" y="43"/>
                      <a:pt x="9" y="43"/>
                      <a:pt x="9" y="43"/>
                    </a:cubicBezTo>
                    <a:cubicBezTo>
                      <a:pt x="9" y="43"/>
                      <a:pt x="9" y="43"/>
                      <a:pt x="9" y="43"/>
                    </a:cubicBezTo>
                    <a:cubicBezTo>
                      <a:pt x="9" y="43"/>
                      <a:pt x="9" y="43"/>
                      <a:pt x="9" y="43"/>
                    </a:cubicBezTo>
                    <a:cubicBezTo>
                      <a:pt x="9" y="43"/>
                      <a:pt x="9" y="43"/>
                      <a:pt x="9" y="43"/>
                    </a:cubicBezTo>
                    <a:cubicBezTo>
                      <a:pt x="8" y="42"/>
                      <a:pt x="8" y="41"/>
                      <a:pt x="8" y="41"/>
                    </a:cubicBezTo>
                    <a:cubicBezTo>
                      <a:pt x="8" y="40"/>
                      <a:pt x="8" y="39"/>
                      <a:pt x="9" y="39"/>
                    </a:cubicBezTo>
                    <a:cubicBezTo>
                      <a:pt x="17" y="31"/>
                      <a:pt x="17" y="31"/>
                      <a:pt x="17" y="31"/>
                    </a:cubicBezTo>
                    <a:cubicBezTo>
                      <a:pt x="20" y="29"/>
                      <a:pt x="23" y="25"/>
                      <a:pt x="26" y="23"/>
                    </a:cubicBezTo>
                    <a:cubicBezTo>
                      <a:pt x="40" y="7"/>
                      <a:pt x="40" y="7"/>
                      <a:pt x="40" y="7"/>
                    </a:cubicBezTo>
                    <a:cubicBezTo>
                      <a:pt x="38" y="6"/>
                      <a:pt x="38" y="6"/>
                      <a:pt x="38" y="6"/>
                    </a:cubicBezTo>
                    <a:cubicBezTo>
                      <a:pt x="36" y="5"/>
                      <a:pt x="36" y="5"/>
                      <a:pt x="36" y="5"/>
                    </a:cubicBezTo>
                    <a:cubicBezTo>
                      <a:pt x="23" y="20"/>
                      <a:pt x="23" y="20"/>
                      <a:pt x="23" y="20"/>
                    </a:cubicBezTo>
                    <a:cubicBezTo>
                      <a:pt x="20" y="22"/>
                      <a:pt x="17" y="26"/>
                      <a:pt x="15" y="28"/>
                    </a:cubicBezTo>
                    <a:cubicBezTo>
                      <a:pt x="6" y="35"/>
                      <a:pt x="6" y="35"/>
                      <a:pt x="6" y="35"/>
                    </a:cubicBezTo>
                    <a:cubicBezTo>
                      <a:pt x="4" y="37"/>
                      <a:pt x="3" y="39"/>
                      <a:pt x="3" y="41"/>
                    </a:cubicBezTo>
                    <a:cubicBezTo>
                      <a:pt x="3" y="43"/>
                      <a:pt x="4" y="45"/>
                      <a:pt x="6" y="46"/>
                    </a:cubicBezTo>
                    <a:cubicBezTo>
                      <a:pt x="7" y="44"/>
                      <a:pt x="7" y="44"/>
                      <a:pt x="7" y="44"/>
                    </a:cubicBezTo>
                    <a:cubicBezTo>
                      <a:pt x="6" y="46"/>
                      <a:pt x="6" y="46"/>
                      <a:pt x="6" y="46"/>
                    </a:cubicBezTo>
                    <a:cubicBezTo>
                      <a:pt x="6" y="46"/>
                      <a:pt x="6" y="46"/>
                      <a:pt x="6" y="46"/>
                    </a:cubicBezTo>
                    <a:cubicBezTo>
                      <a:pt x="6" y="46"/>
                      <a:pt x="6" y="46"/>
                      <a:pt x="6" y="46"/>
                    </a:cubicBezTo>
                    <a:cubicBezTo>
                      <a:pt x="6" y="46"/>
                      <a:pt x="6" y="46"/>
                      <a:pt x="6" y="46"/>
                    </a:cubicBezTo>
                    <a:cubicBezTo>
                      <a:pt x="7" y="47"/>
                      <a:pt x="8" y="48"/>
                      <a:pt x="8" y="50"/>
                    </a:cubicBezTo>
                    <a:cubicBezTo>
                      <a:pt x="8" y="50"/>
                      <a:pt x="8" y="51"/>
                      <a:pt x="7" y="52"/>
                    </a:cubicBezTo>
                    <a:cubicBezTo>
                      <a:pt x="2" y="62"/>
                      <a:pt x="2" y="62"/>
                      <a:pt x="2" y="62"/>
                    </a:cubicBezTo>
                    <a:cubicBezTo>
                      <a:pt x="1" y="62"/>
                      <a:pt x="1" y="63"/>
                      <a:pt x="1" y="63"/>
                    </a:cubicBezTo>
                    <a:cubicBezTo>
                      <a:pt x="1" y="64"/>
                      <a:pt x="0" y="65"/>
                      <a:pt x="0" y="65"/>
                    </a:cubicBezTo>
                    <a:cubicBezTo>
                      <a:pt x="0" y="66"/>
                      <a:pt x="0" y="66"/>
                      <a:pt x="1" y="67"/>
                    </a:cubicBezTo>
                    <a:cubicBezTo>
                      <a:pt x="2" y="68"/>
                      <a:pt x="3" y="68"/>
                      <a:pt x="3" y="68"/>
                    </a:cubicBezTo>
                    <a:cubicBezTo>
                      <a:pt x="4" y="68"/>
                      <a:pt x="5" y="68"/>
                      <a:pt x="6" y="67"/>
                    </a:cubicBezTo>
                    <a:cubicBezTo>
                      <a:pt x="41" y="44"/>
                      <a:pt x="41" y="44"/>
                      <a:pt x="41" y="44"/>
                    </a:cubicBezTo>
                    <a:cubicBezTo>
                      <a:pt x="42" y="44"/>
                      <a:pt x="43" y="44"/>
                      <a:pt x="44" y="44"/>
                    </a:cubicBezTo>
                    <a:cubicBezTo>
                      <a:pt x="45" y="44"/>
                      <a:pt x="47" y="44"/>
                      <a:pt x="47" y="45"/>
                    </a:cubicBezTo>
                    <a:cubicBezTo>
                      <a:pt x="54" y="51"/>
                      <a:pt x="54" y="51"/>
                      <a:pt x="54" y="51"/>
                    </a:cubicBezTo>
                    <a:cubicBezTo>
                      <a:pt x="56" y="52"/>
                      <a:pt x="59" y="53"/>
                      <a:pt x="61" y="53"/>
                    </a:cubicBezTo>
                    <a:cubicBezTo>
                      <a:pt x="62" y="53"/>
                      <a:pt x="64" y="53"/>
                      <a:pt x="65" y="52"/>
                    </a:cubicBezTo>
                    <a:cubicBezTo>
                      <a:pt x="65" y="52"/>
                      <a:pt x="65" y="52"/>
                      <a:pt x="65" y="52"/>
                    </a:cubicBezTo>
                    <a:cubicBezTo>
                      <a:pt x="65" y="52"/>
                      <a:pt x="65" y="52"/>
                      <a:pt x="65" y="52"/>
                    </a:cubicBezTo>
                    <a:cubicBezTo>
                      <a:pt x="66" y="52"/>
                      <a:pt x="66" y="52"/>
                      <a:pt x="66" y="52"/>
                    </a:cubicBezTo>
                    <a:cubicBezTo>
                      <a:pt x="66" y="52"/>
                      <a:pt x="67" y="52"/>
                      <a:pt x="67" y="53"/>
                    </a:cubicBezTo>
                    <a:cubicBezTo>
                      <a:pt x="68" y="53"/>
                      <a:pt x="68" y="54"/>
                      <a:pt x="69" y="55"/>
                    </a:cubicBezTo>
                    <a:cubicBezTo>
                      <a:pt x="86" y="96"/>
                      <a:pt x="86" y="96"/>
                      <a:pt x="86" y="96"/>
                    </a:cubicBezTo>
                    <a:cubicBezTo>
                      <a:pt x="87" y="98"/>
                      <a:pt x="87" y="101"/>
                      <a:pt x="87" y="104"/>
                    </a:cubicBezTo>
                    <a:cubicBezTo>
                      <a:pt x="87" y="105"/>
                      <a:pt x="87" y="106"/>
                      <a:pt x="87" y="107"/>
                    </a:cubicBezTo>
                    <a:cubicBezTo>
                      <a:pt x="79" y="143"/>
                      <a:pt x="79" y="143"/>
                      <a:pt x="79" y="143"/>
                    </a:cubicBezTo>
                    <a:cubicBezTo>
                      <a:pt x="79" y="144"/>
                      <a:pt x="79" y="146"/>
                      <a:pt x="79" y="147"/>
                    </a:cubicBezTo>
                    <a:cubicBezTo>
                      <a:pt x="79" y="151"/>
                      <a:pt x="79" y="154"/>
                      <a:pt x="80" y="156"/>
                    </a:cubicBezTo>
                    <a:cubicBezTo>
                      <a:pt x="115" y="239"/>
                      <a:pt x="115" y="239"/>
                      <a:pt x="115" y="239"/>
                    </a:cubicBezTo>
                    <a:cubicBezTo>
                      <a:pt x="115" y="240"/>
                      <a:pt x="116" y="241"/>
                      <a:pt x="116" y="241"/>
                    </a:cubicBezTo>
                    <a:cubicBezTo>
                      <a:pt x="116" y="242"/>
                      <a:pt x="116" y="242"/>
                      <a:pt x="116" y="242"/>
                    </a:cubicBezTo>
                    <a:cubicBezTo>
                      <a:pt x="117" y="243"/>
                      <a:pt x="117" y="243"/>
                      <a:pt x="117" y="243"/>
                    </a:cubicBezTo>
                    <a:cubicBezTo>
                      <a:pt x="117" y="243"/>
                      <a:pt x="117" y="243"/>
                      <a:pt x="118" y="243"/>
                    </a:cubicBezTo>
                    <a:cubicBezTo>
                      <a:pt x="119" y="243"/>
                      <a:pt x="119" y="243"/>
                      <a:pt x="120" y="242"/>
                    </a:cubicBezTo>
                    <a:cubicBezTo>
                      <a:pt x="120" y="241"/>
                      <a:pt x="120" y="241"/>
                      <a:pt x="120" y="241"/>
                    </a:cubicBezTo>
                    <a:cubicBezTo>
                      <a:pt x="121" y="241"/>
                      <a:pt x="121" y="241"/>
                      <a:pt x="121" y="241"/>
                    </a:cubicBezTo>
                    <a:cubicBezTo>
                      <a:pt x="120" y="240"/>
                      <a:pt x="120" y="239"/>
                      <a:pt x="120" y="238"/>
                    </a:cubicBezTo>
                    <a:cubicBezTo>
                      <a:pt x="111" y="203"/>
                      <a:pt x="111" y="203"/>
                      <a:pt x="111" y="203"/>
                    </a:cubicBezTo>
                    <a:cubicBezTo>
                      <a:pt x="111" y="202"/>
                      <a:pt x="111" y="201"/>
                      <a:pt x="111" y="201"/>
                    </a:cubicBezTo>
                    <a:cubicBezTo>
                      <a:pt x="111" y="201"/>
                      <a:pt x="111" y="201"/>
                      <a:pt x="111" y="201"/>
                    </a:cubicBezTo>
                    <a:cubicBezTo>
                      <a:pt x="110" y="201"/>
                      <a:pt x="110" y="201"/>
                      <a:pt x="110" y="201"/>
                    </a:cubicBezTo>
                    <a:cubicBezTo>
                      <a:pt x="111" y="202"/>
                      <a:pt x="111" y="202"/>
                      <a:pt x="111" y="202"/>
                    </a:cubicBezTo>
                    <a:cubicBezTo>
                      <a:pt x="111" y="201"/>
                      <a:pt x="111" y="201"/>
                      <a:pt x="111" y="201"/>
                    </a:cubicBezTo>
                    <a:cubicBezTo>
                      <a:pt x="110" y="201"/>
                      <a:pt x="110" y="201"/>
                      <a:pt x="110" y="201"/>
                    </a:cubicBezTo>
                    <a:cubicBezTo>
                      <a:pt x="111" y="202"/>
                      <a:pt x="111" y="202"/>
                      <a:pt x="111" y="202"/>
                    </a:cubicBezTo>
                    <a:cubicBezTo>
                      <a:pt x="109" y="201"/>
                      <a:pt x="109" y="201"/>
                      <a:pt x="109" y="201"/>
                    </a:cubicBezTo>
                    <a:cubicBezTo>
                      <a:pt x="110" y="202"/>
                      <a:pt x="110" y="202"/>
                      <a:pt x="110" y="202"/>
                    </a:cubicBezTo>
                    <a:cubicBezTo>
                      <a:pt x="111" y="202"/>
                      <a:pt x="111" y="202"/>
                      <a:pt x="111" y="202"/>
                    </a:cubicBezTo>
                    <a:cubicBezTo>
                      <a:pt x="109" y="201"/>
                      <a:pt x="109" y="201"/>
                      <a:pt x="109" y="201"/>
                    </a:cubicBezTo>
                    <a:cubicBezTo>
                      <a:pt x="110" y="202"/>
                      <a:pt x="110" y="202"/>
                      <a:pt x="110" y="202"/>
                    </a:cubicBezTo>
                    <a:cubicBezTo>
                      <a:pt x="109" y="201"/>
                      <a:pt x="109" y="201"/>
                      <a:pt x="109" y="201"/>
                    </a:cubicBezTo>
                    <a:cubicBezTo>
                      <a:pt x="109" y="203"/>
                      <a:pt x="109" y="203"/>
                      <a:pt x="109" y="203"/>
                    </a:cubicBezTo>
                    <a:cubicBezTo>
                      <a:pt x="110" y="202"/>
                      <a:pt x="110" y="202"/>
                      <a:pt x="110" y="202"/>
                    </a:cubicBezTo>
                    <a:cubicBezTo>
                      <a:pt x="109" y="201"/>
                      <a:pt x="109" y="201"/>
                      <a:pt x="109" y="201"/>
                    </a:cubicBezTo>
                    <a:cubicBezTo>
                      <a:pt x="109" y="203"/>
                      <a:pt x="109" y="203"/>
                      <a:pt x="109" y="203"/>
                    </a:cubicBezTo>
                    <a:cubicBezTo>
                      <a:pt x="109" y="201"/>
                      <a:pt x="109" y="201"/>
                      <a:pt x="109" y="201"/>
                    </a:cubicBezTo>
                    <a:cubicBezTo>
                      <a:pt x="108" y="202"/>
                      <a:pt x="108" y="202"/>
                      <a:pt x="108" y="202"/>
                    </a:cubicBezTo>
                    <a:cubicBezTo>
                      <a:pt x="109" y="203"/>
                      <a:pt x="109" y="203"/>
                      <a:pt x="109" y="203"/>
                    </a:cubicBezTo>
                    <a:cubicBezTo>
                      <a:pt x="109" y="201"/>
                      <a:pt x="109" y="201"/>
                      <a:pt x="109" y="201"/>
                    </a:cubicBezTo>
                    <a:cubicBezTo>
                      <a:pt x="108" y="202"/>
                      <a:pt x="108" y="202"/>
                      <a:pt x="108" y="202"/>
                    </a:cubicBezTo>
                    <a:cubicBezTo>
                      <a:pt x="109" y="202"/>
                      <a:pt x="109" y="202"/>
                      <a:pt x="109" y="202"/>
                    </a:cubicBezTo>
                    <a:cubicBezTo>
                      <a:pt x="108" y="202"/>
                      <a:pt x="108" y="202"/>
                      <a:pt x="108" y="202"/>
                    </a:cubicBezTo>
                    <a:cubicBezTo>
                      <a:pt x="108" y="202"/>
                      <a:pt x="108" y="202"/>
                      <a:pt x="108" y="202"/>
                    </a:cubicBezTo>
                    <a:cubicBezTo>
                      <a:pt x="109" y="202"/>
                      <a:pt x="109" y="202"/>
                      <a:pt x="109" y="202"/>
                    </a:cubicBezTo>
                    <a:cubicBezTo>
                      <a:pt x="108" y="202"/>
                      <a:pt x="108" y="202"/>
                      <a:pt x="108" y="202"/>
                    </a:cubicBezTo>
                    <a:cubicBezTo>
                      <a:pt x="108" y="203"/>
                      <a:pt x="108" y="203"/>
                      <a:pt x="108" y="203"/>
                    </a:cubicBezTo>
                    <a:cubicBezTo>
                      <a:pt x="109" y="203"/>
                      <a:pt x="109" y="203"/>
                      <a:pt x="109" y="204"/>
                    </a:cubicBezTo>
                    <a:cubicBezTo>
                      <a:pt x="129" y="238"/>
                      <a:pt x="129" y="238"/>
                      <a:pt x="129" y="238"/>
                    </a:cubicBezTo>
                    <a:cubicBezTo>
                      <a:pt x="130" y="240"/>
                      <a:pt x="132" y="246"/>
                      <a:pt x="132" y="249"/>
                    </a:cubicBezTo>
                    <a:cubicBezTo>
                      <a:pt x="132" y="254"/>
                      <a:pt x="132" y="254"/>
                      <a:pt x="132" y="254"/>
                    </a:cubicBezTo>
                    <a:cubicBezTo>
                      <a:pt x="132" y="257"/>
                      <a:pt x="132" y="259"/>
                      <a:pt x="133" y="261"/>
                    </a:cubicBezTo>
                    <a:cubicBezTo>
                      <a:pt x="134" y="263"/>
                      <a:pt x="135" y="265"/>
                      <a:pt x="137" y="266"/>
                    </a:cubicBezTo>
                    <a:cubicBezTo>
                      <a:pt x="151" y="277"/>
                      <a:pt x="151" y="277"/>
                      <a:pt x="151" y="277"/>
                    </a:cubicBezTo>
                    <a:cubicBezTo>
                      <a:pt x="152" y="278"/>
                      <a:pt x="154" y="279"/>
                      <a:pt x="156" y="280"/>
                    </a:cubicBezTo>
                    <a:cubicBezTo>
                      <a:pt x="158" y="281"/>
                      <a:pt x="160" y="281"/>
                      <a:pt x="162" y="281"/>
                    </a:cubicBezTo>
                    <a:cubicBezTo>
                      <a:pt x="170" y="281"/>
                      <a:pt x="170" y="281"/>
                      <a:pt x="170" y="281"/>
                    </a:cubicBezTo>
                    <a:cubicBezTo>
                      <a:pt x="173" y="281"/>
                      <a:pt x="177" y="282"/>
                      <a:pt x="179" y="284"/>
                    </a:cubicBezTo>
                    <a:cubicBezTo>
                      <a:pt x="200" y="297"/>
                      <a:pt x="200" y="297"/>
                      <a:pt x="200" y="297"/>
                    </a:cubicBezTo>
                    <a:cubicBezTo>
                      <a:pt x="202" y="298"/>
                      <a:pt x="206" y="302"/>
                      <a:pt x="207" y="304"/>
                    </a:cubicBezTo>
                    <a:cubicBezTo>
                      <a:pt x="218" y="323"/>
                      <a:pt x="218" y="323"/>
                      <a:pt x="218" y="323"/>
                    </a:cubicBezTo>
                    <a:cubicBezTo>
                      <a:pt x="219" y="325"/>
                      <a:pt x="220" y="326"/>
                      <a:pt x="222" y="328"/>
                    </a:cubicBezTo>
                    <a:cubicBezTo>
                      <a:pt x="224" y="329"/>
                      <a:pt x="225" y="330"/>
                      <a:pt x="228" y="330"/>
                    </a:cubicBezTo>
                    <a:cubicBezTo>
                      <a:pt x="237" y="330"/>
                      <a:pt x="237" y="330"/>
                      <a:pt x="237" y="330"/>
                    </a:cubicBezTo>
                    <a:cubicBezTo>
                      <a:pt x="238" y="330"/>
                      <a:pt x="239" y="330"/>
                      <a:pt x="241" y="331"/>
                    </a:cubicBezTo>
                    <a:cubicBezTo>
                      <a:pt x="242" y="332"/>
                      <a:pt x="243" y="333"/>
                      <a:pt x="244" y="334"/>
                    </a:cubicBezTo>
                    <a:cubicBezTo>
                      <a:pt x="244" y="335"/>
                      <a:pt x="244" y="335"/>
                      <a:pt x="244" y="335"/>
                    </a:cubicBezTo>
                    <a:cubicBezTo>
                      <a:pt x="244" y="335"/>
                      <a:pt x="244" y="335"/>
                      <a:pt x="244" y="335"/>
                    </a:cubicBezTo>
                    <a:cubicBezTo>
                      <a:pt x="244" y="335"/>
                      <a:pt x="244" y="335"/>
                      <a:pt x="244" y="335"/>
                    </a:cubicBezTo>
                    <a:cubicBezTo>
                      <a:pt x="246" y="337"/>
                      <a:pt x="246" y="340"/>
                      <a:pt x="246" y="343"/>
                    </a:cubicBezTo>
                    <a:cubicBezTo>
                      <a:pt x="246" y="344"/>
                      <a:pt x="246" y="345"/>
                      <a:pt x="246" y="345"/>
                    </a:cubicBezTo>
                    <a:cubicBezTo>
                      <a:pt x="238" y="394"/>
                      <a:pt x="238" y="394"/>
                      <a:pt x="238" y="394"/>
                    </a:cubicBezTo>
                    <a:cubicBezTo>
                      <a:pt x="238" y="395"/>
                      <a:pt x="237" y="396"/>
                      <a:pt x="237" y="397"/>
                    </a:cubicBezTo>
                    <a:cubicBezTo>
                      <a:pt x="237" y="400"/>
                      <a:pt x="238" y="404"/>
                      <a:pt x="240" y="407"/>
                    </a:cubicBezTo>
                    <a:cubicBezTo>
                      <a:pt x="276" y="468"/>
                      <a:pt x="276" y="468"/>
                      <a:pt x="276" y="468"/>
                    </a:cubicBezTo>
                    <a:cubicBezTo>
                      <a:pt x="278" y="470"/>
                      <a:pt x="279" y="475"/>
                      <a:pt x="279" y="479"/>
                    </a:cubicBezTo>
                    <a:cubicBezTo>
                      <a:pt x="279" y="618"/>
                      <a:pt x="279" y="618"/>
                      <a:pt x="279" y="618"/>
                    </a:cubicBezTo>
                    <a:cubicBezTo>
                      <a:pt x="279" y="622"/>
                      <a:pt x="280" y="628"/>
                      <a:pt x="282" y="631"/>
                    </a:cubicBezTo>
                    <a:cubicBezTo>
                      <a:pt x="299" y="664"/>
                      <a:pt x="299" y="664"/>
                      <a:pt x="299" y="664"/>
                    </a:cubicBezTo>
                    <a:cubicBezTo>
                      <a:pt x="299" y="665"/>
                      <a:pt x="300" y="665"/>
                      <a:pt x="300" y="666"/>
                    </a:cubicBezTo>
                    <a:cubicBezTo>
                      <a:pt x="300" y="666"/>
                      <a:pt x="301" y="666"/>
                      <a:pt x="301" y="667"/>
                    </a:cubicBezTo>
                    <a:cubicBezTo>
                      <a:pt x="301" y="667"/>
                      <a:pt x="302" y="667"/>
                      <a:pt x="303" y="667"/>
                    </a:cubicBezTo>
                    <a:cubicBezTo>
                      <a:pt x="303" y="667"/>
                      <a:pt x="304" y="667"/>
                      <a:pt x="305" y="666"/>
                    </a:cubicBezTo>
                    <a:cubicBezTo>
                      <a:pt x="305" y="665"/>
                      <a:pt x="305" y="665"/>
                      <a:pt x="306" y="664"/>
                    </a:cubicBezTo>
                    <a:cubicBezTo>
                      <a:pt x="306" y="663"/>
                      <a:pt x="306" y="663"/>
                      <a:pt x="306" y="662"/>
                    </a:cubicBezTo>
                    <a:cubicBezTo>
                      <a:pt x="306" y="635"/>
                      <a:pt x="306" y="635"/>
                      <a:pt x="306" y="635"/>
                    </a:cubicBezTo>
                    <a:cubicBezTo>
                      <a:pt x="306" y="631"/>
                      <a:pt x="307" y="626"/>
                      <a:pt x="307" y="622"/>
                    </a:cubicBezTo>
                    <a:cubicBezTo>
                      <a:pt x="314" y="597"/>
                      <a:pt x="314" y="597"/>
                      <a:pt x="314" y="597"/>
                    </a:cubicBezTo>
                    <a:cubicBezTo>
                      <a:pt x="315" y="594"/>
                      <a:pt x="317" y="589"/>
                      <a:pt x="319" y="587"/>
                    </a:cubicBezTo>
                    <a:cubicBezTo>
                      <a:pt x="423" y="439"/>
                      <a:pt x="423" y="439"/>
                      <a:pt x="423" y="439"/>
                    </a:cubicBezTo>
                    <a:cubicBezTo>
                      <a:pt x="425" y="436"/>
                      <a:pt x="427" y="431"/>
                      <a:pt x="428" y="427"/>
                    </a:cubicBezTo>
                    <a:cubicBezTo>
                      <a:pt x="429" y="415"/>
                      <a:pt x="429" y="415"/>
                      <a:pt x="429" y="415"/>
                    </a:cubicBezTo>
                    <a:cubicBezTo>
                      <a:pt x="429" y="414"/>
                      <a:pt x="429" y="414"/>
                      <a:pt x="429" y="413"/>
                    </a:cubicBezTo>
                    <a:cubicBezTo>
                      <a:pt x="429" y="411"/>
                      <a:pt x="429" y="409"/>
                      <a:pt x="428" y="408"/>
                    </a:cubicBezTo>
                    <a:cubicBezTo>
                      <a:pt x="427" y="406"/>
                      <a:pt x="426" y="404"/>
                      <a:pt x="425" y="403"/>
                    </a:cubicBezTo>
                    <a:cubicBezTo>
                      <a:pt x="383" y="378"/>
                      <a:pt x="383" y="378"/>
                      <a:pt x="383" y="378"/>
                    </a:cubicBezTo>
                    <a:cubicBezTo>
                      <a:pt x="381" y="377"/>
                      <a:pt x="380" y="377"/>
                      <a:pt x="378" y="377"/>
                    </a:cubicBezTo>
                    <a:cubicBezTo>
                      <a:pt x="376" y="377"/>
                      <a:pt x="373" y="378"/>
                      <a:pt x="372" y="380"/>
                    </a:cubicBezTo>
                    <a:cubicBezTo>
                      <a:pt x="371" y="381"/>
                      <a:pt x="369" y="382"/>
                      <a:pt x="368" y="382"/>
                    </a:cubicBezTo>
                    <a:cubicBezTo>
                      <a:pt x="367" y="382"/>
                      <a:pt x="367" y="381"/>
                      <a:pt x="367" y="381"/>
                    </a:cubicBezTo>
                    <a:cubicBezTo>
                      <a:pt x="366" y="381"/>
                      <a:pt x="366" y="380"/>
                      <a:pt x="365" y="379"/>
                    </a:cubicBezTo>
                    <a:cubicBezTo>
                      <a:pt x="365" y="378"/>
                      <a:pt x="364" y="377"/>
                      <a:pt x="364" y="376"/>
                    </a:cubicBezTo>
                    <a:cubicBezTo>
                      <a:pt x="364" y="375"/>
                      <a:pt x="364" y="375"/>
                      <a:pt x="364" y="374"/>
                    </a:cubicBezTo>
                    <a:cubicBezTo>
                      <a:pt x="365" y="369"/>
                      <a:pt x="365" y="369"/>
                      <a:pt x="365" y="369"/>
                    </a:cubicBezTo>
                    <a:cubicBezTo>
                      <a:pt x="365" y="368"/>
                      <a:pt x="365" y="367"/>
                      <a:pt x="365" y="367"/>
                    </a:cubicBezTo>
                    <a:cubicBezTo>
                      <a:pt x="365" y="365"/>
                      <a:pt x="365" y="363"/>
                      <a:pt x="364" y="361"/>
                    </a:cubicBezTo>
                    <a:cubicBezTo>
                      <a:pt x="364" y="359"/>
                      <a:pt x="363" y="357"/>
                      <a:pt x="362" y="356"/>
                    </a:cubicBezTo>
                    <a:cubicBezTo>
                      <a:pt x="330" y="325"/>
                      <a:pt x="330" y="325"/>
                      <a:pt x="330" y="325"/>
                    </a:cubicBezTo>
                    <a:cubicBezTo>
                      <a:pt x="327" y="323"/>
                      <a:pt x="323" y="320"/>
                      <a:pt x="320" y="319"/>
                    </a:cubicBezTo>
                    <a:cubicBezTo>
                      <a:pt x="280" y="301"/>
                      <a:pt x="280" y="301"/>
                      <a:pt x="280" y="301"/>
                    </a:cubicBezTo>
                    <a:cubicBezTo>
                      <a:pt x="279" y="301"/>
                      <a:pt x="278" y="301"/>
                      <a:pt x="277" y="301"/>
                    </a:cubicBezTo>
                    <a:cubicBezTo>
                      <a:pt x="274" y="301"/>
                      <a:pt x="271" y="302"/>
                      <a:pt x="269" y="305"/>
                    </a:cubicBezTo>
                    <a:cubicBezTo>
                      <a:pt x="257" y="321"/>
                      <a:pt x="257" y="321"/>
                      <a:pt x="257" y="321"/>
                    </a:cubicBezTo>
                    <a:cubicBezTo>
                      <a:pt x="256" y="322"/>
                      <a:pt x="255" y="323"/>
                      <a:pt x="254" y="323"/>
                    </a:cubicBezTo>
                    <a:cubicBezTo>
                      <a:pt x="254" y="323"/>
                      <a:pt x="253" y="322"/>
                      <a:pt x="252" y="322"/>
                    </a:cubicBezTo>
                    <a:cubicBezTo>
                      <a:pt x="251" y="320"/>
                      <a:pt x="251" y="320"/>
                      <a:pt x="251" y="320"/>
                    </a:cubicBezTo>
                    <a:cubicBezTo>
                      <a:pt x="249" y="319"/>
                      <a:pt x="247" y="318"/>
                      <a:pt x="246" y="317"/>
                    </a:cubicBezTo>
                    <a:cubicBezTo>
                      <a:pt x="244" y="316"/>
                      <a:pt x="242" y="316"/>
                      <a:pt x="240" y="316"/>
                    </a:cubicBezTo>
                    <a:cubicBezTo>
                      <a:pt x="234" y="316"/>
                      <a:pt x="234" y="316"/>
                      <a:pt x="234" y="316"/>
                    </a:cubicBezTo>
                    <a:cubicBezTo>
                      <a:pt x="233" y="316"/>
                      <a:pt x="232" y="315"/>
                      <a:pt x="231" y="314"/>
                    </a:cubicBezTo>
                    <a:cubicBezTo>
                      <a:pt x="230" y="314"/>
                      <a:pt x="229" y="312"/>
                      <a:pt x="229" y="311"/>
                    </a:cubicBezTo>
                    <a:cubicBezTo>
                      <a:pt x="227" y="306"/>
                      <a:pt x="227" y="306"/>
                      <a:pt x="227" y="306"/>
                    </a:cubicBezTo>
                    <a:cubicBezTo>
                      <a:pt x="226" y="304"/>
                      <a:pt x="226" y="303"/>
                      <a:pt x="226" y="301"/>
                    </a:cubicBezTo>
                    <a:cubicBezTo>
                      <a:pt x="226" y="300"/>
                      <a:pt x="226" y="299"/>
                      <a:pt x="226" y="299"/>
                    </a:cubicBezTo>
                    <a:cubicBezTo>
                      <a:pt x="226" y="299"/>
                      <a:pt x="226" y="299"/>
                      <a:pt x="226" y="299"/>
                    </a:cubicBezTo>
                    <a:cubicBezTo>
                      <a:pt x="226" y="299"/>
                      <a:pt x="226" y="299"/>
                      <a:pt x="226" y="299"/>
                    </a:cubicBezTo>
                    <a:cubicBezTo>
                      <a:pt x="227" y="297"/>
                      <a:pt x="227" y="296"/>
                      <a:pt x="227" y="295"/>
                    </a:cubicBezTo>
                    <a:cubicBezTo>
                      <a:pt x="227" y="292"/>
                      <a:pt x="227" y="290"/>
                      <a:pt x="225" y="288"/>
                    </a:cubicBezTo>
                    <a:cubicBezTo>
                      <a:pt x="221" y="282"/>
                      <a:pt x="221" y="282"/>
                      <a:pt x="221" y="282"/>
                    </a:cubicBezTo>
                    <a:cubicBezTo>
                      <a:pt x="220" y="280"/>
                      <a:pt x="220" y="279"/>
                      <a:pt x="219" y="279"/>
                    </a:cubicBezTo>
                    <a:cubicBezTo>
                      <a:pt x="218" y="278"/>
                      <a:pt x="217" y="277"/>
                      <a:pt x="215" y="277"/>
                    </a:cubicBezTo>
                    <a:cubicBezTo>
                      <a:pt x="214" y="277"/>
                      <a:pt x="213" y="278"/>
                      <a:pt x="213" y="279"/>
                    </a:cubicBezTo>
                    <a:cubicBezTo>
                      <a:pt x="213" y="279"/>
                      <a:pt x="212" y="279"/>
                      <a:pt x="211" y="280"/>
                    </a:cubicBezTo>
                    <a:cubicBezTo>
                      <a:pt x="210" y="280"/>
                      <a:pt x="209" y="280"/>
                      <a:pt x="207" y="280"/>
                    </a:cubicBezTo>
                    <a:cubicBezTo>
                      <a:pt x="207" y="280"/>
                      <a:pt x="207" y="280"/>
                      <a:pt x="206" y="280"/>
                    </a:cubicBezTo>
                    <a:cubicBezTo>
                      <a:pt x="206" y="279"/>
                      <a:pt x="206" y="278"/>
                      <a:pt x="206" y="277"/>
                    </a:cubicBezTo>
                    <a:cubicBezTo>
                      <a:pt x="206" y="277"/>
                      <a:pt x="206" y="277"/>
                      <a:pt x="206" y="276"/>
                    </a:cubicBezTo>
                    <a:cubicBezTo>
                      <a:pt x="209" y="261"/>
                      <a:pt x="209" y="261"/>
                      <a:pt x="209" y="261"/>
                    </a:cubicBezTo>
                    <a:cubicBezTo>
                      <a:pt x="209" y="260"/>
                      <a:pt x="209" y="260"/>
                      <a:pt x="209" y="259"/>
                    </a:cubicBezTo>
                    <a:cubicBezTo>
                      <a:pt x="209" y="257"/>
                      <a:pt x="208" y="255"/>
                      <a:pt x="207" y="254"/>
                    </a:cubicBezTo>
                    <a:cubicBezTo>
                      <a:pt x="206" y="253"/>
                      <a:pt x="205" y="252"/>
                      <a:pt x="203" y="252"/>
                    </a:cubicBezTo>
                    <a:cubicBezTo>
                      <a:pt x="201" y="252"/>
                      <a:pt x="201" y="252"/>
                      <a:pt x="201" y="252"/>
                    </a:cubicBezTo>
                    <a:cubicBezTo>
                      <a:pt x="199" y="252"/>
                      <a:pt x="197" y="253"/>
                      <a:pt x="196" y="254"/>
                    </a:cubicBezTo>
                    <a:cubicBezTo>
                      <a:pt x="194" y="255"/>
                      <a:pt x="193" y="257"/>
                      <a:pt x="192" y="259"/>
                    </a:cubicBezTo>
                    <a:cubicBezTo>
                      <a:pt x="192" y="260"/>
                      <a:pt x="192" y="260"/>
                      <a:pt x="192" y="260"/>
                    </a:cubicBezTo>
                    <a:cubicBezTo>
                      <a:pt x="191" y="261"/>
                      <a:pt x="190" y="263"/>
                      <a:pt x="189" y="264"/>
                    </a:cubicBezTo>
                    <a:cubicBezTo>
                      <a:pt x="188" y="264"/>
                      <a:pt x="187" y="265"/>
                      <a:pt x="187" y="265"/>
                    </a:cubicBezTo>
                    <a:cubicBezTo>
                      <a:pt x="177" y="265"/>
                      <a:pt x="177" y="265"/>
                      <a:pt x="177" y="265"/>
                    </a:cubicBezTo>
                    <a:cubicBezTo>
                      <a:pt x="176" y="265"/>
                      <a:pt x="175" y="264"/>
                      <a:pt x="174" y="264"/>
                    </a:cubicBezTo>
                    <a:cubicBezTo>
                      <a:pt x="173" y="263"/>
                      <a:pt x="173" y="261"/>
                      <a:pt x="172" y="260"/>
                    </a:cubicBezTo>
                    <a:cubicBezTo>
                      <a:pt x="169" y="247"/>
                      <a:pt x="169" y="247"/>
                      <a:pt x="169" y="247"/>
                    </a:cubicBezTo>
                    <a:cubicBezTo>
                      <a:pt x="169" y="246"/>
                      <a:pt x="169" y="244"/>
                      <a:pt x="169" y="242"/>
                    </a:cubicBezTo>
                    <a:cubicBezTo>
                      <a:pt x="169" y="240"/>
                      <a:pt x="169" y="237"/>
                      <a:pt x="170" y="236"/>
                    </a:cubicBezTo>
                    <a:cubicBezTo>
                      <a:pt x="176" y="217"/>
                      <a:pt x="176" y="217"/>
                      <a:pt x="176" y="217"/>
                    </a:cubicBezTo>
                    <a:cubicBezTo>
                      <a:pt x="177" y="216"/>
                      <a:pt x="178" y="214"/>
                      <a:pt x="179" y="214"/>
                    </a:cubicBezTo>
                    <a:cubicBezTo>
                      <a:pt x="180" y="213"/>
                      <a:pt x="181" y="212"/>
                      <a:pt x="181" y="212"/>
                    </a:cubicBezTo>
                    <a:cubicBezTo>
                      <a:pt x="216" y="212"/>
                      <a:pt x="216" y="212"/>
                      <a:pt x="216" y="212"/>
                    </a:cubicBezTo>
                    <a:cubicBezTo>
                      <a:pt x="217" y="212"/>
                      <a:pt x="218" y="213"/>
                      <a:pt x="218" y="213"/>
                    </a:cubicBezTo>
                    <a:cubicBezTo>
                      <a:pt x="219" y="214"/>
                      <a:pt x="219" y="215"/>
                      <a:pt x="219" y="216"/>
                    </a:cubicBezTo>
                    <a:cubicBezTo>
                      <a:pt x="219" y="218"/>
                      <a:pt x="220" y="220"/>
                      <a:pt x="221" y="222"/>
                    </a:cubicBezTo>
                    <a:cubicBezTo>
                      <a:pt x="221" y="224"/>
                      <a:pt x="222" y="226"/>
                      <a:pt x="223" y="228"/>
                    </a:cubicBezTo>
                    <a:cubicBezTo>
                      <a:pt x="226" y="232"/>
                      <a:pt x="226" y="232"/>
                      <a:pt x="226" y="232"/>
                    </a:cubicBezTo>
                    <a:cubicBezTo>
                      <a:pt x="227" y="232"/>
                      <a:pt x="227" y="233"/>
                      <a:pt x="228" y="233"/>
                    </a:cubicBezTo>
                    <a:cubicBezTo>
                      <a:pt x="228" y="234"/>
                      <a:pt x="229" y="234"/>
                      <a:pt x="230" y="234"/>
                    </a:cubicBezTo>
                    <a:cubicBezTo>
                      <a:pt x="231" y="234"/>
                      <a:pt x="231" y="234"/>
                      <a:pt x="232" y="233"/>
                    </a:cubicBezTo>
                    <a:cubicBezTo>
                      <a:pt x="233" y="233"/>
                      <a:pt x="233" y="232"/>
                      <a:pt x="233" y="231"/>
                    </a:cubicBezTo>
                    <a:cubicBezTo>
                      <a:pt x="233" y="230"/>
                      <a:pt x="234" y="229"/>
                      <a:pt x="234" y="228"/>
                    </a:cubicBezTo>
                    <a:cubicBezTo>
                      <a:pt x="234" y="225"/>
                      <a:pt x="234" y="225"/>
                      <a:pt x="234" y="225"/>
                    </a:cubicBezTo>
                    <a:cubicBezTo>
                      <a:pt x="234" y="223"/>
                      <a:pt x="233" y="221"/>
                      <a:pt x="233" y="219"/>
                    </a:cubicBezTo>
                    <a:cubicBezTo>
                      <a:pt x="232" y="217"/>
                      <a:pt x="232" y="216"/>
                      <a:pt x="231" y="214"/>
                    </a:cubicBezTo>
                    <a:cubicBezTo>
                      <a:pt x="231" y="214"/>
                      <a:pt x="230" y="213"/>
                      <a:pt x="230" y="211"/>
                    </a:cubicBezTo>
                    <a:cubicBezTo>
                      <a:pt x="229" y="209"/>
                      <a:pt x="229" y="207"/>
                      <a:pt x="229" y="206"/>
                    </a:cubicBezTo>
                    <a:cubicBezTo>
                      <a:pt x="229" y="204"/>
                      <a:pt x="229" y="204"/>
                      <a:pt x="229" y="204"/>
                    </a:cubicBezTo>
                    <a:cubicBezTo>
                      <a:pt x="229" y="201"/>
                      <a:pt x="230" y="195"/>
                      <a:pt x="232" y="193"/>
                    </a:cubicBezTo>
                    <a:cubicBezTo>
                      <a:pt x="234" y="189"/>
                      <a:pt x="234" y="189"/>
                      <a:pt x="234" y="189"/>
                    </a:cubicBezTo>
                    <a:cubicBezTo>
                      <a:pt x="236" y="186"/>
                      <a:pt x="237" y="180"/>
                      <a:pt x="237" y="176"/>
                    </a:cubicBezTo>
                    <a:cubicBezTo>
                      <a:pt x="237" y="168"/>
                      <a:pt x="237" y="168"/>
                      <a:pt x="237" y="168"/>
                    </a:cubicBezTo>
                    <a:cubicBezTo>
                      <a:pt x="237" y="165"/>
                      <a:pt x="238" y="160"/>
                      <a:pt x="240" y="157"/>
                    </a:cubicBezTo>
                    <a:cubicBezTo>
                      <a:pt x="255" y="128"/>
                      <a:pt x="255" y="128"/>
                      <a:pt x="255" y="128"/>
                    </a:cubicBezTo>
                    <a:cubicBezTo>
                      <a:pt x="255" y="127"/>
                      <a:pt x="256" y="126"/>
                      <a:pt x="258" y="125"/>
                    </a:cubicBezTo>
                    <a:cubicBezTo>
                      <a:pt x="259" y="124"/>
                      <a:pt x="260" y="123"/>
                      <a:pt x="261" y="123"/>
                    </a:cubicBezTo>
                    <a:cubicBezTo>
                      <a:pt x="269" y="123"/>
                      <a:pt x="269" y="123"/>
                      <a:pt x="269" y="123"/>
                    </a:cubicBezTo>
                    <a:cubicBezTo>
                      <a:pt x="270" y="123"/>
                      <a:pt x="271" y="123"/>
                      <a:pt x="272" y="123"/>
                    </a:cubicBezTo>
                    <a:cubicBezTo>
                      <a:pt x="273" y="122"/>
                      <a:pt x="273" y="121"/>
                      <a:pt x="273" y="119"/>
                    </a:cubicBezTo>
                    <a:cubicBezTo>
                      <a:pt x="273" y="118"/>
                      <a:pt x="273" y="117"/>
                      <a:pt x="272" y="115"/>
                    </a:cubicBezTo>
                    <a:cubicBezTo>
                      <a:pt x="265" y="107"/>
                      <a:pt x="265" y="107"/>
                      <a:pt x="265" y="107"/>
                    </a:cubicBezTo>
                    <a:cubicBezTo>
                      <a:pt x="263" y="105"/>
                      <a:pt x="261" y="104"/>
                      <a:pt x="258" y="104"/>
                    </a:cubicBezTo>
                    <a:cubicBezTo>
                      <a:pt x="257" y="104"/>
                      <a:pt x="255" y="104"/>
                      <a:pt x="254" y="105"/>
                    </a:cubicBezTo>
                    <a:cubicBezTo>
                      <a:pt x="254" y="105"/>
                      <a:pt x="254" y="105"/>
                      <a:pt x="254" y="105"/>
                    </a:cubicBezTo>
                    <a:cubicBezTo>
                      <a:pt x="254" y="105"/>
                      <a:pt x="254" y="105"/>
                      <a:pt x="254" y="105"/>
                    </a:cubicBezTo>
                    <a:cubicBezTo>
                      <a:pt x="254" y="105"/>
                      <a:pt x="254" y="105"/>
                      <a:pt x="254" y="105"/>
                    </a:cubicBezTo>
                    <a:cubicBezTo>
                      <a:pt x="254" y="105"/>
                      <a:pt x="254" y="105"/>
                      <a:pt x="254" y="105"/>
                    </a:cubicBezTo>
                    <a:cubicBezTo>
                      <a:pt x="254" y="105"/>
                      <a:pt x="254" y="105"/>
                      <a:pt x="254" y="105"/>
                    </a:cubicBezTo>
                    <a:cubicBezTo>
                      <a:pt x="254" y="105"/>
                      <a:pt x="254" y="105"/>
                      <a:pt x="254" y="105"/>
                    </a:cubicBezTo>
                    <a:cubicBezTo>
                      <a:pt x="254" y="105"/>
                      <a:pt x="254" y="105"/>
                      <a:pt x="254" y="105"/>
                    </a:cubicBezTo>
                    <a:cubicBezTo>
                      <a:pt x="254" y="106"/>
                      <a:pt x="254" y="106"/>
                      <a:pt x="254" y="106"/>
                    </a:cubicBezTo>
                    <a:cubicBezTo>
                      <a:pt x="254" y="105"/>
                      <a:pt x="254" y="105"/>
                      <a:pt x="254" y="105"/>
                    </a:cubicBezTo>
                    <a:cubicBezTo>
                      <a:pt x="254" y="105"/>
                      <a:pt x="254" y="105"/>
                      <a:pt x="254" y="105"/>
                    </a:cubicBezTo>
                    <a:cubicBezTo>
                      <a:pt x="254" y="106"/>
                      <a:pt x="254" y="106"/>
                      <a:pt x="254" y="106"/>
                    </a:cubicBezTo>
                    <a:cubicBezTo>
                      <a:pt x="254" y="105"/>
                      <a:pt x="254" y="105"/>
                      <a:pt x="254" y="105"/>
                    </a:cubicBezTo>
                    <a:cubicBezTo>
                      <a:pt x="254" y="106"/>
                      <a:pt x="254" y="106"/>
                      <a:pt x="254" y="106"/>
                    </a:cubicBezTo>
                    <a:cubicBezTo>
                      <a:pt x="255" y="106"/>
                      <a:pt x="255" y="106"/>
                      <a:pt x="255" y="106"/>
                    </a:cubicBezTo>
                    <a:cubicBezTo>
                      <a:pt x="254" y="105"/>
                      <a:pt x="254" y="105"/>
                      <a:pt x="254" y="105"/>
                    </a:cubicBezTo>
                    <a:cubicBezTo>
                      <a:pt x="254" y="106"/>
                      <a:pt x="254" y="106"/>
                      <a:pt x="254" y="106"/>
                    </a:cubicBezTo>
                    <a:cubicBezTo>
                      <a:pt x="255" y="106"/>
                      <a:pt x="255" y="106"/>
                      <a:pt x="255" y="106"/>
                    </a:cubicBezTo>
                    <a:cubicBezTo>
                      <a:pt x="255" y="105"/>
                      <a:pt x="255" y="105"/>
                      <a:pt x="255" y="105"/>
                    </a:cubicBezTo>
                    <a:cubicBezTo>
                      <a:pt x="255" y="104"/>
                      <a:pt x="255" y="104"/>
                      <a:pt x="255" y="104"/>
                    </a:cubicBezTo>
                    <a:cubicBezTo>
                      <a:pt x="255" y="101"/>
                      <a:pt x="255" y="101"/>
                      <a:pt x="255" y="101"/>
                    </a:cubicBezTo>
                    <a:cubicBezTo>
                      <a:pt x="256" y="100"/>
                      <a:pt x="257" y="98"/>
                      <a:pt x="257" y="98"/>
                    </a:cubicBezTo>
                    <a:cubicBezTo>
                      <a:pt x="258" y="97"/>
                      <a:pt x="259" y="96"/>
                      <a:pt x="260" y="96"/>
                    </a:cubicBezTo>
                    <a:cubicBezTo>
                      <a:pt x="269" y="96"/>
                      <a:pt x="269" y="96"/>
                      <a:pt x="269" y="96"/>
                    </a:cubicBezTo>
                    <a:cubicBezTo>
                      <a:pt x="271" y="96"/>
                      <a:pt x="272" y="96"/>
                      <a:pt x="274" y="95"/>
                    </a:cubicBezTo>
                    <a:cubicBezTo>
                      <a:pt x="276" y="94"/>
                      <a:pt x="278" y="93"/>
                      <a:pt x="279" y="91"/>
                    </a:cubicBezTo>
                    <a:cubicBezTo>
                      <a:pt x="280" y="90"/>
                      <a:pt x="280" y="88"/>
                      <a:pt x="280" y="86"/>
                    </a:cubicBezTo>
                    <a:cubicBezTo>
                      <a:pt x="280" y="84"/>
                      <a:pt x="279" y="82"/>
                      <a:pt x="278" y="80"/>
                    </a:cubicBezTo>
                    <a:cubicBezTo>
                      <a:pt x="246" y="45"/>
                      <a:pt x="246" y="45"/>
                      <a:pt x="246" y="45"/>
                    </a:cubicBezTo>
                    <a:cubicBezTo>
                      <a:pt x="245" y="44"/>
                      <a:pt x="244" y="43"/>
                      <a:pt x="242" y="43"/>
                    </a:cubicBezTo>
                    <a:cubicBezTo>
                      <a:pt x="242" y="43"/>
                      <a:pt x="241" y="43"/>
                      <a:pt x="240" y="44"/>
                    </a:cubicBezTo>
                    <a:cubicBezTo>
                      <a:pt x="239" y="44"/>
                      <a:pt x="239" y="45"/>
                      <a:pt x="239" y="46"/>
                    </a:cubicBezTo>
                    <a:cubicBezTo>
                      <a:pt x="238" y="47"/>
                      <a:pt x="238" y="48"/>
                      <a:pt x="238" y="49"/>
                    </a:cubicBezTo>
                    <a:cubicBezTo>
                      <a:pt x="238" y="51"/>
                      <a:pt x="238" y="51"/>
                      <a:pt x="238" y="51"/>
                    </a:cubicBezTo>
                    <a:cubicBezTo>
                      <a:pt x="238" y="52"/>
                      <a:pt x="238" y="52"/>
                      <a:pt x="238" y="53"/>
                    </a:cubicBezTo>
                    <a:cubicBezTo>
                      <a:pt x="238" y="53"/>
                      <a:pt x="238" y="53"/>
                      <a:pt x="238" y="53"/>
                    </a:cubicBezTo>
                    <a:cubicBezTo>
                      <a:pt x="237" y="53"/>
                      <a:pt x="237" y="53"/>
                      <a:pt x="237" y="53"/>
                    </a:cubicBezTo>
                    <a:cubicBezTo>
                      <a:pt x="214" y="38"/>
                      <a:pt x="214" y="38"/>
                      <a:pt x="214" y="38"/>
                    </a:cubicBezTo>
                    <a:cubicBezTo>
                      <a:pt x="213" y="38"/>
                      <a:pt x="212" y="37"/>
                      <a:pt x="211" y="37"/>
                    </a:cubicBezTo>
                    <a:cubicBezTo>
                      <a:pt x="210" y="37"/>
                      <a:pt x="209" y="38"/>
                      <a:pt x="208" y="39"/>
                    </a:cubicBezTo>
                    <a:cubicBezTo>
                      <a:pt x="207" y="40"/>
                      <a:pt x="207" y="41"/>
                      <a:pt x="207" y="42"/>
                    </a:cubicBezTo>
                    <a:cubicBezTo>
                      <a:pt x="207" y="43"/>
                      <a:pt x="207" y="43"/>
                      <a:pt x="207" y="44"/>
                    </a:cubicBezTo>
                    <a:cubicBezTo>
                      <a:pt x="211" y="57"/>
                      <a:pt x="211" y="57"/>
                      <a:pt x="211" y="57"/>
                    </a:cubicBezTo>
                    <a:cubicBezTo>
                      <a:pt x="211" y="61"/>
                      <a:pt x="212" y="67"/>
                      <a:pt x="212" y="70"/>
                    </a:cubicBezTo>
                    <a:cubicBezTo>
                      <a:pt x="212" y="87"/>
                      <a:pt x="212" y="87"/>
                      <a:pt x="212" y="87"/>
                    </a:cubicBezTo>
                    <a:cubicBezTo>
                      <a:pt x="212" y="88"/>
                      <a:pt x="212" y="89"/>
                      <a:pt x="212" y="89"/>
                    </a:cubicBezTo>
                    <a:cubicBezTo>
                      <a:pt x="212" y="89"/>
                      <a:pt x="212" y="89"/>
                      <a:pt x="212" y="89"/>
                    </a:cubicBezTo>
                    <a:cubicBezTo>
                      <a:pt x="213" y="90"/>
                      <a:pt x="213" y="90"/>
                      <a:pt x="213" y="90"/>
                    </a:cubicBezTo>
                    <a:cubicBezTo>
                      <a:pt x="212" y="89"/>
                      <a:pt x="212" y="89"/>
                      <a:pt x="212" y="89"/>
                    </a:cubicBezTo>
                    <a:cubicBezTo>
                      <a:pt x="212" y="89"/>
                      <a:pt x="212" y="89"/>
                      <a:pt x="212" y="89"/>
                    </a:cubicBezTo>
                    <a:cubicBezTo>
                      <a:pt x="213" y="90"/>
                      <a:pt x="213" y="90"/>
                      <a:pt x="213" y="90"/>
                    </a:cubicBezTo>
                    <a:cubicBezTo>
                      <a:pt x="212" y="89"/>
                      <a:pt x="212" y="89"/>
                      <a:pt x="212" y="89"/>
                    </a:cubicBezTo>
                    <a:cubicBezTo>
                      <a:pt x="213" y="90"/>
                      <a:pt x="213" y="90"/>
                      <a:pt x="213" y="90"/>
                    </a:cubicBezTo>
                    <a:cubicBezTo>
                      <a:pt x="213" y="88"/>
                      <a:pt x="213" y="88"/>
                      <a:pt x="213" y="88"/>
                    </a:cubicBezTo>
                    <a:cubicBezTo>
                      <a:pt x="212" y="89"/>
                      <a:pt x="212" y="89"/>
                      <a:pt x="212" y="89"/>
                    </a:cubicBezTo>
                    <a:cubicBezTo>
                      <a:pt x="213" y="90"/>
                      <a:pt x="213" y="90"/>
                      <a:pt x="213" y="90"/>
                    </a:cubicBezTo>
                    <a:cubicBezTo>
                      <a:pt x="213" y="88"/>
                      <a:pt x="213" y="88"/>
                      <a:pt x="213" y="88"/>
                    </a:cubicBezTo>
                    <a:cubicBezTo>
                      <a:pt x="213" y="90"/>
                      <a:pt x="213" y="90"/>
                      <a:pt x="213" y="90"/>
                    </a:cubicBezTo>
                    <a:cubicBezTo>
                      <a:pt x="214" y="89"/>
                      <a:pt x="214" y="89"/>
                      <a:pt x="214" y="89"/>
                    </a:cubicBezTo>
                    <a:cubicBezTo>
                      <a:pt x="214" y="89"/>
                      <a:pt x="214" y="88"/>
                      <a:pt x="213" y="88"/>
                    </a:cubicBezTo>
                    <a:cubicBezTo>
                      <a:pt x="213" y="90"/>
                      <a:pt x="213" y="90"/>
                      <a:pt x="213" y="90"/>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8"/>
                      <a:pt x="213" y="88"/>
                    </a:cubicBezTo>
                    <a:cubicBezTo>
                      <a:pt x="208" y="77"/>
                      <a:pt x="208" y="77"/>
                      <a:pt x="208" y="77"/>
                    </a:cubicBezTo>
                    <a:cubicBezTo>
                      <a:pt x="206" y="74"/>
                      <a:pt x="203" y="70"/>
                      <a:pt x="200" y="68"/>
                    </a:cubicBezTo>
                    <a:cubicBezTo>
                      <a:pt x="178" y="54"/>
                      <a:pt x="178" y="54"/>
                      <a:pt x="178" y="54"/>
                    </a:cubicBezTo>
                    <a:cubicBezTo>
                      <a:pt x="177" y="53"/>
                      <a:pt x="177" y="51"/>
                      <a:pt x="177" y="49"/>
                    </a:cubicBezTo>
                    <a:cubicBezTo>
                      <a:pt x="177" y="49"/>
                      <a:pt x="177" y="48"/>
                      <a:pt x="177" y="47"/>
                    </a:cubicBezTo>
                    <a:cubicBezTo>
                      <a:pt x="181" y="36"/>
                      <a:pt x="181" y="36"/>
                      <a:pt x="181" y="36"/>
                    </a:cubicBezTo>
                    <a:cubicBezTo>
                      <a:pt x="181" y="35"/>
                      <a:pt x="181" y="34"/>
                      <a:pt x="181" y="32"/>
                    </a:cubicBezTo>
                    <a:cubicBezTo>
                      <a:pt x="181" y="29"/>
                      <a:pt x="180" y="26"/>
                      <a:pt x="177" y="24"/>
                    </a:cubicBezTo>
                    <a:cubicBezTo>
                      <a:pt x="151" y="10"/>
                      <a:pt x="151" y="10"/>
                      <a:pt x="151" y="10"/>
                    </a:cubicBezTo>
                    <a:cubicBezTo>
                      <a:pt x="149" y="9"/>
                      <a:pt x="148" y="9"/>
                      <a:pt x="147" y="9"/>
                    </a:cubicBezTo>
                    <a:cubicBezTo>
                      <a:pt x="144" y="9"/>
                      <a:pt x="141" y="10"/>
                      <a:pt x="139" y="12"/>
                    </a:cubicBezTo>
                    <a:cubicBezTo>
                      <a:pt x="139" y="13"/>
                      <a:pt x="138" y="14"/>
                      <a:pt x="137" y="14"/>
                    </a:cubicBezTo>
                    <a:cubicBezTo>
                      <a:pt x="136" y="14"/>
                      <a:pt x="135" y="13"/>
                      <a:pt x="135" y="13"/>
                    </a:cubicBezTo>
                    <a:cubicBezTo>
                      <a:pt x="127" y="5"/>
                      <a:pt x="127" y="5"/>
                      <a:pt x="127" y="5"/>
                    </a:cubicBezTo>
                    <a:cubicBezTo>
                      <a:pt x="126" y="4"/>
                      <a:pt x="124" y="3"/>
                      <a:pt x="122" y="2"/>
                    </a:cubicBezTo>
                    <a:cubicBezTo>
                      <a:pt x="120" y="1"/>
                      <a:pt x="118" y="1"/>
                      <a:pt x="116" y="1"/>
                    </a:cubicBezTo>
                    <a:cubicBezTo>
                      <a:pt x="108" y="1"/>
                      <a:pt x="108" y="1"/>
                      <a:pt x="108" y="1"/>
                    </a:cubicBezTo>
                    <a:cubicBezTo>
                      <a:pt x="107" y="1"/>
                      <a:pt x="105" y="1"/>
                      <a:pt x="103" y="2"/>
                    </a:cubicBezTo>
                    <a:cubicBezTo>
                      <a:pt x="101" y="2"/>
                      <a:pt x="99" y="3"/>
                      <a:pt x="97" y="4"/>
                    </a:cubicBezTo>
                    <a:cubicBezTo>
                      <a:pt x="95" y="6"/>
                      <a:pt x="95" y="6"/>
                      <a:pt x="95" y="6"/>
                    </a:cubicBezTo>
                    <a:cubicBezTo>
                      <a:pt x="94" y="7"/>
                      <a:pt x="93" y="7"/>
                      <a:pt x="91" y="7"/>
                    </a:cubicBezTo>
                    <a:cubicBezTo>
                      <a:pt x="90" y="7"/>
                      <a:pt x="89" y="7"/>
                      <a:pt x="88" y="6"/>
                    </a:cubicBezTo>
                    <a:cubicBezTo>
                      <a:pt x="83" y="3"/>
                      <a:pt x="83" y="3"/>
                      <a:pt x="83" y="3"/>
                    </a:cubicBezTo>
                    <a:cubicBezTo>
                      <a:pt x="81" y="2"/>
                      <a:pt x="79" y="1"/>
                      <a:pt x="78" y="1"/>
                    </a:cubicBezTo>
                    <a:cubicBezTo>
                      <a:pt x="76" y="0"/>
                      <a:pt x="74" y="0"/>
                      <a:pt x="72" y="0"/>
                    </a:cubicBezTo>
                    <a:cubicBezTo>
                      <a:pt x="47" y="0"/>
                      <a:pt x="47" y="0"/>
                      <a:pt x="47" y="0"/>
                    </a:cubicBezTo>
                    <a:cubicBezTo>
                      <a:pt x="45" y="0"/>
                      <a:pt x="43" y="0"/>
                      <a:pt x="41" y="1"/>
                    </a:cubicBezTo>
                    <a:cubicBezTo>
                      <a:pt x="39" y="2"/>
                      <a:pt x="38" y="3"/>
                      <a:pt x="36" y="5"/>
                    </a:cubicBezTo>
                    <a:lnTo>
                      <a:pt x="38" y="6"/>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6" name="Freeform 281"/>
              <p:cNvSpPr>
                <a:spLocks/>
              </p:cNvSpPr>
              <p:nvPr/>
            </p:nvSpPr>
            <p:spPr bwMode="auto">
              <a:xfrm>
                <a:off x="-5010148" y="2547935"/>
                <a:ext cx="230187" cy="187324"/>
              </a:xfrm>
              <a:custGeom>
                <a:avLst/>
                <a:gdLst/>
                <a:ahLst/>
                <a:cxnLst>
                  <a:cxn ang="0">
                    <a:pos x="8" y="4"/>
                  </a:cxn>
                  <a:cxn ang="0">
                    <a:pos x="36" y="15"/>
                  </a:cxn>
                  <a:cxn ang="0">
                    <a:pos x="48" y="28"/>
                  </a:cxn>
                  <a:cxn ang="0">
                    <a:pos x="53" y="30"/>
                  </a:cxn>
                  <a:cxn ang="0">
                    <a:pos x="54" y="31"/>
                  </a:cxn>
                  <a:cxn ang="0">
                    <a:pos x="57" y="33"/>
                  </a:cxn>
                  <a:cxn ang="0">
                    <a:pos x="57" y="33"/>
                  </a:cxn>
                  <a:cxn ang="0">
                    <a:pos x="57" y="33"/>
                  </a:cxn>
                  <a:cxn ang="0">
                    <a:pos x="57" y="33"/>
                  </a:cxn>
                  <a:cxn ang="0">
                    <a:pos x="56" y="33"/>
                  </a:cxn>
                  <a:cxn ang="0">
                    <a:pos x="55" y="33"/>
                  </a:cxn>
                  <a:cxn ang="0">
                    <a:pos x="53" y="38"/>
                  </a:cxn>
                  <a:cxn ang="0">
                    <a:pos x="55" y="42"/>
                  </a:cxn>
                  <a:cxn ang="0">
                    <a:pos x="56" y="46"/>
                  </a:cxn>
                  <a:cxn ang="0">
                    <a:pos x="56" y="46"/>
                  </a:cxn>
                  <a:cxn ang="0">
                    <a:pos x="56" y="46"/>
                  </a:cxn>
                  <a:cxn ang="0">
                    <a:pos x="56" y="46"/>
                  </a:cxn>
                  <a:cxn ang="0">
                    <a:pos x="57" y="45"/>
                  </a:cxn>
                  <a:cxn ang="0">
                    <a:pos x="57" y="45"/>
                  </a:cxn>
                  <a:cxn ang="0">
                    <a:pos x="57" y="45"/>
                  </a:cxn>
                  <a:cxn ang="0">
                    <a:pos x="53" y="45"/>
                  </a:cxn>
                  <a:cxn ang="0">
                    <a:pos x="33" y="36"/>
                  </a:cxn>
                  <a:cxn ang="0">
                    <a:pos x="34" y="34"/>
                  </a:cxn>
                  <a:cxn ang="0">
                    <a:pos x="37" y="30"/>
                  </a:cxn>
                  <a:cxn ang="0">
                    <a:pos x="33" y="19"/>
                  </a:cxn>
                  <a:cxn ang="0">
                    <a:pos x="19" y="12"/>
                  </a:cxn>
                  <a:cxn ang="0">
                    <a:pos x="12" y="12"/>
                  </a:cxn>
                  <a:cxn ang="0">
                    <a:pos x="4" y="7"/>
                  </a:cxn>
                  <a:cxn ang="0">
                    <a:pos x="3" y="4"/>
                  </a:cxn>
                  <a:cxn ang="0">
                    <a:pos x="1" y="9"/>
                  </a:cxn>
                  <a:cxn ang="0">
                    <a:pos x="9" y="15"/>
                  </a:cxn>
                  <a:cxn ang="0">
                    <a:pos x="19" y="16"/>
                  </a:cxn>
                  <a:cxn ang="0">
                    <a:pos x="29" y="22"/>
                  </a:cxn>
                  <a:cxn ang="0">
                    <a:pos x="33" y="30"/>
                  </a:cxn>
                  <a:cxn ang="0">
                    <a:pos x="33" y="31"/>
                  </a:cxn>
                  <a:cxn ang="0">
                    <a:pos x="33" y="31"/>
                  </a:cxn>
                  <a:cxn ang="0">
                    <a:pos x="34" y="30"/>
                  </a:cxn>
                  <a:cxn ang="0">
                    <a:pos x="34" y="30"/>
                  </a:cxn>
                  <a:cxn ang="0">
                    <a:pos x="31" y="40"/>
                  </a:cxn>
                  <a:cxn ang="0">
                    <a:pos x="56" y="50"/>
                  </a:cxn>
                  <a:cxn ang="0">
                    <a:pos x="60" y="48"/>
                  </a:cxn>
                  <a:cxn ang="0">
                    <a:pos x="60" y="42"/>
                  </a:cxn>
                  <a:cxn ang="0">
                    <a:pos x="56" y="37"/>
                  </a:cxn>
                  <a:cxn ang="0">
                    <a:pos x="56" y="36"/>
                  </a:cxn>
                  <a:cxn ang="0">
                    <a:pos x="56" y="36"/>
                  </a:cxn>
                  <a:cxn ang="0">
                    <a:pos x="56" y="37"/>
                  </a:cxn>
                  <a:cxn ang="0">
                    <a:pos x="56" y="37"/>
                  </a:cxn>
                  <a:cxn ang="0">
                    <a:pos x="56" y="37"/>
                  </a:cxn>
                  <a:cxn ang="0">
                    <a:pos x="55" y="37"/>
                  </a:cxn>
                  <a:cxn ang="0">
                    <a:pos x="55" y="37"/>
                  </a:cxn>
                  <a:cxn ang="0">
                    <a:pos x="55" y="37"/>
                  </a:cxn>
                  <a:cxn ang="0">
                    <a:pos x="61" y="34"/>
                  </a:cxn>
                  <a:cxn ang="0">
                    <a:pos x="56" y="27"/>
                  </a:cxn>
                  <a:cxn ang="0">
                    <a:pos x="55" y="26"/>
                  </a:cxn>
                  <a:cxn ang="0">
                    <a:pos x="51" y="24"/>
                  </a:cxn>
                  <a:cxn ang="0">
                    <a:pos x="39" y="11"/>
                  </a:cxn>
                  <a:cxn ang="0">
                    <a:pos x="8" y="0"/>
                  </a:cxn>
                </a:cxnLst>
                <a:rect l="0" t="0" r="r" b="b"/>
                <a:pathLst>
                  <a:path w="61" h="50">
                    <a:moveTo>
                      <a:pt x="3" y="4"/>
                    </a:moveTo>
                    <a:cubicBezTo>
                      <a:pt x="4" y="6"/>
                      <a:pt x="4" y="6"/>
                      <a:pt x="4" y="6"/>
                    </a:cubicBezTo>
                    <a:cubicBezTo>
                      <a:pt x="5" y="5"/>
                      <a:pt x="6" y="4"/>
                      <a:pt x="8" y="4"/>
                    </a:cubicBezTo>
                    <a:cubicBezTo>
                      <a:pt x="9" y="4"/>
                      <a:pt x="9" y="4"/>
                      <a:pt x="9" y="4"/>
                    </a:cubicBezTo>
                    <a:cubicBezTo>
                      <a:pt x="33" y="12"/>
                      <a:pt x="33" y="12"/>
                      <a:pt x="33" y="12"/>
                    </a:cubicBezTo>
                    <a:cubicBezTo>
                      <a:pt x="34" y="13"/>
                      <a:pt x="35" y="14"/>
                      <a:pt x="36" y="15"/>
                    </a:cubicBezTo>
                    <a:cubicBezTo>
                      <a:pt x="38" y="16"/>
                      <a:pt x="39" y="17"/>
                      <a:pt x="40" y="18"/>
                    </a:cubicBezTo>
                    <a:cubicBezTo>
                      <a:pt x="44" y="23"/>
                      <a:pt x="44" y="23"/>
                      <a:pt x="44" y="23"/>
                    </a:cubicBezTo>
                    <a:cubicBezTo>
                      <a:pt x="45" y="25"/>
                      <a:pt x="46" y="26"/>
                      <a:pt x="48" y="28"/>
                    </a:cubicBezTo>
                    <a:cubicBezTo>
                      <a:pt x="50" y="29"/>
                      <a:pt x="52" y="30"/>
                      <a:pt x="53" y="30"/>
                    </a:cubicBezTo>
                    <a:cubicBezTo>
                      <a:pt x="54" y="28"/>
                      <a:pt x="54" y="28"/>
                      <a:pt x="54" y="28"/>
                    </a:cubicBezTo>
                    <a:cubicBezTo>
                      <a:pt x="53" y="30"/>
                      <a:pt x="53" y="30"/>
                      <a:pt x="53" y="30"/>
                    </a:cubicBezTo>
                    <a:cubicBezTo>
                      <a:pt x="54" y="31"/>
                      <a:pt x="54" y="31"/>
                      <a:pt x="54" y="31"/>
                    </a:cubicBezTo>
                    <a:cubicBezTo>
                      <a:pt x="54" y="31"/>
                      <a:pt x="54" y="31"/>
                      <a:pt x="54" y="31"/>
                    </a:cubicBezTo>
                    <a:cubicBezTo>
                      <a:pt x="54" y="31"/>
                      <a:pt x="54" y="31"/>
                      <a:pt x="54" y="31"/>
                    </a:cubicBezTo>
                    <a:cubicBezTo>
                      <a:pt x="55" y="31"/>
                      <a:pt x="56" y="32"/>
                      <a:pt x="56" y="32"/>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6" y="33"/>
                    </a:cubicBezTo>
                    <a:cubicBezTo>
                      <a:pt x="56" y="33"/>
                      <a:pt x="56" y="33"/>
                      <a:pt x="56" y="33"/>
                    </a:cubicBezTo>
                    <a:cubicBezTo>
                      <a:pt x="56" y="33"/>
                      <a:pt x="56" y="33"/>
                      <a:pt x="56" y="33"/>
                    </a:cubicBezTo>
                    <a:cubicBezTo>
                      <a:pt x="55" y="33"/>
                      <a:pt x="55" y="33"/>
                      <a:pt x="55" y="33"/>
                    </a:cubicBezTo>
                    <a:cubicBezTo>
                      <a:pt x="54" y="33"/>
                      <a:pt x="53" y="33"/>
                      <a:pt x="53" y="34"/>
                    </a:cubicBezTo>
                    <a:cubicBezTo>
                      <a:pt x="52" y="35"/>
                      <a:pt x="52" y="35"/>
                      <a:pt x="52" y="36"/>
                    </a:cubicBezTo>
                    <a:cubicBezTo>
                      <a:pt x="52" y="37"/>
                      <a:pt x="52" y="38"/>
                      <a:pt x="53" y="38"/>
                    </a:cubicBezTo>
                    <a:cubicBezTo>
                      <a:pt x="53" y="39"/>
                      <a:pt x="53" y="40"/>
                      <a:pt x="54" y="41"/>
                    </a:cubicBezTo>
                    <a:cubicBezTo>
                      <a:pt x="55" y="41"/>
                      <a:pt x="55" y="41"/>
                      <a:pt x="55" y="41"/>
                    </a:cubicBezTo>
                    <a:cubicBezTo>
                      <a:pt x="55" y="42"/>
                      <a:pt x="55" y="42"/>
                      <a:pt x="55" y="42"/>
                    </a:cubicBezTo>
                    <a:cubicBezTo>
                      <a:pt x="55" y="42"/>
                      <a:pt x="55" y="42"/>
                      <a:pt x="55" y="42"/>
                    </a:cubicBezTo>
                    <a:cubicBezTo>
                      <a:pt x="55" y="42"/>
                      <a:pt x="56" y="43"/>
                      <a:pt x="56" y="44"/>
                    </a:cubicBezTo>
                    <a:cubicBezTo>
                      <a:pt x="56" y="45"/>
                      <a:pt x="56" y="45"/>
                      <a:pt x="56" y="46"/>
                    </a:cubicBezTo>
                    <a:cubicBezTo>
                      <a:pt x="56" y="46"/>
                      <a:pt x="56" y="46"/>
                      <a:pt x="56" y="46"/>
                    </a:cubicBezTo>
                    <a:cubicBezTo>
                      <a:pt x="57" y="46"/>
                      <a:pt x="57" y="46"/>
                      <a:pt x="57" y="46"/>
                    </a:cubicBezTo>
                    <a:cubicBezTo>
                      <a:pt x="56" y="46"/>
                      <a:pt x="56" y="46"/>
                      <a:pt x="56" y="46"/>
                    </a:cubicBezTo>
                    <a:cubicBezTo>
                      <a:pt x="56" y="46"/>
                      <a:pt x="56" y="46"/>
                      <a:pt x="56" y="46"/>
                    </a:cubicBezTo>
                    <a:cubicBezTo>
                      <a:pt x="57" y="46"/>
                      <a:pt x="57" y="46"/>
                      <a:pt x="57" y="46"/>
                    </a:cubicBezTo>
                    <a:cubicBezTo>
                      <a:pt x="56" y="46"/>
                      <a:pt x="56" y="46"/>
                      <a:pt x="56" y="46"/>
                    </a:cubicBezTo>
                    <a:cubicBezTo>
                      <a:pt x="57" y="46"/>
                      <a:pt x="57" y="46"/>
                      <a:pt x="57" y="46"/>
                    </a:cubicBezTo>
                    <a:cubicBezTo>
                      <a:pt x="57" y="45"/>
                      <a:pt x="57" y="45"/>
                      <a:pt x="57" y="45"/>
                    </a:cubicBezTo>
                    <a:cubicBezTo>
                      <a:pt x="56" y="46"/>
                      <a:pt x="56" y="46"/>
                      <a:pt x="56" y="46"/>
                    </a:cubicBezTo>
                    <a:cubicBezTo>
                      <a:pt x="57" y="46"/>
                      <a:pt x="57" y="46"/>
                      <a:pt x="57" y="46"/>
                    </a:cubicBezTo>
                    <a:cubicBezTo>
                      <a:pt x="57" y="45"/>
                      <a:pt x="57" y="45"/>
                      <a:pt x="57" y="45"/>
                    </a:cubicBezTo>
                    <a:cubicBezTo>
                      <a:pt x="57" y="45"/>
                      <a:pt x="57" y="45"/>
                      <a:pt x="57" y="45"/>
                    </a:cubicBezTo>
                    <a:cubicBezTo>
                      <a:pt x="57" y="45"/>
                      <a:pt x="57" y="45"/>
                      <a:pt x="57" y="45"/>
                    </a:cubicBezTo>
                    <a:cubicBezTo>
                      <a:pt x="57" y="46"/>
                      <a:pt x="57" y="46"/>
                      <a:pt x="57" y="46"/>
                    </a:cubicBezTo>
                    <a:cubicBezTo>
                      <a:pt x="57" y="45"/>
                      <a:pt x="57" y="45"/>
                      <a:pt x="57" y="45"/>
                    </a:cubicBezTo>
                    <a:cubicBezTo>
                      <a:pt x="57" y="45"/>
                      <a:pt x="57" y="45"/>
                      <a:pt x="57" y="45"/>
                    </a:cubicBezTo>
                    <a:cubicBezTo>
                      <a:pt x="57" y="46"/>
                      <a:pt x="57" y="46"/>
                      <a:pt x="57" y="46"/>
                    </a:cubicBezTo>
                    <a:cubicBezTo>
                      <a:pt x="57" y="45"/>
                      <a:pt x="57" y="45"/>
                      <a:pt x="57" y="45"/>
                    </a:cubicBezTo>
                    <a:cubicBezTo>
                      <a:pt x="57" y="45"/>
                      <a:pt x="57" y="45"/>
                      <a:pt x="57" y="45"/>
                    </a:cubicBezTo>
                    <a:cubicBezTo>
                      <a:pt x="56" y="45"/>
                      <a:pt x="56" y="45"/>
                      <a:pt x="56" y="45"/>
                    </a:cubicBezTo>
                    <a:cubicBezTo>
                      <a:pt x="55" y="45"/>
                      <a:pt x="54" y="45"/>
                      <a:pt x="53" y="45"/>
                    </a:cubicBezTo>
                    <a:cubicBezTo>
                      <a:pt x="37" y="39"/>
                      <a:pt x="37" y="39"/>
                      <a:pt x="37" y="39"/>
                    </a:cubicBezTo>
                    <a:cubicBezTo>
                      <a:pt x="36" y="38"/>
                      <a:pt x="35" y="37"/>
                      <a:pt x="34" y="37"/>
                    </a:cubicBezTo>
                    <a:cubicBezTo>
                      <a:pt x="33" y="36"/>
                      <a:pt x="33" y="36"/>
                      <a:pt x="33" y="36"/>
                    </a:cubicBezTo>
                    <a:cubicBezTo>
                      <a:pt x="33" y="35"/>
                      <a:pt x="33" y="35"/>
                      <a:pt x="33" y="35"/>
                    </a:cubicBezTo>
                    <a:cubicBezTo>
                      <a:pt x="33" y="35"/>
                      <a:pt x="33" y="35"/>
                      <a:pt x="33" y="34"/>
                    </a:cubicBezTo>
                    <a:cubicBezTo>
                      <a:pt x="34" y="34"/>
                      <a:pt x="34" y="34"/>
                      <a:pt x="34" y="34"/>
                    </a:cubicBezTo>
                    <a:cubicBezTo>
                      <a:pt x="35" y="34"/>
                      <a:pt x="35" y="34"/>
                      <a:pt x="35" y="34"/>
                    </a:cubicBezTo>
                    <a:cubicBezTo>
                      <a:pt x="36" y="33"/>
                      <a:pt x="37" y="33"/>
                      <a:pt x="37" y="32"/>
                    </a:cubicBezTo>
                    <a:cubicBezTo>
                      <a:pt x="37" y="31"/>
                      <a:pt x="37" y="31"/>
                      <a:pt x="37" y="30"/>
                    </a:cubicBezTo>
                    <a:cubicBezTo>
                      <a:pt x="37" y="28"/>
                      <a:pt x="37" y="27"/>
                      <a:pt x="36" y="25"/>
                    </a:cubicBezTo>
                    <a:cubicBezTo>
                      <a:pt x="36" y="25"/>
                      <a:pt x="36" y="25"/>
                      <a:pt x="36" y="25"/>
                    </a:cubicBezTo>
                    <a:cubicBezTo>
                      <a:pt x="35" y="23"/>
                      <a:pt x="34" y="21"/>
                      <a:pt x="33" y="19"/>
                    </a:cubicBezTo>
                    <a:cubicBezTo>
                      <a:pt x="31" y="18"/>
                      <a:pt x="30" y="16"/>
                      <a:pt x="28" y="15"/>
                    </a:cubicBezTo>
                    <a:cubicBezTo>
                      <a:pt x="26" y="14"/>
                      <a:pt x="26" y="14"/>
                      <a:pt x="26" y="14"/>
                    </a:cubicBezTo>
                    <a:cubicBezTo>
                      <a:pt x="24" y="13"/>
                      <a:pt x="21" y="12"/>
                      <a:pt x="19" y="12"/>
                    </a:cubicBezTo>
                    <a:cubicBezTo>
                      <a:pt x="18" y="12"/>
                      <a:pt x="17" y="12"/>
                      <a:pt x="16" y="13"/>
                    </a:cubicBezTo>
                    <a:cubicBezTo>
                      <a:pt x="15" y="13"/>
                      <a:pt x="15" y="13"/>
                      <a:pt x="14" y="13"/>
                    </a:cubicBezTo>
                    <a:cubicBezTo>
                      <a:pt x="13" y="13"/>
                      <a:pt x="12" y="12"/>
                      <a:pt x="12" y="12"/>
                    </a:cubicBezTo>
                    <a:cubicBezTo>
                      <a:pt x="12" y="11"/>
                      <a:pt x="11" y="10"/>
                      <a:pt x="9" y="9"/>
                    </a:cubicBezTo>
                    <a:cubicBezTo>
                      <a:pt x="8" y="8"/>
                      <a:pt x="6" y="8"/>
                      <a:pt x="5" y="7"/>
                    </a:cubicBezTo>
                    <a:cubicBezTo>
                      <a:pt x="4" y="7"/>
                      <a:pt x="4" y="7"/>
                      <a:pt x="4" y="7"/>
                    </a:cubicBezTo>
                    <a:cubicBezTo>
                      <a:pt x="4" y="6"/>
                      <a:pt x="4" y="6"/>
                      <a:pt x="4" y="6"/>
                    </a:cubicBezTo>
                    <a:cubicBezTo>
                      <a:pt x="4" y="6"/>
                      <a:pt x="4" y="6"/>
                      <a:pt x="4" y="6"/>
                    </a:cubicBezTo>
                    <a:cubicBezTo>
                      <a:pt x="3" y="4"/>
                      <a:pt x="3" y="4"/>
                      <a:pt x="3" y="4"/>
                    </a:cubicBezTo>
                    <a:cubicBezTo>
                      <a:pt x="1" y="3"/>
                      <a:pt x="1" y="3"/>
                      <a:pt x="1" y="3"/>
                    </a:cubicBezTo>
                    <a:cubicBezTo>
                      <a:pt x="0" y="4"/>
                      <a:pt x="0" y="5"/>
                      <a:pt x="0" y="6"/>
                    </a:cubicBezTo>
                    <a:cubicBezTo>
                      <a:pt x="0" y="7"/>
                      <a:pt x="0" y="9"/>
                      <a:pt x="1" y="9"/>
                    </a:cubicBezTo>
                    <a:cubicBezTo>
                      <a:pt x="2" y="10"/>
                      <a:pt x="3" y="11"/>
                      <a:pt x="4" y="11"/>
                    </a:cubicBezTo>
                    <a:cubicBezTo>
                      <a:pt x="5" y="12"/>
                      <a:pt x="6" y="12"/>
                      <a:pt x="7" y="13"/>
                    </a:cubicBezTo>
                    <a:cubicBezTo>
                      <a:pt x="8" y="14"/>
                      <a:pt x="9" y="14"/>
                      <a:pt x="9" y="15"/>
                    </a:cubicBezTo>
                    <a:cubicBezTo>
                      <a:pt x="10" y="16"/>
                      <a:pt x="12" y="17"/>
                      <a:pt x="14" y="17"/>
                    </a:cubicBezTo>
                    <a:cubicBezTo>
                      <a:pt x="15" y="17"/>
                      <a:pt x="16" y="17"/>
                      <a:pt x="17" y="17"/>
                    </a:cubicBezTo>
                    <a:cubicBezTo>
                      <a:pt x="17" y="17"/>
                      <a:pt x="18" y="16"/>
                      <a:pt x="19" y="16"/>
                    </a:cubicBezTo>
                    <a:cubicBezTo>
                      <a:pt x="20" y="16"/>
                      <a:pt x="22" y="17"/>
                      <a:pt x="24" y="18"/>
                    </a:cubicBezTo>
                    <a:cubicBezTo>
                      <a:pt x="26" y="19"/>
                      <a:pt x="26" y="19"/>
                      <a:pt x="26" y="19"/>
                    </a:cubicBezTo>
                    <a:cubicBezTo>
                      <a:pt x="27" y="19"/>
                      <a:pt x="28" y="21"/>
                      <a:pt x="29" y="22"/>
                    </a:cubicBezTo>
                    <a:cubicBezTo>
                      <a:pt x="31" y="23"/>
                      <a:pt x="32" y="25"/>
                      <a:pt x="32" y="26"/>
                    </a:cubicBezTo>
                    <a:cubicBezTo>
                      <a:pt x="32" y="27"/>
                      <a:pt x="32" y="27"/>
                      <a:pt x="32" y="27"/>
                    </a:cubicBezTo>
                    <a:cubicBezTo>
                      <a:pt x="33" y="28"/>
                      <a:pt x="33" y="29"/>
                      <a:pt x="33" y="30"/>
                    </a:cubicBezTo>
                    <a:cubicBezTo>
                      <a:pt x="33" y="30"/>
                      <a:pt x="33" y="30"/>
                      <a:pt x="33" y="30"/>
                    </a:cubicBezTo>
                    <a:cubicBezTo>
                      <a:pt x="33" y="30"/>
                      <a:pt x="33" y="30"/>
                      <a:pt x="33" y="30"/>
                    </a:cubicBezTo>
                    <a:cubicBezTo>
                      <a:pt x="33" y="31"/>
                      <a:pt x="33" y="31"/>
                      <a:pt x="33" y="31"/>
                    </a:cubicBezTo>
                    <a:cubicBezTo>
                      <a:pt x="33" y="30"/>
                      <a:pt x="33" y="30"/>
                      <a:pt x="33" y="30"/>
                    </a:cubicBezTo>
                    <a:cubicBezTo>
                      <a:pt x="33" y="30"/>
                      <a:pt x="33" y="30"/>
                      <a:pt x="33" y="30"/>
                    </a:cubicBezTo>
                    <a:cubicBezTo>
                      <a:pt x="33" y="31"/>
                      <a:pt x="33" y="31"/>
                      <a:pt x="33" y="31"/>
                    </a:cubicBezTo>
                    <a:cubicBezTo>
                      <a:pt x="33" y="30"/>
                      <a:pt x="33" y="30"/>
                      <a:pt x="33" y="30"/>
                    </a:cubicBezTo>
                    <a:cubicBezTo>
                      <a:pt x="34" y="31"/>
                      <a:pt x="34" y="31"/>
                      <a:pt x="34" y="31"/>
                    </a:cubicBezTo>
                    <a:cubicBezTo>
                      <a:pt x="34" y="30"/>
                      <a:pt x="34" y="30"/>
                      <a:pt x="34" y="30"/>
                    </a:cubicBezTo>
                    <a:cubicBezTo>
                      <a:pt x="33" y="30"/>
                      <a:pt x="33" y="30"/>
                      <a:pt x="33" y="30"/>
                    </a:cubicBezTo>
                    <a:cubicBezTo>
                      <a:pt x="34" y="31"/>
                      <a:pt x="34" y="31"/>
                      <a:pt x="34" y="31"/>
                    </a:cubicBezTo>
                    <a:cubicBezTo>
                      <a:pt x="34" y="30"/>
                      <a:pt x="34" y="30"/>
                      <a:pt x="34" y="30"/>
                    </a:cubicBezTo>
                    <a:cubicBezTo>
                      <a:pt x="32" y="30"/>
                      <a:pt x="31" y="31"/>
                      <a:pt x="30" y="32"/>
                    </a:cubicBezTo>
                    <a:cubicBezTo>
                      <a:pt x="29" y="33"/>
                      <a:pt x="29" y="34"/>
                      <a:pt x="29" y="35"/>
                    </a:cubicBezTo>
                    <a:cubicBezTo>
                      <a:pt x="29" y="37"/>
                      <a:pt x="30" y="39"/>
                      <a:pt x="31" y="40"/>
                    </a:cubicBezTo>
                    <a:cubicBezTo>
                      <a:pt x="32" y="41"/>
                      <a:pt x="33" y="42"/>
                      <a:pt x="35" y="43"/>
                    </a:cubicBezTo>
                    <a:cubicBezTo>
                      <a:pt x="51" y="49"/>
                      <a:pt x="51" y="49"/>
                      <a:pt x="51" y="49"/>
                    </a:cubicBezTo>
                    <a:cubicBezTo>
                      <a:pt x="53" y="49"/>
                      <a:pt x="54" y="50"/>
                      <a:pt x="56" y="50"/>
                    </a:cubicBezTo>
                    <a:cubicBezTo>
                      <a:pt x="57" y="50"/>
                      <a:pt x="57" y="50"/>
                      <a:pt x="58" y="49"/>
                    </a:cubicBezTo>
                    <a:cubicBezTo>
                      <a:pt x="59" y="49"/>
                      <a:pt x="59" y="49"/>
                      <a:pt x="60" y="48"/>
                    </a:cubicBezTo>
                    <a:cubicBezTo>
                      <a:pt x="60" y="48"/>
                      <a:pt x="60" y="48"/>
                      <a:pt x="60" y="48"/>
                    </a:cubicBezTo>
                    <a:cubicBezTo>
                      <a:pt x="60" y="48"/>
                      <a:pt x="60" y="48"/>
                      <a:pt x="60" y="48"/>
                    </a:cubicBezTo>
                    <a:cubicBezTo>
                      <a:pt x="61" y="47"/>
                      <a:pt x="61" y="47"/>
                      <a:pt x="61" y="46"/>
                    </a:cubicBezTo>
                    <a:cubicBezTo>
                      <a:pt x="61" y="45"/>
                      <a:pt x="60" y="44"/>
                      <a:pt x="60" y="42"/>
                    </a:cubicBezTo>
                    <a:cubicBezTo>
                      <a:pt x="60" y="41"/>
                      <a:pt x="59" y="40"/>
                      <a:pt x="58" y="39"/>
                    </a:cubicBezTo>
                    <a:cubicBezTo>
                      <a:pt x="57" y="38"/>
                      <a:pt x="57" y="38"/>
                      <a:pt x="57" y="38"/>
                    </a:cubicBezTo>
                    <a:cubicBezTo>
                      <a:pt x="57" y="37"/>
                      <a:pt x="57" y="37"/>
                      <a:pt x="56" y="37"/>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5" y="36"/>
                      <a:pt x="55" y="36"/>
                      <a:pt x="55" y="36"/>
                    </a:cubicBezTo>
                    <a:cubicBezTo>
                      <a:pt x="56" y="37"/>
                      <a:pt x="56" y="37"/>
                      <a:pt x="56" y="37"/>
                    </a:cubicBezTo>
                    <a:cubicBezTo>
                      <a:pt x="56" y="36"/>
                      <a:pt x="56" y="36"/>
                      <a:pt x="56" y="36"/>
                    </a:cubicBezTo>
                    <a:cubicBezTo>
                      <a:pt x="55" y="36"/>
                      <a:pt x="55" y="36"/>
                      <a:pt x="55" y="36"/>
                    </a:cubicBezTo>
                    <a:cubicBezTo>
                      <a:pt x="56" y="37"/>
                      <a:pt x="56" y="37"/>
                      <a:pt x="56" y="37"/>
                    </a:cubicBezTo>
                    <a:cubicBezTo>
                      <a:pt x="55" y="36"/>
                      <a:pt x="55" y="36"/>
                      <a:pt x="55" y="36"/>
                    </a:cubicBezTo>
                    <a:cubicBezTo>
                      <a:pt x="55" y="37"/>
                      <a:pt x="55" y="37"/>
                      <a:pt x="55" y="37"/>
                    </a:cubicBezTo>
                    <a:cubicBezTo>
                      <a:pt x="55" y="37"/>
                      <a:pt x="55" y="37"/>
                      <a:pt x="56" y="37"/>
                    </a:cubicBezTo>
                    <a:cubicBezTo>
                      <a:pt x="55" y="36"/>
                      <a:pt x="55" y="36"/>
                      <a:pt x="55" y="36"/>
                    </a:cubicBezTo>
                    <a:cubicBezTo>
                      <a:pt x="55" y="37"/>
                      <a:pt x="55" y="37"/>
                      <a:pt x="55" y="37"/>
                    </a:cubicBezTo>
                    <a:cubicBezTo>
                      <a:pt x="55" y="37"/>
                      <a:pt x="55" y="37"/>
                      <a:pt x="55" y="37"/>
                    </a:cubicBezTo>
                    <a:cubicBezTo>
                      <a:pt x="55" y="37"/>
                      <a:pt x="55" y="37"/>
                      <a:pt x="55" y="37"/>
                    </a:cubicBezTo>
                    <a:cubicBezTo>
                      <a:pt x="55" y="37"/>
                      <a:pt x="55" y="37"/>
                      <a:pt x="55" y="37"/>
                    </a:cubicBezTo>
                    <a:cubicBezTo>
                      <a:pt x="55" y="37"/>
                      <a:pt x="55" y="37"/>
                      <a:pt x="55" y="37"/>
                    </a:cubicBezTo>
                    <a:cubicBezTo>
                      <a:pt x="55" y="37"/>
                      <a:pt x="55" y="37"/>
                      <a:pt x="55" y="37"/>
                    </a:cubicBezTo>
                    <a:cubicBezTo>
                      <a:pt x="55" y="37"/>
                      <a:pt x="55" y="37"/>
                      <a:pt x="55" y="37"/>
                    </a:cubicBezTo>
                    <a:cubicBezTo>
                      <a:pt x="55" y="37"/>
                      <a:pt x="55" y="37"/>
                      <a:pt x="55" y="37"/>
                    </a:cubicBezTo>
                    <a:cubicBezTo>
                      <a:pt x="55" y="37"/>
                      <a:pt x="55" y="37"/>
                      <a:pt x="55" y="37"/>
                    </a:cubicBezTo>
                    <a:cubicBezTo>
                      <a:pt x="55" y="38"/>
                      <a:pt x="56" y="38"/>
                      <a:pt x="56" y="38"/>
                    </a:cubicBezTo>
                    <a:cubicBezTo>
                      <a:pt x="59" y="38"/>
                      <a:pt x="61" y="36"/>
                      <a:pt x="61" y="34"/>
                    </a:cubicBezTo>
                    <a:cubicBezTo>
                      <a:pt x="61" y="33"/>
                      <a:pt x="61" y="33"/>
                      <a:pt x="61" y="33"/>
                    </a:cubicBezTo>
                    <a:cubicBezTo>
                      <a:pt x="61" y="31"/>
                      <a:pt x="60" y="30"/>
                      <a:pt x="59" y="29"/>
                    </a:cubicBezTo>
                    <a:cubicBezTo>
                      <a:pt x="58" y="28"/>
                      <a:pt x="57" y="27"/>
                      <a:pt x="56" y="27"/>
                    </a:cubicBezTo>
                    <a:cubicBezTo>
                      <a:pt x="55" y="29"/>
                      <a:pt x="55" y="29"/>
                      <a:pt x="55" y="29"/>
                    </a:cubicBezTo>
                    <a:cubicBezTo>
                      <a:pt x="56" y="27"/>
                      <a:pt x="56" y="27"/>
                      <a:pt x="56" y="27"/>
                    </a:cubicBezTo>
                    <a:cubicBezTo>
                      <a:pt x="55" y="26"/>
                      <a:pt x="55" y="26"/>
                      <a:pt x="55" y="26"/>
                    </a:cubicBezTo>
                    <a:cubicBezTo>
                      <a:pt x="55" y="26"/>
                      <a:pt x="55" y="26"/>
                      <a:pt x="55" y="26"/>
                    </a:cubicBezTo>
                    <a:cubicBezTo>
                      <a:pt x="55" y="26"/>
                      <a:pt x="55" y="26"/>
                      <a:pt x="55" y="26"/>
                    </a:cubicBezTo>
                    <a:cubicBezTo>
                      <a:pt x="54" y="26"/>
                      <a:pt x="52" y="25"/>
                      <a:pt x="51" y="24"/>
                    </a:cubicBezTo>
                    <a:cubicBezTo>
                      <a:pt x="49" y="23"/>
                      <a:pt x="48" y="22"/>
                      <a:pt x="47" y="21"/>
                    </a:cubicBezTo>
                    <a:cubicBezTo>
                      <a:pt x="43" y="16"/>
                      <a:pt x="43" y="16"/>
                      <a:pt x="43" y="16"/>
                    </a:cubicBezTo>
                    <a:cubicBezTo>
                      <a:pt x="42" y="14"/>
                      <a:pt x="41" y="12"/>
                      <a:pt x="39" y="11"/>
                    </a:cubicBezTo>
                    <a:cubicBezTo>
                      <a:pt x="37" y="10"/>
                      <a:pt x="36" y="9"/>
                      <a:pt x="34" y="8"/>
                    </a:cubicBezTo>
                    <a:cubicBezTo>
                      <a:pt x="11" y="0"/>
                      <a:pt x="11" y="0"/>
                      <a:pt x="11" y="0"/>
                    </a:cubicBezTo>
                    <a:cubicBezTo>
                      <a:pt x="10" y="0"/>
                      <a:pt x="9" y="0"/>
                      <a:pt x="8" y="0"/>
                    </a:cubicBezTo>
                    <a:cubicBezTo>
                      <a:pt x="5" y="0"/>
                      <a:pt x="2" y="1"/>
                      <a:pt x="1" y="3"/>
                    </a:cubicBezTo>
                    <a:lnTo>
                      <a:pt x="3" y="4"/>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7" name="Freeform 282"/>
              <p:cNvSpPr>
                <a:spLocks/>
              </p:cNvSpPr>
              <p:nvPr/>
            </p:nvSpPr>
            <p:spPr bwMode="auto">
              <a:xfrm>
                <a:off x="-4938711" y="2427285"/>
                <a:ext cx="384175" cy="342899"/>
              </a:xfrm>
              <a:custGeom>
                <a:avLst/>
                <a:gdLst/>
                <a:ahLst/>
                <a:cxnLst>
                  <a:cxn ang="0">
                    <a:pos x="5" y="9"/>
                  </a:cxn>
                  <a:cxn ang="0">
                    <a:pos x="5" y="9"/>
                  </a:cxn>
                  <a:cxn ang="0">
                    <a:pos x="5" y="9"/>
                  </a:cxn>
                  <a:cxn ang="0">
                    <a:pos x="6" y="8"/>
                  </a:cxn>
                  <a:cxn ang="0">
                    <a:pos x="19" y="11"/>
                  </a:cxn>
                  <a:cxn ang="0">
                    <a:pos x="25" y="5"/>
                  </a:cxn>
                  <a:cxn ang="0">
                    <a:pos x="25" y="5"/>
                  </a:cxn>
                  <a:cxn ang="0">
                    <a:pos x="36" y="7"/>
                  </a:cxn>
                  <a:cxn ang="0">
                    <a:pos x="53" y="14"/>
                  </a:cxn>
                  <a:cxn ang="0">
                    <a:pos x="60" y="13"/>
                  </a:cxn>
                  <a:cxn ang="0">
                    <a:pos x="93" y="33"/>
                  </a:cxn>
                  <a:cxn ang="0">
                    <a:pos x="98" y="59"/>
                  </a:cxn>
                  <a:cxn ang="0">
                    <a:pos x="93" y="72"/>
                  </a:cxn>
                  <a:cxn ang="0">
                    <a:pos x="96" y="87"/>
                  </a:cxn>
                  <a:cxn ang="0">
                    <a:pos x="96" y="87"/>
                  </a:cxn>
                  <a:cxn ang="0">
                    <a:pos x="97" y="87"/>
                  </a:cxn>
                  <a:cxn ang="0">
                    <a:pos x="97" y="87"/>
                  </a:cxn>
                  <a:cxn ang="0">
                    <a:pos x="97" y="87"/>
                  </a:cxn>
                  <a:cxn ang="0">
                    <a:pos x="65" y="60"/>
                  </a:cxn>
                  <a:cxn ang="0">
                    <a:pos x="57" y="42"/>
                  </a:cxn>
                  <a:cxn ang="0">
                    <a:pos x="30" y="23"/>
                  </a:cxn>
                  <a:cxn ang="0">
                    <a:pos x="12" y="23"/>
                  </a:cxn>
                  <a:cxn ang="0">
                    <a:pos x="11" y="22"/>
                  </a:cxn>
                  <a:cxn ang="0">
                    <a:pos x="10" y="22"/>
                  </a:cxn>
                  <a:cxn ang="0">
                    <a:pos x="11" y="22"/>
                  </a:cxn>
                  <a:cxn ang="0">
                    <a:pos x="11" y="21"/>
                  </a:cxn>
                  <a:cxn ang="0">
                    <a:pos x="5" y="15"/>
                  </a:cxn>
                  <a:cxn ang="0">
                    <a:pos x="4" y="16"/>
                  </a:cxn>
                  <a:cxn ang="0">
                    <a:pos x="5" y="16"/>
                  </a:cxn>
                  <a:cxn ang="0">
                    <a:pos x="5" y="9"/>
                  </a:cxn>
                  <a:cxn ang="0">
                    <a:pos x="2" y="13"/>
                  </a:cxn>
                  <a:cxn ang="0">
                    <a:pos x="6" y="20"/>
                  </a:cxn>
                  <a:cxn ang="0">
                    <a:pos x="8" y="26"/>
                  </a:cxn>
                  <a:cxn ang="0">
                    <a:pos x="24" y="27"/>
                  </a:cxn>
                  <a:cxn ang="0">
                    <a:pos x="43" y="37"/>
                  </a:cxn>
                  <a:cxn ang="0">
                    <a:pos x="59" y="54"/>
                  </a:cxn>
                  <a:cxn ang="0">
                    <a:pos x="93" y="90"/>
                  </a:cxn>
                  <a:cxn ang="0">
                    <a:pos x="100" y="84"/>
                  </a:cxn>
                  <a:cxn ang="0">
                    <a:pos x="98" y="69"/>
                  </a:cxn>
                  <a:cxn ang="0">
                    <a:pos x="102" y="58"/>
                  </a:cxn>
                  <a:cxn ang="0">
                    <a:pos x="70" y="16"/>
                  </a:cxn>
                  <a:cxn ang="0">
                    <a:pos x="58" y="8"/>
                  </a:cxn>
                  <a:cxn ang="0">
                    <a:pos x="50" y="10"/>
                  </a:cxn>
                  <a:cxn ang="0">
                    <a:pos x="50" y="11"/>
                  </a:cxn>
                  <a:cxn ang="0">
                    <a:pos x="46" y="9"/>
                  </a:cxn>
                  <a:cxn ang="0">
                    <a:pos x="24" y="1"/>
                  </a:cxn>
                  <a:cxn ang="0">
                    <a:pos x="19" y="7"/>
                  </a:cxn>
                  <a:cxn ang="0">
                    <a:pos x="19" y="7"/>
                  </a:cxn>
                  <a:cxn ang="0">
                    <a:pos x="19" y="7"/>
                  </a:cxn>
                  <a:cxn ang="0">
                    <a:pos x="4" y="4"/>
                  </a:cxn>
                  <a:cxn ang="0">
                    <a:pos x="2" y="12"/>
                  </a:cxn>
                </a:cxnLst>
                <a:rect l="0" t="0" r="r" b="b"/>
                <a:pathLst>
                  <a:path w="102" h="91">
                    <a:moveTo>
                      <a:pt x="3" y="10"/>
                    </a:move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8"/>
                      <a:pt x="5" y="8"/>
                      <a:pt x="5" y="8"/>
                    </a:cubicBezTo>
                    <a:cubicBezTo>
                      <a:pt x="5" y="8"/>
                      <a:pt x="5" y="8"/>
                      <a:pt x="6" y="8"/>
                    </a:cubicBezTo>
                    <a:cubicBezTo>
                      <a:pt x="6" y="8"/>
                      <a:pt x="6" y="8"/>
                      <a:pt x="6" y="8"/>
                    </a:cubicBezTo>
                    <a:cubicBezTo>
                      <a:pt x="6" y="8"/>
                      <a:pt x="6" y="8"/>
                      <a:pt x="6" y="8"/>
                    </a:cubicBezTo>
                    <a:cubicBezTo>
                      <a:pt x="6" y="7"/>
                      <a:pt x="7" y="7"/>
                      <a:pt x="8" y="7"/>
                    </a:cubicBezTo>
                    <a:cubicBezTo>
                      <a:pt x="9" y="7"/>
                      <a:pt x="11" y="8"/>
                      <a:pt x="12" y="8"/>
                    </a:cubicBezTo>
                    <a:cubicBezTo>
                      <a:pt x="13" y="9"/>
                      <a:pt x="13" y="9"/>
                      <a:pt x="13" y="9"/>
                    </a:cubicBezTo>
                    <a:cubicBezTo>
                      <a:pt x="15" y="10"/>
                      <a:pt x="17" y="11"/>
                      <a:pt x="19" y="11"/>
                    </a:cubicBezTo>
                    <a:cubicBezTo>
                      <a:pt x="20" y="11"/>
                      <a:pt x="21" y="11"/>
                      <a:pt x="22" y="10"/>
                    </a:cubicBezTo>
                    <a:cubicBezTo>
                      <a:pt x="22" y="10"/>
                      <a:pt x="22" y="10"/>
                      <a:pt x="22" y="10"/>
                    </a:cubicBezTo>
                    <a:cubicBezTo>
                      <a:pt x="24" y="9"/>
                      <a:pt x="25" y="7"/>
                      <a:pt x="25" y="5"/>
                    </a:cubicBezTo>
                    <a:cubicBezTo>
                      <a:pt x="25" y="5"/>
                      <a:pt x="25" y="5"/>
                      <a:pt x="25" y="5"/>
                    </a:cubicBezTo>
                    <a:cubicBezTo>
                      <a:pt x="25" y="5"/>
                      <a:pt x="25" y="5"/>
                      <a:pt x="25" y="5"/>
                    </a:cubicBezTo>
                    <a:cubicBezTo>
                      <a:pt x="25" y="5"/>
                      <a:pt x="25" y="5"/>
                      <a:pt x="25" y="5"/>
                    </a:cubicBezTo>
                    <a:cubicBezTo>
                      <a:pt x="25" y="5"/>
                      <a:pt x="25" y="5"/>
                      <a:pt x="25" y="5"/>
                    </a:cubicBezTo>
                    <a:cubicBezTo>
                      <a:pt x="25" y="5"/>
                      <a:pt x="25" y="5"/>
                      <a:pt x="25" y="5"/>
                    </a:cubicBezTo>
                    <a:cubicBezTo>
                      <a:pt x="25" y="5"/>
                      <a:pt x="25" y="5"/>
                      <a:pt x="25" y="5"/>
                    </a:cubicBezTo>
                    <a:cubicBezTo>
                      <a:pt x="25" y="5"/>
                      <a:pt x="27" y="4"/>
                      <a:pt x="28" y="4"/>
                    </a:cubicBezTo>
                    <a:cubicBezTo>
                      <a:pt x="29" y="4"/>
                      <a:pt x="31" y="4"/>
                      <a:pt x="32" y="5"/>
                    </a:cubicBezTo>
                    <a:cubicBezTo>
                      <a:pt x="34" y="5"/>
                      <a:pt x="35" y="6"/>
                      <a:pt x="36" y="7"/>
                    </a:cubicBezTo>
                    <a:cubicBezTo>
                      <a:pt x="44" y="12"/>
                      <a:pt x="44" y="12"/>
                      <a:pt x="44" y="12"/>
                    </a:cubicBezTo>
                    <a:cubicBezTo>
                      <a:pt x="46" y="14"/>
                      <a:pt x="48" y="15"/>
                      <a:pt x="50" y="15"/>
                    </a:cubicBezTo>
                    <a:cubicBezTo>
                      <a:pt x="51" y="15"/>
                      <a:pt x="52" y="14"/>
                      <a:pt x="53" y="14"/>
                    </a:cubicBezTo>
                    <a:cubicBezTo>
                      <a:pt x="53" y="14"/>
                      <a:pt x="53" y="14"/>
                      <a:pt x="53" y="14"/>
                    </a:cubicBezTo>
                    <a:cubicBezTo>
                      <a:pt x="53" y="14"/>
                      <a:pt x="53" y="14"/>
                      <a:pt x="53" y="14"/>
                    </a:cubicBezTo>
                    <a:cubicBezTo>
                      <a:pt x="53" y="13"/>
                      <a:pt x="53" y="13"/>
                      <a:pt x="53" y="13"/>
                    </a:cubicBezTo>
                    <a:cubicBezTo>
                      <a:pt x="54" y="13"/>
                      <a:pt x="56" y="12"/>
                      <a:pt x="58" y="12"/>
                    </a:cubicBezTo>
                    <a:cubicBezTo>
                      <a:pt x="58" y="12"/>
                      <a:pt x="59" y="13"/>
                      <a:pt x="60" y="13"/>
                    </a:cubicBezTo>
                    <a:cubicBezTo>
                      <a:pt x="61" y="13"/>
                      <a:pt x="61" y="14"/>
                      <a:pt x="61" y="14"/>
                    </a:cubicBezTo>
                    <a:cubicBezTo>
                      <a:pt x="62" y="15"/>
                      <a:pt x="63" y="16"/>
                      <a:pt x="64" y="17"/>
                    </a:cubicBezTo>
                    <a:cubicBezTo>
                      <a:pt x="66" y="18"/>
                      <a:pt x="67" y="19"/>
                      <a:pt x="69" y="20"/>
                    </a:cubicBezTo>
                    <a:cubicBezTo>
                      <a:pt x="93" y="33"/>
                      <a:pt x="93" y="33"/>
                      <a:pt x="93" y="33"/>
                    </a:cubicBezTo>
                    <a:cubicBezTo>
                      <a:pt x="94" y="33"/>
                      <a:pt x="95" y="34"/>
                      <a:pt x="95" y="36"/>
                    </a:cubicBezTo>
                    <a:cubicBezTo>
                      <a:pt x="96" y="37"/>
                      <a:pt x="97" y="39"/>
                      <a:pt x="97" y="40"/>
                    </a:cubicBezTo>
                    <a:cubicBezTo>
                      <a:pt x="98" y="59"/>
                      <a:pt x="98" y="59"/>
                      <a:pt x="98" y="59"/>
                    </a:cubicBezTo>
                    <a:cubicBezTo>
                      <a:pt x="98" y="59"/>
                      <a:pt x="98" y="59"/>
                      <a:pt x="98" y="59"/>
                    </a:cubicBezTo>
                    <a:cubicBezTo>
                      <a:pt x="98" y="61"/>
                      <a:pt x="97" y="62"/>
                      <a:pt x="97" y="63"/>
                    </a:cubicBezTo>
                    <a:cubicBezTo>
                      <a:pt x="96" y="65"/>
                      <a:pt x="96" y="65"/>
                      <a:pt x="96" y="65"/>
                    </a:cubicBezTo>
                    <a:cubicBezTo>
                      <a:pt x="94" y="66"/>
                      <a:pt x="94" y="67"/>
                      <a:pt x="93" y="68"/>
                    </a:cubicBezTo>
                    <a:cubicBezTo>
                      <a:pt x="93" y="69"/>
                      <a:pt x="93" y="71"/>
                      <a:pt x="93" y="72"/>
                    </a:cubicBezTo>
                    <a:cubicBezTo>
                      <a:pt x="93" y="73"/>
                      <a:pt x="93" y="75"/>
                      <a:pt x="93" y="76"/>
                    </a:cubicBezTo>
                    <a:cubicBezTo>
                      <a:pt x="95" y="85"/>
                      <a:pt x="95" y="85"/>
                      <a:pt x="95" y="85"/>
                    </a:cubicBezTo>
                    <a:cubicBezTo>
                      <a:pt x="96" y="86"/>
                      <a:pt x="96" y="87"/>
                      <a:pt x="96" y="87"/>
                    </a:cubicBezTo>
                    <a:cubicBezTo>
                      <a:pt x="96" y="87"/>
                      <a:pt x="96" y="87"/>
                      <a:pt x="96" y="87"/>
                    </a:cubicBezTo>
                    <a:cubicBezTo>
                      <a:pt x="96" y="87"/>
                      <a:pt x="96" y="87"/>
                      <a:pt x="96" y="87"/>
                    </a:cubicBezTo>
                    <a:cubicBezTo>
                      <a:pt x="96" y="87"/>
                      <a:pt x="96" y="87"/>
                      <a:pt x="96" y="87"/>
                    </a:cubicBezTo>
                    <a:cubicBezTo>
                      <a:pt x="96" y="87"/>
                      <a:pt x="96" y="87"/>
                      <a:pt x="96" y="87"/>
                    </a:cubicBezTo>
                    <a:cubicBezTo>
                      <a:pt x="96" y="87"/>
                      <a:pt x="96" y="87"/>
                      <a:pt x="96" y="87"/>
                    </a:cubicBezTo>
                    <a:cubicBezTo>
                      <a:pt x="96" y="87"/>
                      <a:pt x="96" y="87"/>
                      <a:pt x="96" y="87"/>
                    </a:cubicBezTo>
                    <a:cubicBezTo>
                      <a:pt x="96" y="87"/>
                      <a:pt x="96" y="87"/>
                      <a:pt x="96" y="87"/>
                    </a:cubicBezTo>
                    <a:cubicBezTo>
                      <a:pt x="97" y="88"/>
                      <a:pt x="97" y="88"/>
                      <a:pt x="97" y="88"/>
                    </a:cubicBezTo>
                    <a:cubicBezTo>
                      <a:pt x="97" y="87"/>
                      <a:pt x="97" y="87"/>
                      <a:pt x="97" y="87"/>
                    </a:cubicBezTo>
                    <a:cubicBezTo>
                      <a:pt x="96" y="87"/>
                      <a:pt x="96" y="87"/>
                      <a:pt x="96" y="87"/>
                    </a:cubicBezTo>
                    <a:cubicBezTo>
                      <a:pt x="97" y="88"/>
                      <a:pt x="97" y="88"/>
                      <a:pt x="97" y="88"/>
                    </a:cubicBezTo>
                    <a:cubicBezTo>
                      <a:pt x="97" y="87"/>
                      <a:pt x="97" y="87"/>
                      <a:pt x="97" y="87"/>
                    </a:cubicBezTo>
                    <a:cubicBezTo>
                      <a:pt x="97" y="87"/>
                      <a:pt x="97" y="87"/>
                      <a:pt x="97" y="87"/>
                    </a:cubicBezTo>
                    <a:cubicBezTo>
                      <a:pt x="97" y="87"/>
                      <a:pt x="97" y="87"/>
                      <a:pt x="97" y="87"/>
                    </a:cubicBezTo>
                    <a:cubicBezTo>
                      <a:pt x="97" y="87"/>
                      <a:pt x="97" y="87"/>
                      <a:pt x="97" y="87"/>
                    </a:cubicBezTo>
                    <a:cubicBezTo>
                      <a:pt x="97" y="87"/>
                      <a:pt x="97" y="87"/>
                      <a:pt x="97" y="87"/>
                    </a:cubicBezTo>
                    <a:cubicBezTo>
                      <a:pt x="97" y="87"/>
                      <a:pt x="97" y="87"/>
                      <a:pt x="97" y="87"/>
                    </a:cubicBezTo>
                    <a:cubicBezTo>
                      <a:pt x="97" y="87"/>
                      <a:pt x="97" y="87"/>
                      <a:pt x="97" y="87"/>
                    </a:cubicBezTo>
                    <a:cubicBezTo>
                      <a:pt x="96" y="86"/>
                      <a:pt x="96" y="86"/>
                      <a:pt x="96" y="86"/>
                    </a:cubicBezTo>
                    <a:cubicBezTo>
                      <a:pt x="68" y="64"/>
                      <a:pt x="68" y="64"/>
                      <a:pt x="68" y="64"/>
                    </a:cubicBezTo>
                    <a:cubicBezTo>
                      <a:pt x="67" y="63"/>
                      <a:pt x="66" y="61"/>
                      <a:pt x="65" y="60"/>
                    </a:cubicBezTo>
                    <a:cubicBezTo>
                      <a:pt x="64" y="58"/>
                      <a:pt x="63" y="56"/>
                      <a:pt x="63" y="55"/>
                    </a:cubicBezTo>
                    <a:cubicBezTo>
                      <a:pt x="63" y="53"/>
                      <a:pt x="63" y="53"/>
                      <a:pt x="63" y="53"/>
                    </a:cubicBezTo>
                    <a:cubicBezTo>
                      <a:pt x="63" y="51"/>
                      <a:pt x="62" y="49"/>
                      <a:pt x="61" y="47"/>
                    </a:cubicBezTo>
                    <a:cubicBezTo>
                      <a:pt x="60" y="45"/>
                      <a:pt x="58" y="43"/>
                      <a:pt x="57" y="42"/>
                    </a:cubicBezTo>
                    <a:cubicBezTo>
                      <a:pt x="54" y="40"/>
                      <a:pt x="54" y="40"/>
                      <a:pt x="54" y="40"/>
                    </a:cubicBezTo>
                    <a:cubicBezTo>
                      <a:pt x="52" y="38"/>
                      <a:pt x="48" y="35"/>
                      <a:pt x="45" y="34"/>
                    </a:cubicBezTo>
                    <a:cubicBezTo>
                      <a:pt x="35" y="26"/>
                      <a:pt x="35" y="26"/>
                      <a:pt x="35" y="26"/>
                    </a:cubicBezTo>
                    <a:cubicBezTo>
                      <a:pt x="33" y="25"/>
                      <a:pt x="32" y="24"/>
                      <a:pt x="30" y="23"/>
                    </a:cubicBezTo>
                    <a:cubicBezTo>
                      <a:pt x="28" y="23"/>
                      <a:pt x="26" y="22"/>
                      <a:pt x="24" y="22"/>
                    </a:cubicBezTo>
                    <a:cubicBezTo>
                      <a:pt x="24" y="22"/>
                      <a:pt x="24" y="22"/>
                      <a:pt x="24" y="22"/>
                    </a:cubicBezTo>
                    <a:cubicBezTo>
                      <a:pt x="24" y="22"/>
                      <a:pt x="24" y="22"/>
                      <a:pt x="24" y="22"/>
                    </a:cubicBezTo>
                    <a:cubicBezTo>
                      <a:pt x="12" y="23"/>
                      <a:pt x="12" y="23"/>
                      <a:pt x="12" y="23"/>
                    </a:cubicBezTo>
                    <a:cubicBezTo>
                      <a:pt x="12" y="23"/>
                      <a:pt x="12" y="23"/>
                      <a:pt x="12" y="23"/>
                    </a:cubicBezTo>
                    <a:cubicBezTo>
                      <a:pt x="11" y="23"/>
                      <a:pt x="11" y="23"/>
                      <a:pt x="11" y="22"/>
                    </a:cubicBezTo>
                    <a:cubicBezTo>
                      <a:pt x="11" y="22"/>
                      <a:pt x="11" y="22"/>
                      <a:pt x="11" y="22"/>
                    </a:cubicBezTo>
                    <a:cubicBezTo>
                      <a:pt x="11" y="22"/>
                      <a:pt x="11" y="22"/>
                      <a:pt x="11" y="22"/>
                    </a:cubicBezTo>
                    <a:cubicBezTo>
                      <a:pt x="10" y="22"/>
                      <a:pt x="10" y="22"/>
                      <a:pt x="10" y="22"/>
                    </a:cubicBezTo>
                    <a:cubicBezTo>
                      <a:pt x="11" y="22"/>
                      <a:pt x="11" y="22"/>
                      <a:pt x="11" y="22"/>
                    </a:cubicBezTo>
                    <a:cubicBezTo>
                      <a:pt x="11" y="22"/>
                      <a:pt x="11" y="22"/>
                      <a:pt x="11" y="22"/>
                    </a:cubicBezTo>
                    <a:cubicBezTo>
                      <a:pt x="10" y="22"/>
                      <a:pt x="10" y="22"/>
                      <a:pt x="10" y="22"/>
                    </a:cubicBezTo>
                    <a:cubicBezTo>
                      <a:pt x="11" y="22"/>
                      <a:pt x="11" y="22"/>
                      <a:pt x="11" y="22"/>
                    </a:cubicBezTo>
                    <a:cubicBezTo>
                      <a:pt x="10" y="22"/>
                      <a:pt x="10" y="22"/>
                      <a:pt x="10" y="22"/>
                    </a:cubicBezTo>
                    <a:cubicBezTo>
                      <a:pt x="11" y="22"/>
                      <a:pt x="11" y="22"/>
                      <a:pt x="11" y="22"/>
                    </a:cubicBezTo>
                    <a:cubicBezTo>
                      <a:pt x="11" y="22"/>
                      <a:pt x="11" y="22"/>
                      <a:pt x="11" y="22"/>
                    </a:cubicBezTo>
                    <a:cubicBezTo>
                      <a:pt x="10" y="22"/>
                      <a:pt x="10" y="22"/>
                      <a:pt x="10" y="22"/>
                    </a:cubicBezTo>
                    <a:cubicBezTo>
                      <a:pt x="11" y="22"/>
                      <a:pt x="11" y="22"/>
                      <a:pt x="11" y="22"/>
                    </a:cubicBezTo>
                    <a:cubicBezTo>
                      <a:pt x="11" y="22"/>
                      <a:pt x="11" y="22"/>
                      <a:pt x="11" y="22"/>
                    </a:cubicBezTo>
                    <a:cubicBezTo>
                      <a:pt x="11" y="21"/>
                      <a:pt x="11" y="21"/>
                      <a:pt x="11" y="21"/>
                    </a:cubicBezTo>
                    <a:cubicBezTo>
                      <a:pt x="11" y="20"/>
                      <a:pt x="10" y="18"/>
                      <a:pt x="9" y="17"/>
                    </a:cubicBezTo>
                    <a:cubicBezTo>
                      <a:pt x="9" y="16"/>
                      <a:pt x="7" y="16"/>
                      <a:pt x="6" y="16"/>
                    </a:cubicBezTo>
                    <a:cubicBezTo>
                      <a:pt x="6" y="15"/>
                      <a:pt x="5" y="15"/>
                      <a:pt x="5" y="15"/>
                    </a:cubicBezTo>
                    <a:cubicBezTo>
                      <a:pt x="5" y="15"/>
                      <a:pt x="5" y="15"/>
                      <a:pt x="5" y="15"/>
                    </a:cubicBezTo>
                    <a:cubicBezTo>
                      <a:pt x="4" y="16"/>
                      <a:pt x="4" y="16"/>
                      <a:pt x="4" y="16"/>
                    </a:cubicBezTo>
                    <a:cubicBezTo>
                      <a:pt x="5" y="16"/>
                      <a:pt x="5" y="16"/>
                      <a:pt x="5" y="16"/>
                    </a:cubicBezTo>
                    <a:cubicBezTo>
                      <a:pt x="5" y="15"/>
                      <a:pt x="5" y="15"/>
                      <a:pt x="5" y="15"/>
                    </a:cubicBezTo>
                    <a:cubicBezTo>
                      <a:pt x="4" y="16"/>
                      <a:pt x="4" y="16"/>
                      <a:pt x="4" y="16"/>
                    </a:cubicBezTo>
                    <a:cubicBezTo>
                      <a:pt x="5" y="16"/>
                      <a:pt x="5" y="16"/>
                      <a:pt x="5" y="16"/>
                    </a:cubicBezTo>
                    <a:cubicBezTo>
                      <a:pt x="4" y="16"/>
                      <a:pt x="4" y="16"/>
                      <a:pt x="4" y="16"/>
                    </a:cubicBezTo>
                    <a:cubicBezTo>
                      <a:pt x="5" y="16"/>
                      <a:pt x="5" y="16"/>
                      <a:pt x="5" y="16"/>
                    </a:cubicBezTo>
                    <a:cubicBezTo>
                      <a:pt x="5" y="16"/>
                      <a:pt x="5" y="16"/>
                      <a:pt x="5" y="16"/>
                    </a:cubicBezTo>
                    <a:cubicBezTo>
                      <a:pt x="4" y="16"/>
                      <a:pt x="4" y="16"/>
                      <a:pt x="4" y="16"/>
                    </a:cubicBezTo>
                    <a:cubicBezTo>
                      <a:pt x="5" y="16"/>
                      <a:pt x="5" y="16"/>
                      <a:pt x="5" y="16"/>
                    </a:cubicBezTo>
                    <a:cubicBezTo>
                      <a:pt x="6" y="15"/>
                      <a:pt x="6" y="14"/>
                      <a:pt x="6" y="13"/>
                    </a:cubicBezTo>
                    <a:cubicBezTo>
                      <a:pt x="6" y="11"/>
                      <a:pt x="6" y="10"/>
                      <a:pt x="5" y="9"/>
                    </a:cubicBezTo>
                    <a:cubicBezTo>
                      <a:pt x="3" y="10"/>
                      <a:pt x="3" y="10"/>
                      <a:pt x="3" y="10"/>
                    </a:cubicBezTo>
                    <a:cubicBezTo>
                      <a:pt x="2" y="12"/>
                      <a:pt x="2" y="12"/>
                      <a:pt x="2" y="12"/>
                    </a:cubicBezTo>
                    <a:cubicBezTo>
                      <a:pt x="2" y="13"/>
                      <a:pt x="2" y="13"/>
                      <a:pt x="2" y="13"/>
                    </a:cubicBezTo>
                    <a:cubicBezTo>
                      <a:pt x="2" y="13"/>
                      <a:pt x="2" y="13"/>
                      <a:pt x="2" y="13"/>
                    </a:cubicBezTo>
                    <a:cubicBezTo>
                      <a:pt x="1" y="14"/>
                      <a:pt x="1" y="15"/>
                      <a:pt x="1" y="16"/>
                    </a:cubicBezTo>
                    <a:cubicBezTo>
                      <a:pt x="1" y="17"/>
                      <a:pt x="2" y="18"/>
                      <a:pt x="2" y="18"/>
                    </a:cubicBezTo>
                    <a:cubicBezTo>
                      <a:pt x="3" y="19"/>
                      <a:pt x="4" y="19"/>
                      <a:pt x="5" y="20"/>
                    </a:cubicBezTo>
                    <a:cubicBezTo>
                      <a:pt x="6" y="20"/>
                      <a:pt x="6" y="20"/>
                      <a:pt x="6" y="20"/>
                    </a:cubicBezTo>
                    <a:cubicBezTo>
                      <a:pt x="7" y="21"/>
                      <a:pt x="7" y="21"/>
                      <a:pt x="7" y="21"/>
                    </a:cubicBezTo>
                    <a:cubicBezTo>
                      <a:pt x="7" y="21"/>
                      <a:pt x="7" y="21"/>
                      <a:pt x="7" y="21"/>
                    </a:cubicBezTo>
                    <a:cubicBezTo>
                      <a:pt x="6" y="22"/>
                      <a:pt x="6" y="22"/>
                      <a:pt x="6" y="22"/>
                    </a:cubicBezTo>
                    <a:cubicBezTo>
                      <a:pt x="6" y="24"/>
                      <a:pt x="7" y="25"/>
                      <a:pt x="8" y="26"/>
                    </a:cubicBezTo>
                    <a:cubicBezTo>
                      <a:pt x="10" y="27"/>
                      <a:pt x="11" y="27"/>
                      <a:pt x="12" y="27"/>
                    </a:cubicBezTo>
                    <a:cubicBezTo>
                      <a:pt x="13" y="27"/>
                      <a:pt x="13" y="27"/>
                      <a:pt x="13" y="27"/>
                    </a:cubicBezTo>
                    <a:cubicBezTo>
                      <a:pt x="24" y="27"/>
                      <a:pt x="24" y="27"/>
                      <a:pt x="24" y="27"/>
                    </a:cubicBezTo>
                    <a:cubicBezTo>
                      <a:pt x="24" y="27"/>
                      <a:pt x="24" y="27"/>
                      <a:pt x="24" y="27"/>
                    </a:cubicBezTo>
                    <a:cubicBezTo>
                      <a:pt x="24" y="27"/>
                      <a:pt x="24" y="27"/>
                      <a:pt x="24" y="27"/>
                    </a:cubicBezTo>
                    <a:cubicBezTo>
                      <a:pt x="25" y="27"/>
                      <a:pt x="27" y="27"/>
                      <a:pt x="28" y="28"/>
                    </a:cubicBezTo>
                    <a:cubicBezTo>
                      <a:pt x="30" y="28"/>
                      <a:pt x="31" y="29"/>
                      <a:pt x="32" y="29"/>
                    </a:cubicBezTo>
                    <a:cubicBezTo>
                      <a:pt x="43" y="37"/>
                      <a:pt x="43" y="37"/>
                      <a:pt x="43" y="37"/>
                    </a:cubicBezTo>
                    <a:cubicBezTo>
                      <a:pt x="45" y="39"/>
                      <a:pt x="49" y="42"/>
                      <a:pt x="52" y="44"/>
                    </a:cubicBezTo>
                    <a:cubicBezTo>
                      <a:pt x="54" y="45"/>
                      <a:pt x="54" y="45"/>
                      <a:pt x="54" y="45"/>
                    </a:cubicBezTo>
                    <a:cubicBezTo>
                      <a:pt x="55" y="46"/>
                      <a:pt x="56" y="47"/>
                      <a:pt x="57" y="49"/>
                    </a:cubicBezTo>
                    <a:cubicBezTo>
                      <a:pt x="58" y="51"/>
                      <a:pt x="58" y="52"/>
                      <a:pt x="59" y="54"/>
                    </a:cubicBezTo>
                    <a:cubicBezTo>
                      <a:pt x="59" y="55"/>
                      <a:pt x="59" y="55"/>
                      <a:pt x="59" y="55"/>
                    </a:cubicBezTo>
                    <a:cubicBezTo>
                      <a:pt x="59" y="58"/>
                      <a:pt x="60" y="60"/>
                      <a:pt x="61" y="62"/>
                    </a:cubicBezTo>
                    <a:cubicBezTo>
                      <a:pt x="62" y="64"/>
                      <a:pt x="64" y="66"/>
                      <a:pt x="65" y="67"/>
                    </a:cubicBezTo>
                    <a:cubicBezTo>
                      <a:pt x="93" y="90"/>
                      <a:pt x="93" y="90"/>
                      <a:pt x="93" y="90"/>
                    </a:cubicBezTo>
                    <a:cubicBezTo>
                      <a:pt x="94" y="90"/>
                      <a:pt x="95" y="91"/>
                      <a:pt x="97" y="91"/>
                    </a:cubicBezTo>
                    <a:cubicBezTo>
                      <a:pt x="98" y="91"/>
                      <a:pt x="99" y="90"/>
                      <a:pt x="99" y="89"/>
                    </a:cubicBezTo>
                    <a:cubicBezTo>
                      <a:pt x="100" y="89"/>
                      <a:pt x="100" y="88"/>
                      <a:pt x="100" y="87"/>
                    </a:cubicBezTo>
                    <a:cubicBezTo>
                      <a:pt x="100" y="86"/>
                      <a:pt x="100" y="85"/>
                      <a:pt x="100" y="84"/>
                    </a:cubicBezTo>
                    <a:cubicBezTo>
                      <a:pt x="97" y="75"/>
                      <a:pt x="97" y="75"/>
                      <a:pt x="97" y="75"/>
                    </a:cubicBezTo>
                    <a:cubicBezTo>
                      <a:pt x="97" y="74"/>
                      <a:pt x="97" y="73"/>
                      <a:pt x="97" y="72"/>
                    </a:cubicBezTo>
                    <a:cubicBezTo>
                      <a:pt x="97" y="71"/>
                      <a:pt x="97" y="70"/>
                      <a:pt x="97" y="70"/>
                    </a:cubicBezTo>
                    <a:cubicBezTo>
                      <a:pt x="98" y="69"/>
                      <a:pt x="98" y="69"/>
                      <a:pt x="98" y="69"/>
                    </a:cubicBezTo>
                    <a:cubicBezTo>
                      <a:pt x="98" y="69"/>
                      <a:pt x="98" y="69"/>
                      <a:pt x="98" y="69"/>
                    </a:cubicBezTo>
                    <a:cubicBezTo>
                      <a:pt x="99" y="68"/>
                      <a:pt x="100" y="66"/>
                      <a:pt x="101" y="65"/>
                    </a:cubicBezTo>
                    <a:cubicBezTo>
                      <a:pt x="101" y="63"/>
                      <a:pt x="102" y="61"/>
                      <a:pt x="102" y="59"/>
                    </a:cubicBezTo>
                    <a:cubicBezTo>
                      <a:pt x="102" y="58"/>
                      <a:pt x="102" y="58"/>
                      <a:pt x="102" y="58"/>
                    </a:cubicBezTo>
                    <a:cubicBezTo>
                      <a:pt x="101" y="40"/>
                      <a:pt x="101" y="40"/>
                      <a:pt x="101" y="40"/>
                    </a:cubicBezTo>
                    <a:cubicBezTo>
                      <a:pt x="101" y="38"/>
                      <a:pt x="100" y="35"/>
                      <a:pt x="99" y="34"/>
                    </a:cubicBezTo>
                    <a:cubicBezTo>
                      <a:pt x="98" y="32"/>
                      <a:pt x="97" y="30"/>
                      <a:pt x="95" y="29"/>
                    </a:cubicBezTo>
                    <a:cubicBezTo>
                      <a:pt x="70" y="16"/>
                      <a:pt x="70" y="16"/>
                      <a:pt x="70" y="16"/>
                    </a:cubicBezTo>
                    <a:cubicBezTo>
                      <a:pt x="69" y="16"/>
                      <a:pt x="68" y="15"/>
                      <a:pt x="67" y="14"/>
                    </a:cubicBezTo>
                    <a:cubicBezTo>
                      <a:pt x="66" y="13"/>
                      <a:pt x="65" y="12"/>
                      <a:pt x="65" y="12"/>
                    </a:cubicBezTo>
                    <a:cubicBezTo>
                      <a:pt x="65" y="10"/>
                      <a:pt x="63" y="10"/>
                      <a:pt x="62" y="9"/>
                    </a:cubicBezTo>
                    <a:cubicBezTo>
                      <a:pt x="61" y="8"/>
                      <a:pt x="59" y="8"/>
                      <a:pt x="58" y="8"/>
                    </a:cubicBezTo>
                    <a:cubicBezTo>
                      <a:pt x="56" y="8"/>
                      <a:pt x="55" y="8"/>
                      <a:pt x="53" y="9"/>
                    </a:cubicBezTo>
                    <a:cubicBezTo>
                      <a:pt x="52" y="9"/>
                      <a:pt x="51" y="10"/>
                      <a:pt x="50" y="10"/>
                    </a:cubicBezTo>
                    <a:cubicBezTo>
                      <a:pt x="50" y="10"/>
                      <a:pt x="50" y="10"/>
                      <a:pt x="50" y="10"/>
                    </a:cubicBezTo>
                    <a:cubicBezTo>
                      <a:pt x="50" y="10"/>
                      <a:pt x="50" y="10"/>
                      <a:pt x="50" y="10"/>
                    </a:cubicBezTo>
                    <a:cubicBezTo>
                      <a:pt x="50" y="11"/>
                      <a:pt x="50" y="11"/>
                      <a:pt x="50" y="11"/>
                    </a:cubicBezTo>
                    <a:cubicBezTo>
                      <a:pt x="50" y="10"/>
                      <a:pt x="50" y="10"/>
                      <a:pt x="50" y="10"/>
                    </a:cubicBezTo>
                    <a:cubicBezTo>
                      <a:pt x="50" y="10"/>
                      <a:pt x="50" y="10"/>
                      <a:pt x="50" y="10"/>
                    </a:cubicBezTo>
                    <a:cubicBezTo>
                      <a:pt x="50" y="11"/>
                      <a:pt x="50" y="11"/>
                      <a:pt x="50" y="11"/>
                    </a:cubicBezTo>
                    <a:cubicBezTo>
                      <a:pt x="50" y="10"/>
                      <a:pt x="50" y="10"/>
                      <a:pt x="50" y="10"/>
                    </a:cubicBezTo>
                    <a:cubicBezTo>
                      <a:pt x="50" y="10"/>
                      <a:pt x="50" y="10"/>
                      <a:pt x="50" y="10"/>
                    </a:cubicBezTo>
                    <a:cubicBezTo>
                      <a:pt x="50" y="10"/>
                      <a:pt x="50" y="10"/>
                      <a:pt x="50" y="10"/>
                    </a:cubicBezTo>
                    <a:cubicBezTo>
                      <a:pt x="49" y="10"/>
                      <a:pt x="48" y="10"/>
                      <a:pt x="46" y="9"/>
                    </a:cubicBezTo>
                    <a:cubicBezTo>
                      <a:pt x="39" y="3"/>
                      <a:pt x="39" y="3"/>
                      <a:pt x="39" y="3"/>
                    </a:cubicBezTo>
                    <a:cubicBezTo>
                      <a:pt x="37" y="2"/>
                      <a:pt x="36" y="2"/>
                      <a:pt x="34" y="1"/>
                    </a:cubicBezTo>
                    <a:cubicBezTo>
                      <a:pt x="32" y="0"/>
                      <a:pt x="30" y="0"/>
                      <a:pt x="28" y="0"/>
                    </a:cubicBezTo>
                    <a:cubicBezTo>
                      <a:pt x="27" y="0"/>
                      <a:pt x="25" y="0"/>
                      <a:pt x="24" y="1"/>
                    </a:cubicBezTo>
                    <a:cubicBezTo>
                      <a:pt x="23" y="1"/>
                      <a:pt x="23" y="1"/>
                      <a:pt x="22" y="2"/>
                    </a:cubicBezTo>
                    <a:cubicBezTo>
                      <a:pt x="22" y="2"/>
                      <a:pt x="21" y="3"/>
                      <a:pt x="21" y="4"/>
                    </a:cubicBezTo>
                    <a:cubicBezTo>
                      <a:pt x="21" y="5"/>
                      <a:pt x="20" y="6"/>
                      <a:pt x="19" y="7"/>
                    </a:cubicBezTo>
                    <a:cubicBezTo>
                      <a:pt x="19" y="7"/>
                      <a:pt x="19" y="7"/>
                      <a:pt x="19" y="7"/>
                    </a:cubicBezTo>
                    <a:cubicBezTo>
                      <a:pt x="19" y="7"/>
                      <a:pt x="19" y="7"/>
                      <a:pt x="19" y="7"/>
                    </a:cubicBezTo>
                    <a:cubicBezTo>
                      <a:pt x="20" y="8"/>
                      <a:pt x="20" y="8"/>
                      <a:pt x="20" y="8"/>
                    </a:cubicBezTo>
                    <a:cubicBezTo>
                      <a:pt x="19" y="7"/>
                      <a:pt x="19" y="7"/>
                      <a:pt x="19" y="7"/>
                    </a:cubicBezTo>
                    <a:cubicBezTo>
                      <a:pt x="19" y="7"/>
                      <a:pt x="19" y="7"/>
                      <a:pt x="19" y="7"/>
                    </a:cubicBezTo>
                    <a:cubicBezTo>
                      <a:pt x="20" y="8"/>
                      <a:pt x="20" y="8"/>
                      <a:pt x="20" y="8"/>
                    </a:cubicBezTo>
                    <a:cubicBezTo>
                      <a:pt x="19" y="7"/>
                      <a:pt x="19" y="7"/>
                      <a:pt x="19" y="7"/>
                    </a:cubicBezTo>
                    <a:cubicBezTo>
                      <a:pt x="19" y="7"/>
                      <a:pt x="19" y="7"/>
                      <a:pt x="19" y="7"/>
                    </a:cubicBezTo>
                    <a:cubicBezTo>
                      <a:pt x="19" y="7"/>
                      <a:pt x="19" y="7"/>
                      <a:pt x="19" y="7"/>
                    </a:cubicBezTo>
                    <a:cubicBezTo>
                      <a:pt x="19" y="7"/>
                      <a:pt x="17" y="6"/>
                      <a:pt x="16" y="6"/>
                    </a:cubicBezTo>
                    <a:cubicBezTo>
                      <a:pt x="15" y="5"/>
                      <a:pt x="15" y="5"/>
                      <a:pt x="15" y="5"/>
                    </a:cubicBezTo>
                    <a:cubicBezTo>
                      <a:pt x="13" y="4"/>
                      <a:pt x="10" y="3"/>
                      <a:pt x="8" y="3"/>
                    </a:cubicBezTo>
                    <a:cubicBezTo>
                      <a:pt x="7" y="3"/>
                      <a:pt x="5" y="3"/>
                      <a:pt x="4" y="4"/>
                    </a:cubicBezTo>
                    <a:cubicBezTo>
                      <a:pt x="4" y="4"/>
                      <a:pt x="4" y="4"/>
                      <a:pt x="4" y="4"/>
                    </a:cubicBezTo>
                    <a:cubicBezTo>
                      <a:pt x="4" y="4"/>
                      <a:pt x="4" y="4"/>
                      <a:pt x="4" y="4"/>
                    </a:cubicBezTo>
                    <a:cubicBezTo>
                      <a:pt x="2" y="5"/>
                      <a:pt x="1" y="7"/>
                      <a:pt x="0" y="9"/>
                    </a:cubicBezTo>
                    <a:cubicBezTo>
                      <a:pt x="0" y="10"/>
                      <a:pt x="1" y="11"/>
                      <a:pt x="2" y="12"/>
                    </a:cubicBezTo>
                    <a:lnTo>
                      <a:pt x="3" y="1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8" name="Freeform 283"/>
              <p:cNvSpPr>
                <a:spLocks/>
              </p:cNvSpPr>
              <p:nvPr/>
            </p:nvSpPr>
            <p:spPr bwMode="auto">
              <a:xfrm>
                <a:off x="-3748087" y="2501897"/>
                <a:ext cx="2044700" cy="2208211"/>
              </a:xfrm>
              <a:custGeom>
                <a:avLst/>
                <a:gdLst/>
                <a:ahLst/>
                <a:cxnLst>
                  <a:cxn ang="0">
                    <a:pos x="149" y="233"/>
                  </a:cxn>
                  <a:cxn ang="0">
                    <a:pos x="200" y="200"/>
                  </a:cxn>
                  <a:cxn ang="0">
                    <a:pos x="136" y="153"/>
                  </a:cxn>
                  <a:cxn ang="0">
                    <a:pos x="118" y="159"/>
                  </a:cxn>
                  <a:cxn ang="0">
                    <a:pos x="91" y="153"/>
                  </a:cxn>
                  <a:cxn ang="0">
                    <a:pos x="125" y="110"/>
                  </a:cxn>
                  <a:cxn ang="0">
                    <a:pos x="135" y="95"/>
                  </a:cxn>
                  <a:cxn ang="0">
                    <a:pos x="144" y="108"/>
                  </a:cxn>
                  <a:cxn ang="0">
                    <a:pos x="176" y="71"/>
                  </a:cxn>
                  <a:cxn ang="0">
                    <a:pos x="146" y="91"/>
                  </a:cxn>
                  <a:cxn ang="0">
                    <a:pos x="186" y="35"/>
                  </a:cxn>
                  <a:cxn ang="0">
                    <a:pos x="206" y="57"/>
                  </a:cxn>
                  <a:cxn ang="0">
                    <a:pos x="376" y="30"/>
                  </a:cxn>
                  <a:cxn ang="0">
                    <a:pos x="540" y="125"/>
                  </a:cxn>
                  <a:cxn ang="0">
                    <a:pos x="499" y="130"/>
                  </a:cxn>
                  <a:cxn ang="0">
                    <a:pos x="471" y="177"/>
                  </a:cxn>
                  <a:cxn ang="0">
                    <a:pos x="513" y="269"/>
                  </a:cxn>
                  <a:cxn ang="0">
                    <a:pos x="475" y="332"/>
                  </a:cxn>
                  <a:cxn ang="0">
                    <a:pos x="488" y="385"/>
                  </a:cxn>
                  <a:cxn ang="0">
                    <a:pos x="462" y="329"/>
                  </a:cxn>
                  <a:cxn ang="0">
                    <a:pos x="380" y="349"/>
                  </a:cxn>
                  <a:cxn ang="0">
                    <a:pos x="380" y="350"/>
                  </a:cxn>
                  <a:cxn ang="0">
                    <a:pos x="260" y="232"/>
                  </a:cxn>
                  <a:cxn ang="0">
                    <a:pos x="295" y="281"/>
                  </a:cxn>
                  <a:cxn ang="0">
                    <a:pos x="236" y="336"/>
                  </a:cxn>
                  <a:cxn ang="0">
                    <a:pos x="223" y="451"/>
                  </a:cxn>
                  <a:cxn ang="0">
                    <a:pos x="142" y="582"/>
                  </a:cxn>
                  <a:cxn ang="0">
                    <a:pos x="71" y="361"/>
                  </a:cxn>
                  <a:cxn ang="0">
                    <a:pos x="73" y="364"/>
                  </a:cxn>
                  <a:cxn ang="0">
                    <a:pos x="142" y="587"/>
                  </a:cxn>
                  <a:cxn ang="0">
                    <a:pos x="226" y="449"/>
                  </a:cxn>
                  <a:cxn ang="0">
                    <a:pos x="239" y="332"/>
                  </a:cxn>
                  <a:cxn ang="0">
                    <a:pos x="206" y="251"/>
                  </a:cxn>
                  <a:cxn ang="0">
                    <a:pos x="301" y="278"/>
                  </a:cxn>
                  <a:cxn ang="0">
                    <a:pos x="298" y="266"/>
                  </a:cxn>
                  <a:cxn ang="0">
                    <a:pos x="376" y="350"/>
                  </a:cxn>
                  <a:cxn ang="0">
                    <a:pos x="459" y="336"/>
                  </a:cxn>
                  <a:cxn ang="0">
                    <a:pos x="473" y="335"/>
                  </a:cxn>
                  <a:cxn ang="0">
                    <a:pos x="473" y="336"/>
                  </a:cxn>
                  <a:cxn ang="0">
                    <a:pos x="516" y="242"/>
                  </a:cxn>
                  <a:cxn ang="0">
                    <a:pos x="475" y="179"/>
                  </a:cxn>
                  <a:cxn ang="0">
                    <a:pos x="501" y="123"/>
                  </a:cxn>
                  <a:cxn ang="0">
                    <a:pos x="542" y="118"/>
                  </a:cxn>
                  <a:cxn ang="0">
                    <a:pos x="299" y="0"/>
                  </a:cxn>
                  <a:cxn ang="0">
                    <a:pos x="199" y="48"/>
                  </a:cxn>
                  <a:cxn ang="0">
                    <a:pos x="197" y="48"/>
                  </a:cxn>
                  <a:cxn ang="0">
                    <a:pos x="206" y="38"/>
                  </a:cxn>
                  <a:cxn ang="0">
                    <a:pos x="138" y="85"/>
                  </a:cxn>
                  <a:cxn ang="0">
                    <a:pos x="171" y="57"/>
                  </a:cxn>
                  <a:cxn ang="0">
                    <a:pos x="175" y="75"/>
                  </a:cxn>
                  <a:cxn ang="0">
                    <a:pos x="182" y="74"/>
                  </a:cxn>
                  <a:cxn ang="0">
                    <a:pos x="145" y="106"/>
                  </a:cxn>
                  <a:cxn ang="0">
                    <a:pos x="125" y="106"/>
                  </a:cxn>
                  <a:cxn ang="0">
                    <a:pos x="68" y="160"/>
                  </a:cxn>
                  <a:cxn ang="0">
                    <a:pos x="134" y="185"/>
                  </a:cxn>
                  <a:cxn ang="0">
                    <a:pos x="139" y="157"/>
                  </a:cxn>
                  <a:cxn ang="0">
                    <a:pos x="171" y="181"/>
                  </a:cxn>
                  <a:cxn ang="0">
                    <a:pos x="173" y="187"/>
                  </a:cxn>
                  <a:cxn ang="0">
                    <a:pos x="195" y="229"/>
                  </a:cxn>
                  <a:cxn ang="0">
                    <a:pos x="122" y="196"/>
                  </a:cxn>
                </a:cxnLst>
                <a:rect l="0" t="0" r="r" b="b"/>
                <a:pathLst>
                  <a:path w="544" h="587">
                    <a:moveTo>
                      <a:pt x="3" y="312"/>
                    </a:moveTo>
                    <a:cubicBezTo>
                      <a:pt x="5" y="311"/>
                      <a:pt x="5" y="311"/>
                      <a:pt x="5" y="311"/>
                    </a:cubicBezTo>
                    <a:cubicBezTo>
                      <a:pt x="5" y="310"/>
                      <a:pt x="4" y="309"/>
                      <a:pt x="4" y="308"/>
                    </a:cubicBezTo>
                    <a:cubicBezTo>
                      <a:pt x="4" y="306"/>
                      <a:pt x="5" y="302"/>
                      <a:pt x="6" y="301"/>
                    </a:cubicBezTo>
                    <a:cubicBezTo>
                      <a:pt x="46" y="220"/>
                      <a:pt x="46" y="220"/>
                      <a:pt x="46" y="220"/>
                    </a:cubicBezTo>
                    <a:cubicBezTo>
                      <a:pt x="47" y="219"/>
                      <a:pt x="48" y="218"/>
                      <a:pt x="49" y="217"/>
                    </a:cubicBezTo>
                    <a:cubicBezTo>
                      <a:pt x="50" y="215"/>
                      <a:pt x="52" y="215"/>
                      <a:pt x="53" y="214"/>
                    </a:cubicBezTo>
                    <a:cubicBezTo>
                      <a:pt x="117" y="198"/>
                      <a:pt x="117" y="198"/>
                      <a:pt x="117" y="198"/>
                    </a:cubicBezTo>
                    <a:cubicBezTo>
                      <a:pt x="118" y="198"/>
                      <a:pt x="118" y="198"/>
                      <a:pt x="118" y="198"/>
                    </a:cubicBezTo>
                    <a:cubicBezTo>
                      <a:pt x="118" y="198"/>
                      <a:pt x="118" y="198"/>
                      <a:pt x="119" y="199"/>
                    </a:cubicBezTo>
                    <a:cubicBezTo>
                      <a:pt x="119" y="199"/>
                      <a:pt x="120" y="200"/>
                      <a:pt x="120" y="201"/>
                    </a:cubicBezTo>
                    <a:cubicBezTo>
                      <a:pt x="120" y="212"/>
                      <a:pt x="120" y="212"/>
                      <a:pt x="120" y="212"/>
                    </a:cubicBezTo>
                    <a:cubicBezTo>
                      <a:pt x="120" y="214"/>
                      <a:pt x="121" y="216"/>
                      <a:pt x="122" y="218"/>
                    </a:cubicBezTo>
                    <a:cubicBezTo>
                      <a:pt x="123" y="220"/>
                      <a:pt x="125" y="222"/>
                      <a:pt x="127" y="223"/>
                    </a:cubicBezTo>
                    <a:cubicBezTo>
                      <a:pt x="145" y="232"/>
                      <a:pt x="145" y="232"/>
                      <a:pt x="145" y="232"/>
                    </a:cubicBezTo>
                    <a:cubicBezTo>
                      <a:pt x="146" y="233"/>
                      <a:pt x="148" y="233"/>
                      <a:pt x="149" y="233"/>
                    </a:cubicBezTo>
                    <a:cubicBezTo>
                      <a:pt x="152" y="233"/>
                      <a:pt x="154" y="232"/>
                      <a:pt x="156" y="231"/>
                    </a:cubicBezTo>
                    <a:cubicBezTo>
                      <a:pt x="159" y="228"/>
                      <a:pt x="159" y="228"/>
                      <a:pt x="159" y="228"/>
                    </a:cubicBezTo>
                    <a:cubicBezTo>
                      <a:pt x="160" y="228"/>
                      <a:pt x="162" y="227"/>
                      <a:pt x="163" y="227"/>
                    </a:cubicBezTo>
                    <a:cubicBezTo>
                      <a:pt x="164" y="227"/>
                      <a:pt x="165" y="228"/>
                      <a:pt x="166" y="228"/>
                    </a:cubicBezTo>
                    <a:cubicBezTo>
                      <a:pt x="172" y="233"/>
                      <a:pt x="172" y="233"/>
                      <a:pt x="172" y="233"/>
                    </a:cubicBezTo>
                    <a:cubicBezTo>
                      <a:pt x="174" y="234"/>
                      <a:pt x="177" y="235"/>
                      <a:pt x="179" y="235"/>
                    </a:cubicBezTo>
                    <a:cubicBezTo>
                      <a:pt x="181" y="235"/>
                      <a:pt x="182" y="234"/>
                      <a:pt x="184" y="233"/>
                    </a:cubicBezTo>
                    <a:cubicBezTo>
                      <a:pt x="185" y="232"/>
                      <a:pt x="185" y="232"/>
                      <a:pt x="185" y="232"/>
                    </a:cubicBezTo>
                    <a:cubicBezTo>
                      <a:pt x="186" y="232"/>
                      <a:pt x="187" y="232"/>
                      <a:pt x="188" y="232"/>
                    </a:cubicBezTo>
                    <a:cubicBezTo>
                      <a:pt x="190" y="232"/>
                      <a:pt x="191" y="232"/>
                      <a:pt x="192" y="233"/>
                    </a:cubicBezTo>
                    <a:cubicBezTo>
                      <a:pt x="194" y="234"/>
                      <a:pt x="194" y="234"/>
                      <a:pt x="194" y="234"/>
                    </a:cubicBezTo>
                    <a:cubicBezTo>
                      <a:pt x="195" y="235"/>
                      <a:pt x="196" y="235"/>
                      <a:pt x="197" y="235"/>
                    </a:cubicBezTo>
                    <a:cubicBezTo>
                      <a:pt x="199" y="235"/>
                      <a:pt x="200" y="234"/>
                      <a:pt x="201" y="233"/>
                    </a:cubicBezTo>
                    <a:cubicBezTo>
                      <a:pt x="202" y="232"/>
                      <a:pt x="202" y="231"/>
                      <a:pt x="202" y="229"/>
                    </a:cubicBezTo>
                    <a:cubicBezTo>
                      <a:pt x="202" y="206"/>
                      <a:pt x="202" y="206"/>
                      <a:pt x="202" y="206"/>
                    </a:cubicBezTo>
                    <a:cubicBezTo>
                      <a:pt x="202" y="204"/>
                      <a:pt x="201" y="202"/>
                      <a:pt x="200" y="200"/>
                    </a:cubicBezTo>
                    <a:cubicBezTo>
                      <a:pt x="199" y="198"/>
                      <a:pt x="197" y="197"/>
                      <a:pt x="195" y="196"/>
                    </a:cubicBezTo>
                    <a:cubicBezTo>
                      <a:pt x="183" y="192"/>
                      <a:pt x="183" y="192"/>
                      <a:pt x="183" y="192"/>
                    </a:cubicBezTo>
                    <a:cubicBezTo>
                      <a:pt x="182" y="192"/>
                      <a:pt x="181" y="191"/>
                      <a:pt x="180" y="190"/>
                    </a:cubicBezTo>
                    <a:cubicBezTo>
                      <a:pt x="179" y="189"/>
                      <a:pt x="178" y="188"/>
                      <a:pt x="177" y="186"/>
                    </a:cubicBezTo>
                    <a:cubicBezTo>
                      <a:pt x="176" y="181"/>
                      <a:pt x="176" y="181"/>
                      <a:pt x="176" y="181"/>
                    </a:cubicBezTo>
                    <a:cubicBezTo>
                      <a:pt x="176" y="180"/>
                      <a:pt x="175" y="179"/>
                      <a:pt x="174" y="178"/>
                    </a:cubicBezTo>
                    <a:cubicBezTo>
                      <a:pt x="174" y="178"/>
                      <a:pt x="173" y="177"/>
                      <a:pt x="171" y="177"/>
                    </a:cubicBezTo>
                    <a:cubicBezTo>
                      <a:pt x="170" y="177"/>
                      <a:pt x="170" y="177"/>
                      <a:pt x="169" y="178"/>
                    </a:cubicBezTo>
                    <a:cubicBezTo>
                      <a:pt x="168" y="178"/>
                      <a:pt x="168" y="179"/>
                      <a:pt x="167" y="180"/>
                    </a:cubicBezTo>
                    <a:cubicBezTo>
                      <a:pt x="164" y="185"/>
                      <a:pt x="164" y="185"/>
                      <a:pt x="164" y="185"/>
                    </a:cubicBezTo>
                    <a:cubicBezTo>
                      <a:pt x="163" y="186"/>
                      <a:pt x="163" y="186"/>
                      <a:pt x="163" y="186"/>
                    </a:cubicBezTo>
                    <a:cubicBezTo>
                      <a:pt x="162" y="186"/>
                      <a:pt x="162" y="186"/>
                      <a:pt x="161" y="185"/>
                    </a:cubicBezTo>
                    <a:cubicBezTo>
                      <a:pt x="143" y="156"/>
                      <a:pt x="143" y="156"/>
                      <a:pt x="143" y="156"/>
                    </a:cubicBezTo>
                    <a:cubicBezTo>
                      <a:pt x="143" y="155"/>
                      <a:pt x="142" y="154"/>
                      <a:pt x="141" y="154"/>
                    </a:cubicBezTo>
                    <a:cubicBezTo>
                      <a:pt x="141" y="153"/>
                      <a:pt x="140" y="153"/>
                      <a:pt x="138" y="153"/>
                    </a:cubicBezTo>
                    <a:cubicBezTo>
                      <a:pt x="138" y="153"/>
                      <a:pt x="137" y="153"/>
                      <a:pt x="136" y="153"/>
                    </a:cubicBezTo>
                    <a:cubicBezTo>
                      <a:pt x="135" y="154"/>
                      <a:pt x="135" y="154"/>
                      <a:pt x="135" y="155"/>
                    </a:cubicBezTo>
                    <a:cubicBezTo>
                      <a:pt x="134" y="156"/>
                      <a:pt x="134" y="157"/>
                      <a:pt x="134" y="159"/>
                    </a:cubicBezTo>
                    <a:cubicBezTo>
                      <a:pt x="134" y="161"/>
                      <a:pt x="135" y="164"/>
                      <a:pt x="136" y="166"/>
                    </a:cubicBezTo>
                    <a:cubicBezTo>
                      <a:pt x="141" y="175"/>
                      <a:pt x="141" y="175"/>
                      <a:pt x="141" y="175"/>
                    </a:cubicBezTo>
                    <a:cubicBezTo>
                      <a:pt x="141" y="176"/>
                      <a:pt x="142" y="177"/>
                      <a:pt x="142" y="179"/>
                    </a:cubicBezTo>
                    <a:cubicBezTo>
                      <a:pt x="142" y="180"/>
                      <a:pt x="141" y="182"/>
                      <a:pt x="141" y="183"/>
                    </a:cubicBezTo>
                    <a:cubicBezTo>
                      <a:pt x="141" y="183"/>
                      <a:pt x="141" y="183"/>
                      <a:pt x="141" y="183"/>
                    </a:cubicBezTo>
                    <a:cubicBezTo>
                      <a:pt x="140" y="184"/>
                      <a:pt x="140" y="184"/>
                      <a:pt x="140" y="184"/>
                    </a:cubicBezTo>
                    <a:cubicBezTo>
                      <a:pt x="140" y="184"/>
                      <a:pt x="140" y="184"/>
                      <a:pt x="140" y="184"/>
                    </a:cubicBezTo>
                    <a:cubicBezTo>
                      <a:pt x="140" y="184"/>
                      <a:pt x="140" y="184"/>
                      <a:pt x="140" y="184"/>
                    </a:cubicBezTo>
                    <a:cubicBezTo>
                      <a:pt x="139" y="185"/>
                      <a:pt x="139" y="185"/>
                      <a:pt x="139" y="185"/>
                    </a:cubicBezTo>
                    <a:cubicBezTo>
                      <a:pt x="139" y="184"/>
                      <a:pt x="139" y="184"/>
                      <a:pt x="139" y="184"/>
                    </a:cubicBezTo>
                    <a:cubicBezTo>
                      <a:pt x="138" y="184"/>
                      <a:pt x="138" y="184"/>
                      <a:pt x="138" y="183"/>
                    </a:cubicBezTo>
                    <a:cubicBezTo>
                      <a:pt x="129" y="163"/>
                      <a:pt x="129" y="163"/>
                      <a:pt x="129" y="163"/>
                    </a:cubicBezTo>
                    <a:cubicBezTo>
                      <a:pt x="127" y="160"/>
                      <a:pt x="124" y="158"/>
                      <a:pt x="121" y="158"/>
                    </a:cubicBezTo>
                    <a:cubicBezTo>
                      <a:pt x="120" y="158"/>
                      <a:pt x="119" y="158"/>
                      <a:pt x="118" y="159"/>
                    </a:cubicBezTo>
                    <a:cubicBezTo>
                      <a:pt x="105" y="165"/>
                      <a:pt x="105" y="165"/>
                      <a:pt x="105" y="165"/>
                    </a:cubicBezTo>
                    <a:cubicBezTo>
                      <a:pt x="102" y="167"/>
                      <a:pt x="98" y="170"/>
                      <a:pt x="96" y="173"/>
                    </a:cubicBezTo>
                    <a:cubicBezTo>
                      <a:pt x="86" y="187"/>
                      <a:pt x="86" y="187"/>
                      <a:pt x="86" y="187"/>
                    </a:cubicBezTo>
                    <a:cubicBezTo>
                      <a:pt x="85" y="188"/>
                      <a:pt x="84" y="189"/>
                      <a:pt x="83" y="190"/>
                    </a:cubicBezTo>
                    <a:cubicBezTo>
                      <a:pt x="81" y="191"/>
                      <a:pt x="80" y="191"/>
                      <a:pt x="79" y="191"/>
                    </a:cubicBezTo>
                    <a:cubicBezTo>
                      <a:pt x="62" y="192"/>
                      <a:pt x="62" y="192"/>
                      <a:pt x="62" y="192"/>
                    </a:cubicBezTo>
                    <a:cubicBezTo>
                      <a:pt x="61" y="192"/>
                      <a:pt x="61" y="192"/>
                      <a:pt x="61" y="192"/>
                    </a:cubicBezTo>
                    <a:cubicBezTo>
                      <a:pt x="61" y="192"/>
                      <a:pt x="61" y="192"/>
                      <a:pt x="61" y="192"/>
                    </a:cubicBezTo>
                    <a:cubicBezTo>
                      <a:pt x="60" y="192"/>
                      <a:pt x="60" y="191"/>
                      <a:pt x="60" y="190"/>
                    </a:cubicBezTo>
                    <a:cubicBezTo>
                      <a:pt x="60" y="189"/>
                      <a:pt x="60" y="189"/>
                      <a:pt x="60" y="189"/>
                    </a:cubicBezTo>
                    <a:cubicBezTo>
                      <a:pt x="64" y="170"/>
                      <a:pt x="64" y="170"/>
                      <a:pt x="64" y="170"/>
                    </a:cubicBezTo>
                    <a:cubicBezTo>
                      <a:pt x="65" y="169"/>
                      <a:pt x="66" y="167"/>
                      <a:pt x="67" y="166"/>
                    </a:cubicBezTo>
                    <a:cubicBezTo>
                      <a:pt x="67" y="165"/>
                      <a:pt x="69" y="164"/>
                      <a:pt x="69" y="164"/>
                    </a:cubicBezTo>
                    <a:cubicBezTo>
                      <a:pt x="82" y="162"/>
                      <a:pt x="82" y="162"/>
                      <a:pt x="82" y="162"/>
                    </a:cubicBezTo>
                    <a:cubicBezTo>
                      <a:pt x="84" y="161"/>
                      <a:pt x="86" y="160"/>
                      <a:pt x="87" y="158"/>
                    </a:cubicBezTo>
                    <a:cubicBezTo>
                      <a:pt x="89" y="157"/>
                      <a:pt x="90" y="155"/>
                      <a:pt x="91" y="153"/>
                    </a:cubicBezTo>
                    <a:cubicBezTo>
                      <a:pt x="91" y="151"/>
                      <a:pt x="91" y="151"/>
                      <a:pt x="91" y="151"/>
                    </a:cubicBezTo>
                    <a:cubicBezTo>
                      <a:pt x="92" y="150"/>
                      <a:pt x="92" y="148"/>
                      <a:pt x="92" y="147"/>
                    </a:cubicBezTo>
                    <a:cubicBezTo>
                      <a:pt x="92" y="144"/>
                      <a:pt x="91" y="141"/>
                      <a:pt x="90" y="139"/>
                    </a:cubicBezTo>
                    <a:cubicBezTo>
                      <a:pt x="89" y="138"/>
                      <a:pt x="89" y="138"/>
                      <a:pt x="89" y="138"/>
                    </a:cubicBezTo>
                    <a:cubicBezTo>
                      <a:pt x="89" y="138"/>
                      <a:pt x="90" y="137"/>
                      <a:pt x="91" y="136"/>
                    </a:cubicBezTo>
                    <a:cubicBezTo>
                      <a:pt x="109" y="126"/>
                      <a:pt x="109" y="126"/>
                      <a:pt x="109" y="126"/>
                    </a:cubicBezTo>
                    <a:cubicBezTo>
                      <a:pt x="112" y="124"/>
                      <a:pt x="116" y="121"/>
                      <a:pt x="118" y="118"/>
                    </a:cubicBezTo>
                    <a:cubicBezTo>
                      <a:pt x="120" y="114"/>
                      <a:pt x="120" y="114"/>
                      <a:pt x="120" y="114"/>
                    </a:cubicBezTo>
                    <a:cubicBezTo>
                      <a:pt x="121" y="113"/>
                      <a:pt x="122" y="112"/>
                      <a:pt x="123" y="111"/>
                    </a:cubicBezTo>
                    <a:cubicBezTo>
                      <a:pt x="124" y="111"/>
                      <a:pt x="124" y="110"/>
                      <a:pt x="125" y="110"/>
                    </a:cubicBezTo>
                    <a:cubicBezTo>
                      <a:pt x="125" y="110"/>
                      <a:pt x="125" y="110"/>
                      <a:pt x="125" y="110"/>
                    </a:cubicBezTo>
                    <a:cubicBezTo>
                      <a:pt x="125" y="110"/>
                      <a:pt x="125" y="110"/>
                      <a:pt x="125" y="110"/>
                    </a:cubicBezTo>
                    <a:cubicBezTo>
                      <a:pt x="125" y="110"/>
                      <a:pt x="125" y="110"/>
                      <a:pt x="125" y="110"/>
                    </a:cubicBezTo>
                    <a:cubicBezTo>
                      <a:pt x="125" y="110"/>
                      <a:pt x="125" y="110"/>
                      <a:pt x="125" y="110"/>
                    </a:cubicBezTo>
                    <a:cubicBezTo>
                      <a:pt x="125" y="110"/>
                      <a:pt x="125" y="110"/>
                      <a:pt x="125" y="110"/>
                    </a:cubicBezTo>
                    <a:cubicBezTo>
                      <a:pt x="125" y="110"/>
                      <a:pt x="125" y="110"/>
                      <a:pt x="125" y="110"/>
                    </a:cubicBezTo>
                    <a:cubicBezTo>
                      <a:pt x="125" y="110"/>
                      <a:pt x="125" y="110"/>
                      <a:pt x="125" y="110"/>
                    </a:cubicBezTo>
                    <a:cubicBezTo>
                      <a:pt x="125" y="110"/>
                      <a:pt x="125" y="110"/>
                      <a:pt x="125" y="110"/>
                    </a:cubicBezTo>
                    <a:cubicBezTo>
                      <a:pt x="126" y="110"/>
                      <a:pt x="127" y="110"/>
                      <a:pt x="128" y="109"/>
                    </a:cubicBezTo>
                    <a:cubicBezTo>
                      <a:pt x="130" y="108"/>
                      <a:pt x="131" y="106"/>
                      <a:pt x="133" y="103"/>
                    </a:cubicBezTo>
                    <a:cubicBezTo>
                      <a:pt x="135" y="97"/>
                      <a:pt x="135" y="97"/>
                      <a:pt x="135" y="97"/>
                    </a:cubicBezTo>
                    <a:cubicBezTo>
                      <a:pt x="135" y="97"/>
                      <a:pt x="135" y="96"/>
                      <a:pt x="136" y="96"/>
                    </a:cubicBezTo>
                    <a:cubicBezTo>
                      <a:pt x="136" y="96"/>
                      <a:pt x="136" y="96"/>
                      <a:pt x="136" y="96"/>
                    </a:cubicBezTo>
                    <a:cubicBezTo>
                      <a:pt x="135" y="95"/>
                      <a:pt x="135" y="95"/>
                      <a:pt x="135" y="95"/>
                    </a:cubicBezTo>
                    <a:cubicBezTo>
                      <a:pt x="135" y="96"/>
                      <a:pt x="135" y="96"/>
                      <a:pt x="135" y="96"/>
                    </a:cubicBezTo>
                    <a:cubicBezTo>
                      <a:pt x="136" y="96"/>
                      <a:pt x="136" y="96"/>
                      <a:pt x="136" y="96"/>
                    </a:cubicBezTo>
                    <a:cubicBezTo>
                      <a:pt x="135" y="95"/>
                      <a:pt x="135" y="95"/>
                      <a:pt x="135" y="95"/>
                    </a:cubicBezTo>
                    <a:cubicBezTo>
                      <a:pt x="135" y="96"/>
                      <a:pt x="135" y="96"/>
                      <a:pt x="135" y="96"/>
                    </a:cubicBezTo>
                    <a:cubicBezTo>
                      <a:pt x="135" y="95"/>
                      <a:pt x="135" y="95"/>
                      <a:pt x="135" y="95"/>
                    </a:cubicBezTo>
                    <a:cubicBezTo>
                      <a:pt x="134" y="96"/>
                      <a:pt x="134" y="96"/>
                      <a:pt x="134" y="96"/>
                    </a:cubicBezTo>
                    <a:cubicBezTo>
                      <a:pt x="135" y="96"/>
                      <a:pt x="135" y="96"/>
                      <a:pt x="135" y="96"/>
                    </a:cubicBezTo>
                    <a:cubicBezTo>
                      <a:pt x="135" y="95"/>
                      <a:pt x="135" y="95"/>
                      <a:pt x="135" y="95"/>
                    </a:cubicBezTo>
                    <a:cubicBezTo>
                      <a:pt x="134" y="96"/>
                      <a:pt x="134" y="96"/>
                      <a:pt x="134" y="96"/>
                    </a:cubicBezTo>
                    <a:cubicBezTo>
                      <a:pt x="135" y="95"/>
                      <a:pt x="135" y="95"/>
                      <a:pt x="135" y="95"/>
                    </a:cubicBezTo>
                    <a:cubicBezTo>
                      <a:pt x="134" y="96"/>
                      <a:pt x="134" y="96"/>
                      <a:pt x="134" y="96"/>
                    </a:cubicBezTo>
                    <a:cubicBezTo>
                      <a:pt x="134" y="96"/>
                      <a:pt x="134" y="96"/>
                      <a:pt x="134" y="96"/>
                    </a:cubicBezTo>
                    <a:cubicBezTo>
                      <a:pt x="135" y="95"/>
                      <a:pt x="135" y="95"/>
                      <a:pt x="135" y="95"/>
                    </a:cubicBezTo>
                    <a:cubicBezTo>
                      <a:pt x="134" y="96"/>
                      <a:pt x="134" y="96"/>
                      <a:pt x="134" y="96"/>
                    </a:cubicBezTo>
                    <a:cubicBezTo>
                      <a:pt x="134" y="96"/>
                      <a:pt x="134" y="96"/>
                      <a:pt x="134" y="96"/>
                    </a:cubicBezTo>
                    <a:cubicBezTo>
                      <a:pt x="134" y="96"/>
                      <a:pt x="134" y="96"/>
                      <a:pt x="134" y="96"/>
                    </a:cubicBezTo>
                    <a:cubicBezTo>
                      <a:pt x="134" y="96"/>
                      <a:pt x="134" y="96"/>
                      <a:pt x="134" y="96"/>
                    </a:cubicBezTo>
                    <a:cubicBezTo>
                      <a:pt x="134" y="96"/>
                      <a:pt x="134" y="96"/>
                      <a:pt x="134" y="96"/>
                    </a:cubicBezTo>
                    <a:cubicBezTo>
                      <a:pt x="134" y="96"/>
                      <a:pt x="134" y="96"/>
                      <a:pt x="134" y="96"/>
                    </a:cubicBezTo>
                    <a:cubicBezTo>
                      <a:pt x="135" y="97"/>
                      <a:pt x="135" y="97"/>
                      <a:pt x="135" y="97"/>
                    </a:cubicBezTo>
                    <a:cubicBezTo>
                      <a:pt x="136" y="101"/>
                      <a:pt x="136" y="101"/>
                      <a:pt x="136" y="101"/>
                    </a:cubicBezTo>
                    <a:cubicBezTo>
                      <a:pt x="136" y="103"/>
                      <a:pt x="137" y="105"/>
                      <a:pt x="138" y="107"/>
                    </a:cubicBezTo>
                    <a:cubicBezTo>
                      <a:pt x="140" y="109"/>
                      <a:pt x="142" y="110"/>
                      <a:pt x="144" y="110"/>
                    </a:cubicBezTo>
                    <a:cubicBezTo>
                      <a:pt x="144" y="108"/>
                      <a:pt x="144" y="108"/>
                      <a:pt x="144" y="108"/>
                    </a:cubicBezTo>
                    <a:cubicBezTo>
                      <a:pt x="144" y="110"/>
                      <a:pt x="144" y="110"/>
                      <a:pt x="144" y="110"/>
                    </a:cubicBezTo>
                    <a:cubicBezTo>
                      <a:pt x="144" y="110"/>
                      <a:pt x="144" y="110"/>
                      <a:pt x="144" y="110"/>
                    </a:cubicBezTo>
                    <a:cubicBezTo>
                      <a:pt x="144" y="110"/>
                      <a:pt x="144" y="110"/>
                      <a:pt x="144" y="110"/>
                    </a:cubicBezTo>
                    <a:cubicBezTo>
                      <a:pt x="144" y="110"/>
                      <a:pt x="144" y="110"/>
                      <a:pt x="144" y="110"/>
                    </a:cubicBezTo>
                    <a:cubicBezTo>
                      <a:pt x="144" y="111"/>
                      <a:pt x="145" y="111"/>
                      <a:pt x="146" y="111"/>
                    </a:cubicBezTo>
                    <a:cubicBezTo>
                      <a:pt x="149" y="111"/>
                      <a:pt x="152" y="109"/>
                      <a:pt x="155" y="107"/>
                    </a:cubicBezTo>
                    <a:cubicBezTo>
                      <a:pt x="170" y="91"/>
                      <a:pt x="170" y="91"/>
                      <a:pt x="170" y="91"/>
                    </a:cubicBezTo>
                    <a:cubicBezTo>
                      <a:pt x="172" y="88"/>
                      <a:pt x="176" y="85"/>
                      <a:pt x="178" y="83"/>
                    </a:cubicBezTo>
                    <a:cubicBezTo>
                      <a:pt x="182" y="81"/>
                      <a:pt x="182" y="81"/>
                      <a:pt x="182" y="81"/>
                    </a:cubicBezTo>
                    <a:cubicBezTo>
                      <a:pt x="183" y="80"/>
                      <a:pt x="184" y="79"/>
                      <a:pt x="185" y="78"/>
                    </a:cubicBezTo>
                    <a:cubicBezTo>
                      <a:pt x="186" y="77"/>
                      <a:pt x="186" y="76"/>
                      <a:pt x="186" y="74"/>
                    </a:cubicBezTo>
                    <a:cubicBezTo>
                      <a:pt x="186" y="73"/>
                      <a:pt x="186" y="73"/>
                      <a:pt x="186" y="73"/>
                    </a:cubicBezTo>
                    <a:cubicBezTo>
                      <a:pt x="186" y="72"/>
                      <a:pt x="185" y="71"/>
                      <a:pt x="184" y="70"/>
                    </a:cubicBezTo>
                    <a:cubicBezTo>
                      <a:pt x="183" y="70"/>
                      <a:pt x="182" y="70"/>
                      <a:pt x="181" y="70"/>
                    </a:cubicBezTo>
                    <a:cubicBezTo>
                      <a:pt x="180" y="70"/>
                      <a:pt x="179" y="70"/>
                      <a:pt x="177" y="71"/>
                    </a:cubicBezTo>
                    <a:cubicBezTo>
                      <a:pt x="176" y="71"/>
                      <a:pt x="176" y="71"/>
                      <a:pt x="176" y="71"/>
                    </a:cubicBezTo>
                    <a:cubicBezTo>
                      <a:pt x="175" y="71"/>
                      <a:pt x="175" y="71"/>
                      <a:pt x="175" y="71"/>
                    </a:cubicBezTo>
                    <a:cubicBezTo>
                      <a:pt x="174" y="71"/>
                      <a:pt x="172" y="70"/>
                      <a:pt x="172" y="69"/>
                    </a:cubicBezTo>
                    <a:cubicBezTo>
                      <a:pt x="172" y="69"/>
                      <a:pt x="172" y="68"/>
                      <a:pt x="172" y="67"/>
                    </a:cubicBezTo>
                    <a:cubicBezTo>
                      <a:pt x="172" y="66"/>
                      <a:pt x="172" y="64"/>
                      <a:pt x="173" y="63"/>
                    </a:cubicBezTo>
                    <a:cubicBezTo>
                      <a:pt x="174" y="61"/>
                      <a:pt x="175" y="59"/>
                      <a:pt x="175" y="57"/>
                    </a:cubicBezTo>
                    <a:cubicBezTo>
                      <a:pt x="175" y="57"/>
                      <a:pt x="175" y="56"/>
                      <a:pt x="174" y="55"/>
                    </a:cubicBezTo>
                    <a:cubicBezTo>
                      <a:pt x="174" y="54"/>
                      <a:pt x="173" y="54"/>
                      <a:pt x="172" y="53"/>
                    </a:cubicBezTo>
                    <a:cubicBezTo>
                      <a:pt x="171" y="53"/>
                      <a:pt x="171" y="53"/>
                      <a:pt x="171" y="53"/>
                    </a:cubicBezTo>
                    <a:cubicBezTo>
                      <a:pt x="169" y="53"/>
                      <a:pt x="168" y="54"/>
                      <a:pt x="167" y="54"/>
                    </a:cubicBezTo>
                    <a:cubicBezTo>
                      <a:pt x="165" y="55"/>
                      <a:pt x="164" y="56"/>
                      <a:pt x="163" y="58"/>
                    </a:cubicBezTo>
                    <a:cubicBezTo>
                      <a:pt x="161" y="61"/>
                      <a:pt x="161" y="61"/>
                      <a:pt x="161" y="61"/>
                    </a:cubicBezTo>
                    <a:cubicBezTo>
                      <a:pt x="158" y="65"/>
                      <a:pt x="157" y="70"/>
                      <a:pt x="156" y="74"/>
                    </a:cubicBezTo>
                    <a:cubicBezTo>
                      <a:pt x="156" y="77"/>
                      <a:pt x="154" y="82"/>
                      <a:pt x="152" y="84"/>
                    </a:cubicBezTo>
                    <a:cubicBezTo>
                      <a:pt x="148" y="90"/>
                      <a:pt x="148" y="90"/>
                      <a:pt x="148" y="90"/>
                    </a:cubicBezTo>
                    <a:cubicBezTo>
                      <a:pt x="147" y="91"/>
                      <a:pt x="147" y="91"/>
                      <a:pt x="147" y="91"/>
                    </a:cubicBezTo>
                    <a:cubicBezTo>
                      <a:pt x="146" y="91"/>
                      <a:pt x="146" y="91"/>
                      <a:pt x="146" y="91"/>
                    </a:cubicBezTo>
                    <a:cubicBezTo>
                      <a:pt x="146" y="90"/>
                      <a:pt x="146" y="90"/>
                      <a:pt x="146" y="89"/>
                    </a:cubicBezTo>
                    <a:cubicBezTo>
                      <a:pt x="144" y="86"/>
                      <a:pt x="144" y="86"/>
                      <a:pt x="144" y="86"/>
                    </a:cubicBezTo>
                    <a:cubicBezTo>
                      <a:pt x="144" y="84"/>
                      <a:pt x="143" y="83"/>
                      <a:pt x="141" y="82"/>
                    </a:cubicBezTo>
                    <a:cubicBezTo>
                      <a:pt x="140" y="80"/>
                      <a:pt x="138" y="80"/>
                      <a:pt x="136" y="80"/>
                    </a:cubicBezTo>
                    <a:cubicBezTo>
                      <a:pt x="135" y="80"/>
                      <a:pt x="135" y="80"/>
                      <a:pt x="135" y="80"/>
                    </a:cubicBezTo>
                    <a:cubicBezTo>
                      <a:pt x="135" y="80"/>
                      <a:pt x="135" y="80"/>
                      <a:pt x="135" y="80"/>
                    </a:cubicBezTo>
                    <a:cubicBezTo>
                      <a:pt x="135" y="80"/>
                      <a:pt x="135" y="80"/>
                      <a:pt x="135" y="80"/>
                    </a:cubicBezTo>
                    <a:cubicBezTo>
                      <a:pt x="134" y="79"/>
                      <a:pt x="134" y="79"/>
                      <a:pt x="134" y="79"/>
                    </a:cubicBezTo>
                    <a:cubicBezTo>
                      <a:pt x="134" y="78"/>
                      <a:pt x="134" y="78"/>
                      <a:pt x="134" y="78"/>
                    </a:cubicBezTo>
                    <a:cubicBezTo>
                      <a:pt x="134" y="77"/>
                      <a:pt x="134" y="77"/>
                      <a:pt x="134" y="76"/>
                    </a:cubicBezTo>
                    <a:cubicBezTo>
                      <a:pt x="134" y="76"/>
                      <a:pt x="134" y="76"/>
                      <a:pt x="134" y="76"/>
                    </a:cubicBezTo>
                    <a:cubicBezTo>
                      <a:pt x="134" y="73"/>
                      <a:pt x="137" y="68"/>
                      <a:pt x="139" y="67"/>
                    </a:cubicBezTo>
                    <a:cubicBezTo>
                      <a:pt x="174" y="32"/>
                      <a:pt x="174" y="32"/>
                      <a:pt x="174" y="32"/>
                    </a:cubicBezTo>
                    <a:cubicBezTo>
                      <a:pt x="175" y="31"/>
                      <a:pt x="177" y="31"/>
                      <a:pt x="178" y="31"/>
                    </a:cubicBezTo>
                    <a:cubicBezTo>
                      <a:pt x="179" y="31"/>
                      <a:pt x="180" y="31"/>
                      <a:pt x="180" y="31"/>
                    </a:cubicBezTo>
                    <a:cubicBezTo>
                      <a:pt x="186" y="35"/>
                      <a:pt x="186" y="35"/>
                      <a:pt x="186" y="35"/>
                    </a:cubicBezTo>
                    <a:cubicBezTo>
                      <a:pt x="188" y="37"/>
                      <a:pt x="193" y="39"/>
                      <a:pt x="196" y="40"/>
                    </a:cubicBezTo>
                    <a:cubicBezTo>
                      <a:pt x="204" y="42"/>
                      <a:pt x="204" y="42"/>
                      <a:pt x="204" y="42"/>
                    </a:cubicBezTo>
                    <a:cubicBezTo>
                      <a:pt x="205" y="42"/>
                      <a:pt x="206" y="43"/>
                      <a:pt x="206" y="43"/>
                    </a:cubicBezTo>
                    <a:cubicBezTo>
                      <a:pt x="206" y="43"/>
                      <a:pt x="206" y="43"/>
                      <a:pt x="206" y="43"/>
                    </a:cubicBezTo>
                    <a:cubicBezTo>
                      <a:pt x="206" y="44"/>
                      <a:pt x="206" y="44"/>
                      <a:pt x="206" y="44"/>
                    </a:cubicBezTo>
                    <a:cubicBezTo>
                      <a:pt x="206" y="44"/>
                      <a:pt x="205" y="44"/>
                      <a:pt x="204" y="45"/>
                    </a:cubicBezTo>
                    <a:cubicBezTo>
                      <a:pt x="203" y="45"/>
                      <a:pt x="202" y="45"/>
                      <a:pt x="201" y="45"/>
                    </a:cubicBezTo>
                    <a:cubicBezTo>
                      <a:pt x="201" y="45"/>
                      <a:pt x="201" y="45"/>
                      <a:pt x="201" y="45"/>
                    </a:cubicBezTo>
                    <a:cubicBezTo>
                      <a:pt x="198" y="45"/>
                      <a:pt x="198" y="45"/>
                      <a:pt x="198" y="45"/>
                    </a:cubicBezTo>
                    <a:cubicBezTo>
                      <a:pt x="198" y="45"/>
                      <a:pt x="198" y="45"/>
                      <a:pt x="198" y="45"/>
                    </a:cubicBezTo>
                    <a:cubicBezTo>
                      <a:pt x="197" y="45"/>
                      <a:pt x="196" y="45"/>
                      <a:pt x="196" y="46"/>
                    </a:cubicBezTo>
                    <a:cubicBezTo>
                      <a:pt x="195" y="46"/>
                      <a:pt x="195" y="46"/>
                      <a:pt x="195" y="46"/>
                    </a:cubicBezTo>
                    <a:cubicBezTo>
                      <a:pt x="194" y="47"/>
                      <a:pt x="194" y="47"/>
                      <a:pt x="194" y="48"/>
                    </a:cubicBezTo>
                    <a:cubicBezTo>
                      <a:pt x="194" y="49"/>
                      <a:pt x="195" y="50"/>
                      <a:pt x="195" y="50"/>
                    </a:cubicBezTo>
                    <a:cubicBezTo>
                      <a:pt x="196" y="51"/>
                      <a:pt x="196" y="51"/>
                      <a:pt x="197" y="52"/>
                    </a:cubicBezTo>
                    <a:cubicBezTo>
                      <a:pt x="206" y="57"/>
                      <a:pt x="206" y="57"/>
                      <a:pt x="206" y="57"/>
                    </a:cubicBezTo>
                    <a:cubicBezTo>
                      <a:pt x="207" y="58"/>
                      <a:pt x="208" y="58"/>
                      <a:pt x="209" y="58"/>
                    </a:cubicBezTo>
                    <a:cubicBezTo>
                      <a:pt x="212" y="58"/>
                      <a:pt x="215" y="56"/>
                      <a:pt x="216" y="53"/>
                    </a:cubicBezTo>
                    <a:cubicBezTo>
                      <a:pt x="216" y="52"/>
                      <a:pt x="217" y="51"/>
                      <a:pt x="218" y="50"/>
                    </a:cubicBezTo>
                    <a:cubicBezTo>
                      <a:pt x="219" y="50"/>
                      <a:pt x="220" y="49"/>
                      <a:pt x="221" y="49"/>
                    </a:cubicBezTo>
                    <a:cubicBezTo>
                      <a:pt x="256" y="49"/>
                      <a:pt x="256" y="49"/>
                      <a:pt x="256" y="49"/>
                    </a:cubicBezTo>
                    <a:cubicBezTo>
                      <a:pt x="258" y="49"/>
                      <a:pt x="260" y="49"/>
                      <a:pt x="262" y="48"/>
                    </a:cubicBezTo>
                    <a:cubicBezTo>
                      <a:pt x="264" y="48"/>
                      <a:pt x="265" y="47"/>
                      <a:pt x="267" y="46"/>
                    </a:cubicBezTo>
                    <a:cubicBezTo>
                      <a:pt x="278" y="39"/>
                      <a:pt x="278" y="39"/>
                      <a:pt x="278" y="39"/>
                    </a:cubicBezTo>
                    <a:cubicBezTo>
                      <a:pt x="281" y="37"/>
                      <a:pt x="284" y="33"/>
                      <a:pt x="286" y="30"/>
                    </a:cubicBezTo>
                    <a:cubicBezTo>
                      <a:pt x="292" y="17"/>
                      <a:pt x="292" y="17"/>
                      <a:pt x="292" y="17"/>
                    </a:cubicBezTo>
                    <a:cubicBezTo>
                      <a:pt x="293" y="15"/>
                      <a:pt x="294" y="13"/>
                      <a:pt x="294" y="11"/>
                    </a:cubicBezTo>
                    <a:cubicBezTo>
                      <a:pt x="295" y="9"/>
                      <a:pt x="295" y="7"/>
                      <a:pt x="295" y="5"/>
                    </a:cubicBezTo>
                    <a:cubicBezTo>
                      <a:pt x="295" y="5"/>
                      <a:pt x="295" y="4"/>
                      <a:pt x="296" y="4"/>
                    </a:cubicBezTo>
                    <a:cubicBezTo>
                      <a:pt x="296" y="4"/>
                      <a:pt x="296" y="4"/>
                      <a:pt x="296" y="4"/>
                    </a:cubicBezTo>
                    <a:cubicBezTo>
                      <a:pt x="297" y="4"/>
                      <a:pt x="297" y="4"/>
                      <a:pt x="297" y="4"/>
                    </a:cubicBezTo>
                    <a:cubicBezTo>
                      <a:pt x="376" y="30"/>
                      <a:pt x="376" y="30"/>
                      <a:pt x="376" y="30"/>
                    </a:cubicBezTo>
                    <a:cubicBezTo>
                      <a:pt x="377" y="30"/>
                      <a:pt x="378" y="31"/>
                      <a:pt x="379" y="31"/>
                    </a:cubicBezTo>
                    <a:cubicBezTo>
                      <a:pt x="382" y="31"/>
                      <a:pt x="384" y="30"/>
                      <a:pt x="386" y="27"/>
                    </a:cubicBezTo>
                    <a:cubicBezTo>
                      <a:pt x="386" y="27"/>
                      <a:pt x="387" y="27"/>
                      <a:pt x="388" y="26"/>
                    </a:cubicBezTo>
                    <a:cubicBezTo>
                      <a:pt x="388" y="26"/>
                      <a:pt x="389" y="26"/>
                      <a:pt x="390" y="26"/>
                    </a:cubicBezTo>
                    <a:cubicBezTo>
                      <a:pt x="391" y="26"/>
                      <a:pt x="391" y="26"/>
                      <a:pt x="392" y="26"/>
                    </a:cubicBezTo>
                    <a:cubicBezTo>
                      <a:pt x="503" y="53"/>
                      <a:pt x="503" y="53"/>
                      <a:pt x="503" y="53"/>
                    </a:cubicBezTo>
                    <a:cubicBezTo>
                      <a:pt x="504" y="54"/>
                      <a:pt x="506" y="54"/>
                      <a:pt x="507" y="55"/>
                    </a:cubicBezTo>
                    <a:cubicBezTo>
                      <a:pt x="509" y="56"/>
                      <a:pt x="510" y="57"/>
                      <a:pt x="511" y="58"/>
                    </a:cubicBezTo>
                    <a:cubicBezTo>
                      <a:pt x="524" y="72"/>
                      <a:pt x="524" y="72"/>
                      <a:pt x="524" y="72"/>
                    </a:cubicBezTo>
                    <a:cubicBezTo>
                      <a:pt x="525" y="72"/>
                      <a:pt x="525" y="73"/>
                      <a:pt x="525" y="73"/>
                    </a:cubicBezTo>
                    <a:cubicBezTo>
                      <a:pt x="525" y="74"/>
                      <a:pt x="525" y="74"/>
                      <a:pt x="524" y="75"/>
                    </a:cubicBezTo>
                    <a:cubicBezTo>
                      <a:pt x="521" y="76"/>
                      <a:pt x="521" y="76"/>
                      <a:pt x="521" y="76"/>
                    </a:cubicBezTo>
                    <a:cubicBezTo>
                      <a:pt x="519" y="77"/>
                      <a:pt x="517" y="80"/>
                      <a:pt x="517" y="82"/>
                    </a:cubicBezTo>
                    <a:cubicBezTo>
                      <a:pt x="517" y="84"/>
                      <a:pt x="518" y="85"/>
                      <a:pt x="519" y="87"/>
                    </a:cubicBezTo>
                    <a:cubicBezTo>
                      <a:pt x="538" y="120"/>
                      <a:pt x="538" y="120"/>
                      <a:pt x="538" y="120"/>
                    </a:cubicBezTo>
                    <a:cubicBezTo>
                      <a:pt x="539" y="121"/>
                      <a:pt x="540" y="123"/>
                      <a:pt x="540" y="125"/>
                    </a:cubicBezTo>
                    <a:cubicBezTo>
                      <a:pt x="540" y="126"/>
                      <a:pt x="539" y="127"/>
                      <a:pt x="539" y="128"/>
                    </a:cubicBezTo>
                    <a:cubicBezTo>
                      <a:pt x="539" y="129"/>
                      <a:pt x="538" y="129"/>
                      <a:pt x="538" y="129"/>
                    </a:cubicBezTo>
                    <a:cubicBezTo>
                      <a:pt x="538" y="129"/>
                      <a:pt x="538" y="129"/>
                      <a:pt x="538" y="129"/>
                    </a:cubicBezTo>
                    <a:cubicBezTo>
                      <a:pt x="538" y="129"/>
                      <a:pt x="537" y="129"/>
                      <a:pt x="536" y="128"/>
                    </a:cubicBezTo>
                    <a:cubicBezTo>
                      <a:pt x="503" y="78"/>
                      <a:pt x="503" y="78"/>
                      <a:pt x="503" y="78"/>
                    </a:cubicBezTo>
                    <a:cubicBezTo>
                      <a:pt x="502" y="76"/>
                      <a:pt x="499" y="74"/>
                      <a:pt x="496" y="74"/>
                    </a:cubicBezTo>
                    <a:cubicBezTo>
                      <a:pt x="495" y="74"/>
                      <a:pt x="494" y="75"/>
                      <a:pt x="493" y="75"/>
                    </a:cubicBezTo>
                    <a:cubicBezTo>
                      <a:pt x="474" y="86"/>
                      <a:pt x="474" y="86"/>
                      <a:pt x="474" y="86"/>
                    </a:cubicBezTo>
                    <a:cubicBezTo>
                      <a:pt x="471" y="88"/>
                      <a:pt x="470" y="91"/>
                      <a:pt x="470" y="94"/>
                    </a:cubicBezTo>
                    <a:cubicBezTo>
                      <a:pt x="470" y="96"/>
                      <a:pt x="470" y="97"/>
                      <a:pt x="470" y="98"/>
                    </a:cubicBezTo>
                    <a:cubicBezTo>
                      <a:pt x="475" y="114"/>
                      <a:pt x="475" y="114"/>
                      <a:pt x="475" y="114"/>
                    </a:cubicBezTo>
                    <a:cubicBezTo>
                      <a:pt x="476" y="116"/>
                      <a:pt x="477" y="118"/>
                      <a:pt x="479" y="119"/>
                    </a:cubicBezTo>
                    <a:cubicBezTo>
                      <a:pt x="480" y="121"/>
                      <a:pt x="482" y="122"/>
                      <a:pt x="484" y="122"/>
                    </a:cubicBezTo>
                    <a:cubicBezTo>
                      <a:pt x="495" y="124"/>
                      <a:pt x="495" y="124"/>
                      <a:pt x="495" y="124"/>
                    </a:cubicBezTo>
                    <a:cubicBezTo>
                      <a:pt x="495" y="124"/>
                      <a:pt x="497" y="125"/>
                      <a:pt x="497" y="126"/>
                    </a:cubicBezTo>
                    <a:cubicBezTo>
                      <a:pt x="498" y="127"/>
                      <a:pt x="499" y="128"/>
                      <a:pt x="499" y="130"/>
                    </a:cubicBezTo>
                    <a:cubicBezTo>
                      <a:pt x="505" y="155"/>
                      <a:pt x="505" y="155"/>
                      <a:pt x="505" y="155"/>
                    </a:cubicBezTo>
                    <a:cubicBezTo>
                      <a:pt x="505" y="156"/>
                      <a:pt x="505" y="157"/>
                      <a:pt x="505" y="158"/>
                    </a:cubicBezTo>
                    <a:cubicBezTo>
                      <a:pt x="505" y="161"/>
                      <a:pt x="505" y="164"/>
                      <a:pt x="504" y="166"/>
                    </a:cubicBezTo>
                    <a:cubicBezTo>
                      <a:pt x="500" y="175"/>
                      <a:pt x="500" y="175"/>
                      <a:pt x="500" y="175"/>
                    </a:cubicBezTo>
                    <a:cubicBezTo>
                      <a:pt x="499" y="177"/>
                      <a:pt x="499" y="178"/>
                      <a:pt x="499" y="180"/>
                    </a:cubicBezTo>
                    <a:cubicBezTo>
                      <a:pt x="499" y="183"/>
                      <a:pt x="500" y="186"/>
                      <a:pt x="501" y="188"/>
                    </a:cubicBezTo>
                    <a:cubicBezTo>
                      <a:pt x="516" y="205"/>
                      <a:pt x="516" y="205"/>
                      <a:pt x="516" y="205"/>
                    </a:cubicBezTo>
                    <a:cubicBezTo>
                      <a:pt x="517" y="206"/>
                      <a:pt x="518" y="208"/>
                      <a:pt x="518" y="210"/>
                    </a:cubicBezTo>
                    <a:cubicBezTo>
                      <a:pt x="518" y="211"/>
                      <a:pt x="518" y="211"/>
                      <a:pt x="518" y="211"/>
                    </a:cubicBezTo>
                    <a:cubicBezTo>
                      <a:pt x="517" y="212"/>
                      <a:pt x="517" y="212"/>
                      <a:pt x="517" y="212"/>
                    </a:cubicBezTo>
                    <a:cubicBezTo>
                      <a:pt x="517" y="212"/>
                      <a:pt x="516" y="212"/>
                      <a:pt x="515" y="211"/>
                    </a:cubicBezTo>
                    <a:cubicBezTo>
                      <a:pt x="494" y="187"/>
                      <a:pt x="494" y="187"/>
                      <a:pt x="494" y="187"/>
                    </a:cubicBezTo>
                    <a:cubicBezTo>
                      <a:pt x="492" y="185"/>
                      <a:pt x="488" y="182"/>
                      <a:pt x="485" y="180"/>
                    </a:cubicBezTo>
                    <a:cubicBezTo>
                      <a:pt x="478" y="176"/>
                      <a:pt x="478" y="176"/>
                      <a:pt x="478" y="176"/>
                    </a:cubicBezTo>
                    <a:cubicBezTo>
                      <a:pt x="477" y="175"/>
                      <a:pt x="476" y="175"/>
                      <a:pt x="475" y="175"/>
                    </a:cubicBezTo>
                    <a:cubicBezTo>
                      <a:pt x="473" y="175"/>
                      <a:pt x="472" y="176"/>
                      <a:pt x="471" y="177"/>
                    </a:cubicBezTo>
                    <a:cubicBezTo>
                      <a:pt x="470" y="178"/>
                      <a:pt x="469" y="179"/>
                      <a:pt x="469" y="180"/>
                    </a:cubicBezTo>
                    <a:cubicBezTo>
                      <a:pt x="468" y="181"/>
                      <a:pt x="468" y="182"/>
                      <a:pt x="468" y="184"/>
                    </a:cubicBezTo>
                    <a:cubicBezTo>
                      <a:pt x="468" y="187"/>
                      <a:pt x="469" y="190"/>
                      <a:pt x="471" y="193"/>
                    </a:cubicBezTo>
                    <a:cubicBezTo>
                      <a:pt x="472" y="195"/>
                      <a:pt x="472" y="195"/>
                      <a:pt x="472" y="195"/>
                    </a:cubicBezTo>
                    <a:cubicBezTo>
                      <a:pt x="473" y="196"/>
                      <a:pt x="474" y="197"/>
                      <a:pt x="475" y="198"/>
                    </a:cubicBezTo>
                    <a:cubicBezTo>
                      <a:pt x="477" y="199"/>
                      <a:pt x="478" y="200"/>
                      <a:pt x="480" y="200"/>
                    </a:cubicBezTo>
                    <a:cubicBezTo>
                      <a:pt x="481" y="200"/>
                      <a:pt x="481" y="200"/>
                      <a:pt x="482" y="200"/>
                    </a:cubicBezTo>
                    <a:cubicBezTo>
                      <a:pt x="482" y="199"/>
                      <a:pt x="482" y="199"/>
                      <a:pt x="482" y="199"/>
                    </a:cubicBezTo>
                    <a:cubicBezTo>
                      <a:pt x="482" y="199"/>
                      <a:pt x="483" y="200"/>
                      <a:pt x="484" y="200"/>
                    </a:cubicBezTo>
                    <a:cubicBezTo>
                      <a:pt x="484" y="201"/>
                      <a:pt x="485" y="202"/>
                      <a:pt x="485" y="203"/>
                    </a:cubicBezTo>
                    <a:cubicBezTo>
                      <a:pt x="486" y="206"/>
                      <a:pt x="486" y="206"/>
                      <a:pt x="486" y="206"/>
                    </a:cubicBezTo>
                    <a:cubicBezTo>
                      <a:pt x="487" y="210"/>
                      <a:pt x="490" y="215"/>
                      <a:pt x="493" y="217"/>
                    </a:cubicBezTo>
                    <a:cubicBezTo>
                      <a:pt x="508" y="233"/>
                      <a:pt x="508" y="233"/>
                      <a:pt x="508" y="233"/>
                    </a:cubicBezTo>
                    <a:cubicBezTo>
                      <a:pt x="509" y="234"/>
                      <a:pt x="510" y="235"/>
                      <a:pt x="511" y="237"/>
                    </a:cubicBezTo>
                    <a:cubicBezTo>
                      <a:pt x="511" y="239"/>
                      <a:pt x="512" y="241"/>
                      <a:pt x="512" y="242"/>
                    </a:cubicBezTo>
                    <a:cubicBezTo>
                      <a:pt x="513" y="269"/>
                      <a:pt x="513" y="269"/>
                      <a:pt x="513" y="269"/>
                    </a:cubicBezTo>
                    <a:cubicBezTo>
                      <a:pt x="513" y="269"/>
                      <a:pt x="513" y="269"/>
                      <a:pt x="513" y="269"/>
                    </a:cubicBezTo>
                    <a:cubicBezTo>
                      <a:pt x="513" y="271"/>
                      <a:pt x="513" y="272"/>
                      <a:pt x="512" y="272"/>
                    </a:cubicBezTo>
                    <a:cubicBezTo>
                      <a:pt x="512" y="273"/>
                      <a:pt x="511" y="273"/>
                      <a:pt x="510" y="273"/>
                    </a:cubicBezTo>
                    <a:cubicBezTo>
                      <a:pt x="493" y="273"/>
                      <a:pt x="493" y="273"/>
                      <a:pt x="493" y="273"/>
                    </a:cubicBezTo>
                    <a:cubicBezTo>
                      <a:pt x="490" y="273"/>
                      <a:pt x="489" y="275"/>
                      <a:pt x="487" y="276"/>
                    </a:cubicBezTo>
                    <a:cubicBezTo>
                      <a:pt x="486" y="278"/>
                      <a:pt x="485" y="280"/>
                      <a:pt x="485" y="282"/>
                    </a:cubicBezTo>
                    <a:cubicBezTo>
                      <a:pt x="485" y="289"/>
                      <a:pt x="485" y="289"/>
                      <a:pt x="485" y="289"/>
                    </a:cubicBezTo>
                    <a:cubicBezTo>
                      <a:pt x="485" y="293"/>
                      <a:pt x="487" y="299"/>
                      <a:pt x="489" y="302"/>
                    </a:cubicBezTo>
                    <a:cubicBezTo>
                      <a:pt x="502" y="324"/>
                      <a:pt x="502" y="324"/>
                      <a:pt x="502" y="324"/>
                    </a:cubicBezTo>
                    <a:cubicBezTo>
                      <a:pt x="503" y="325"/>
                      <a:pt x="503" y="326"/>
                      <a:pt x="503" y="328"/>
                    </a:cubicBezTo>
                    <a:cubicBezTo>
                      <a:pt x="503" y="329"/>
                      <a:pt x="503" y="331"/>
                      <a:pt x="502" y="332"/>
                    </a:cubicBezTo>
                    <a:cubicBezTo>
                      <a:pt x="492" y="349"/>
                      <a:pt x="492" y="349"/>
                      <a:pt x="492" y="349"/>
                    </a:cubicBezTo>
                    <a:cubicBezTo>
                      <a:pt x="492" y="350"/>
                      <a:pt x="491" y="350"/>
                      <a:pt x="491" y="350"/>
                    </a:cubicBezTo>
                    <a:cubicBezTo>
                      <a:pt x="490" y="350"/>
                      <a:pt x="490" y="350"/>
                      <a:pt x="489" y="349"/>
                    </a:cubicBezTo>
                    <a:cubicBezTo>
                      <a:pt x="477" y="333"/>
                      <a:pt x="477" y="333"/>
                      <a:pt x="477" y="333"/>
                    </a:cubicBezTo>
                    <a:cubicBezTo>
                      <a:pt x="476" y="333"/>
                      <a:pt x="476" y="332"/>
                      <a:pt x="475" y="332"/>
                    </a:cubicBezTo>
                    <a:cubicBezTo>
                      <a:pt x="474" y="331"/>
                      <a:pt x="474" y="331"/>
                      <a:pt x="473" y="331"/>
                    </a:cubicBezTo>
                    <a:cubicBezTo>
                      <a:pt x="472" y="331"/>
                      <a:pt x="471" y="331"/>
                      <a:pt x="471" y="332"/>
                    </a:cubicBezTo>
                    <a:cubicBezTo>
                      <a:pt x="470" y="332"/>
                      <a:pt x="470" y="333"/>
                      <a:pt x="469" y="334"/>
                    </a:cubicBezTo>
                    <a:cubicBezTo>
                      <a:pt x="469" y="335"/>
                      <a:pt x="469" y="336"/>
                      <a:pt x="469" y="337"/>
                    </a:cubicBezTo>
                    <a:cubicBezTo>
                      <a:pt x="469" y="341"/>
                      <a:pt x="469" y="341"/>
                      <a:pt x="469" y="341"/>
                    </a:cubicBezTo>
                    <a:cubicBezTo>
                      <a:pt x="469" y="345"/>
                      <a:pt x="470" y="351"/>
                      <a:pt x="472" y="354"/>
                    </a:cubicBezTo>
                    <a:cubicBezTo>
                      <a:pt x="487" y="384"/>
                      <a:pt x="487" y="384"/>
                      <a:pt x="487" y="384"/>
                    </a:cubicBezTo>
                    <a:cubicBezTo>
                      <a:pt x="488" y="384"/>
                      <a:pt x="488" y="385"/>
                      <a:pt x="488" y="385"/>
                    </a:cubicBezTo>
                    <a:cubicBezTo>
                      <a:pt x="488" y="385"/>
                      <a:pt x="488" y="385"/>
                      <a:pt x="488" y="385"/>
                    </a:cubicBezTo>
                    <a:cubicBezTo>
                      <a:pt x="488" y="385"/>
                      <a:pt x="488" y="385"/>
                      <a:pt x="488" y="385"/>
                    </a:cubicBezTo>
                    <a:cubicBezTo>
                      <a:pt x="488" y="385"/>
                      <a:pt x="488" y="385"/>
                      <a:pt x="488" y="385"/>
                    </a:cubicBezTo>
                    <a:cubicBezTo>
                      <a:pt x="488" y="385"/>
                      <a:pt x="488" y="385"/>
                      <a:pt x="488" y="385"/>
                    </a:cubicBezTo>
                    <a:cubicBezTo>
                      <a:pt x="488" y="385"/>
                      <a:pt x="488" y="385"/>
                      <a:pt x="488" y="385"/>
                    </a:cubicBezTo>
                    <a:cubicBezTo>
                      <a:pt x="489" y="385"/>
                      <a:pt x="489" y="385"/>
                      <a:pt x="489" y="385"/>
                    </a:cubicBezTo>
                    <a:cubicBezTo>
                      <a:pt x="488" y="384"/>
                      <a:pt x="488" y="384"/>
                      <a:pt x="488" y="384"/>
                    </a:cubicBezTo>
                    <a:cubicBezTo>
                      <a:pt x="488" y="385"/>
                      <a:pt x="488" y="385"/>
                      <a:pt x="488" y="385"/>
                    </a:cubicBezTo>
                    <a:cubicBezTo>
                      <a:pt x="489" y="385"/>
                      <a:pt x="489" y="385"/>
                      <a:pt x="489" y="385"/>
                    </a:cubicBezTo>
                    <a:cubicBezTo>
                      <a:pt x="488" y="384"/>
                      <a:pt x="488" y="384"/>
                      <a:pt x="488" y="384"/>
                    </a:cubicBezTo>
                    <a:cubicBezTo>
                      <a:pt x="489" y="385"/>
                      <a:pt x="489" y="385"/>
                      <a:pt x="489" y="385"/>
                    </a:cubicBezTo>
                    <a:cubicBezTo>
                      <a:pt x="489" y="384"/>
                      <a:pt x="489" y="384"/>
                      <a:pt x="489" y="384"/>
                    </a:cubicBezTo>
                    <a:cubicBezTo>
                      <a:pt x="488" y="384"/>
                      <a:pt x="488" y="384"/>
                      <a:pt x="488" y="384"/>
                    </a:cubicBezTo>
                    <a:cubicBezTo>
                      <a:pt x="489" y="385"/>
                      <a:pt x="489" y="385"/>
                      <a:pt x="489" y="385"/>
                    </a:cubicBezTo>
                    <a:cubicBezTo>
                      <a:pt x="489" y="384"/>
                      <a:pt x="489" y="384"/>
                      <a:pt x="489" y="384"/>
                    </a:cubicBezTo>
                    <a:cubicBezTo>
                      <a:pt x="489" y="384"/>
                      <a:pt x="489" y="384"/>
                      <a:pt x="489" y="384"/>
                    </a:cubicBezTo>
                    <a:cubicBezTo>
                      <a:pt x="488" y="384"/>
                      <a:pt x="488" y="384"/>
                      <a:pt x="488" y="384"/>
                    </a:cubicBezTo>
                    <a:cubicBezTo>
                      <a:pt x="483" y="381"/>
                      <a:pt x="483" y="381"/>
                      <a:pt x="483" y="381"/>
                    </a:cubicBezTo>
                    <a:cubicBezTo>
                      <a:pt x="482" y="381"/>
                      <a:pt x="481" y="380"/>
                      <a:pt x="480" y="379"/>
                    </a:cubicBezTo>
                    <a:cubicBezTo>
                      <a:pt x="479" y="377"/>
                      <a:pt x="477" y="376"/>
                      <a:pt x="477" y="374"/>
                    </a:cubicBezTo>
                    <a:cubicBezTo>
                      <a:pt x="466" y="351"/>
                      <a:pt x="466" y="351"/>
                      <a:pt x="466" y="351"/>
                    </a:cubicBezTo>
                    <a:cubicBezTo>
                      <a:pt x="465" y="349"/>
                      <a:pt x="463" y="343"/>
                      <a:pt x="463" y="340"/>
                    </a:cubicBezTo>
                    <a:cubicBezTo>
                      <a:pt x="463" y="336"/>
                      <a:pt x="463" y="336"/>
                      <a:pt x="463" y="336"/>
                    </a:cubicBezTo>
                    <a:cubicBezTo>
                      <a:pt x="463" y="333"/>
                      <a:pt x="463" y="331"/>
                      <a:pt x="462" y="329"/>
                    </a:cubicBezTo>
                    <a:cubicBezTo>
                      <a:pt x="462" y="327"/>
                      <a:pt x="461" y="324"/>
                      <a:pt x="459" y="323"/>
                    </a:cubicBezTo>
                    <a:cubicBezTo>
                      <a:pt x="425" y="277"/>
                      <a:pt x="425" y="277"/>
                      <a:pt x="425" y="277"/>
                    </a:cubicBezTo>
                    <a:cubicBezTo>
                      <a:pt x="424" y="275"/>
                      <a:pt x="422" y="274"/>
                      <a:pt x="420" y="274"/>
                    </a:cubicBezTo>
                    <a:cubicBezTo>
                      <a:pt x="418" y="274"/>
                      <a:pt x="416" y="275"/>
                      <a:pt x="414" y="277"/>
                    </a:cubicBezTo>
                    <a:cubicBezTo>
                      <a:pt x="391" y="309"/>
                      <a:pt x="391" y="309"/>
                      <a:pt x="391" y="309"/>
                    </a:cubicBezTo>
                    <a:cubicBezTo>
                      <a:pt x="389" y="312"/>
                      <a:pt x="387" y="316"/>
                      <a:pt x="387" y="321"/>
                    </a:cubicBezTo>
                    <a:cubicBezTo>
                      <a:pt x="387" y="322"/>
                      <a:pt x="387" y="322"/>
                      <a:pt x="387" y="322"/>
                    </a:cubicBezTo>
                    <a:cubicBezTo>
                      <a:pt x="387" y="322"/>
                      <a:pt x="387" y="322"/>
                      <a:pt x="387" y="322"/>
                    </a:cubicBezTo>
                    <a:cubicBezTo>
                      <a:pt x="387" y="323"/>
                      <a:pt x="387" y="323"/>
                      <a:pt x="387" y="324"/>
                    </a:cubicBezTo>
                    <a:cubicBezTo>
                      <a:pt x="387" y="327"/>
                      <a:pt x="387" y="332"/>
                      <a:pt x="386" y="334"/>
                    </a:cubicBezTo>
                    <a:cubicBezTo>
                      <a:pt x="380" y="348"/>
                      <a:pt x="380" y="348"/>
                      <a:pt x="380" y="348"/>
                    </a:cubicBezTo>
                    <a:cubicBezTo>
                      <a:pt x="380" y="349"/>
                      <a:pt x="380" y="349"/>
                      <a:pt x="380" y="349"/>
                    </a:cubicBezTo>
                    <a:cubicBezTo>
                      <a:pt x="380" y="349"/>
                      <a:pt x="380" y="349"/>
                      <a:pt x="380" y="349"/>
                    </a:cubicBezTo>
                    <a:cubicBezTo>
                      <a:pt x="380" y="350"/>
                      <a:pt x="380" y="350"/>
                      <a:pt x="380" y="350"/>
                    </a:cubicBezTo>
                    <a:cubicBezTo>
                      <a:pt x="380" y="349"/>
                      <a:pt x="380" y="349"/>
                      <a:pt x="380" y="349"/>
                    </a:cubicBezTo>
                    <a:cubicBezTo>
                      <a:pt x="380" y="349"/>
                      <a:pt x="380" y="349"/>
                      <a:pt x="380" y="349"/>
                    </a:cubicBezTo>
                    <a:cubicBezTo>
                      <a:pt x="380" y="350"/>
                      <a:pt x="380" y="350"/>
                      <a:pt x="380" y="350"/>
                    </a:cubicBezTo>
                    <a:cubicBezTo>
                      <a:pt x="380" y="349"/>
                      <a:pt x="380" y="349"/>
                      <a:pt x="380" y="349"/>
                    </a:cubicBezTo>
                    <a:cubicBezTo>
                      <a:pt x="380" y="350"/>
                      <a:pt x="380" y="350"/>
                      <a:pt x="380" y="350"/>
                    </a:cubicBezTo>
                    <a:cubicBezTo>
                      <a:pt x="380" y="349"/>
                      <a:pt x="380" y="349"/>
                      <a:pt x="380" y="349"/>
                    </a:cubicBezTo>
                    <a:cubicBezTo>
                      <a:pt x="380" y="349"/>
                      <a:pt x="380" y="349"/>
                      <a:pt x="380" y="349"/>
                    </a:cubicBezTo>
                    <a:cubicBezTo>
                      <a:pt x="380" y="350"/>
                      <a:pt x="380" y="350"/>
                      <a:pt x="380" y="350"/>
                    </a:cubicBezTo>
                    <a:cubicBezTo>
                      <a:pt x="380" y="349"/>
                      <a:pt x="380" y="349"/>
                      <a:pt x="380" y="349"/>
                    </a:cubicBezTo>
                    <a:cubicBezTo>
                      <a:pt x="380" y="350"/>
                      <a:pt x="380" y="350"/>
                      <a:pt x="380" y="350"/>
                    </a:cubicBezTo>
                    <a:cubicBezTo>
                      <a:pt x="380" y="349"/>
                      <a:pt x="380" y="349"/>
                      <a:pt x="380" y="349"/>
                    </a:cubicBezTo>
                    <a:cubicBezTo>
                      <a:pt x="380" y="349"/>
                      <a:pt x="380" y="349"/>
                      <a:pt x="380" y="349"/>
                    </a:cubicBezTo>
                    <a:cubicBezTo>
                      <a:pt x="380" y="350"/>
                      <a:pt x="380" y="350"/>
                      <a:pt x="380" y="350"/>
                    </a:cubicBezTo>
                    <a:cubicBezTo>
                      <a:pt x="380" y="349"/>
                      <a:pt x="380" y="349"/>
                      <a:pt x="380" y="349"/>
                    </a:cubicBezTo>
                    <a:cubicBezTo>
                      <a:pt x="380" y="350"/>
                      <a:pt x="380" y="350"/>
                      <a:pt x="380" y="350"/>
                    </a:cubicBezTo>
                    <a:cubicBezTo>
                      <a:pt x="380" y="349"/>
                      <a:pt x="380" y="349"/>
                      <a:pt x="380" y="349"/>
                    </a:cubicBezTo>
                    <a:cubicBezTo>
                      <a:pt x="380" y="349"/>
                      <a:pt x="380" y="349"/>
                      <a:pt x="380" y="349"/>
                    </a:cubicBezTo>
                    <a:cubicBezTo>
                      <a:pt x="380" y="350"/>
                      <a:pt x="380" y="350"/>
                      <a:pt x="380" y="350"/>
                    </a:cubicBezTo>
                    <a:cubicBezTo>
                      <a:pt x="380" y="349"/>
                      <a:pt x="380" y="349"/>
                      <a:pt x="380" y="349"/>
                    </a:cubicBezTo>
                    <a:cubicBezTo>
                      <a:pt x="380" y="349"/>
                      <a:pt x="380" y="349"/>
                      <a:pt x="380" y="349"/>
                    </a:cubicBezTo>
                    <a:cubicBezTo>
                      <a:pt x="380" y="349"/>
                      <a:pt x="380" y="349"/>
                      <a:pt x="380" y="348"/>
                    </a:cubicBezTo>
                    <a:cubicBezTo>
                      <a:pt x="356" y="286"/>
                      <a:pt x="356" y="286"/>
                      <a:pt x="356" y="286"/>
                    </a:cubicBezTo>
                    <a:cubicBezTo>
                      <a:pt x="355" y="284"/>
                      <a:pt x="354" y="283"/>
                      <a:pt x="353" y="282"/>
                    </a:cubicBezTo>
                    <a:cubicBezTo>
                      <a:pt x="352" y="281"/>
                      <a:pt x="351" y="280"/>
                      <a:pt x="349" y="280"/>
                    </a:cubicBezTo>
                    <a:cubicBezTo>
                      <a:pt x="348" y="280"/>
                      <a:pt x="347" y="280"/>
                      <a:pt x="347" y="281"/>
                    </a:cubicBezTo>
                    <a:cubicBezTo>
                      <a:pt x="346" y="281"/>
                      <a:pt x="346" y="281"/>
                      <a:pt x="346" y="281"/>
                    </a:cubicBezTo>
                    <a:cubicBezTo>
                      <a:pt x="345" y="281"/>
                      <a:pt x="344" y="281"/>
                      <a:pt x="342" y="279"/>
                    </a:cubicBezTo>
                    <a:cubicBezTo>
                      <a:pt x="331" y="268"/>
                      <a:pt x="331" y="268"/>
                      <a:pt x="331" y="268"/>
                    </a:cubicBezTo>
                    <a:cubicBezTo>
                      <a:pt x="330" y="266"/>
                      <a:pt x="328" y="265"/>
                      <a:pt x="326" y="264"/>
                    </a:cubicBezTo>
                    <a:cubicBezTo>
                      <a:pt x="325" y="263"/>
                      <a:pt x="323" y="263"/>
                      <a:pt x="321" y="263"/>
                    </a:cubicBezTo>
                    <a:cubicBezTo>
                      <a:pt x="304" y="263"/>
                      <a:pt x="304" y="263"/>
                      <a:pt x="304" y="263"/>
                    </a:cubicBezTo>
                    <a:cubicBezTo>
                      <a:pt x="303" y="263"/>
                      <a:pt x="301" y="262"/>
                      <a:pt x="300" y="262"/>
                    </a:cubicBezTo>
                    <a:cubicBezTo>
                      <a:pt x="298" y="261"/>
                      <a:pt x="297" y="261"/>
                      <a:pt x="296" y="260"/>
                    </a:cubicBezTo>
                    <a:cubicBezTo>
                      <a:pt x="260" y="232"/>
                      <a:pt x="260" y="232"/>
                      <a:pt x="260" y="232"/>
                    </a:cubicBezTo>
                    <a:cubicBezTo>
                      <a:pt x="259" y="231"/>
                      <a:pt x="257" y="231"/>
                      <a:pt x="256" y="231"/>
                    </a:cubicBezTo>
                    <a:cubicBezTo>
                      <a:pt x="253" y="231"/>
                      <a:pt x="251" y="232"/>
                      <a:pt x="249" y="234"/>
                    </a:cubicBezTo>
                    <a:cubicBezTo>
                      <a:pt x="249" y="235"/>
                      <a:pt x="249" y="235"/>
                      <a:pt x="249" y="235"/>
                    </a:cubicBezTo>
                    <a:cubicBezTo>
                      <a:pt x="249" y="235"/>
                      <a:pt x="249" y="235"/>
                      <a:pt x="249" y="235"/>
                    </a:cubicBezTo>
                    <a:cubicBezTo>
                      <a:pt x="249" y="235"/>
                      <a:pt x="249" y="235"/>
                      <a:pt x="249" y="235"/>
                    </a:cubicBezTo>
                    <a:cubicBezTo>
                      <a:pt x="248" y="236"/>
                      <a:pt x="247" y="238"/>
                      <a:pt x="247" y="240"/>
                    </a:cubicBezTo>
                    <a:cubicBezTo>
                      <a:pt x="247" y="242"/>
                      <a:pt x="248" y="245"/>
                      <a:pt x="249" y="246"/>
                    </a:cubicBezTo>
                    <a:cubicBezTo>
                      <a:pt x="268" y="265"/>
                      <a:pt x="268" y="265"/>
                      <a:pt x="268" y="265"/>
                    </a:cubicBezTo>
                    <a:cubicBezTo>
                      <a:pt x="269" y="266"/>
                      <a:pt x="271" y="267"/>
                      <a:pt x="273" y="268"/>
                    </a:cubicBezTo>
                    <a:cubicBezTo>
                      <a:pt x="275" y="269"/>
                      <a:pt x="277" y="269"/>
                      <a:pt x="279" y="269"/>
                    </a:cubicBezTo>
                    <a:cubicBezTo>
                      <a:pt x="282" y="269"/>
                      <a:pt x="282" y="269"/>
                      <a:pt x="282" y="269"/>
                    </a:cubicBezTo>
                    <a:cubicBezTo>
                      <a:pt x="283" y="269"/>
                      <a:pt x="285" y="270"/>
                      <a:pt x="286" y="270"/>
                    </a:cubicBezTo>
                    <a:cubicBezTo>
                      <a:pt x="288" y="271"/>
                      <a:pt x="289" y="272"/>
                      <a:pt x="290" y="272"/>
                    </a:cubicBezTo>
                    <a:cubicBezTo>
                      <a:pt x="295" y="275"/>
                      <a:pt x="295" y="275"/>
                      <a:pt x="295" y="275"/>
                    </a:cubicBezTo>
                    <a:cubicBezTo>
                      <a:pt x="296" y="276"/>
                      <a:pt x="296" y="277"/>
                      <a:pt x="296" y="278"/>
                    </a:cubicBezTo>
                    <a:cubicBezTo>
                      <a:pt x="296" y="279"/>
                      <a:pt x="296" y="280"/>
                      <a:pt x="295" y="281"/>
                    </a:cubicBezTo>
                    <a:cubicBezTo>
                      <a:pt x="271" y="317"/>
                      <a:pt x="271" y="317"/>
                      <a:pt x="271" y="317"/>
                    </a:cubicBezTo>
                    <a:cubicBezTo>
                      <a:pt x="270" y="318"/>
                      <a:pt x="269" y="319"/>
                      <a:pt x="267" y="320"/>
                    </a:cubicBezTo>
                    <a:cubicBezTo>
                      <a:pt x="266" y="320"/>
                      <a:pt x="265" y="321"/>
                      <a:pt x="264" y="321"/>
                    </a:cubicBezTo>
                    <a:cubicBezTo>
                      <a:pt x="257" y="321"/>
                      <a:pt x="257" y="321"/>
                      <a:pt x="257" y="321"/>
                    </a:cubicBezTo>
                    <a:cubicBezTo>
                      <a:pt x="256" y="321"/>
                      <a:pt x="255" y="320"/>
                      <a:pt x="253" y="320"/>
                    </a:cubicBezTo>
                    <a:cubicBezTo>
                      <a:pt x="252" y="319"/>
                      <a:pt x="250" y="318"/>
                      <a:pt x="249" y="317"/>
                    </a:cubicBezTo>
                    <a:cubicBezTo>
                      <a:pt x="240" y="309"/>
                      <a:pt x="240" y="309"/>
                      <a:pt x="240" y="309"/>
                    </a:cubicBezTo>
                    <a:cubicBezTo>
                      <a:pt x="238" y="307"/>
                      <a:pt x="235" y="303"/>
                      <a:pt x="234" y="300"/>
                    </a:cubicBezTo>
                    <a:cubicBezTo>
                      <a:pt x="214" y="254"/>
                      <a:pt x="214" y="254"/>
                      <a:pt x="214" y="254"/>
                    </a:cubicBezTo>
                    <a:cubicBezTo>
                      <a:pt x="213" y="253"/>
                      <a:pt x="212" y="251"/>
                      <a:pt x="211" y="250"/>
                    </a:cubicBezTo>
                    <a:cubicBezTo>
                      <a:pt x="209" y="248"/>
                      <a:pt x="208" y="247"/>
                      <a:pt x="206" y="247"/>
                    </a:cubicBezTo>
                    <a:cubicBezTo>
                      <a:pt x="205" y="247"/>
                      <a:pt x="203" y="248"/>
                      <a:pt x="203" y="249"/>
                    </a:cubicBezTo>
                    <a:cubicBezTo>
                      <a:pt x="202" y="250"/>
                      <a:pt x="202" y="251"/>
                      <a:pt x="202" y="252"/>
                    </a:cubicBezTo>
                    <a:cubicBezTo>
                      <a:pt x="202" y="254"/>
                      <a:pt x="202" y="255"/>
                      <a:pt x="203" y="256"/>
                    </a:cubicBezTo>
                    <a:cubicBezTo>
                      <a:pt x="232" y="331"/>
                      <a:pt x="232" y="331"/>
                      <a:pt x="232" y="331"/>
                    </a:cubicBezTo>
                    <a:cubicBezTo>
                      <a:pt x="233" y="333"/>
                      <a:pt x="234" y="334"/>
                      <a:pt x="236" y="336"/>
                    </a:cubicBezTo>
                    <a:cubicBezTo>
                      <a:pt x="237" y="337"/>
                      <a:pt x="239" y="338"/>
                      <a:pt x="241" y="338"/>
                    </a:cubicBezTo>
                    <a:cubicBezTo>
                      <a:pt x="242" y="338"/>
                      <a:pt x="242" y="338"/>
                      <a:pt x="242" y="338"/>
                    </a:cubicBezTo>
                    <a:cubicBezTo>
                      <a:pt x="266" y="336"/>
                      <a:pt x="266" y="336"/>
                      <a:pt x="266" y="336"/>
                    </a:cubicBezTo>
                    <a:cubicBezTo>
                      <a:pt x="266" y="336"/>
                      <a:pt x="266" y="336"/>
                      <a:pt x="266" y="336"/>
                    </a:cubicBezTo>
                    <a:cubicBezTo>
                      <a:pt x="267" y="336"/>
                      <a:pt x="267" y="336"/>
                      <a:pt x="267" y="336"/>
                    </a:cubicBezTo>
                    <a:cubicBezTo>
                      <a:pt x="267" y="337"/>
                      <a:pt x="267" y="337"/>
                      <a:pt x="267" y="337"/>
                    </a:cubicBezTo>
                    <a:cubicBezTo>
                      <a:pt x="267" y="338"/>
                      <a:pt x="267" y="338"/>
                      <a:pt x="266" y="339"/>
                    </a:cubicBezTo>
                    <a:cubicBezTo>
                      <a:pt x="250" y="380"/>
                      <a:pt x="250" y="380"/>
                      <a:pt x="250" y="380"/>
                    </a:cubicBezTo>
                    <a:cubicBezTo>
                      <a:pt x="248" y="383"/>
                      <a:pt x="246" y="388"/>
                      <a:pt x="244" y="390"/>
                    </a:cubicBezTo>
                    <a:cubicBezTo>
                      <a:pt x="223" y="415"/>
                      <a:pt x="223" y="415"/>
                      <a:pt x="223" y="415"/>
                    </a:cubicBezTo>
                    <a:cubicBezTo>
                      <a:pt x="222" y="417"/>
                      <a:pt x="221" y="419"/>
                      <a:pt x="220" y="421"/>
                    </a:cubicBezTo>
                    <a:cubicBezTo>
                      <a:pt x="220" y="423"/>
                      <a:pt x="219" y="426"/>
                      <a:pt x="219" y="428"/>
                    </a:cubicBezTo>
                    <a:cubicBezTo>
                      <a:pt x="219" y="437"/>
                      <a:pt x="219" y="437"/>
                      <a:pt x="219" y="437"/>
                    </a:cubicBezTo>
                    <a:cubicBezTo>
                      <a:pt x="219" y="441"/>
                      <a:pt x="220" y="447"/>
                      <a:pt x="222" y="450"/>
                    </a:cubicBezTo>
                    <a:cubicBezTo>
                      <a:pt x="222" y="450"/>
                      <a:pt x="222" y="450"/>
                      <a:pt x="222" y="450"/>
                    </a:cubicBezTo>
                    <a:cubicBezTo>
                      <a:pt x="223" y="451"/>
                      <a:pt x="223" y="451"/>
                      <a:pt x="223" y="451"/>
                    </a:cubicBezTo>
                    <a:cubicBezTo>
                      <a:pt x="223" y="451"/>
                      <a:pt x="223" y="451"/>
                      <a:pt x="223" y="451"/>
                    </a:cubicBezTo>
                    <a:cubicBezTo>
                      <a:pt x="224" y="454"/>
                      <a:pt x="225" y="459"/>
                      <a:pt x="225" y="462"/>
                    </a:cubicBezTo>
                    <a:cubicBezTo>
                      <a:pt x="225" y="481"/>
                      <a:pt x="225" y="481"/>
                      <a:pt x="225" y="481"/>
                    </a:cubicBezTo>
                    <a:cubicBezTo>
                      <a:pt x="225" y="482"/>
                      <a:pt x="225" y="484"/>
                      <a:pt x="224" y="486"/>
                    </a:cubicBezTo>
                    <a:cubicBezTo>
                      <a:pt x="224" y="488"/>
                      <a:pt x="223" y="489"/>
                      <a:pt x="222" y="490"/>
                    </a:cubicBezTo>
                    <a:cubicBezTo>
                      <a:pt x="206" y="506"/>
                      <a:pt x="206" y="506"/>
                      <a:pt x="206" y="506"/>
                    </a:cubicBezTo>
                    <a:cubicBezTo>
                      <a:pt x="204" y="507"/>
                      <a:pt x="203" y="509"/>
                      <a:pt x="202" y="511"/>
                    </a:cubicBezTo>
                    <a:cubicBezTo>
                      <a:pt x="202" y="513"/>
                      <a:pt x="201" y="516"/>
                      <a:pt x="201" y="518"/>
                    </a:cubicBezTo>
                    <a:cubicBezTo>
                      <a:pt x="201" y="526"/>
                      <a:pt x="201" y="526"/>
                      <a:pt x="201" y="526"/>
                    </a:cubicBezTo>
                    <a:cubicBezTo>
                      <a:pt x="201" y="527"/>
                      <a:pt x="201" y="529"/>
                      <a:pt x="200" y="531"/>
                    </a:cubicBezTo>
                    <a:cubicBezTo>
                      <a:pt x="199" y="533"/>
                      <a:pt x="199" y="535"/>
                      <a:pt x="198" y="536"/>
                    </a:cubicBezTo>
                    <a:cubicBezTo>
                      <a:pt x="170" y="570"/>
                      <a:pt x="170" y="570"/>
                      <a:pt x="170" y="570"/>
                    </a:cubicBezTo>
                    <a:cubicBezTo>
                      <a:pt x="169" y="571"/>
                      <a:pt x="168" y="573"/>
                      <a:pt x="166" y="574"/>
                    </a:cubicBezTo>
                    <a:cubicBezTo>
                      <a:pt x="165" y="575"/>
                      <a:pt x="163" y="576"/>
                      <a:pt x="162" y="576"/>
                    </a:cubicBezTo>
                    <a:cubicBezTo>
                      <a:pt x="142" y="582"/>
                      <a:pt x="142" y="582"/>
                      <a:pt x="142" y="582"/>
                    </a:cubicBezTo>
                    <a:cubicBezTo>
                      <a:pt x="142" y="582"/>
                      <a:pt x="142" y="582"/>
                      <a:pt x="142" y="582"/>
                    </a:cubicBezTo>
                    <a:cubicBezTo>
                      <a:pt x="141" y="582"/>
                      <a:pt x="141" y="582"/>
                      <a:pt x="140" y="582"/>
                    </a:cubicBezTo>
                    <a:cubicBezTo>
                      <a:pt x="139" y="581"/>
                      <a:pt x="139" y="580"/>
                      <a:pt x="138" y="579"/>
                    </a:cubicBezTo>
                    <a:cubicBezTo>
                      <a:pt x="111" y="492"/>
                      <a:pt x="111" y="492"/>
                      <a:pt x="111" y="492"/>
                    </a:cubicBezTo>
                    <a:cubicBezTo>
                      <a:pt x="111" y="491"/>
                      <a:pt x="111" y="489"/>
                      <a:pt x="111" y="487"/>
                    </a:cubicBezTo>
                    <a:cubicBezTo>
                      <a:pt x="111" y="485"/>
                      <a:pt x="111" y="483"/>
                      <a:pt x="112" y="481"/>
                    </a:cubicBezTo>
                    <a:cubicBezTo>
                      <a:pt x="117" y="467"/>
                      <a:pt x="117" y="467"/>
                      <a:pt x="117" y="467"/>
                    </a:cubicBezTo>
                    <a:cubicBezTo>
                      <a:pt x="118" y="465"/>
                      <a:pt x="118" y="462"/>
                      <a:pt x="118" y="459"/>
                    </a:cubicBezTo>
                    <a:cubicBezTo>
                      <a:pt x="118" y="457"/>
                      <a:pt x="118" y="455"/>
                      <a:pt x="118" y="453"/>
                    </a:cubicBezTo>
                    <a:cubicBezTo>
                      <a:pt x="108" y="415"/>
                      <a:pt x="108" y="415"/>
                      <a:pt x="108" y="415"/>
                    </a:cubicBezTo>
                    <a:cubicBezTo>
                      <a:pt x="108" y="412"/>
                      <a:pt x="107" y="406"/>
                      <a:pt x="107" y="403"/>
                    </a:cubicBezTo>
                    <a:cubicBezTo>
                      <a:pt x="107" y="388"/>
                      <a:pt x="107" y="388"/>
                      <a:pt x="107" y="388"/>
                    </a:cubicBezTo>
                    <a:cubicBezTo>
                      <a:pt x="107" y="385"/>
                      <a:pt x="106" y="383"/>
                      <a:pt x="105" y="381"/>
                    </a:cubicBezTo>
                    <a:cubicBezTo>
                      <a:pt x="104" y="379"/>
                      <a:pt x="103" y="377"/>
                      <a:pt x="102" y="376"/>
                    </a:cubicBezTo>
                    <a:cubicBezTo>
                      <a:pt x="82" y="361"/>
                      <a:pt x="82" y="361"/>
                      <a:pt x="82" y="361"/>
                    </a:cubicBezTo>
                    <a:cubicBezTo>
                      <a:pt x="81" y="360"/>
                      <a:pt x="78" y="359"/>
                      <a:pt x="76" y="359"/>
                    </a:cubicBezTo>
                    <a:cubicBezTo>
                      <a:pt x="74" y="359"/>
                      <a:pt x="73" y="360"/>
                      <a:pt x="71" y="361"/>
                    </a:cubicBezTo>
                    <a:cubicBezTo>
                      <a:pt x="58" y="368"/>
                      <a:pt x="58" y="368"/>
                      <a:pt x="58" y="368"/>
                    </a:cubicBezTo>
                    <a:cubicBezTo>
                      <a:pt x="56" y="369"/>
                      <a:pt x="53" y="370"/>
                      <a:pt x="51" y="370"/>
                    </a:cubicBezTo>
                    <a:cubicBezTo>
                      <a:pt x="50" y="370"/>
                      <a:pt x="50" y="370"/>
                      <a:pt x="50" y="370"/>
                    </a:cubicBezTo>
                    <a:cubicBezTo>
                      <a:pt x="19" y="363"/>
                      <a:pt x="19" y="363"/>
                      <a:pt x="19" y="363"/>
                    </a:cubicBezTo>
                    <a:cubicBezTo>
                      <a:pt x="18" y="363"/>
                      <a:pt x="17" y="363"/>
                      <a:pt x="16" y="361"/>
                    </a:cubicBezTo>
                    <a:cubicBezTo>
                      <a:pt x="15" y="360"/>
                      <a:pt x="15" y="359"/>
                      <a:pt x="14" y="358"/>
                    </a:cubicBezTo>
                    <a:cubicBezTo>
                      <a:pt x="5" y="311"/>
                      <a:pt x="5" y="311"/>
                      <a:pt x="5" y="311"/>
                    </a:cubicBezTo>
                    <a:cubicBezTo>
                      <a:pt x="3" y="312"/>
                      <a:pt x="3" y="312"/>
                      <a:pt x="3" y="312"/>
                    </a:cubicBezTo>
                    <a:cubicBezTo>
                      <a:pt x="0" y="312"/>
                      <a:pt x="0" y="312"/>
                      <a:pt x="0" y="312"/>
                    </a:cubicBezTo>
                    <a:cubicBezTo>
                      <a:pt x="10" y="358"/>
                      <a:pt x="10" y="358"/>
                      <a:pt x="10" y="358"/>
                    </a:cubicBezTo>
                    <a:cubicBezTo>
                      <a:pt x="11" y="361"/>
                      <a:pt x="12" y="363"/>
                      <a:pt x="13" y="364"/>
                    </a:cubicBezTo>
                    <a:cubicBezTo>
                      <a:pt x="14" y="366"/>
                      <a:pt x="16" y="367"/>
                      <a:pt x="18" y="368"/>
                    </a:cubicBezTo>
                    <a:cubicBezTo>
                      <a:pt x="49" y="374"/>
                      <a:pt x="49" y="374"/>
                      <a:pt x="49" y="374"/>
                    </a:cubicBezTo>
                    <a:cubicBezTo>
                      <a:pt x="50" y="374"/>
                      <a:pt x="50" y="374"/>
                      <a:pt x="51" y="374"/>
                    </a:cubicBezTo>
                    <a:cubicBezTo>
                      <a:pt x="54" y="374"/>
                      <a:pt x="57" y="373"/>
                      <a:pt x="60" y="372"/>
                    </a:cubicBezTo>
                    <a:cubicBezTo>
                      <a:pt x="73" y="364"/>
                      <a:pt x="73" y="364"/>
                      <a:pt x="73" y="364"/>
                    </a:cubicBezTo>
                    <a:cubicBezTo>
                      <a:pt x="74" y="364"/>
                      <a:pt x="75" y="364"/>
                      <a:pt x="76" y="364"/>
                    </a:cubicBezTo>
                    <a:cubicBezTo>
                      <a:pt x="77" y="364"/>
                      <a:pt x="79" y="364"/>
                      <a:pt x="80" y="365"/>
                    </a:cubicBezTo>
                    <a:cubicBezTo>
                      <a:pt x="99" y="379"/>
                      <a:pt x="99" y="379"/>
                      <a:pt x="99" y="379"/>
                    </a:cubicBezTo>
                    <a:cubicBezTo>
                      <a:pt x="100" y="380"/>
                      <a:pt x="101" y="381"/>
                      <a:pt x="101" y="383"/>
                    </a:cubicBezTo>
                    <a:cubicBezTo>
                      <a:pt x="102" y="384"/>
                      <a:pt x="103" y="386"/>
                      <a:pt x="103" y="388"/>
                    </a:cubicBezTo>
                    <a:cubicBezTo>
                      <a:pt x="103" y="403"/>
                      <a:pt x="103" y="403"/>
                      <a:pt x="103" y="403"/>
                    </a:cubicBezTo>
                    <a:cubicBezTo>
                      <a:pt x="103" y="407"/>
                      <a:pt x="103" y="413"/>
                      <a:pt x="104" y="416"/>
                    </a:cubicBezTo>
                    <a:cubicBezTo>
                      <a:pt x="114" y="454"/>
                      <a:pt x="114" y="454"/>
                      <a:pt x="114" y="454"/>
                    </a:cubicBezTo>
                    <a:cubicBezTo>
                      <a:pt x="114" y="456"/>
                      <a:pt x="114" y="457"/>
                      <a:pt x="114" y="459"/>
                    </a:cubicBezTo>
                    <a:cubicBezTo>
                      <a:pt x="114" y="461"/>
                      <a:pt x="114" y="464"/>
                      <a:pt x="113" y="466"/>
                    </a:cubicBezTo>
                    <a:cubicBezTo>
                      <a:pt x="108" y="480"/>
                      <a:pt x="108" y="480"/>
                      <a:pt x="108" y="480"/>
                    </a:cubicBezTo>
                    <a:cubicBezTo>
                      <a:pt x="107" y="482"/>
                      <a:pt x="107" y="485"/>
                      <a:pt x="107" y="487"/>
                    </a:cubicBezTo>
                    <a:cubicBezTo>
                      <a:pt x="107" y="489"/>
                      <a:pt x="107" y="491"/>
                      <a:pt x="107" y="493"/>
                    </a:cubicBezTo>
                    <a:cubicBezTo>
                      <a:pt x="134" y="580"/>
                      <a:pt x="134" y="580"/>
                      <a:pt x="134" y="580"/>
                    </a:cubicBezTo>
                    <a:cubicBezTo>
                      <a:pt x="135" y="582"/>
                      <a:pt x="136" y="584"/>
                      <a:pt x="137" y="585"/>
                    </a:cubicBezTo>
                    <a:cubicBezTo>
                      <a:pt x="138" y="586"/>
                      <a:pt x="140" y="587"/>
                      <a:pt x="142" y="587"/>
                    </a:cubicBezTo>
                    <a:cubicBezTo>
                      <a:pt x="142" y="587"/>
                      <a:pt x="143" y="587"/>
                      <a:pt x="144" y="586"/>
                    </a:cubicBezTo>
                    <a:cubicBezTo>
                      <a:pt x="164" y="580"/>
                      <a:pt x="164" y="580"/>
                      <a:pt x="164" y="580"/>
                    </a:cubicBezTo>
                    <a:cubicBezTo>
                      <a:pt x="165" y="579"/>
                      <a:pt x="167" y="578"/>
                      <a:pt x="169" y="577"/>
                    </a:cubicBezTo>
                    <a:cubicBezTo>
                      <a:pt x="171" y="576"/>
                      <a:pt x="172" y="575"/>
                      <a:pt x="173" y="573"/>
                    </a:cubicBezTo>
                    <a:cubicBezTo>
                      <a:pt x="201" y="539"/>
                      <a:pt x="201" y="539"/>
                      <a:pt x="201" y="539"/>
                    </a:cubicBezTo>
                    <a:cubicBezTo>
                      <a:pt x="202" y="537"/>
                      <a:pt x="203" y="535"/>
                      <a:pt x="204" y="533"/>
                    </a:cubicBezTo>
                    <a:cubicBezTo>
                      <a:pt x="205" y="530"/>
                      <a:pt x="205" y="528"/>
                      <a:pt x="205" y="526"/>
                    </a:cubicBezTo>
                    <a:cubicBezTo>
                      <a:pt x="205" y="518"/>
                      <a:pt x="205" y="518"/>
                      <a:pt x="205" y="518"/>
                    </a:cubicBezTo>
                    <a:cubicBezTo>
                      <a:pt x="205" y="516"/>
                      <a:pt x="206" y="515"/>
                      <a:pt x="206" y="513"/>
                    </a:cubicBezTo>
                    <a:cubicBezTo>
                      <a:pt x="207" y="511"/>
                      <a:pt x="208" y="510"/>
                      <a:pt x="209" y="509"/>
                    </a:cubicBezTo>
                    <a:cubicBezTo>
                      <a:pt x="225" y="493"/>
                      <a:pt x="225" y="493"/>
                      <a:pt x="225" y="493"/>
                    </a:cubicBezTo>
                    <a:cubicBezTo>
                      <a:pt x="226" y="492"/>
                      <a:pt x="227" y="490"/>
                      <a:pt x="228" y="488"/>
                    </a:cubicBezTo>
                    <a:cubicBezTo>
                      <a:pt x="229" y="485"/>
                      <a:pt x="230" y="483"/>
                      <a:pt x="230" y="481"/>
                    </a:cubicBezTo>
                    <a:cubicBezTo>
                      <a:pt x="230" y="462"/>
                      <a:pt x="230" y="462"/>
                      <a:pt x="230" y="462"/>
                    </a:cubicBezTo>
                    <a:cubicBezTo>
                      <a:pt x="230" y="458"/>
                      <a:pt x="228" y="453"/>
                      <a:pt x="226" y="449"/>
                    </a:cubicBezTo>
                    <a:cubicBezTo>
                      <a:pt x="226" y="449"/>
                      <a:pt x="226" y="449"/>
                      <a:pt x="226" y="449"/>
                    </a:cubicBezTo>
                    <a:cubicBezTo>
                      <a:pt x="226" y="448"/>
                      <a:pt x="226" y="448"/>
                      <a:pt x="226" y="448"/>
                    </a:cubicBezTo>
                    <a:cubicBezTo>
                      <a:pt x="226" y="448"/>
                      <a:pt x="226" y="448"/>
                      <a:pt x="226" y="448"/>
                    </a:cubicBezTo>
                    <a:cubicBezTo>
                      <a:pt x="225" y="446"/>
                      <a:pt x="223" y="440"/>
                      <a:pt x="223" y="437"/>
                    </a:cubicBezTo>
                    <a:cubicBezTo>
                      <a:pt x="223" y="428"/>
                      <a:pt x="223" y="428"/>
                      <a:pt x="223" y="428"/>
                    </a:cubicBezTo>
                    <a:cubicBezTo>
                      <a:pt x="223" y="426"/>
                      <a:pt x="224" y="424"/>
                      <a:pt x="224" y="423"/>
                    </a:cubicBezTo>
                    <a:cubicBezTo>
                      <a:pt x="225" y="421"/>
                      <a:pt x="226" y="419"/>
                      <a:pt x="227" y="418"/>
                    </a:cubicBezTo>
                    <a:cubicBezTo>
                      <a:pt x="247" y="393"/>
                      <a:pt x="247" y="393"/>
                      <a:pt x="247" y="393"/>
                    </a:cubicBezTo>
                    <a:cubicBezTo>
                      <a:pt x="249" y="390"/>
                      <a:pt x="252" y="385"/>
                      <a:pt x="254" y="382"/>
                    </a:cubicBezTo>
                    <a:cubicBezTo>
                      <a:pt x="270" y="340"/>
                      <a:pt x="270" y="340"/>
                      <a:pt x="270" y="340"/>
                    </a:cubicBezTo>
                    <a:cubicBezTo>
                      <a:pt x="271" y="339"/>
                      <a:pt x="271" y="338"/>
                      <a:pt x="271" y="337"/>
                    </a:cubicBezTo>
                    <a:cubicBezTo>
                      <a:pt x="271" y="336"/>
                      <a:pt x="271" y="334"/>
                      <a:pt x="270" y="333"/>
                    </a:cubicBezTo>
                    <a:cubicBezTo>
                      <a:pt x="269" y="332"/>
                      <a:pt x="267" y="332"/>
                      <a:pt x="266" y="332"/>
                    </a:cubicBezTo>
                    <a:cubicBezTo>
                      <a:pt x="266" y="332"/>
                      <a:pt x="266" y="332"/>
                      <a:pt x="266" y="332"/>
                    </a:cubicBezTo>
                    <a:cubicBezTo>
                      <a:pt x="242" y="334"/>
                      <a:pt x="242" y="334"/>
                      <a:pt x="242" y="334"/>
                    </a:cubicBezTo>
                    <a:cubicBezTo>
                      <a:pt x="241" y="334"/>
                      <a:pt x="241" y="334"/>
                      <a:pt x="241" y="334"/>
                    </a:cubicBezTo>
                    <a:cubicBezTo>
                      <a:pt x="241" y="334"/>
                      <a:pt x="240" y="333"/>
                      <a:pt x="239" y="332"/>
                    </a:cubicBezTo>
                    <a:cubicBezTo>
                      <a:pt x="238" y="332"/>
                      <a:pt x="237" y="330"/>
                      <a:pt x="236" y="329"/>
                    </a:cubicBezTo>
                    <a:cubicBezTo>
                      <a:pt x="207" y="255"/>
                      <a:pt x="207" y="255"/>
                      <a:pt x="207" y="255"/>
                    </a:cubicBezTo>
                    <a:cubicBezTo>
                      <a:pt x="206" y="254"/>
                      <a:pt x="206" y="253"/>
                      <a:pt x="206" y="252"/>
                    </a:cubicBezTo>
                    <a:cubicBezTo>
                      <a:pt x="206" y="252"/>
                      <a:pt x="206" y="252"/>
                      <a:pt x="206" y="252"/>
                    </a:cubicBezTo>
                    <a:cubicBezTo>
                      <a:pt x="206" y="252"/>
                      <a:pt x="206" y="252"/>
                      <a:pt x="206" y="252"/>
                    </a:cubicBezTo>
                    <a:cubicBezTo>
                      <a:pt x="206" y="251"/>
                      <a:pt x="206" y="251"/>
                      <a:pt x="206" y="251"/>
                    </a:cubicBezTo>
                    <a:cubicBezTo>
                      <a:pt x="206" y="252"/>
                      <a:pt x="206" y="252"/>
                      <a:pt x="206" y="252"/>
                    </a:cubicBezTo>
                    <a:cubicBezTo>
                      <a:pt x="206" y="252"/>
                      <a:pt x="206" y="252"/>
                      <a:pt x="206" y="252"/>
                    </a:cubicBezTo>
                    <a:cubicBezTo>
                      <a:pt x="206" y="251"/>
                      <a:pt x="206" y="251"/>
                      <a:pt x="206" y="251"/>
                    </a:cubicBezTo>
                    <a:cubicBezTo>
                      <a:pt x="206" y="252"/>
                      <a:pt x="206" y="252"/>
                      <a:pt x="206" y="252"/>
                    </a:cubicBezTo>
                    <a:cubicBezTo>
                      <a:pt x="206" y="251"/>
                      <a:pt x="206" y="251"/>
                      <a:pt x="206" y="251"/>
                    </a:cubicBezTo>
                    <a:cubicBezTo>
                      <a:pt x="206" y="252"/>
                      <a:pt x="206" y="252"/>
                      <a:pt x="206" y="252"/>
                    </a:cubicBezTo>
                    <a:cubicBezTo>
                      <a:pt x="206" y="252"/>
                      <a:pt x="206" y="252"/>
                      <a:pt x="206" y="252"/>
                    </a:cubicBezTo>
                    <a:cubicBezTo>
                      <a:pt x="206" y="251"/>
                      <a:pt x="206" y="251"/>
                      <a:pt x="206" y="251"/>
                    </a:cubicBezTo>
                    <a:cubicBezTo>
                      <a:pt x="206" y="252"/>
                      <a:pt x="206" y="252"/>
                      <a:pt x="206" y="252"/>
                    </a:cubicBezTo>
                    <a:cubicBezTo>
                      <a:pt x="206" y="251"/>
                      <a:pt x="206" y="251"/>
                      <a:pt x="206" y="251"/>
                    </a:cubicBezTo>
                    <a:cubicBezTo>
                      <a:pt x="206" y="252"/>
                      <a:pt x="206" y="252"/>
                      <a:pt x="206" y="252"/>
                    </a:cubicBezTo>
                    <a:cubicBezTo>
                      <a:pt x="206" y="252"/>
                      <a:pt x="206" y="252"/>
                      <a:pt x="206" y="252"/>
                    </a:cubicBezTo>
                    <a:cubicBezTo>
                      <a:pt x="206" y="251"/>
                      <a:pt x="206" y="251"/>
                      <a:pt x="206" y="251"/>
                    </a:cubicBezTo>
                    <a:cubicBezTo>
                      <a:pt x="206" y="252"/>
                      <a:pt x="206" y="252"/>
                      <a:pt x="206" y="252"/>
                    </a:cubicBezTo>
                    <a:cubicBezTo>
                      <a:pt x="206" y="252"/>
                      <a:pt x="207" y="252"/>
                      <a:pt x="208" y="253"/>
                    </a:cubicBezTo>
                    <a:cubicBezTo>
                      <a:pt x="209" y="254"/>
                      <a:pt x="210" y="255"/>
                      <a:pt x="210" y="256"/>
                    </a:cubicBezTo>
                    <a:cubicBezTo>
                      <a:pt x="230" y="301"/>
                      <a:pt x="230" y="301"/>
                      <a:pt x="230" y="301"/>
                    </a:cubicBezTo>
                    <a:cubicBezTo>
                      <a:pt x="232" y="305"/>
                      <a:pt x="235" y="309"/>
                      <a:pt x="237" y="312"/>
                    </a:cubicBezTo>
                    <a:cubicBezTo>
                      <a:pt x="246" y="321"/>
                      <a:pt x="246" y="321"/>
                      <a:pt x="246" y="321"/>
                    </a:cubicBezTo>
                    <a:cubicBezTo>
                      <a:pt x="248" y="322"/>
                      <a:pt x="249" y="323"/>
                      <a:pt x="251" y="324"/>
                    </a:cubicBezTo>
                    <a:cubicBezTo>
                      <a:pt x="253" y="325"/>
                      <a:pt x="255" y="325"/>
                      <a:pt x="257" y="325"/>
                    </a:cubicBezTo>
                    <a:cubicBezTo>
                      <a:pt x="264" y="325"/>
                      <a:pt x="264" y="325"/>
                      <a:pt x="264" y="325"/>
                    </a:cubicBezTo>
                    <a:cubicBezTo>
                      <a:pt x="266" y="325"/>
                      <a:pt x="268" y="324"/>
                      <a:pt x="270" y="323"/>
                    </a:cubicBezTo>
                    <a:cubicBezTo>
                      <a:pt x="271" y="322"/>
                      <a:pt x="273" y="321"/>
                      <a:pt x="274" y="319"/>
                    </a:cubicBezTo>
                    <a:cubicBezTo>
                      <a:pt x="299" y="283"/>
                      <a:pt x="299" y="283"/>
                      <a:pt x="299" y="283"/>
                    </a:cubicBezTo>
                    <a:cubicBezTo>
                      <a:pt x="300" y="282"/>
                      <a:pt x="301" y="280"/>
                      <a:pt x="301" y="278"/>
                    </a:cubicBezTo>
                    <a:cubicBezTo>
                      <a:pt x="301" y="276"/>
                      <a:pt x="299" y="273"/>
                      <a:pt x="297" y="272"/>
                    </a:cubicBezTo>
                    <a:cubicBezTo>
                      <a:pt x="293" y="269"/>
                      <a:pt x="293" y="269"/>
                      <a:pt x="293" y="269"/>
                    </a:cubicBezTo>
                    <a:cubicBezTo>
                      <a:pt x="291" y="268"/>
                      <a:pt x="289" y="267"/>
                      <a:pt x="288" y="266"/>
                    </a:cubicBezTo>
                    <a:cubicBezTo>
                      <a:pt x="286" y="266"/>
                      <a:pt x="284" y="265"/>
                      <a:pt x="282" y="265"/>
                    </a:cubicBezTo>
                    <a:cubicBezTo>
                      <a:pt x="279" y="265"/>
                      <a:pt x="279" y="265"/>
                      <a:pt x="279" y="265"/>
                    </a:cubicBezTo>
                    <a:cubicBezTo>
                      <a:pt x="278" y="265"/>
                      <a:pt x="276" y="265"/>
                      <a:pt x="275" y="264"/>
                    </a:cubicBezTo>
                    <a:cubicBezTo>
                      <a:pt x="273" y="264"/>
                      <a:pt x="272" y="263"/>
                      <a:pt x="271" y="262"/>
                    </a:cubicBezTo>
                    <a:cubicBezTo>
                      <a:pt x="253" y="243"/>
                      <a:pt x="253" y="243"/>
                      <a:pt x="253" y="243"/>
                    </a:cubicBezTo>
                    <a:cubicBezTo>
                      <a:pt x="252" y="242"/>
                      <a:pt x="251" y="241"/>
                      <a:pt x="251" y="240"/>
                    </a:cubicBezTo>
                    <a:cubicBezTo>
                      <a:pt x="251" y="239"/>
                      <a:pt x="252" y="238"/>
                      <a:pt x="252" y="237"/>
                    </a:cubicBezTo>
                    <a:cubicBezTo>
                      <a:pt x="252" y="237"/>
                      <a:pt x="252" y="237"/>
                      <a:pt x="252" y="237"/>
                    </a:cubicBezTo>
                    <a:cubicBezTo>
                      <a:pt x="253" y="237"/>
                      <a:pt x="253" y="237"/>
                      <a:pt x="253" y="237"/>
                    </a:cubicBezTo>
                    <a:cubicBezTo>
                      <a:pt x="253" y="236"/>
                      <a:pt x="255" y="235"/>
                      <a:pt x="256" y="235"/>
                    </a:cubicBezTo>
                    <a:cubicBezTo>
                      <a:pt x="256" y="235"/>
                      <a:pt x="257" y="235"/>
                      <a:pt x="258" y="236"/>
                    </a:cubicBezTo>
                    <a:cubicBezTo>
                      <a:pt x="293" y="263"/>
                      <a:pt x="293" y="263"/>
                      <a:pt x="293" y="263"/>
                    </a:cubicBezTo>
                    <a:cubicBezTo>
                      <a:pt x="295" y="264"/>
                      <a:pt x="296" y="265"/>
                      <a:pt x="298" y="266"/>
                    </a:cubicBezTo>
                    <a:cubicBezTo>
                      <a:pt x="300" y="267"/>
                      <a:pt x="302" y="267"/>
                      <a:pt x="304" y="267"/>
                    </a:cubicBezTo>
                    <a:cubicBezTo>
                      <a:pt x="321" y="267"/>
                      <a:pt x="321" y="267"/>
                      <a:pt x="321" y="267"/>
                    </a:cubicBezTo>
                    <a:cubicBezTo>
                      <a:pt x="322" y="267"/>
                      <a:pt x="323" y="267"/>
                      <a:pt x="325" y="268"/>
                    </a:cubicBezTo>
                    <a:cubicBezTo>
                      <a:pt x="326" y="269"/>
                      <a:pt x="327" y="270"/>
                      <a:pt x="328" y="271"/>
                    </a:cubicBezTo>
                    <a:cubicBezTo>
                      <a:pt x="339" y="282"/>
                      <a:pt x="339" y="282"/>
                      <a:pt x="339" y="282"/>
                    </a:cubicBezTo>
                    <a:cubicBezTo>
                      <a:pt x="341" y="284"/>
                      <a:pt x="344" y="285"/>
                      <a:pt x="346" y="285"/>
                    </a:cubicBezTo>
                    <a:cubicBezTo>
                      <a:pt x="347" y="285"/>
                      <a:pt x="348" y="285"/>
                      <a:pt x="349" y="284"/>
                    </a:cubicBezTo>
                    <a:cubicBezTo>
                      <a:pt x="349" y="284"/>
                      <a:pt x="349" y="284"/>
                      <a:pt x="349" y="284"/>
                    </a:cubicBezTo>
                    <a:cubicBezTo>
                      <a:pt x="349" y="284"/>
                      <a:pt x="349" y="284"/>
                      <a:pt x="349" y="284"/>
                    </a:cubicBezTo>
                    <a:cubicBezTo>
                      <a:pt x="349" y="284"/>
                      <a:pt x="349" y="284"/>
                      <a:pt x="349" y="284"/>
                    </a:cubicBezTo>
                    <a:cubicBezTo>
                      <a:pt x="349" y="284"/>
                      <a:pt x="349" y="284"/>
                      <a:pt x="349" y="284"/>
                    </a:cubicBezTo>
                    <a:cubicBezTo>
                      <a:pt x="349" y="284"/>
                      <a:pt x="349" y="284"/>
                      <a:pt x="349" y="284"/>
                    </a:cubicBezTo>
                    <a:cubicBezTo>
                      <a:pt x="349" y="284"/>
                      <a:pt x="349" y="284"/>
                      <a:pt x="349" y="284"/>
                    </a:cubicBezTo>
                    <a:cubicBezTo>
                      <a:pt x="349" y="284"/>
                      <a:pt x="350" y="284"/>
                      <a:pt x="350" y="285"/>
                    </a:cubicBezTo>
                    <a:cubicBezTo>
                      <a:pt x="351" y="285"/>
                      <a:pt x="351" y="286"/>
                      <a:pt x="352" y="287"/>
                    </a:cubicBezTo>
                    <a:cubicBezTo>
                      <a:pt x="376" y="350"/>
                      <a:pt x="376" y="350"/>
                      <a:pt x="376" y="350"/>
                    </a:cubicBezTo>
                    <a:cubicBezTo>
                      <a:pt x="376" y="351"/>
                      <a:pt x="377" y="352"/>
                      <a:pt x="377" y="352"/>
                    </a:cubicBezTo>
                    <a:cubicBezTo>
                      <a:pt x="378" y="353"/>
                      <a:pt x="379" y="354"/>
                      <a:pt x="380" y="354"/>
                    </a:cubicBezTo>
                    <a:cubicBezTo>
                      <a:pt x="381" y="354"/>
                      <a:pt x="382" y="353"/>
                      <a:pt x="383" y="352"/>
                    </a:cubicBezTo>
                    <a:cubicBezTo>
                      <a:pt x="384" y="352"/>
                      <a:pt x="384" y="351"/>
                      <a:pt x="384" y="350"/>
                    </a:cubicBezTo>
                    <a:cubicBezTo>
                      <a:pt x="390" y="336"/>
                      <a:pt x="390" y="336"/>
                      <a:pt x="390" y="336"/>
                    </a:cubicBezTo>
                    <a:cubicBezTo>
                      <a:pt x="391" y="332"/>
                      <a:pt x="392" y="327"/>
                      <a:pt x="392" y="324"/>
                    </a:cubicBezTo>
                    <a:cubicBezTo>
                      <a:pt x="392" y="323"/>
                      <a:pt x="392" y="323"/>
                      <a:pt x="392" y="322"/>
                    </a:cubicBezTo>
                    <a:cubicBezTo>
                      <a:pt x="392" y="321"/>
                      <a:pt x="392" y="321"/>
                      <a:pt x="392" y="321"/>
                    </a:cubicBezTo>
                    <a:cubicBezTo>
                      <a:pt x="392" y="321"/>
                      <a:pt x="392" y="321"/>
                      <a:pt x="392" y="321"/>
                    </a:cubicBezTo>
                    <a:cubicBezTo>
                      <a:pt x="392" y="317"/>
                      <a:pt x="393" y="313"/>
                      <a:pt x="394" y="311"/>
                    </a:cubicBezTo>
                    <a:cubicBezTo>
                      <a:pt x="418" y="279"/>
                      <a:pt x="418" y="279"/>
                      <a:pt x="418" y="279"/>
                    </a:cubicBezTo>
                    <a:cubicBezTo>
                      <a:pt x="419" y="278"/>
                      <a:pt x="419" y="278"/>
                      <a:pt x="420" y="278"/>
                    </a:cubicBezTo>
                    <a:cubicBezTo>
                      <a:pt x="420" y="278"/>
                      <a:pt x="421" y="278"/>
                      <a:pt x="422" y="279"/>
                    </a:cubicBezTo>
                    <a:cubicBezTo>
                      <a:pt x="456" y="325"/>
                      <a:pt x="456" y="325"/>
                      <a:pt x="456" y="325"/>
                    </a:cubicBezTo>
                    <a:cubicBezTo>
                      <a:pt x="457" y="326"/>
                      <a:pt x="458" y="328"/>
                      <a:pt x="458" y="330"/>
                    </a:cubicBezTo>
                    <a:cubicBezTo>
                      <a:pt x="459" y="332"/>
                      <a:pt x="459" y="334"/>
                      <a:pt x="459" y="336"/>
                    </a:cubicBezTo>
                    <a:cubicBezTo>
                      <a:pt x="459" y="340"/>
                      <a:pt x="459" y="340"/>
                      <a:pt x="459" y="340"/>
                    </a:cubicBezTo>
                    <a:cubicBezTo>
                      <a:pt x="459" y="344"/>
                      <a:pt x="460" y="350"/>
                      <a:pt x="462" y="353"/>
                    </a:cubicBezTo>
                    <a:cubicBezTo>
                      <a:pt x="473" y="376"/>
                      <a:pt x="473" y="376"/>
                      <a:pt x="473" y="376"/>
                    </a:cubicBezTo>
                    <a:cubicBezTo>
                      <a:pt x="474" y="378"/>
                      <a:pt x="475" y="380"/>
                      <a:pt x="477" y="381"/>
                    </a:cubicBezTo>
                    <a:cubicBezTo>
                      <a:pt x="478" y="383"/>
                      <a:pt x="480" y="384"/>
                      <a:pt x="481" y="385"/>
                    </a:cubicBezTo>
                    <a:cubicBezTo>
                      <a:pt x="486" y="388"/>
                      <a:pt x="486" y="388"/>
                      <a:pt x="486" y="388"/>
                    </a:cubicBezTo>
                    <a:cubicBezTo>
                      <a:pt x="487" y="388"/>
                      <a:pt x="488" y="388"/>
                      <a:pt x="489" y="388"/>
                    </a:cubicBezTo>
                    <a:cubicBezTo>
                      <a:pt x="490" y="388"/>
                      <a:pt x="491" y="388"/>
                      <a:pt x="491" y="387"/>
                    </a:cubicBezTo>
                    <a:cubicBezTo>
                      <a:pt x="492" y="387"/>
                      <a:pt x="492" y="386"/>
                      <a:pt x="492" y="385"/>
                    </a:cubicBezTo>
                    <a:cubicBezTo>
                      <a:pt x="492" y="384"/>
                      <a:pt x="492" y="383"/>
                      <a:pt x="491" y="382"/>
                    </a:cubicBezTo>
                    <a:cubicBezTo>
                      <a:pt x="476" y="352"/>
                      <a:pt x="476" y="352"/>
                      <a:pt x="476" y="352"/>
                    </a:cubicBezTo>
                    <a:cubicBezTo>
                      <a:pt x="475" y="350"/>
                      <a:pt x="473" y="344"/>
                      <a:pt x="473" y="341"/>
                    </a:cubicBezTo>
                    <a:cubicBezTo>
                      <a:pt x="473" y="337"/>
                      <a:pt x="473" y="337"/>
                      <a:pt x="473" y="337"/>
                    </a:cubicBezTo>
                    <a:cubicBezTo>
                      <a:pt x="473" y="336"/>
                      <a:pt x="474" y="335"/>
                      <a:pt x="474" y="335"/>
                    </a:cubicBezTo>
                    <a:cubicBezTo>
                      <a:pt x="474" y="335"/>
                      <a:pt x="474" y="335"/>
                      <a:pt x="474" y="335"/>
                    </a:cubicBezTo>
                    <a:cubicBezTo>
                      <a:pt x="473" y="335"/>
                      <a:pt x="473" y="335"/>
                      <a:pt x="473" y="335"/>
                    </a:cubicBezTo>
                    <a:cubicBezTo>
                      <a:pt x="473" y="335"/>
                      <a:pt x="473" y="335"/>
                      <a:pt x="473" y="335"/>
                    </a:cubicBezTo>
                    <a:cubicBezTo>
                      <a:pt x="474" y="335"/>
                      <a:pt x="474" y="335"/>
                      <a:pt x="474" y="335"/>
                    </a:cubicBezTo>
                    <a:cubicBezTo>
                      <a:pt x="473" y="335"/>
                      <a:pt x="473" y="335"/>
                      <a:pt x="473" y="335"/>
                    </a:cubicBezTo>
                    <a:cubicBezTo>
                      <a:pt x="473" y="335"/>
                      <a:pt x="473" y="335"/>
                      <a:pt x="473" y="335"/>
                    </a:cubicBezTo>
                    <a:cubicBezTo>
                      <a:pt x="473" y="334"/>
                      <a:pt x="473" y="334"/>
                      <a:pt x="473" y="334"/>
                    </a:cubicBezTo>
                    <a:cubicBezTo>
                      <a:pt x="473" y="335"/>
                      <a:pt x="473" y="335"/>
                      <a:pt x="473" y="335"/>
                    </a:cubicBezTo>
                    <a:cubicBezTo>
                      <a:pt x="473" y="335"/>
                      <a:pt x="473" y="335"/>
                      <a:pt x="473" y="335"/>
                    </a:cubicBezTo>
                    <a:cubicBezTo>
                      <a:pt x="473" y="334"/>
                      <a:pt x="473" y="334"/>
                      <a:pt x="473" y="334"/>
                    </a:cubicBezTo>
                    <a:cubicBezTo>
                      <a:pt x="473" y="335"/>
                      <a:pt x="473" y="335"/>
                      <a:pt x="473" y="335"/>
                    </a:cubicBezTo>
                    <a:cubicBezTo>
                      <a:pt x="473" y="335"/>
                      <a:pt x="473" y="335"/>
                      <a:pt x="473" y="335"/>
                    </a:cubicBezTo>
                    <a:cubicBezTo>
                      <a:pt x="473" y="335"/>
                      <a:pt x="473" y="335"/>
                      <a:pt x="473" y="335"/>
                    </a:cubicBezTo>
                    <a:cubicBezTo>
                      <a:pt x="473" y="335"/>
                      <a:pt x="473" y="335"/>
                      <a:pt x="473" y="335"/>
                    </a:cubicBezTo>
                    <a:cubicBezTo>
                      <a:pt x="473" y="335"/>
                      <a:pt x="473" y="335"/>
                      <a:pt x="473" y="335"/>
                    </a:cubicBezTo>
                    <a:cubicBezTo>
                      <a:pt x="473" y="335"/>
                      <a:pt x="473" y="335"/>
                      <a:pt x="473" y="335"/>
                    </a:cubicBezTo>
                    <a:cubicBezTo>
                      <a:pt x="473" y="335"/>
                      <a:pt x="473" y="335"/>
                      <a:pt x="473" y="335"/>
                    </a:cubicBezTo>
                    <a:cubicBezTo>
                      <a:pt x="473" y="336"/>
                      <a:pt x="473" y="336"/>
                      <a:pt x="473" y="336"/>
                    </a:cubicBezTo>
                    <a:cubicBezTo>
                      <a:pt x="486" y="352"/>
                      <a:pt x="486" y="352"/>
                      <a:pt x="486" y="352"/>
                    </a:cubicBezTo>
                    <a:cubicBezTo>
                      <a:pt x="487" y="353"/>
                      <a:pt x="489" y="354"/>
                      <a:pt x="491" y="354"/>
                    </a:cubicBezTo>
                    <a:cubicBezTo>
                      <a:pt x="493" y="354"/>
                      <a:pt x="495" y="353"/>
                      <a:pt x="496" y="351"/>
                    </a:cubicBezTo>
                    <a:cubicBezTo>
                      <a:pt x="506" y="334"/>
                      <a:pt x="506" y="334"/>
                      <a:pt x="506" y="334"/>
                    </a:cubicBezTo>
                    <a:cubicBezTo>
                      <a:pt x="507" y="332"/>
                      <a:pt x="508" y="330"/>
                      <a:pt x="508" y="328"/>
                    </a:cubicBezTo>
                    <a:cubicBezTo>
                      <a:pt x="508" y="326"/>
                      <a:pt x="507" y="323"/>
                      <a:pt x="506" y="321"/>
                    </a:cubicBezTo>
                    <a:cubicBezTo>
                      <a:pt x="493" y="300"/>
                      <a:pt x="493" y="300"/>
                      <a:pt x="493" y="300"/>
                    </a:cubicBezTo>
                    <a:cubicBezTo>
                      <a:pt x="491" y="298"/>
                      <a:pt x="490" y="292"/>
                      <a:pt x="490" y="289"/>
                    </a:cubicBezTo>
                    <a:cubicBezTo>
                      <a:pt x="490" y="282"/>
                      <a:pt x="490" y="282"/>
                      <a:pt x="490" y="282"/>
                    </a:cubicBezTo>
                    <a:cubicBezTo>
                      <a:pt x="490" y="281"/>
                      <a:pt x="490" y="280"/>
                      <a:pt x="491" y="279"/>
                    </a:cubicBezTo>
                    <a:cubicBezTo>
                      <a:pt x="491" y="278"/>
                      <a:pt x="492" y="278"/>
                      <a:pt x="493" y="278"/>
                    </a:cubicBezTo>
                    <a:cubicBezTo>
                      <a:pt x="510" y="278"/>
                      <a:pt x="510" y="278"/>
                      <a:pt x="510" y="278"/>
                    </a:cubicBezTo>
                    <a:cubicBezTo>
                      <a:pt x="512" y="278"/>
                      <a:pt x="514" y="277"/>
                      <a:pt x="515" y="275"/>
                    </a:cubicBezTo>
                    <a:cubicBezTo>
                      <a:pt x="517" y="274"/>
                      <a:pt x="517" y="271"/>
                      <a:pt x="517" y="269"/>
                    </a:cubicBezTo>
                    <a:cubicBezTo>
                      <a:pt x="517" y="269"/>
                      <a:pt x="517" y="269"/>
                      <a:pt x="517" y="269"/>
                    </a:cubicBezTo>
                    <a:cubicBezTo>
                      <a:pt x="516" y="242"/>
                      <a:pt x="516" y="242"/>
                      <a:pt x="516" y="242"/>
                    </a:cubicBezTo>
                    <a:cubicBezTo>
                      <a:pt x="516" y="240"/>
                      <a:pt x="515" y="237"/>
                      <a:pt x="515" y="235"/>
                    </a:cubicBezTo>
                    <a:cubicBezTo>
                      <a:pt x="514" y="233"/>
                      <a:pt x="513" y="231"/>
                      <a:pt x="511" y="230"/>
                    </a:cubicBezTo>
                    <a:cubicBezTo>
                      <a:pt x="496" y="214"/>
                      <a:pt x="496" y="214"/>
                      <a:pt x="496" y="214"/>
                    </a:cubicBezTo>
                    <a:cubicBezTo>
                      <a:pt x="494" y="212"/>
                      <a:pt x="491" y="208"/>
                      <a:pt x="490" y="205"/>
                    </a:cubicBezTo>
                    <a:cubicBezTo>
                      <a:pt x="490" y="202"/>
                      <a:pt x="490" y="202"/>
                      <a:pt x="490" y="202"/>
                    </a:cubicBezTo>
                    <a:cubicBezTo>
                      <a:pt x="489" y="200"/>
                      <a:pt x="488" y="198"/>
                      <a:pt x="487" y="197"/>
                    </a:cubicBezTo>
                    <a:cubicBezTo>
                      <a:pt x="485" y="196"/>
                      <a:pt x="484" y="195"/>
                      <a:pt x="482" y="195"/>
                    </a:cubicBezTo>
                    <a:cubicBezTo>
                      <a:pt x="481" y="195"/>
                      <a:pt x="481" y="195"/>
                      <a:pt x="481" y="195"/>
                    </a:cubicBezTo>
                    <a:cubicBezTo>
                      <a:pt x="480" y="195"/>
                      <a:pt x="480" y="195"/>
                      <a:pt x="480" y="195"/>
                    </a:cubicBezTo>
                    <a:cubicBezTo>
                      <a:pt x="479" y="195"/>
                      <a:pt x="479" y="195"/>
                      <a:pt x="478" y="195"/>
                    </a:cubicBezTo>
                    <a:cubicBezTo>
                      <a:pt x="477" y="194"/>
                      <a:pt x="476" y="193"/>
                      <a:pt x="475" y="192"/>
                    </a:cubicBezTo>
                    <a:cubicBezTo>
                      <a:pt x="474" y="191"/>
                      <a:pt x="474" y="191"/>
                      <a:pt x="474" y="191"/>
                    </a:cubicBezTo>
                    <a:cubicBezTo>
                      <a:pt x="473" y="189"/>
                      <a:pt x="473" y="186"/>
                      <a:pt x="473" y="184"/>
                    </a:cubicBezTo>
                    <a:cubicBezTo>
                      <a:pt x="473" y="183"/>
                      <a:pt x="473" y="182"/>
                      <a:pt x="473" y="181"/>
                    </a:cubicBezTo>
                    <a:cubicBezTo>
                      <a:pt x="473" y="181"/>
                      <a:pt x="473" y="180"/>
                      <a:pt x="474" y="180"/>
                    </a:cubicBezTo>
                    <a:cubicBezTo>
                      <a:pt x="475" y="179"/>
                      <a:pt x="475" y="179"/>
                      <a:pt x="475" y="179"/>
                    </a:cubicBezTo>
                    <a:cubicBezTo>
                      <a:pt x="475" y="179"/>
                      <a:pt x="475" y="179"/>
                      <a:pt x="476" y="180"/>
                    </a:cubicBezTo>
                    <a:cubicBezTo>
                      <a:pt x="483" y="184"/>
                      <a:pt x="483" y="184"/>
                      <a:pt x="483" y="184"/>
                    </a:cubicBezTo>
                    <a:cubicBezTo>
                      <a:pt x="485" y="185"/>
                      <a:pt x="489" y="188"/>
                      <a:pt x="491" y="190"/>
                    </a:cubicBezTo>
                    <a:cubicBezTo>
                      <a:pt x="512" y="214"/>
                      <a:pt x="512" y="214"/>
                      <a:pt x="512" y="214"/>
                    </a:cubicBezTo>
                    <a:cubicBezTo>
                      <a:pt x="513" y="215"/>
                      <a:pt x="515" y="216"/>
                      <a:pt x="517" y="216"/>
                    </a:cubicBezTo>
                    <a:cubicBezTo>
                      <a:pt x="519" y="216"/>
                      <a:pt x="521" y="215"/>
                      <a:pt x="521" y="213"/>
                    </a:cubicBezTo>
                    <a:cubicBezTo>
                      <a:pt x="522" y="212"/>
                      <a:pt x="522" y="211"/>
                      <a:pt x="522" y="210"/>
                    </a:cubicBezTo>
                    <a:cubicBezTo>
                      <a:pt x="522" y="207"/>
                      <a:pt x="521" y="204"/>
                      <a:pt x="520" y="202"/>
                    </a:cubicBezTo>
                    <a:cubicBezTo>
                      <a:pt x="505" y="185"/>
                      <a:pt x="505" y="185"/>
                      <a:pt x="505" y="185"/>
                    </a:cubicBezTo>
                    <a:cubicBezTo>
                      <a:pt x="504" y="184"/>
                      <a:pt x="503" y="182"/>
                      <a:pt x="503" y="180"/>
                    </a:cubicBezTo>
                    <a:cubicBezTo>
                      <a:pt x="503" y="179"/>
                      <a:pt x="503" y="178"/>
                      <a:pt x="504" y="177"/>
                    </a:cubicBezTo>
                    <a:cubicBezTo>
                      <a:pt x="508" y="167"/>
                      <a:pt x="508" y="167"/>
                      <a:pt x="508" y="167"/>
                    </a:cubicBezTo>
                    <a:cubicBezTo>
                      <a:pt x="509" y="165"/>
                      <a:pt x="509" y="161"/>
                      <a:pt x="509" y="158"/>
                    </a:cubicBezTo>
                    <a:cubicBezTo>
                      <a:pt x="509" y="157"/>
                      <a:pt x="509" y="155"/>
                      <a:pt x="509" y="154"/>
                    </a:cubicBezTo>
                    <a:cubicBezTo>
                      <a:pt x="504" y="129"/>
                      <a:pt x="504" y="129"/>
                      <a:pt x="504" y="129"/>
                    </a:cubicBezTo>
                    <a:cubicBezTo>
                      <a:pt x="503" y="127"/>
                      <a:pt x="502" y="125"/>
                      <a:pt x="501" y="123"/>
                    </a:cubicBezTo>
                    <a:cubicBezTo>
                      <a:pt x="499" y="121"/>
                      <a:pt x="497" y="120"/>
                      <a:pt x="495" y="120"/>
                    </a:cubicBezTo>
                    <a:cubicBezTo>
                      <a:pt x="485" y="118"/>
                      <a:pt x="485" y="118"/>
                      <a:pt x="485" y="118"/>
                    </a:cubicBezTo>
                    <a:cubicBezTo>
                      <a:pt x="484" y="118"/>
                      <a:pt x="483" y="117"/>
                      <a:pt x="482" y="116"/>
                    </a:cubicBezTo>
                    <a:cubicBezTo>
                      <a:pt x="481" y="115"/>
                      <a:pt x="480" y="114"/>
                      <a:pt x="479" y="112"/>
                    </a:cubicBezTo>
                    <a:cubicBezTo>
                      <a:pt x="474" y="96"/>
                      <a:pt x="474" y="96"/>
                      <a:pt x="474" y="96"/>
                    </a:cubicBezTo>
                    <a:cubicBezTo>
                      <a:pt x="474" y="96"/>
                      <a:pt x="474" y="95"/>
                      <a:pt x="474" y="94"/>
                    </a:cubicBezTo>
                    <a:cubicBezTo>
                      <a:pt x="474" y="92"/>
                      <a:pt x="475" y="91"/>
                      <a:pt x="476" y="90"/>
                    </a:cubicBezTo>
                    <a:cubicBezTo>
                      <a:pt x="495" y="79"/>
                      <a:pt x="495" y="79"/>
                      <a:pt x="495" y="79"/>
                    </a:cubicBezTo>
                    <a:cubicBezTo>
                      <a:pt x="496" y="79"/>
                      <a:pt x="496" y="79"/>
                      <a:pt x="496" y="79"/>
                    </a:cubicBezTo>
                    <a:cubicBezTo>
                      <a:pt x="498" y="78"/>
                      <a:pt x="499" y="79"/>
                      <a:pt x="500" y="81"/>
                    </a:cubicBezTo>
                    <a:cubicBezTo>
                      <a:pt x="533" y="131"/>
                      <a:pt x="533" y="131"/>
                      <a:pt x="533" y="131"/>
                    </a:cubicBezTo>
                    <a:cubicBezTo>
                      <a:pt x="534" y="133"/>
                      <a:pt x="536" y="134"/>
                      <a:pt x="538" y="134"/>
                    </a:cubicBezTo>
                    <a:cubicBezTo>
                      <a:pt x="539" y="134"/>
                      <a:pt x="540" y="133"/>
                      <a:pt x="541" y="133"/>
                    </a:cubicBezTo>
                    <a:cubicBezTo>
                      <a:pt x="541" y="132"/>
                      <a:pt x="542" y="131"/>
                      <a:pt x="543" y="130"/>
                    </a:cubicBezTo>
                    <a:cubicBezTo>
                      <a:pt x="544" y="129"/>
                      <a:pt x="544" y="127"/>
                      <a:pt x="544" y="125"/>
                    </a:cubicBezTo>
                    <a:cubicBezTo>
                      <a:pt x="544" y="122"/>
                      <a:pt x="543" y="120"/>
                      <a:pt x="542" y="118"/>
                    </a:cubicBezTo>
                    <a:cubicBezTo>
                      <a:pt x="522" y="84"/>
                      <a:pt x="522" y="84"/>
                      <a:pt x="522" y="84"/>
                    </a:cubicBezTo>
                    <a:cubicBezTo>
                      <a:pt x="522" y="84"/>
                      <a:pt x="522" y="83"/>
                      <a:pt x="522" y="82"/>
                    </a:cubicBezTo>
                    <a:cubicBezTo>
                      <a:pt x="522" y="81"/>
                      <a:pt x="522" y="80"/>
                      <a:pt x="523" y="80"/>
                    </a:cubicBezTo>
                    <a:cubicBezTo>
                      <a:pt x="526" y="78"/>
                      <a:pt x="526" y="78"/>
                      <a:pt x="526" y="78"/>
                    </a:cubicBezTo>
                    <a:cubicBezTo>
                      <a:pt x="528" y="78"/>
                      <a:pt x="530" y="76"/>
                      <a:pt x="529" y="73"/>
                    </a:cubicBezTo>
                    <a:cubicBezTo>
                      <a:pt x="529" y="72"/>
                      <a:pt x="529" y="70"/>
                      <a:pt x="527" y="69"/>
                    </a:cubicBezTo>
                    <a:cubicBezTo>
                      <a:pt x="514" y="55"/>
                      <a:pt x="514" y="55"/>
                      <a:pt x="514" y="55"/>
                    </a:cubicBezTo>
                    <a:cubicBezTo>
                      <a:pt x="513" y="54"/>
                      <a:pt x="511" y="53"/>
                      <a:pt x="509" y="52"/>
                    </a:cubicBezTo>
                    <a:cubicBezTo>
                      <a:pt x="508" y="51"/>
                      <a:pt x="506" y="50"/>
                      <a:pt x="504" y="49"/>
                    </a:cubicBezTo>
                    <a:cubicBezTo>
                      <a:pt x="393" y="22"/>
                      <a:pt x="393" y="22"/>
                      <a:pt x="393" y="22"/>
                    </a:cubicBezTo>
                    <a:cubicBezTo>
                      <a:pt x="392" y="22"/>
                      <a:pt x="391" y="21"/>
                      <a:pt x="390" y="21"/>
                    </a:cubicBezTo>
                    <a:cubicBezTo>
                      <a:pt x="389" y="21"/>
                      <a:pt x="387" y="22"/>
                      <a:pt x="386" y="22"/>
                    </a:cubicBezTo>
                    <a:cubicBezTo>
                      <a:pt x="385" y="23"/>
                      <a:pt x="383" y="24"/>
                      <a:pt x="383" y="25"/>
                    </a:cubicBezTo>
                    <a:cubicBezTo>
                      <a:pt x="382" y="26"/>
                      <a:pt x="381" y="26"/>
                      <a:pt x="379" y="26"/>
                    </a:cubicBezTo>
                    <a:cubicBezTo>
                      <a:pt x="378" y="26"/>
                      <a:pt x="378" y="26"/>
                      <a:pt x="377" y="26"/>
                    </a:cubicBezTo>
                    <a:cubicBezTo>
                      <a:pt x="299" y="0"/>
                      <a:pt x="299" y="0"/>
                      <a:pt x="299" y="0"/>
                    </a:cubicBezTo>
                    <a:cubicBezTo>
                      <a:pt x="298" y="0"/>
                      <a:pt x="297" y="0"/>
                      <a:pt x="296" y="0"/>
                    </a:cubicBezTo>
                    <a:cubicBezTo>
                      <a:pt x="295" y="0"/>
                      <a:pt x="294" y="0"/>
                      <a:pt x="293" y="1"/>
                    </a:cubicBezTo>
                    <a:cubicBezTo>
                      <a:pt x="292" y="2"/>
                      <a:pt x="291" y="4"/>
                      <a:pt x="291" y="5"/>
                    </a:cubicBezTo>
                    <a:cubicBezTo>
                      <a:pt x="291" y="6"/>
                      <a:pt x="291" y="8"/>
                      <a:pt x="290" y="10"/>
                    </a:cubicBezTo>
                    <a:cubicBezTo>
                      <a:pt x="290" y="11"/>
                      <a:pt x="289" y="13"/>
                      <a:pt x="288" y="15"/>
                    </a:cubicBezTo>
                    <a:cubicBezTo>
                      <a:pt x="282" y="28"/>
                      <a:pt x="282" y="28"/>
                      <a:pt x="282" y="28"/>
                    </a:cubicBezTo>
                    <a:cubicBezTo>
                      <a:pt x="281" y="31"/>
                      <a:pt x="277" y="34"/>
                      <a:pt x="275" y="36"/>
                    </a:cubicBezTo>
                    <a:cubicBezTo>
                      <a:pt x="265" y="42"/>
                      <a:pt x="265" y="42"/>
                      <a:pt x="265" y="42"/>
                    </a:cubicBezTo>
                    <a:cubicBezTo>
                      <a:pt x="264" y="43"/>
                      <a:pt x="262" y="44"/>
                      <a:pt x="260" y="44"/>
                    </a:cubicBezTo>
                    <a:cubicBezTo>
                      <a:pt x="259" y="45"/>
                      <a:pt x="257" y="45"/>
                      <a:pt x="256" y="45"/>
                    </a:cubicBezTo>
                    <a:cubicBezTo>
                      <a:pt x="221" y="45"/>
                      <a:pt x="221" y="45"/>
                      <a:pt x="221" y="45"/>
                    </a:cubicBezTo>
                    <a:cubicBezTo>
                      <a:pt x="219" y="45"/>
                      <a:pt x="217" y="46"/>
                      <a:pt x="215" y="47"/>
                    </a:cubicBezTo>
                    <a:cubicBezTo>
                      <a:pt x="214" y="48"/>
                      <a:pt x="212" y="50"/>
                      <a:pt x="212" y="52"/>
                    </a:cubicBezTo>
                    <a:cubicBezTo>
                      <a:pt x="211" y="53"/>
                      <a:pt x="210" y="54"/>
                      <a:pt x="209" y="54"/>
                    </a:cubicBezTo>
                    <a:cubicBezTo>
                      <a:pt x="209" y="54"/>
                      <a:pt x="209" y="54"/>
                      <a:pt x="208" y="54"/>
                    </a:cubicBezTo>
                    <a:cubicBezTo>
                      <a:pt x="199" y="48"/>
                      <a:pt x="199" y="48"/>
                      <a:pt x="199" y="48"/>
                    </a:cubicBezTo>
                    <a:cubicBezTo>
                      <a:pt x="198" y="48"/>
                      <a:pt x="198" y="47"/>
                      <a:pt x="198" y="47"/>
                    </a:cubicBezTo>
                    <a:cubicBezTo>
                      <a:pt x="198" y="47"/>
                      <a:pt x="198" y="47"/>
                      <a:pt x="198" y="47"/>
                    </a:cubicBezTo>
                    <a:cubicBezTo>
                      <a:pt x="197" y="48"/>
                      <a:pt x="197" y="48"/>
                      <a:pt x="197" y="48"/>
                    </a:cubicBezTo>
                    <a:cubicBezTo>
                      <a:pt x="198" y="48"/>
                      <a:pt x="198" y="48"/>
                      <a:pt x="198" y="48"/>
                    </a:cubicBezTo>
                    <a:cubicBezTo>
                      <a:pt x="198" y="47"/>
                      <a:pt x="198" y="47"/>
                      <a:pt x="198" y="47"/>
                    </a:cubicBezTo>
                    <a:cubicBezTo>
                      <a:pt x="197" y="48"/>
                      <a:pt x="197" y="48"/>
                      <a:pt x="197" y="48"/>
                    </a:cubicBezTo>
                    <a:cubicBezTo>
                      <a:pt x="198" y="48"/>
                      <a:pt x="198" y="48"/>
                      <a:pt x="198" y="48"/>
                    </a:cubicBezTo>
                    <a:cubicBezTo>
                      <a:pt x="197" y="48"/>
                      <a:pt x="197" y="48"/>
                      <a:pt x="197" y="48"/>
                    </a:cubicBezTo>
                    <a:cubicBezTo>
                      <a:pt x="198" y="49"/>
                      <a:pt x="198" y="49"/>
                      <a:pt x="198" y="49"/>
                    </a:cubicBezTo>
                    <a:cubicBezTo>
                      <a:pt x="198" y="48"/>
                      <a:pt x="198" y="48"/>
                      <a:pt x="198" y="48"/>
                    </a:cubicBezTo>
                    <a:cubicBezTo>
                      <a:pt x="197" y="48"/>
                      <a:pt x="197" y="48"/>
                      <a:pt x="197" y="48"/>
                    </a:cubicBezTo>
                    <a:cubicBezTo>
                      <a:pt x="198" y="49"/>
                      <a:pt x="198" y="49"/>
                      <a:pt x="198" y="49"/>
                    </a:cubicBezTo>
                    <a:cubicBezTo>
                      <a:pt x="197" y="48"/>
                      <a:pt x="197" y="48"/>
                      <a:pt x="197" y="48"/>
                    </a:cubicBezTo>
                    <a:cubicBezTo>
                      <a:pt x="197" y="49"/>
                      <a:pt x="197" y="49"/>
                      <a:pt x="197" y="49"/>
                    </a:cubicBezTo>
                    <a:cubicBezTo>
                      <a:pt x="198" y="49"/>
                      <a:pt x="198" y="49"/>
                      <a:pt x="198" y="49"/>
                    </a:cubicBezTo>
                    <a:cubicBezTo>
                      <a:pt x="197" y="48"/>
                      <a:pt x="197" y="48"/>
                      <a:pt x="197" y="48"/>
                    </a:cubicBezTo>
                    <a:cubicBezTo>
                      <a:pt x="197" y="49"/>
                      <a:pt x="197" y="49"/>
                      <a:pt x="197" y="49"/>
                    </a:cubicBezTo>
                    <a:cubicBezTo>
                      <a:pt x="197" y="49"/>
                      <a:pt x="197" y="49"/>
                      <a:pt x="197" y="49"/>
                    </a:cubicBezTo>
                    <a:cubicBezTo>
                      <a:pt x="197" y="50"/>
                      <a:pt x="197" y="50"/>
                      <a:pt x="197" y="50"/>
                    </a:cubicBezTo>
                    <a:cubicBezTo>
                      <a:pt x="197" y="49"/>
                      <a:pt x="197" y="49"/>
                      <a:pt x="197" y="49"/>
                    </a:cubicBezTo>
                    <a:cubicBezTo>
                      <a:pt x="197" y="49"/>
                      <a:pt x="197" y="49"/>
                      <a:pt x="197" y="49"/>
                    </a:cubicBezTo>
                    <a:cubicBezTo>
                      <a:pt x="197" y="50"/>
                      <a:pt x="197" y="50"/>
                      <a:pt x="197" y="50"/>
                    </a:cubicBezTo>
                    <a:cubicBezTo>
                      <a:pt x="197" y="50"/>
                      <a:pt x="197" y="50"/>
                      <a:pt x="197" y="50"/>
                    </a:cubicBezTo>
                    <a:cubicBezTo>
                      <a:pt x="198" y="50"/>
                      <a:pt x="198" y="50"/>
                      <a:pt x="198" y="50"/>
                    </a:cubicBezTo>
                    <a:cubicBezTo>
                      <a:pt x="198" y="50"/>
                      <a:pt x="198" y="50"/>
                      <a:pt x="198" y="50"/>
                    </a:cubicBezTo>
                    <a:cubicBezTo>
                      <a:pt x="201" y="50"/>
                      <a:pt x="201" y="50"/>
                      <a:pt x="201" y="50"/>
                    </a:cubicBezTo>
                    <a:cubicBezTo>
                      <a:pt x="201" y="50"/>
                      <a:pt x="201" y="50"/>
                      <a:pt x="201" y="50"/>
                    </a:cubicBezTo>
                    <a:cubicBezTo>
                      <a:pt x="203" y="50"/>
                      <a:pt x="205" y="49"/>
                      <a:pt x="206" y="49"/>
                    </a:cubicBezTo>
                    <a:cubicBezTo>
                      <a:pt x="208" y="48"/>
                      <a:pt x="209" y="47"/>
                      <a:pt x="210" y="46"/>
                    </a:cubicBezTo>
                    <a:cubicBezTo>
                      <a:pt x="210" y="45"/>
                      <a:pt x="211" y="44"/>
                      <a:pt x="211" y="43"/>
                    </a:cubicBezTo>
                    <a:cubicBezTo>
                      <a:pt x="211" y="42"/>
                      <a:pt x="210" y="41"/>
                      <a:pt x="209" y="40"/>
                    </a:cubicBezTo>
                    <a:cubicBezTo>
                      <a:pt x="208" y="39"/>
                      <a:pt x="207" y="38"/>
                      <a:pt x="206" y="38"/>
                    </a:cubicBezTo>
                    <a:cubicBezTo>
                      <a:pt x="197" y="35"/>
                      <a:pt x="197" y="35"/>
                      <a:pt x="197" y="35"/>
                    </a:cubicBezTo>
                    <a:cubicBezTo>
                      <a:pt x="195" y="35"/>
                      <a:pt x="190" y="33"/>
                      <a:pt x="188" y="31"/>
                    </a:cubicBezTo>
                    <a:cubicBezTo>
                      <a:pt x="183" y="28"/>
                      <a:pt x="183" y="28"/>
                      <a:pt x="183" y="28"/>
                    </a:cubicBezTo>
                    <a:cubicBezTo>
                      <a:pt x="181" y="27"/>
                      <a:pt x="180" y="26"/>
                      <a:pt x="178" y="26"/>
                    </a:cubicBezTo>
                    <a:cubicBezTo>
                      <a:pt x="176" y="26"/>
                      <a:pt x="173" y="27"/>
                      <a:pt x="171" y="29"/>
                    </a:cubicBezTo>
                    <a:cubicBezTo>
                      <a:pt x="136" y="64"/>
                      <a:pt x="136" y="64"/>
                      <a:pt x="136" y="64"/>
                    </a:cubicBezTo>
                    <a:cubicBezTo>
                      <a:pt x="133" y="66"/>
                      <a:pt x="131" y="71"/>
                      <a:pt x="130" y="75"/>
                    </a:cubicBezTo>
                    <a:cubicBezTo>
                      <a:pt x="130" y="76"/>
                      <a:pt x="130" y="76"/>
                      <a:pt x="130" y="76"/>
                    </a:cubicBezTo>
                    <a:cubicBezTo>
                      <a:pt x="130" y="76"/>
                      <a:pt x="130" y="77"/>
                      <a:pt x="130" y="78"/>
                    </a:cubicBezTo>
                    <a:cubicBezTo>
                      <a:pt x="130" y="79"/>
                      <a:pt x="130" y="81"/>
                      <a:pt x="131" y="82"/>
                    </a:cubicBezTo>
                    <a:cubicBezTo>
                      <a:pt x="132" y="83"/>
                      <a:pt x="133" y="84"/>
                      <a:pt x="135" y="84"/>
                    </a:cubicBezTo>
                    <a:cubicBezTo>
                      <a:pt x="136" y="84"/>
                      <a:pt x="136" y="84"/>
                      <a:pt x="136" y="84"/>
                    </a:cubicBezTo>
                    <a:cubicBezTo>
                      <a:pt x="136" y="84"/>
                      <a:pt x="136" y="84"/>
                      <a:pt x="136" y="84"/>
                    </a:cubicBezTo>
                    <a:cubicBezTo>
                      <a:pt x="136" y="84"/>
                      <a:pt x="136" y="84"/>
                      <a:pt x="136" y="84"/>
                    </a:cubicBezTo>
                    <a:cubicBezTo>
                      <a:pt x="136" y="84"/>
                      <a:pt x="136" y="84"/>
                      <a:pt x="136" y="84"/>
                    </a:cubicBezTo>
                    <a:cubicBezTo>
                      <a:pt x="137" y="84"/>
                      <a:pt x="138" y="84"/>
                      <a:pt x="138" y="85"/>
                    </a:cubicBezTo>
                    <a:cubicBezTo>
                      <a:pt x="139" y="86"/>
                      <a:pt x="140" y="87"/>
                      <a:pt x="140" y="88"/>
                    </a:cubicBezTo>
                    <a:cubicBezTo>
                      <a:pt x="141" y="91"/>
                      <a:pt x="141" y="91"/>
                      <a:pt x="141" y="91"/>
                    </a:cubicBezTo>
                    <a:cubicBezTo>
                      <a:pt x="142" y="92"/>
                      <a:pt x="143" y="93"/>
                      <a:pt x="143" y="94"/>
                    </a:cubicBezTo>
                    <a:cubicBezTo>
                      <a:pt x="144" y="95"/>
                      <a:pt x="145" y="95"/>
                      <a:pt x="147" y="95"/>
                    </a:cubicBezTo>
                    <a:cubicBezTo>
                      <a:pt x="148" y="95"/>
                      <a:pt x="150" y="94"/>
                      <a:pt x="151" y="93"/>
                    </a:cubicBezTo>
                    <a:cubicBezTo>
                      <a:pt x="156" y="86"/>
                      <a:pt x="156" y="86"/>
                      <a:pt x="156" y="86"/>
                    </a:cubicBezTo>
                    <a:cubicBezTo>
                      <a:pt x="158" y="83"/>
                      <a:pt x="160" y="78"/>
                      <a:pt x="160" y="74"/>
                    </a:cubicBezTo>
                    <a:cubicBezTo>
                      <a:pt x="161" y="71"/>
                      <a:pt x="163" y="66"/>
                      <a:pt x="164" y="64"/>
                    </a:cubicBezTo>
                    <a:cubicBezTo>
                      <a:pt x="167" y="60"/>
                      <a:pt x="167" y="60"/>
                      <a:pt x="167" y="60"/>
                    </a:cubicBezTo>
                    <a:cubicBezTo>
                      <a:pt x="167" y="59"/>
                      <a:pt x="168" y="59"/>
                      <a:pt x="169" y="58"/>
                    </a:cubicBezTo>
                    <a:cubicBezTo>
                      <a:pt x="170" y="58"/>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8"/>
                      <a:pt x="170" y="59"/>
                      <a:pt x="169" y="60"/>
                    </a:cubicBezTo>
                    <a:cubicBezTo>
                      <a:pt x="168" y="62"/>
                      <a:pt x="167" y="65"/>
                      <a:pt x="167" y="67"/>
                    </a:cubicBezTo>
                    <a:cubicBezTo>
                      <a:pt x="167" y="69"/>
                      <a:pt x="168" y="70"/>
                      <a:pt x="168" y="71"/>
                    </a:cubicBezTo>
                    <a:cubicBezTo>
                      <a:pt x="169" y="74"/>
                      <a:pt x="172" y="75"/>
                      <a:pt x="175" y="75"/>
                    </a:cubicBezTo>
                    <a:cubicBezTo>
                      <a:pt x="176" y="75"/>
                      <a:pt x="177" y="75"/>
                      <a:pt x="178" y="75"/>
                    </a:cubicBezTo>
                    <a:cubicBezTo>
                      <a:pt x="179" y="75"/>
                      <a:pt x="179" y="75"/>
                      <a:pt x="179" y="75"/>
                    </a:cubicBezTo>
                    <a:cubicBezTo>
                      <a:pt x="180" y="74"/>
                      <a:pt x="180" y="74"/>
                      <a:pt x="181"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5"/>
                      <a:pt x="181" y="76"/>
                    </a:cubicBezTo>
                    <a:cubicBezTo>
                      <a:pt x="181" y="76"/>
                      <a:pt x="180" y="77"/>
                      <a:pt x="179" y="78"/>
                    </a:cubicBezTo>
                    <a:cubicBezTo>
                      <a:pt x="176" y="80"/>
                      <a:pt x="176" y="80"/>
                      <a:pt x="176" y="80"/>
                    </a:cubicBezTo>
                    <a:cubicBezTo>
                      <a:pt x="173" y="82"/>
                      <a:pt x="170" y="85"/>
                      <a:pt x="167" y="88"/>
                    </a:cubicBezTo>
                    <a:cubicBezTo>
                      <a:pt x="152" y="104"/>
                      <a:pt x="152" y="104"/>
                      <a:pt x="152" y="104"/>
                    </a:cubicBezTo>
                    <a:cubicBezTo>
                      <a:pt x="150" y="105"/>
                      <a:pt x="148" y="106"/>
                      <a:pt x="146" y="106"/>
                    </a:cubicBezTo>
                    <a:cubicBezTo>
                      <a:pt x="145" y="106"/>
                      <a:pt x="145" y="106"/>
                      <a:pt x="145" y="106"/>
                    </a:cubicBezTo>
                    <a:cubicBezTo>
                      <a:pt x="144" y="108"/>
                      <a:pt x="144" y="108"/>
                      <a:pt x="144" y="108"/>
                    </a:cubicBezTo>
                    <a:cubicBezTo>
                      <a:pt x="145" y="106"/>
                      <a:pt x="145" y="106"/>
                      <a:pt x="145" y="106"/>
                    </a:cubicBezTo>
                    <a:cubicBezTo>
                      <a:pt x="145" y="106"/>
                      <a:pt x="145" y="106"/>
                      <a:pt x="145" y="106"/>
                    </a:cubicBezTo>
                    <a:cubicBezTo>
                      <a:pt x="145" y="106"/>
                      <a:pt x="145" y="106"/>
                      <a:pt x="145" y="106"/>
                    </a:cubicBezTo>
                    <a:cubicBezTo>
                      <a:pt x="145" y="106"/>
                      <a:pt x="145" y="106"/>
                      <a:pt x="145" y="106"/>
                    </a:cubicBezTo>
                    <a:cubicBezTo>
                      <a:pt x="144" y="106"/>
                      <a:pt x="143" y="105"/>
                      <a:pt x="142" y="104"/>
                    </a:cubicBezTo>
                    <a:cubicBezTo>
                      <a:pt x="141" y="103"/>
                      <a:pt x="140" y="102"/>
                      <a:pt x="140" y="100"/>
                    </a:cubicBezTo>
                    <a:cubicBezTo>
                      <a:pt x="139" y="96"/>
                      <a:pt x="139" y="96"/>
                      <a:pt x="139" y="96"/>
                    </a:cubicBezTo>
                    <a:cubicBezTo>
                      <a:pt x="139" y="95"/>
                      <a:pt x="138" y="94"/>
                      <a:pt x="138" y="94"/>
                    </a:cubicBezTo>
                    <a:cubicBezTo>
                      <a:pt x="138" y="93"/>
                      <a:pt x="137" y="93"/>
                      <a:pt x="137" y="93"/>
                    </a:cubicBezTo>
                    <a:cubicBezTo>
                      <a:pt x="136" y="92"/>
                      <a:pt x="136" y="92"/>
                      <a:pt x="135" y="92"/>
                    </a:cubicBezTo>
                    <a:cubicBezTo>
                      <a:pt x="134" y="92"/>
                      <a:pt x="133" y="93"/>
                      <a:pt x="132" y="93"/>
                    </a:cubicBezTo>
                    <a:cubicBezTo>
                      <a:pt x="132" y="94"/>
                      <a:pt x="131" y="95"/>
                      <a:pt x="131" y="96"/>
                    </a:cubicBezTo>
                    <a:cubicBezTo>
                      <a:pt x="129" y="101"/>
                      <a:pt x="129" y="101"/>
                      <a:pt x="129" y="101"/>
                    </a:cubicBezTo>
                    <a:cubicBezTo>
                      <a:pt x="128" y="103"/>
                      <a:pt x="127" y="104"/>
                      <a:pt x="126" y="105"/>
                    </a:cubicBezTo>
                    <a:cubicBezTo>
                      <a:pt x="126" y="105"/>
                      <a:pt x="126" y="105"/>
                      <a:pt x="125" y="106"/>
                    </a:cubicBezTo>
                    <a:cubicBezTo>
                      <a:pt x="125" y="106"/>
                      <a:pt x="125" y="106"/>
                      <a:pt x="125" y="106"/>
                    </a:cubicBezTo>
                    <a:cubicBezTo>
                      <a:pt x="125" y="106"/>
                      <a:pt x="125" y="106"/>
                      <a:pt x="125" y="106"/>
                    </a:cubicBezTo>
                    <a:cubicBezTo>
                      <a:pt x="125" y="106"/>
                      <a:pt x="125" y="106"/>
                      <a:pt x="125" y="106"/>
                    </a:cubicBezTo>
                    <a:cubicBezTo>
                      <a:pt x="125" y="106"/>
                      <a:pt x="125" y="106"/>
                      <a:pt x="125" y="106"/>
                    </a:cubicBezTo>
                    <a:cubicBezTo>
                      <a:pt x="125" y="106"/>
                      <a:pt x="125" y="106"/>
                      <a:pt x="125" y="106"/>
                    </a:cubicBezTo>
                    <a:cubicBezTo>
                      <a:pt x="125" y="106"/>
                      <a:pt x="125" y="106"/>
                      <a:pt x="125" y="106"/>
                    </a:cubicBezTo>
                    <a:cubicBezTo>
                      <a:pt x="125" y="106"/>
                      <a:pt x="125" y="106"/>
                      <a:pt x="125" y="106"/>
                    </a:cubicBezTo>
                    <a:cubicBezTo>
                      <a:pt x="124" y="106"/>
                      <a:pt x="124" y="106"/>
                      <a:pt x="123" y="106"/>
                    </a:cubicBezTo>
                    <a:cubicBezTo>
                      <a:pt x="121" y="107"/>
                      <a:pt x="119" y="109"/>
                      <a:pt x="117" y="111"/>
                    </a:cubicBezTo>
                    <a:cubicBezTo>
                      <a:pt x="114" y="115"/>
                      <a:pt x="114" y="115"/>
                      <a:pt x="114" y="115"/>
                    </a:cubicBezTo>
                    <a:cubicBezTo>
                      <a:pt x="113" y="117"/>
                      <a:pt x="109" y="121"/>
                      <a:pt x="107" y="122"/>
                    </a:cubicBezTo>
                    <a:cubicBezTo>
                      <a:pt x="89" y="133"/>
                      <a:pt x="89" y="133"/>
                      <a:pt x="89" y="133"/>
                    </a:cubicBezTo>
                    <a:cubicBezTo>
                      <a:pt x="86" y="134"/>
                      <a:pt x="85" y="136"/>
                      <a:pt x="85" y="138"/>
                    </a:cubicBezTo>
                    <a:cubicBezTo>
                      <a:pt x="85" y="140"/>
                      <a:pt x="85" y="141"/>
                      <a:pt x="86" y="142"/>
                    </a:cubicBezTo>
                    <a:cubicBezTo>
                      <a:pt x="87" y="143"/>
                      <a:pt x="87" y="145"/>
                      <a:pt x="87" y="147"/>
                    </a:cubicBezTo>
                    <a:cubicBezTo>
                      <a:pt x="87" y="148"/>
                      <a:pt x="87" y="149"/>
                      <a:pt x="87" y="150"/>
                    </a:cubicBezTo>
                    <a:cubicBezTo>
                      <a:pt x="86" y="152"/>
                      <a:pt x="86" y="152"/>
                      <a:pt x="86" y="152"/>
                    </a:cubicBezTo>
                    <a:cubicBezTo>
                      <a:pt x="86" y="153"/>
                      <a:pt x="85" y="154"/>
                      <a:pt x="84" y="155"/>
                    </a:cubicBezTo>
                    <a:cubicBezTo>
                      <a:pt x="83" y="156"/>
                      <a:pt x="82" y="157"/>
                      <a:pt x="81" y="157"/>
                    </a:cubicBezTo>
                    <a:cubicBezTo>
                      <a:pt x="68" y="160"/>
                      <a:pt x="68" y="160"/>
                      <a:pt x="68" y="160"/>
                    </a:cubicBezTo>
                    <a:cubicBezTo>
                      <a:pt x="66" y="160"/>
                      <a:pt x="65" y="162"/>
                      <a:pt x="63" y="163"/>
                    </a:cubicBezTo>
                    <a:cubicBezTo>
                      <a:pt x="62" y="165"/>
                      <a:pt x="61" y="167"/>
                      <a:pt x="60" y="169"/>
                    </a:cubicBezTo>
                    <a:cubicBezTo>
                      <a:pt x="56" y="188"/>
                      <a:pt x="56" y="188"/>
                      <a:pt x="56" y="188"/>
                    </a:cubicBezTo>
                    <a:cubicBezTo>
                      <a:pt x="56" y="189"/>
                      <a:pt x="56" y="189"/>
                      <a:pt x="56" y="190"/>
                    </a:cubicBezTo>
                    <a:cubicBezTo>
                      <a:pt x="56" y="192"/>
                      <a:pt x="56" y="193"/>
                      <a:pt x="57" y="195"/>
                    </a:cubicBezTo>
                    <a:cubicBezTo>
                      <a:pt x="58" y="196"/>
                      <a:pt x="60" y="197"/>
                      <a:pt x="61" y="197"/>
                    </a:cubicBezTo>
                    <a:cubicBezTo>
                      <a:pt x="62" y="197"/>
                      <a:pt x="62" y="197"/>
                      <a:pt x="62" y="197"/>
                    </a:cubicBezTo>
                    <a:cubicBezTo>
                      <a:pt x="79" y="196"/>
                      <a:pt x="79" y="196"/>
                      <a:pt x="79" y="196"/>
                    </a:cubicBezTo>
                    <a:cubicBezTo>
                      <a:pt x="81" y="195"/>
                      <a:pt x="83" y="195"/>
                      <a:pt x="85" y="194"/>
                    </a:cubicBezTo>
                    <a:cubicBezTo>
                      <a:pt x="87" y="193"/>
                      <a:pt x="88" y="191"/>
                      <a:pt x="90" y="189"/>
                    </a:cubicBezTo>
                    <a:cubicBezTo>
                      <a:pt x="99" y="176"/>
                      <a:pt x="99" y="176"/>
                      <a:pt x="99" y="176"/>
                    </a:cubicBezTo>
                    <a:cubicBezTo>
                      <a:pt x="101" y="173"/>
                      <a:pt x="105" y="170"/>
                      <a:pt x="107" y="169"/>
                    </a:cubicBezTo>
                    <a:cubicBezTo>
                      <a:pt x="120" y="163"/>
                      <a:pt x="120" y="163"/>
                      <a:pt x="120" y="163"/>
                    </a:cubicBezTo>
                    <a:cubicBezTo>
                      <a:pt x="120" y="162"/>
                      <a:pt x="121" y="162"/>
                      <a:pt x="121" y="162"/>
                    </a:cubicBezTo>
                    <a:cubicBezTo>
                      <a:pt x="122" y="162"/>
                      <a:pt x="124" y="163"/>
                      <a:pt x="125" y="165"/>
                    </a:cubicBezTo>
                    <a:cubicBezTo>
                      <a:pt x="134" y="185"/>
                      <a:pt x="134" y="185"/>
                      <a:pt x="134" y="185"/>
                    </a:cubicBezTo>
                    <a:cubicBezTo>
                      <a:pt x="134" y="186"/>
                      <a:pt x="135" y="187"/>
                      <a:pt x="136" y="188"/>
                    </a:cubicBezTo>
                    <a:cubicBezTo>
                      <a:pt x="137" y="188"/>
                      <a:pt x="138" y="189"/>
                      <a:pt x="139" y="189"/>
                    </a:cubicBezTo>
                    <a:cubicBezTo>
                      <a:pt x="141" y="189"/>
                      <a:pt x="143" y="188"/>
                      <a:pt x="144" y="186"/>
                    </a:cubicBezTo>
                    <a:cubicBezTo>
                      <a:pt x="144" y="185"/>
                      <a:pt x="144" y="185"/>
                      <a:pt x="144" y="185"/>
                    </a:cubicBezTo>
                    <a:cubicBezTo>
                      <a:pt x="144" y="185"/>
                      <a:pt x="144" y="185"/>
                      <a:pt x="144" y="185"/>
                    </a:cubicBezTo>
                    <a:cubicBezTo>
                      <a:pt x="144" y="185"/>
                      <a:pt x="144" y="185"/>
                      <a:pt x="144" y="185"/>
                    </a:cubicBezTo>
                    <a:cubicBezTo>
                      <a:pt x="145" y="183"/>
                      <a:pt x="146" y="181"/>
                      <a:pt x="146" y="179"/>
                    </a:cubicBezTo>
                    <a:cubicBezTo>
                      <a:pt x="146" y="176"/>
                      <a:pt x="146" y="174"/>
                      <a:pt x="144" y="172"/>
                    </a:cubicBezTo>
                    <a:cubicBezTo>
                      <a:pt x="140" y="164"/>
                      <a:pt x="140" y="164"/>
                      <a:pt x="140" y="164"/>
                    </a:cubicBezTo>
                    <a:cubicBezTo>
                      <a:pt x="139" y="163"/>
                      <a:pt x="138" y="160"/>
                      <a:pt x="138" y="159"/>
                    </a:cubicBezTo>
                    <a:cubicBezTo>
                      <a:pt x="138" y="158"/>
                      <a:pt x="138" y="157"/>
                      <a:pt x="139" y="157"/>
                    </a:cubicBezTo>
                    <a:cubicBezTo>
                      <a:pt x="139" y="157"/>
                      <a:pt x="139" y="157"/>
                      <a:pt x="139" y="157"/>
                    </a:cubicBezTo>
                    <a:cubicBezTo>
                      <a:pt x="139" y="157"/>
                      <a:pt x="139" y="157"/>
                      <a:pt x="139" y="157"/>
                    </a:cubicBezTo>
                    <a:cubicBezTo>
                      <a:pt x="138" y="156"/>
                      <a:pt x="138" y="156"/>
                      <a:pt x="138" y="156"/>
                    </a:cubicBezTo>
                    <a:cubicBezTo>
                      <a:pt x="138" y="157"/>
                      <a:pt x="138" y="157"/>
                      <a:pt x="138" y="157"/>
                    </a:cubicBezTo>
                    <a:cubicBezTo>
                      <a:pt x="139" y="157"/>
                      <a:pt x="139" y="157"/>
                      <a:pt x="139" y="157"/>
                    </a:cubicBezTo>
                    <a:cubicBezTo>
                      <a:pt x="138" y="156"/>
                      <a:pt x="138" y="156"/>
                      <a:pt x="138" y="156"/>
                    </a:cubicBezTo>
                    <a:cubicBezTo>
                      <a:pt x="138" y="157"/>
                      <a:pt x="138" y="157"/>
                      <a:pt x="138" y="157"/>
                    </a:cubicBezTo>
                    <a:cubicBezTo>
                      <a:pt x="138" y="157"/>
                      <a:pt x="138" y="157"/>
                      <a:pt x="138" y="157"/>
                    </a:cubicBezTo>
                    <a:cubicBezTo>
                      <a:pt x="138" y="157"/>
                      <a:pt x="138" y="157"/>
                      <a:pt x="138" y="157"/>
                    </a:cubicBezTo>
                    <a:cubicBezTo>
                      <a:pt x="138" y="157"/>
                      <a:pt x="138" y="157"/>
                      <a:pt x="138" y="157"/>
                    </a:cubicBezTo>
                    <a:cubicBezTo>
                      <a:pt x="138" y="157"/>
                      <a:pt x="138" y="157"/>
                      <a:pt x="138" y="157"/>
                    </a:cubicBezTo>
                    <a:cubicBezTo>
                      <a:pt x="138" y="157"/>
                      <a:pt x="138" y="157"/>
                      <a:pt x="138" y="157"/>
                    </a:cubicBezTo>
                    <a:cubicBezTo>
                      <a:pt x="139" y="157"/>
                      <a:pt x="139" y="157"/>
                      <a:pt x="139" y="157"/>
                    </a:cubicBezTo>
                    <a:cubicBezTo>
                      <a:pt x="139" y="157"/>
                      <a:pt x="139" y="158"/>
                      <a:pt x="140" y="158"/>
                    </a:cubicBezTo>
                    <a:cubicBezTo>
                      <a:pt x="157" y="187"/>
                      <a:pt x="157" y="187"/>
                      <a:pt x="157" y="187"/>
                    </a:cubicBezTo>
                    <a:cubicBezTo>
                      <a:pt x="159" y="189"/>
                      <a:pt x="160" y="191"/>
                      <a:pt x="163" y="191"/>
                    </a:cubicBezTo>
                    <a:cubicBezTo>
                      <a:pt x="165" y="191"/>
                      <a:pt x="166" y="189"/>
                      <a:pt x="168" y="187"/>
                    </a:cubicBezTo>
                    <a:cubicBezTo>
                      <a:pt x="171" y="182"/>
                      <a:pt x="171" y="182"/>
                      <a:pt x="171" y="182"/>
                    </a:cubicBezTo>
                    <a:cubicBezTo>
                      <a:pt x="171" y="181"/>
                      <a:pt x="171" y="181"/>
                      <a:pt x="171" y="181"/>
                    </a:cubicBezTo>
                    <a:cubicBezTo>
                      <a:pt x="172" y="181"/>
                      <a:pt x="172" y="181"/>
                      <a:pt x="172" y="181"/>
                    </a:cubicBezTo>
                    <a:cubicBezTo>
                      <a:pt x="171" y="181"/>
                      <a:pt x="171" y="181"/>
                      <a:pt x="171" y="181"/>
                    </a:cubicBezTo>
                    <a:cubicBezTo>
                      <a:pt x="171" y="181"/>
                      <a:pt x="171" y="181"/>
                      <a:pt x="171" y="181"/>
                    </a:cubicBezTo>
                    <a:cubicBezTo>
                      <a:pt x="172" y="181"/>
                      <a:pt x="172" y="181"/>
                      <a:pt x="172"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2" y="182"/>
                      <a:pt x="172" y="183"/>
                    </a:cubicBezTo>
                    <a:cubicBezTo>
                      <a:pt x="173" y="187"/>
                      <a:pt x="173" y="187"/>
                      <a:pt x="173" y="187"/>
                    </a:cubicBezTo>
                    <a:cubicBezTo>
                      <a:pt x="174" y="189"/>
                      <a:pt x="175" y="191"/>
                      <a:pt x="176" y="193"/>
                    </a:cubicBezTo>
                    <a:cubicBezTo>
                      <a:pt x="178" y="195"/>
                      <a:pt x="179" y="196"/>
                      <a:pt x="181" y="197"/>
                    </a:cubicBezTo>
                    <a:cubicBezTo>
                      <a:pt x="194" y="200"/>
                      <a:pt x="194" y="200"/>
                      <a:pt x="194" y="200"/>
                    </a:cubicBezTo>
                    <a:cubicBezTo>
                      <a:pt x="195" y="200"/>
                      <a:pt x="196" y="201"/>
                      <a:pt x="197" y="202"/>
                    </a:cubicBezTo>
                    <a:cubicBezTo>
                      <a:pt x="197" y="203"/>
                      <a:pt x="198" y="205"/>
                      <a:pt x="198" y="206"/>
                    </a:cubicBezTo>
                    <a:cubicBezTo>
                      <a:pt x="198" y="229"/>
                      <a:pt x="198" y="229"/>
                      <a:pt x="198" y="229"/>
                    </a:cubicBezTo>
                    <a:cubicBezTo>
                      <a:pt x="198" y="230"/>
                      <a:pt x="197" y="231"/>
                      <a:pt x="197" y="231"/>
                    </a:cubicBezTo>
                    <a:cubicBezTo>
                      <a:pt x="197" y="231"/>
                      <a:pt x="197" y="231"/>
                      <a:pt x="197" y="231"/>
                    </a:cubicBezTo>
                    <a:cubicBezTo>
                      <a:pt x="197" y="231"/>
                      <a:pt x="197" y="231"/>
                      <a:pt x="197" y="231"/>
                    </a:cubicBezTo>
                    <a:cubicBezTo>
                      <a:pt x="197" y="231"/>
                      <a:pt x="197" y="231"/>
                      <a:pt x="197" y="231"/>
                    </a:cubicBezTo>
                    <a:cubicBezTo>
                      <a:pt x="197" y="231"/>
                      <a:pt x="197" y="231"/>
                      <a:pt x="197" y="231"/>
                    </a:cubicBezTo>
                    <a:cubicBezTo>
                      <a:pt x="197" y="231"/>
                      <a:pt x="197" y="231"/>
                      <a:pt x="197" y="231"/>
                    </a:cubicBezTo>
                    <a:cubicBezTo>
                      <a:pt x="197" y="231"/>
                      <a:pt x="197" y="231"/>
                      <a:pt x="197" y="231"/>
                    </a:cubicBezTo>
                    <a:cubicBezTo>
                      <a:pt x="197" y="231"/>
                      <a:pt x="197" y="231"/>
                      <a:pt x="197" y="231"/>
                    </a:cubicBezTo>
                    <a:cubicBezTo>
                      <a:pt x="197" y="231"/>
                      <a:pt x="197" y="231"/>
                      <a:pt x="197" y="231"/>
                    </a:cubicBezTo>
                    <a:cubicBezTo>
                      <a:pt x="195" y="229"/>
                      <a:pt x="195" y="229"/>
                      <a:pt x="195" y="229"/>
                    </a:cubicBezTo>
                    <a:cubicBezTo>
                      <a:pt x="193" y="228"/>
                      <a:pt x="191" y="227"/>
                      <a:pt x="188" y="227"/>
                    </a:cubicBezTo>
                    <a:cubicBezTo>
                      <a:pt x="187" y="227"/>
                      <a:pt x="185" y="228"/>
                      <a:pt x="183" y="229"/>
                    </a:cubicBezTo>
                    <a:cubicBezTo>
                      <a:pt x="182" y="230"/>
                      <a:pt x="182" y="230"/>
                      <a:pt x="182" y="230"/>
                    </a:cubicBezTo>
                    <a:cubicBezTo>
                      <a:pt x="181" y="230"/>
                      <a:pt x="180" y="230"/>
                      <a:pt x="179" y="230"/>
                    </a:cubicBezTo>
                    <a:cubicBezTo>
                      <a:pt x="177" y="230"/>
                      <a:pt x="176" y="230"/>
                      <a:pt x="175" y="229"/>
                    </a:cubicBezTo>
                    <a:cubicBezTo>
                      <a:pt x="168" y="225"/>
                      <a:pt x="168" y="225"/>
                      <a:pt x="168" y="225"/>
                    </a:cubicBezTo>
                    <a:cubicBezTo>
                      <a:pt x="167" y="223"/>
                      <a:pt x="165" y="223"/>
                      <a:pt x="163" y="223"/>
                    </a:cubicBezTo>
                    <a:cubicBezTo>
                      <a:pt x="161" y="223"/>
                      <a:pt x="159" y="224"/>
                      <a:pt x="157" y="225"/>
                    </a:cubicBezTo>
                    <a:cubicBezTo>
                      <a:pt x="154" y="227"/>
                      <a:pt x="154" y="227"/>
                      <a:pt x="154" y="227"/>
                    </a:cubicBezTo>
                    <a:cubicBezTo>
                      <a:pt x="153" y="228"/>
                      <a:pt x="151" y="229"/>
                      <a:pt x="149" y="229"/>
                    </a:cubicBezTo>
                    <a:cubicBezTo>
                      <a:pt x="148" y="229"/>
                      <a:pt x="147" y="229"/>
                      <a:pt x="147" y="228"/>
                    </a:cubicBezTo>
                    <a:cubicBezTo>
                      <a:pt x="129" y="219"/>
                      <a:pt x="129" y="219"/>
                      <a:pt x="129" y="219"/>
                    </a:cubicBezTo>
                    <a:cubicBezTo>
                      <a:pt x="128" y="219"/>
                      <a:pt x="127" y="217"/>
                      <a:pt x="126" y="216"/>
                    </a:cubicBezTo>
                    <a:cubicBezTo>
                      <a:pt x="125" y="215"/>
                      <a:pt x="125" y="213"/>
                      <a:pt x="125" y="212"/>
                    </a:cubicBezTo>
                    <a:cubicBezTo>
                      <a:pt x="124" y="201"/>
                      <a:pt x="124" y="201"/>
                      <a:pt x="124" y="201"/>
                    </a:cubicBezTo>
                    <a:cubicBezTo>
                      <a:pt x="124" y="199"/>
                      <a:pt x="123" y="197"/>
                      <a:pt x="122" y="196"/>
                    </a:cubicBezTo>
                    <a:cubicBezTo>
                      <a:pt x="121" y="195"/>
                      <a:pt x="119" y="194"/>
                      <a:pt x="118" y="194"/>
                    </a:cubicBezTo>
                    <a:cubicBezTo>
                      <a:pt x="117" y="194"/>
                      <a:pt x="117" y="194"/>
                      <a:pt x="116" y="194"/>
                    </a:cubicBezTo>
                    <a:cubicBezTo>
                      <a:pt x="51" y="210"/>
                      <a:pt x="51" y="210"/>
                      <a:pt x="51" y="210"/>
                    </a:cubicBezTo>
                    <a:cubicBezTo>
                      <a:pt x="50" y="211"/>
                      <a:pt x="48" y="212"/>
                      <a:pt x="46" y="213"/>
                    </a:cubicBezTo>
                    <a:cubicBezTo>
                      <a:pt x="45" y="215"/>
                      <a:pt x="43" y="216"/>
                      <a:pt x="42" y="218"/>
                    </a:cubicBezTo>
                    <a:cubicBezTo>
                      <a:pt x="2" y="299"/>
                      <a:pt x="2" y="299"/>
                      <a:pt x="2" y="299"/>
                    </a:cubicBezTo>
                    <a:cubicBezTo>
                      <a:pt x="1" y="301"/>
                      <a:pt x="0" y="305"/>
                      <a:pt x="0" y="308"/>
                    </a:cubicBezTo>
                    <a:cubicBezTo>
                      <a:pt x="0" y="310"/>
                      <a:pt x="0" y="311"/>
                      <a:pt x="0" y="312"/>
                    </a:cubicBezTo>
                    <a:lnTo>
                      <a:pt x="3" y="312"/>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9" name="Freeform 284"/>
              <p:cNvSpPr>
                <a:spLocks/>
              </p:cNvSpPr>
              <p:nvPr/>
            </p:nvSpPr>
            <p:spPr bwMode="auto">
              <a:xfrm>
                <a:off x="-3751262" y="2446334"/>
                <a:ext cx="508000" cy="323850"/>
              </a:xfrm>
              <a:custGeom>
                <a:avLst/>
                <a:gdLst/>
                <a:ahLst/>
                <a:cxnLst>
                  <a:cxn ang="0">
                    <a:pos x="6" y="86"/>
                  </a:cxn>
                  <a:cxn ang="0">
                    <a:pos x="11" y="85"/>
                  </a:cxn>
                  <a:cxn ang="0">
                    <a:pos x="10" y="84"/>
                  </a:cxn>
                  <a:cxn ang="0">
                    <a:pos x="10" y="84"/>
                  </a:cxn>
                  <a:cxn ang="0">
                    <a:pos x="10" y="84"/>
                  </a:cxn>
                  <a:cxn ang="0">
                    <a:pos x="11" y="86"/>
                  </a:cxn>
                  <a:cxn ang="0">
                    <a:pos x="19" y="83"/>
                  </a:cxn>
                  <a:cxn ang="0">
                    <a:pos x="34" y="70"/>
                  </a:cxn>
                  <a:cxn ang="0">
                    <a:pos x="69" y="53"/>
                  </a:cxn>
                  <a:cxn ang="0">
                    <a:pos x="84" y="55"/>
                  </a:cxn>
                  <a:cxn ang="0">
                    <a:pos x="87" y="47"/>
                  </a:cxn>
                  <a:cxn ang="0">
                    <a:pos x="84" y="42"/>
                  </a:cxn>
                  <a:cxn ang="0">
                    <a:pos x="84" y="42"/>
                  </a:cxn>
                  <a:cxn ang="0">
                    <a:pos x="84" y="41"/>
                  </a:cxn>
                  <a:cxn ang="0">
                    <a:pos x="84" y="41"/>
                  </a:cxn>
                  <a:cxn ang="0">
                    <a:pos x="88" y="41"/>
                  </a:cxn>
                  <a:cxn ang="0">
                    <a:pos x="93" y="40"/>
                  </a:cxn>
                  <a:cxn ang="0">
                    <a:pos x="134" y="12"/>
                  </a:cxn>
                  <a:cxn ang="0">
                    <a:pos x="131" y="5"/>
                  </a:cxn>
                  <a:cxn ang="0">
                    <a:pos x="130" y="9"/>
                  </a:cxn>
                  <a:cxn ang="0">
                    <a:pos x="131" y="10"/>
                  </a:cxn>
                  <a:cxn ang="0">
                    <a:pos x="131" y="10"/>
                  </a:cxn>
                  <a:cxn ang="0">
                    <a:pos x="131" y="10"/>
                  </a:cxn>
                  <a:cxn ang="0">
                    <a:pos x="131" y="9"/>
                  </a:cxn>
                  <a:cxn ang="0">
                    <a:pos x="131" y="9"/>
                  </a:cxn>
                  <a:cxn ang="0">
                    <a:pos x="130" y="10"/>
                  </a:cxn>
                  <a:cxn ang="0">
                    <a:pos x="89" y="37"/>
                  </a:cxn>
                  <a:cxn ang="0">
                    <a:pos x="84" y="37"/>
                  </a:cxn>
                  <a:cxn ang="0">
                    <a:pos x="82" y="48"/>
                  </a:cxn>
                  <a:cxn ang="0">
                    <a:pos x="84" y="51"/>
                  </a:cxn>
                  <a:cxn ang="0">
                    <a:pos x="84" y="51"/>
                  </a:cxn>
                  <a:cxn ang="0">
                    <a:pos x="84" y="51"/>
                  </a:cxn>
                  <a:cxn ang="0">
                    <a:pos x="84" y="51"/>
                  </a:cxn>
                  <a:cxn ang="0">
                    <a:pos x="84" y="51"/>
                  </a:cxn>
                  <a:cxn ang="0">
                    <a:pos x="84" y="51"/>
                  </a:cxn>
                  <a:cxn ang="0">
                    <a:pos x="69" y="49"/>
                  </a:cxn>
                  <a:cxn ang="0">
                    <a:pos x="31" y="66"/>
                  </a:cxn>
                  <a:cxn ang="0">
                    <a:pos x="16" y="80"/>
                  </a:cxn>
                  <a:cxn ang="0">
                    <a:pos x="13" y="82"/>
                  </a:cxn>
                  <a:cxn ang="0">
                    <a:pos x="13" y="82"/>
                  </a:cxn>
                  <a:cxn ang="0">
                    <a:pos x="13" y="82"/>
                  </a:cxn>
                  <a:cxn ang="0">
                    <a:pos x="13" y="82"/>
                  </a:cxn>
                  <a:cxn ang="0">
                    <a:pos x="13" y="83"/>
                  </a:cxn>
                  <a:cxn ang="0">
                    <a:pos x="13" y="83"/>
                  </a:cxn>
                  <a:cxn ang="0">
                    <a:pos x="11" y="80"/>
                  </a:cxn>
                  <a:cxn ang="0">
                    <a:pos x="5" y="82"/>
                  </a:cxn>
                </a:cxnLst>
                <a:rect l="0" t="0" r="r" b="b"/>
                <a:pathLst>
                  <a:path w="135" h="86">
                    <a:moveTo>
                      <a:pt x="0" y="83"/>
                    </a:moveTo>
                    <a:cubicBezTo>
                      <a:pt x="0" y="83"/>
                      <a:pt x="1" y="84"/>
                      <a:pt x="2" y="85"/>
                    </a:cubicBezTo>
                    <a:cubicBezTo>
                      <a:pt x="3" y="86"/>
                      <a:pt x="5" y="86"/>
                      <a:pt x="6" y="86"/>
                    </a:cubicBezTo>
                    <a:cubicBezTo>
                      <a:pt x="7" y="86"/>
                      <a:pt x="9" y="86"/>
                      <a:pt x="10" y="85"/>
                    </a:cubicBezTo>
                    <a:cubicBezTo>
                      <a:pt x="11" y="85"/>
                      <a:pt x="11" y="85"/>
                      <a:pt x="11" y="85"/>
                    </a:cubicBezTo>
                    <a:cubicBezTo>
                      <a:pt x="11" y="85"/>
                      <a:pt x="11" y="85"/>
                      <a:pt x="11" y="85"/>
                    </a:cubicBezTo>
                    <a:cubicBezTo>
                      <a:pt x="11" y="85"/>
                      <a:pt x="11" y="85"/>
                      <a:pt x="11" y="85"/>
                    </a:cubicBezTo>
                    <a:cubicBezTo>
                      <a:pt x="11" y="84"/>
                      <a:pt x="11" y="84"/>
                      <a:pt x="11" y="84"/>
                    </a:cubicBezTo>
                    <a:cubicBezTo>
                      <a:pt x="10" y="84"/>
                      <a:pt x="10" y="84"/>
                      <a:pt x="10" y="84"/>
                    </a:cubicBezTo>
                    <a:cubicBezTo>
                      <a:pt x="11" y="85"/>
                      <a:pt x="11" y="85"/>
                      <a:pt x="11" y="85"/>
                    </a:cubicBezTo>
                    <a:cubicBezTo>
                      <a:pt x="11" y="84"/>
                      <a:pt x="11" y="84"/>
                      <a:pt x="11" y="84"/>
                    </a:cubicBezTo>
                    <a:cubicBezTo>
                      <a:pt x="10" y="84"/>
                      <a:pt x="10" y="84"/>
                      <a:pt x="10" y="84"/>
                    </a:cubicBezTo>
                    <a:cubicBezTo>
                      <a:pt x="11" y="84"/>
                      <a:pt x="11" y="84"/>
                      <a:pt x="11" y="84"/>
                    </a:cubicBezTo>
                    <a:cubicBezTo>
                      <a:pt x="10" y="84"/>
                      <a:pt x="10" y="84"/>
                      <a:pt x="10" y="84"/>
                    </a:cubicBezTo>
                    <a:cubicBezTo>
                      <a:pt x="10" y="84"/>
                      <a:pt x="10" y="84"/>
                      <a:pt x="10" y="84"/>
                    </a:cubicBezTo>
                    <a:cubicBezTo>
                      <a:pt x="11" y="84"/>
                      <a:pt x="11" y="84"/>
                      <a:pt x="11" y="84"/>
                    </a:cubicBezTo>
                    <a:cubicBezTo>
                      <a:pt x="10" y="84"/>
                      <a:pt x="10" y="84"/>
                      <a:pt x="10" y="84"/>
                    </a:cubicBezTo>
                    <a:cubicBezTo>
                      <a:pt x="10" y="85"/>
                      <a:pt x="11" y="85"/>
                      <a:pt x="11" y="86"/>
                    </a:cubicBezTo>
                    <a:cubicBezTo>
                      <a:pt x="12" y="86"/>
                      <a:pt x="13" y="86"/>
                      <a:pt x="13" y="86"/>
                    </a:cubicBezTo>
                    <a:cubicBezTo>
                      <a:pt x="14" y="86"/>
                      <a:pt x="15" y="86"/>
                      <a:pt x="16" y="85"/>
                    </a:cubicBezTo>
                    <a:cubicBezTo>
                      <a:pt x="17" y="85"/>
                      <a:pt x="18" y="84"/>
                      <a:pt x="19" y="83"/>
                    </a:cubicBezTo>
                    <a:cubicBezTo>
                      <a:pt x="20" y="82"/>
                      <a:pt x="20" y="82"/>
                      <a:pt x="20" y="82"/>
                    </a:cubicBezTo>
                    <a:cubicBezTo>
                      <a:pt x="22" y="80"/>
                      <a:pt x="26" y="76"/>
                      <a:pt x="28" y="75"/>
                    </a:cubicBezTo>
                    <a:cubicBezTo>
                      <a:pt x="34" y="70"/>
                      <a:pt x="34" y="70"/>
                      <a:pt x="34" y="70"/>
                    </a:cubicBezTo>
                    <a:cubicBezTo>
                      <a:pt x="36" y="68"/>
                      <a:pt x="40" y="65"/>
                      <a:pt x="43" y="64"/>
                    </a:cubicBezTo>
                    <a:cubicBezTo>
                      <a:pt x="62" y="54"/>
                      <a:pt x="62" y="54"/>
                      <a:pt x="62" y="54"/>
                    </a:cubicBezTo>
                    <a:cubicBezTo>
                      <a:pt x="64" y="54"/>
                      <a:pt x="67" y="53"/>
                      <a:pt x="69" y="53"/>
                    </a:cubicBezTo>
                    <a:cubicBezTo>
                      <a:pt x="70" y="53"/>
                      <a:pt x="70" y="53"/>
                      <a:pt x="71" y="53"/>
                    </a:cubicBezTo>
                    <a:cubicBezTo>
                      <a:pt x="83" y="55"/>
                      <a:pt x="83" y="55"/>
                      <a:pt x="83" y="55"/>
                    </a:cubicBezTo>
                    <a:cubicBezTo>
                      <a:pt x="84" y="55"/>
                      <a:pt x="84" y="55"/>
                      <a:pt x="84" y="55"/>
                    </a:cubicBezTo>
                    <a:cubicBezTo>
                      <a:pt x="85" y="55"/>
                      <a:pt x="86" y="55"/>
                      <a:pt x="87" y="54"/>
                    </a:cubicBezTo>
                    <a:cubicBezTo>
                      <a:pt x="88" y="53"/>
                      <a:pt x="88" y="52"/>
                      <a:pt x="88" y="51"/>
                    </a:cubicBezTo>
                    <a:cubicBezTo>
                      <a:pt x="88" y="50"/>
                      <a:pt x="87" y="48"/>
                      <a:pt x="87" y="47"/>
                    </a:cubicBezTo>
                    <a:cubicBezTo>
                      <a:pt x="86" y="46"/>
                      <a:pt x="86" y="46"/>
                      <a:pt x="86" y="46"/>
                    </a:cubicBezTo>
                    <a:cubicBezTo>
                      <a:pt x="85" y="45"/>
                      <a:pt x="84" y="43"/>
                      <a:pt x="84" y="42"/>
                    </a:cubicBezTo>
                    <a:cubicBezTo>
                      <a:pt x="84" y="42"/>
                      <a:pt x="84" y="42"/>
                      <a:pt x="84" y="42"/>
                    </a:cubicBezTo>
                    <a:cubicBezTo>
                      <a:pt x="84" y="42"/>
                      <a:pt x="84" y="42"/>
                      <a:pt x="84" y="42"/>
                    </a:cubicBezTo>
                    <a:cubicBezTo>
                      <a:pt x="84" y="42"/>
                      <a:pt x="84" y="42"/>
                      <a:pt x="84" y="42"/>
                    </a:cubicBezTo>
                    <a:cubicBezTo>
                      <a:pt x="84" y="42"/>
                      <a:pt x="84" y="42"/>
                      <a:pt x="84" y="42"/>
                    </a:cubicBezTo>
                    <a:cubicBezTo>
                      <a:pt x="84" y="42"/>
                      <a:pt x="84" y="42"/>
                      <a:pt x="84" y="42"/>
                    </a:cubicBezTo>
                    <a:cubicBezTo>
                      <a:pt x="84" y="42"/>
                      <a:pt x="84" y="42"/>
                      <a:pt x="84" y="42"/>
                    </a:cubicBezTo>
                    <a:cubicBezTo>
                      <a:pt x="84" y="41"/>
                      <a:pt x="84" y="41"/>
                      <a:pt x="84" y="41"/>
                    </a:cubicBezTo>
                    <a:cubicBezTo>
                      <a:pt x="84" y="42"/>
                      <a:pt x="84" y="42"/>
                      <a:pt x="84" y="42"/>
                    </a:cubicBezTo>
                    <a:cubicBezTo>
                      <a:pt x="84" y="42"/>
                      <a:pt x="84" y="42"/>
                      <a:pt x="84" y="42"/>
                    </a:cubicBezTo>
                    <a:cubicBezTo>
                      <a:pt x="84" y="41"/>
                      <a:pt x="84" y="41"/>
                      <a:pt x="84" y="41"/>
                    </a:cubicBezTo>
                    <a:cubicBezTo>
                      <a:pt x="84" y="42"/>
                      <a:pt x="84" y="42"/>
                      <a:pt x="84" y="42"/>
                    </a:cubicBezTo>
                    <a:cubicBezTo>
                      <a:pt x="85" y="41"/>
                      <a:pt x="85" y="41"/>
                      <a:pt x="85" y="41"/>
                    </a:cubicBezTo>
                    <a:cubicBezTo>
                      <a:pt x="86" y="41"/>
                      <a:pt x="87" y="41"/>
                      <a:pt x="88" y="41"/>
                    </a:cubicBezTo>
                    <a:cubicBezTo>
                      <a:pt x="88" y="41"/>
                      <a:pt x="88" y="41"/>
                      <a:pt x="88" y="41"/>
                    </a:cubicBezTo>
                    <a:cubicBezTo>
                      <a:pt x="89" y="41"/>
                      <a:pt x="89" y="41"/>
                      <a:pt x="89" y="41"/>
                    </a:cubicBezTo>
                    <a:cubicBezTo>
                      <a:pt x="90" y="41"/>
                      <a:pt x="92" y="41"/>
                      <a:pt x="93" y="40"/>
                    </a:cubicBezTo>
                    <a:cubicBezTo>
                      <a:pt x="95" y="39"/>
                      <a:pt x="96" y="39"/>
                      <a:pt x="98" y="38"/>
                    </a:cubicBezTo>
                    <a:cubicBezTo>
                      <a:pt x="133" y="13"/>
                      <a:pt x="133" y="13"/>
                      <a:pt x="133" y="13"/>
                    </a:cubicBezTo>
                    <a:cubicBezTo>
                      <a:pt x="134" y="12"/>
                      <a:pt x="134" y="12"/>
                      <a:pt x="134" y="12"/>
                    </a:cubicBezTo>
                    <a:cubicBezTo>
                      <a:pt x="135" y="11"/>
                      <a:pt x="135" y="10"/>
                      <a:pt x="135" y="9"/>
                    </a:cubicBezTo>
                    <a:cubicBezTo>
                      <a:pt x="135" y="8"/>
                      <a:pt x="135" y="7"/>
                      <a:pt x="134" y="6"/>
                    </a:cubicBezTo>
                    <a:cubicBezTo>
                      <a:pt x="133" y="6"/>
                      <a:pt x="132" y="5"/>
                      <a:pt x="131" y="5"/>
                    </a:cubicBezTo>
                    <a:cubicBezTo>
                      <a:pt x="105" y="0"/>
                      <a:pt x="105" y="0"/>
                      <a:pt x="105" y="0"/>
                    </a:cubicBezTo>
                    <a:cubicBezTo>
                      <a:pt x="104" y="4"/>
                      <a:pt x="104" y="4"/>
                      <a:pt x="104" y="4"/>
                    </a:cubicBezTo>
                    <a:cubicBezTo>
                      <a:pt x="130" y="9"/>
                      <a:pt x="130" y="9"/>
                      <a:pt x="130" y="9"/>
                    </a:cubicBezTo>
                    <a:cubicBezTo>
                      <a:pt x="131" y="10"/>
                      <a:pt x="131" y="10"/>
                      <a:pt x="131" y="10"/>
                    </a:cubicBezTo>
                    <a:cubicBezTo>
                      <a:pt x="131" y="9"/>
                      <a:pt x="131" y="9"/>
                      <a:pt x="131" y="9"/>
                    </a:cubicBezTo>
                    <a:cubicBezTo>
                      <a:pt x="131" y="10"/>
                      <a:pt x="131" y="10"/>
                      <a:pt x="131" y="10"/>
                    </a:cubicBezTo>
                    <a:cubicBezTo>
                      <a:pt x="131" y="10"/>
                      <a:pt x="131" y="10"/>
                      <a:pt x="131" y="10"/>
                    </a:cubicBezTo>
                    <a:cubicBezTo>
                      <a:pt x="131" y="9"/>
                      <a:pt x="131" y="9"/>
                      <a:pt x="131" y="9"/>
                    </a:cubicBezTo>
                    <a:cubicBezTo>
                      <a:pt x="131" y="10"/>
                      <a:pt x="131" y="10"/>
                      <a:pt x="131" y="10"/>
                    </a:cubicBezTo>
                    <a:cubicBezTo>
                      <a:pt x="132" y="9"/>
                      <a:pt x="132" y="9"/>
                      <a:pt x="132" y="9"/>
                    </a:cubicBezTo>
                    <a:cubicBezTo>
                      <a:pt x="131" y="9"/>
                      <a:pt x="131" y="9"/>
                      <a:pt x="131" y="9"/>
                    </a:cubicBezTo>
                    <a:cubicBezTo>
                      <a:pt x="131" y="10"/>
                      <a:pt x="131" y="10"/>
                      <a:pt x="131" y="10"/>
                    </a:cubicBezTo>
                    <a:cubicBezTo>
                      <a:pt x="132" y="9"/>
                      <a:pt x="132" y="9"/>
                      <a:pt x="132" y="9"/>
                    </a:cubicBezTo>
                    <a:cubicBezTo>
                      <a:pt x="131" y="9"/>
                      <a:pt x="131" y="9"/>
                      <a:pt x="131" y="9"/>
                    </a:cubicBezTo>
                    <a:cubicBezTo>
                      <a:pt x="131" y="9"/>
                      <a:pt x="131" y="9"/>
                      <a:pt x="131" y="9"/>
                    </a:cubicBezTo>
                    <a:cubicBezTo>
                      <a:pt x="131" y="9"/>
                      <a:pt x="131" y="9"/>
                      <a:pt x="131" y="9"/>
                    </a:cubicBezTo>
                    <a:cubicBezTo>
                      <a:pt x="131" y="9"/>
                      <a:pt x="131" y="9"/>
                      <a:pt x="131" y="9"/>
                    </a:cubicBezTo>
                    <a:cubicBezTo>
                      <a:pt x="131" y="9"/>
                      <a:pt x="131" y="9"/>
                      <a:pt x="131" y="9"/>
                    </a:cubicBezTo>
                    <a:cubicBezTo>
                      <a:pt x="131" y="9"/>
                      <a:pt x="131" y="9"/>
                      <a:pt x="131" y="9"/>
                    </a:cubicBezTo>
                    <a:cubicBezTo>
                      <a:pt x="131" y="9"/>
                      <a:pt x="131" y="9"/>
                      <a:pt x="131" y="9"/>
                    </a:cubicBezTo>
                    <a:cubicBezTo>
                      <a:pt x="131" y="9"/>
                      <a:pt x="131" y="9"/>
                      <a:pt x="130" y="10"/>
                    </a:cubicBezTo>
                    <a:cubicBezTo>
                      <a:pt x="95" y="34"/>
                      <a:pt x="95" y="34"/>
                      <a:pt x="95" y="34"/>
                    </a:cubicBezTo>
                    <a:cubicBezTo>
                      <a:pt x="94" y="35"/>
                      <a:pt x="93" y="36"/>
                      <a:pt x="92" y="36"/>
                    </a:cubicBezTo>
                    <a:cubicBezTo>
                      <a:pt x="91" y="36"/>
                      <a:pt x="89" y="37"/>
                      <a:pt x="89" y="37"/>
                    </a:cubicBezTo>
                    <a:cubicBezTo>
                      <a:pt x="89" y="37"/>
                      <a:pt x="89" y="37"/>
                      <a:pt x="89" y="37"/>
                    </a:cubicBezTo>
                    <a:cubicBezTo>
                      <a:pt x="88" y="37"/>
                      <a:pt x="88" y="37"/>
                      <a:pt x="88" y="37"/>
                    </a:cubicBezTo>
                    <a:cubicBezTo>
                      <a:pt x="86" y="37"/>
                      <a:pt x="85" y="37"/>
                      <a:pt x="84" y="37"/>
                    </a:cubicBezTo>
                    <a:cubicBezTo>
                      <a:pt x="83" y="37"/>
                      <a:pt x="82" y="38"/>
                      <a:pt x="81" y="39"/>
                    </a:cubicBezTo>
                    <a:cubicBezTo>
                      <a:pt x="80" y="40"/>
                      <a:pt x="80" y="41"/>
                      <a:pt x="80" y="42"/>
                    </a:cubicBezTo>
                    <a:cubicBezTo>
                      <a:pt x="80" y="44"/>
                      <a:pt x="81" y="46"/>
                      <a:pt x="82" y="48"/>
                    </a:cubicBezTo>
                    <a:cubicBezTo>
                      <a:pt x="83" y="50"/>
                      <a:pt x="83" y="50"/>
                      <a:pt x="83" y="50"/>
                    </a:cubicBezTo>
                    <a:cubicBezTo>
                      <a:pt x="84" y="50"/>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71" y="49"/>
                      <a:pt x="71" y="49"/>
                      <a:pt x="71" y="49"/>
                    </a:cubicBezTo>
                    <a:cubicBezTo>
                      <a:pt x="71" y="49"/>
                      <a:pt x="70" y="49"/>
                      <a:pt x="69" y="49"/>
                    </a:cubicBezTo>
                    <a:cubicBezTo>
                      <a:pt x="66" y="49"/>
                      <a:pt x="63" y="49"/>
                      <a:pt x="60" y="51"/>
                    </a:cubicBezTo>
                    <a:cubicBezTo>
                      <a:pt x="41" y="60"/>
                      <a:pt x="41" y="60"/>
                      <a:pt x="41" y="60"/>
                    </a:cubicBezTo>
                    <a:cubicBezTo>
                      <a:pt x="38" y="62"/>
                      <a:pt x="34" y="64"/>
                      <a:pt x="31" y="66"/>
                    </a:cubicBezTo>
                    <a:cubicBezTo>
                      <a:pt x="25" y="71"/>
                      <a:pt x="25" y="71"/>
                      <a:pt x="25" y="71"/>
                    </a:cubicBezTo>
                    <a:cubicBezTo>
                      <a:pt x="23" y="73"/>
                      <a:pt x="19" y="77"/>
                      <a:pt x="17" y="79"/>
                    </a:cubicBezTo>
                    <a:cubicBezTo>
                      <a:pt x="16" y="80"/>
                      <a:pt x="16" y="80"/>
                      <a:pt x="16" y="80"/>
                    </a:cubicBezTo>
                    <a:cubicBezTo>
                      <a:pt x="15" y="81"/>
                      <a:pt x="14" y="81"/>
                      <a:pt x="14" y="82"/>
                    </a:cubicBezTo>
                    <a:cubicBezTo>
                      <a:pt x="13" y="82"/>
                      <a:pt x="13" y="82"/>
                      <a:pt x="13" y="82"/>
                    </a:cubicBezTo>
                    <a:cubicBezTo>
                      <a:pt x="13" y="82"/>
                      <a:pt x="13" y="82"/>
                      <a:pt x="13" y="82"/>
                    </a:cubicBezTo>
                    <a:cubicBezTo>
                      <a:pt x="13" y="82"/>
                      <a:pt x="13" y="82"/>
                      <a:pt x="13" y="82"/>
                    </a:cubicBezTo>
                    <a:cubicBezTo>
                      <a:pt x="13" y="82"/>
                      <a:pt x="13" y="82"/>
                      <a:pt x="13" y="82"/>
                    </a:cubicBezTo>
                    <a:cubicBezTo>
                      <a:pt x="13" y="82"/>
                      <a:pt x="13" y="82"/>
                      <a:pt x="13" y="82"/>
                    </a:cubicBezTo>
                    <a:cubicBezTo>
                      <a:pt x="13" y="82"/>
                      <a:pt x="13" y="82"/>
                      <a:pt x="13" y="82"/>
                    </a:cubicBezTo>
                    <a:cubicBezTo>
                      <a:pt x="13" y="82"/>
                      <a:pt x="13" y="82"/>
                      <a:pt x="13" y="82"/>
                    </a:cubicBezTo>
                    <a:cubicBezTo>
                      <a:pt x="13" y="82"/>
                      <a:pt x="13" y="82"/>
                      <a:pt x="13" y="82"/>
                    </a:cubicBezTo>
                    <a:cubicBezTo>
                      <a:pt x="13" y="83"/>
                      <a:pt x="13" y="83"/>
                      <a:pt x="13" y="83"/>
                    </a:cubicBezTo>
                    <a:cubicBezTo>
                      <a:pt x="14" y="82"/>
                      <a:pt x="14" y="82"/>
                      <a:pt x="14" y="82"/>
                    </a:cubicBezTo>
                    <a:cubicBezTo>
                      <a:pt x="13" y="82"/>
                      <a:pt x="13" y="82"/>
                      <a:pt x="13" y="82"/>
                    </a:cubicBezTo>
                    <a:cubicBezTo>
                      <a:pt x="13" y="83"/>
                      <a:pt x="13" y="83"/>
                      <a:pt x="13" y="83"/>
                    </a:cubicBezTo>
                    <a:cubicBezTo>
                      <a:pt x="14" y="82"/>
                      <a:pt x="14" y="82"/>
                      <a:pt x="14" y="82"/>
                    </a:cubicBezTo>
                    <a:cubicBezTo>
                      <a:pt x="13" y="83"/>
                      <a:pt x="13" y="83"/>
                      <a:pt x="13" y="83"/>
                    </a:cubicBezTo>
                    <a:cubicBezTo>
                      <a:pt x="14" y="83"/>
                      <a:pt x="14" y="83"/>
                      <a:pt x="14" y="83"/>
                    </a:cubicBezTo>
                    <a:cubicBezTo>
                      <a:pt x="14" y="82"/>
                      <a:pt x="14" y="82"/>
                      <a:pt x="14" y="82"/>
                    </a:cubicBezTo>
                    <a:cubicBezTo>
                      <a:pt x="13" y="83"/>
                      <a:pt x="13" y="83"/>
                      <a:pt x="13" y="83"/>
                    </a:cubicBezTo>
                    <a:cubicBezTo>
                      <a:pt x="14" y="83"/>
                      <a:pt x="14" y="83"/>
                      <a:pt x="14" y="83"/>
                    </a:cubicBezTo>
                    <a:cubicBezTo>
                      <a:pt x="14" y="82"/>
                      <a:pt x="13" y="81"/>
                      <a:pt x="13" y="81"/>
                    </a:cubicBezTo>
                    <a:cubicBezTo>
                      <a:pt x="12" y="80"/>
                      <a:pt x="11" y="80"/>
                      <a:pt x="11" y="80"/>
                    </a:cubicBezTo>
                    <a:cubicBezTo>
                      <a:pt x="9" y="80"/>
                      <a:pt x="8" y="81"/>
                      <a:pt x="7" y="82"/>
                    </a:cubicBezTo>
                    <a:cubicBezTo>
                      <a:pt x="6" y="82"/>
                      <a:pt x="6" y="82"/>
                      <a:pt x="6" y="82"/>
                    </a:cubicBezTo>
                    <a:cubicBezTo>
                      <a:pt x="5" y="82"/>
                      <a:pt x="5" y="82"/>
                      <a:pt x="5" y="82"/>
                    </a:cubicBezTo>
                    <a:cubicBezTo>
                      <a:pt x="4" y="81"/>
                      <a:pt x="3" y="79"/>
                      <a:pt x="3" y="79"/>
                    </a:cubicBezTo>
                    <a:lnTo>
                      <a:pt x="0" y="83"/>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0" name="Freeform 285"/>
              <p:cNvSpPr>
                <a:spLocks/>
              </p:cNvSpPr>
              <p:nvPr/>
            </p:nvSpPr>
            <p:spPr bwMode="auto">
              <a:xfrm>
                <a:off x="-1827212" y="3863971"/>
                <a:ext cx="150813" cy="225425"/>
              </a:xfrm>
              <a:custGeom>
                <a:avLst/>
                <a:gdLst/>
                <a:ahLst/>
                <a:cxnLst>
                  <a:cxn ang="0">
                    <a:pos x="4" y="37"/>
                  </a:cxn>
                  <a:cxn ang="0">
                    <a:pos x="6" y="36"/>
                  </a:cxn>
                  <a:cxn ang="0">
                    <a:pos x="4" y="33"/>
                  </a:cxn>
                  <a:cxn ang="0">
                    <a:pos x="5" y="30"/>
                  </a:cxn>
                  <a:cxn ang="0">
                    <a:pos x="25" y="6"/>
                  </a:cxn>
                  <a:cxn ang="0">
                    <a:pos x="28" y="5"/>
                  </a:cxn>
                  <a:cxn ang="0">
                    <a:pos x="30" y="5"/>
                  </a:cxn>
                  <a:cxn ang="0">
                    <a:pos x="33" y="8"/>
                  </a:cxn>
                  <a:cxn ang="0">
                    <a:pos x="35" y="10"/>
                  </a:cxn>
                  <a:cxn ang="0">
                    <a:pos x="35" y="14"/>
                  </a:cxn>
                  <a:cxn ang="0">
                    <a:pos x="35" y="15"/>
                  </a:cxn>
                  <a:cxn ang="0">
                    <a:pos x="26" y="54"/>
                  </a:cxn>
                  <a:cxn ang="0">
                    <a:pos x="26" y="55"/>
                  </a:cxn>
                  <a:cxn ang="0">
                    <a:pos x="25" y="55"/>
                  </a:cxn>
                  <a:cxn ang="0">
                    <a:pos x="24" y="55"/>
                  </a:cxn>
                  <a:cxn ang="0">
                    <a:pos x="6" y="36"/>
                  </a:cxn>
                  <a:cxn ang="0">
                    <a:pos x="4" y="37"/>
                  </a:cxn>
                  <a:cxn ang="0">
                    <a:pos x="2" y="39"/>
                  </a:cxn>
                  <a:cxn ang="0">
                    <a:pos x="21" y="58"/>
                  </a:cxn>
                  <a:cxn ang="0">
                    <a:pos x="25" y="60"/>
                  </a:cxn>
                  <a:cxn ang="0">
                    <a:pos x="29" y="58"/>
                  </a:cxn>
                  <a:cxn ang="0">
                    <a:pos x="31" y="55"/>
                  </a:cxn>
                  <a:cxn ang="0">
                    <a:pos x="39" y="16"/>
                  </a:cxn>
                  <a:cxn ang="0">
                    <a:pos x="40" y="14"/>
                  </a:cxn>
                  <a:cxn ang="0">
                    <a:pos x="39" y="9"/>
                  </a:cxn>
                  <a:cxn ang="0">
                    <a:pos x="36" y="4"/>
                  </a:cxn>
                  <a:cxn ang="0">
                    <a:pos x="33" y="2"/>
                  </a:cxn>
                  <a:cxn ang="0">
                    <a:pos x="28" y="0"/>
                  </a:cxn>
                  <a:cxn ang="0">
                    <a:pos x="22" y="3"/>
                  </a:cxn>
                  <a:cxn ang="0">
                    <a:pos x="2" y="27"/>
                  </a:cxn>
                  <a:cxn ang="0">
                    <a:pos x="0" y="33"/>
                  </a:cxn>
                  <a:cxn ang="0">
                    <a:pos x="2" y="39"/>
                  </a:cxn>
                  <a:cxn ang="0">
                    <a:pos x="4" y="37"/>
                  </a:cxn>
                </a:cxnLst>
                <a:rect l="0" t="0" r="r" b="b"/>
                <a:pathLst>
                  <a:path w="40" h="60">
                    <a:moveTo>
                      <a:pt x="4" y="37"/>
                    </a:moveTo>
                    <a:cubicBezTo>
                      <a:pt x="6" y="36"/>
                      <a:pt x="6" y="36"/>
                      <a:pt x="6" y="36"/>
                    </a:cubicBezTo>
                    <a:cubicBezTo>
                      <a:pt x="5" y="35"/>
                      <a:pt x="4" y="34"/>
                      <a:pt x="4" y="33"/>
                    </a:cubicBezTo>
                    <a:cubicBezTo>
                      <a:pt x="4" y="32"/>
                      <a:pt x="5" y="31"/>
                      <a:pt x="5" y="30"/>
                    </a:cubicBezTo>
                    <a:cubicBezTo>
                      <a:pt x="25" y="6"/>
                      <a:pt x="25" y="6"/>
                      <a:pt x="25" y="6"/>
                    </a:cubicBezTo>
                    <a:cubicBezTo>
                      <a:pt x="26" y="5"/>
                      <a:pt x="27" y="5"/>
                      <a:pt x="28" y="5"/>
                    </a:cubicBezTo>
                    <a:cubicBezTo>
                      <a:pt x="29" y="5"/>
                      <a:pt x="29" y="5"/>
                      <a:pt x="30" y="5"/>
                    </a:cubicBezTo>
                    <a:cubicBezTo>
                      <a:pt x="33" y="8"/>
                      <a:pt x="33" y="8"/>
                      <a:pt x="33" y="8"/>
                    </a:cubicBezTo>
                    <a:cubicBezTo>
                      <a:pt x="34" y="8"/>
                      <a:pt x="34" y="9"/>
                      <a:pt x="35" y="10"/>
                    </a:cubicBezTo>
                    <a:cubicBezTo>
                      <a:pt x="35" y="11"/>
                      <a:pt x="35" y="13"/>
                      <a:pt x="35" y="14"/>
                    </a:cubicBezTo>
                    <a:cubicBezTo>
                      <a:pt x="35" y="15"/>
                      <a:pt x="35" y="15"/>
                      <a:pt x="35" y="15"/>
                    </a:cubicBezTo>
                    <a:cubicBezTo>
                      <a:pt x="26" y="54"/>
                      <a:pt x="26" y="54"/>
                      <a:pt x="26" y="54"/>
                    </a:cubicBezTo>
                    <a:cubicBezTo>
                      <a:pt x="26" y="55"/>
                      <a:pt x="26" y="55"/>
                      <a:pt x="26" y="55"/>
                    </a:cubicBezTo>
                    <a:cubicBezTo>
                      <a:pt x="25" y="55"/>
                      <a:pt x="25" y="55"/>
                      <a:pt x="25" y="55"/>
                    </a:cubicBezTo>
                    <a:cubicBezTo>
                      <a:pt x="25" y="55"/>
                      <a:pt x="25" y="55"/>
                      <a:pt x="24" y="55"/>
                    </a:cubicBezTo>
                    <a:cubicBezTo>
                      <a:pt x="6" y="36"/>
                      <a:pt x="6" y="36"/>
                      <a:pt x="6" y="36"/>
                    </a:cubicBezTo>
                    <a:cubicBezTo>
                      <a:pt x="4" y="37"/>
                      <a:pt x="4" y="37"/>
                      <a:pt x="4" y="37"/>
                    </a:cubicBezTo>
                    <a:cubicBezTo>
                      <a:pt x="2" y="39"/>
                      <a:pt x="2" y="39"/>
                      <a:pt x="2" y="39"/>
                    </a:cubicBezTo>
                    <a:cubicBezTo>
                      <a:pt x="21" y="58"/>
                      <a:pt x="21" y="58"/>
                      <a:pt x="21" y="58"/>
                    </a:cubicBezTo>
                    <a:cubicBezTo>
                      <a:pt x="23" y="59"/>
                      <a:pt x="24" y="60"/>
                      <a:pt x="25" y="60"/>
                    </a:cubicBezTo>
                    <a:cubicBezTo>
                      <a:pt x="27" y="60"/>
                      <a:pt x="28" y="59"/>
                      <a:pt x="29" y="58"/>
                    </a:cubicBezTo>
                    <a:cubicBezTo>
                      <a:pt x="30" y="57"/>
                      <a:pt x="30" y="56"/>
                      <a:pt x="31" y="55"/>
                    </a:cubicBezTo>
                    <a:cubicBezTo>
                      <a:pt x="39" y="16"/>
                      <a:pt x="39" y="16"/>
                      <a:pt x="39" y="16"/>
                    </a:cubicBezTo>
                    <a:cubicBezTo>
                      <a:pt x="40" y="16"/>
                      <a:pt x="40" y="15"/>
                      <a:pt x="40" y="14"/>
                    </a:cubicBezTo>
                    <a:cubicBezTo>
                      <a:pt x="40" y="12"/>
                      <a:pt x="39" y="10"/>
                      <a:pt x="39" y="9"/>
                    </a:cubicBezTo>
                    <a:cubicBezTo>
                      <a:pt x="38" y="7"/>
                      <a:pt x="37" y="5"/>
                      <a:pt x="36" y="4"/>
                    </a:cubicBezTo>
                    <a:cubicBezTo>
                      <a:pt x="33" y="2"/>
                      <a:pt x="33" y="2"/>
                      <a:pt x="33" y="2"/>
                    </a:cubicBezTo>
                    <a:cubicBezTo>
                      <a:pt x="31" y="1"/>
                      <a:pt x="30" y="0"/>
                      <a:pt x="28" y="0"/>
                    </a:cubicBezTo>
                    <a:cubicBezTo>
                      <a:pt x="26" y="0"/>
                      <a:pt x="23" y="1"/>
                      <a:pt x="22" y="3"/>
                    </a:cubicBezTo>
                    <a:cubicBezTo>
                      <a:pt x="2" y="27"/>
                      <a:pt x="2" y="27"/>
                      <a:pt x="2" y="27"/>
                    </a:cubicBezTo>
                    <a:cubicBezTo>
                      <a:pt x="1" y="29"/>
                      <a:pt x="0" y="31"/>
                      <a:pt x="0" y="33"/>
                    </a:cubicBezTo>
                    <a:cubicBezTo>
                      <a:pt x="0" y="35"/>
                      <a:pt x="1" y="37"/>
                      <a:pt x="2" y="39"/>
                    </a:cubicBezTo>
                    <a:lnTo>
                      <a:pt x="4" y="37"/>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1" name="Freeform 286"/>
              <p:cNvSpPr>
                <a:spLocks/>
              </p:cNvSpPr>
              <p:nvPr/>
            </p:nvSpPr>
            <p:spPr bwMode="auto">
              <a:xfrm>
                <a:off x="-2038349" y="3898895"/>
                <a:ext cx="180975" cy="250825"/>
              </a:xfrm>
              <a:custGeom>
                <a:avLst/>
                <a:gdLst/>
                <a:ahLst/>
                <a:cxnLst>
                  <a:cxn ang="0">
                    <a:pos x="5" y="4"/>
                  </a:cxn>
                  <a:cxn ang="0">
                    <a:pos x="5" y="3"/>
                  </a:cxn>
                  <a:cxn ang="0">
                    <a:pos x="4" y="3"/>
                  </a:cxn>
                  <a:cxn ang="0">
                    <a:pos x="4" y="3"/>
                  </a:cxn>
                  <a:cxn ang="0">
                    <a:pos x="4" y="3"/>
                  </a:cxn>
                  <a:cxn ang="0">
                    <a:pos x="4" y="4"/>
                  </a:cxn>
                  <a:cxn ang="0">
                    <a:pos x="3" y="3"/>
                  </a:cxn>
                  <a:cxn ang="0">
                    <a:pos x="3" y="3"/>
                  </a:cxn>
                  <a:cxn ang="0">
                    <a:pos x="4" y="4"/>
                  </a:cxn>
                  <a:cxn ang="0">
                    <a:pos x="4" y="4"/>
                  </a:cxn>
                  <a:cxn ang="0">
                    <a:pos x="4" y="4"/>
                  </a:cxn>
                  <a:cxn ang="0">
                    <a:pos x="4" y="3"/>
                  </a:cxn>
                  <a:cxn ang="0">
                    <a:pos x="4" y="4"/>
                  </a:cxn>
                  <a:cxn ang="0">
                    <a:pos x="4" y="4"/>
                  </a:cxn>
                  <a:cxn ang="0">
                    <a:pos x="4" y="4"/>
                  </a:cxn>
                  <a:cxn ang="0">
                    <a:pos x="5" y="5"/>
                  </a:cxn>
                  <a:cxn ang="0">
                    <a:pos x="13" y="10"/>
                  </a:cxn>
                  <a:cxn ang="0">
                    <a:pos x="44" y="61"/>
                  </a:cxn>
                  <a:cxn ang="0">
                    <a:pos x="44" y="63"/>
                  </a:cxn>
                  <a:cxn ang="0">
                    <a:pos x="45" y="64"/>
                  </a:cxn>
                  <a:cxn ang="0">
                    <a:pos x="44" y="63"/>
                  </a:cxn>
                  <a:cxn ang="0">
                    <a:pos x="45" y="63"/>
                  </a:cxn>
                  <a:cxn ang="0">
                    <a:pos x="45" y="63"/>
                  </a:cxn>
                  <a:cxn ang="0">
                    <a:pos x="45" y="64"/>
                  </a:cxn>
                  <a:cxn ang="0">
                    <a:pos x="45" y="63"/>
                  </a:cxn>
                  <a:cxn ang="0">
                    <a:pos x="45" y="63"/>
                  </a:cxn>
                  <a:cxn ang="0">
                    <a:pos x="45" y="63"/>
                  </a:cxn>
                  <a:cxn ang="0">
                    <a:pos x="44" y="62"/>
                  </a:cxn>
                  <a:cxn ang="0">
                    <a:pos x="3" y="6"/>
                  </a:cxn>
                  <a:cxn ang="0">
                    <a:pos x="41" y="64"/>
                  </a:cxn>
                  <a:cxn ang="0">
                    <a:pos x="45" y="67"/>
                  </a:cxn>
                  <a:cxn ang="0">
                    <a:pos x="48" y="64"/>
                  </a:cxn>
                  <a:cxn ang="0">
                    <a:pos x="48" y="61"/>
                  </a:cxn>
                  <a:cxn ang="0">
                    <a:pos x="16" y="8"/>
                  </a:cxn>
                  <a:cxn ang="0">
                    <a:pos x="7" y="0"/>
                  </a:cxn>
                  <a:cxn ang="0">
                    <a:pos x="4" y="0"/>
                  </a:cxn>
                  <a:cxn ang="0">
                    <a:pos x="0" y="3"/>
                  </a:cxn>
                  <a:cxn ang="0">
                    <a:pos x="3" y="6"/>
                  </a:cxn>
                </a:cxnLst>
                <a:rect l="0" t="0" r="r" b="b"/>
                <a:pathLst>
                  <a:path w="48" h="67">
                    <a:moveTo>
                      <a:pt x="3" y="6"/>
                    </a:moveTo>
                    <a:cubicBezTo>
                      <a:pt x="5" y="4"/>
                      <a:pt x="5" y="4"/>
                      <a:pt x="5" y="4"/>
                    </a:cubicBezTo>
                    <a:cubicBezTo>
                      <a:pt x="5" y="4"/>
                      <a:pt x="5" y="4"/>
                      <a:pt x="5" y="3"/>
                    </a:cubicBezTo>
                    <a:cubicBezTo>
                      <a:pt x="5" y="3"/>
                      <a:pt x="5" y="3"/>
                      <a:pt x="5"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3" y="3"/>
                      <a:pt x="3" y="3"/>
                      <a:pt x="3" y="3"/>
                    </a:cubicBezTo>
                    <a:cubicBezTo>
                      <a:pt x="4" y="4"/>
                      <a:pt x="4" y="4"/>
                      <a:pt x="4" y="4"/>
                    </a:cubicBezTo>
                    <a:cubicBezTo>
                      <a:pt x="4" y="3"/>
                      <a:pt x="4" y="3"/>
                      <a:pt x="4" y="3"/>
                    </a:cubicBezTo>
                    <a:cubicBezTo>
                      <a:pt x="3" y="3"/>
                      <a:pt x="3" y="3"/>
                      <a:pt x="3" y="3"/>
                    </a:cubicBezTo>
                    <a:cubicBezTo>
                      <a:pt x="4" y="4"/>
                      <a:pt x="4" y="4"/>
                      <a:pt x="4" y="4"/>
                    </a:cubicBezTo>
                    <a:cubicBezTo>
                      <a:pt x="3" y="3"/>
                      <a:pt x="3" y="3"/>
                      <a:pt x="3" y="3"/>
                    </a:cubicBezTo>
                    <a:cubicBezTo>
                      <a:pt x="4" y="4"/>
                      <a:pt x="4" y="4"/>
                      <a:pt x="4" y="4"/>
                    </a:cubicBezTo>
                    <a:cubicBezTo>
                      <a:pt x="4" y="4"/>
                      <a:pt x="4" y="4"/>
                      <a:pt x="4" y="4"/>
                    </a:cubicBezTo>
                    <a:cubicBezTo>
                      <a:pt x="3" y="3"/>
                      <a:pt x="3" y="3"/>
                      <a:pt x="3" y="3"/>
                    </a:cubicBezTo>
                    <a:cubicBezTo>
                      <a:pt x="4" y="4"/>
                      <a:pt x="4" y="4"/>
                      <a:pt x="4" y="4"/>
                    </a:cubicBezTo>
                    <a:cubicBezTo>
                      <a:pt x="4" y="3"/>
                      <a:pt x="4" y="3"/>
                      <a:pt x="4" y="3"/>
                    </a:cubicBezTo>
                    <a:cubicBezTo>
                      <a:pt x="4" y="4"/>
                      <a:pt x="4" y="4"/>
                      <a:pt x="4" y="4"/>
                    </a:cubicBezTo>
                    <a:cubicBezTo>
                      <a:pt x="4" y="4"/>
                      <a:pt x="4" y="4"/>
                      <a:pt x="4" y="4"/>
                    </a:cubicBezTo>
                    <a:cubicBezTo>
                      <a:pt x="4" y="3"/>
                      <a:pt x="4" y="3"/>
                      <a:pt x="4" y="3"/>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5" y="5"/>
                      <a:pt x="5" y="5"/>
                      <a:pt x="5" y="5"/>
                    </a:cubicBezTo>
                    <a:cubicBezTo>
                      <a:pt x="6" y="5"/>
                      <a:pt x="8" y="6"/>
                      <a:pt x="9" y="7"/>
                    </a:cubicBezTo>
                    <a:cubicBezTo>
                      <a:pt x="10" y="8"/>
                      <a:pt x="12" y="9"/>
                      <a:pt x="13" y="10"/>
                    </a:cubicBezTo>
                    <a:cubicBezTo>
                      <a:pt x="41" y="50"/>
                      <a:pt x="41" y="50"/>
                      <a:pt x="41" y="50"/>
                    </a:cubicBezTo>
                    <a:cubicBezTo>
                      <a:pt x="42" y="52"/>
                      <a:pt x="44" y="57"/>
                      <a:pt x="44" y="61"/>
                    </a:cubicBezTo>
                    <a:cubicBezTo>
                      <a:pt x="44" y="61"/>
                      <a:pt x="44" y="61"/>
                      <a:pt x="44" y="61"/>
                    </a:cubicBezTo>
                    <a:cubicBezTo>
                      <a:pt x="44" y="62"/>
                      <a:pt x="44" y="63"/>
                      <a:pt x="44" y="63"/>
                    </a:cubicBezTo>
                    <a:cubicBezTo>
                      <a:pt x="44" y="63"/>
                      <a:pt x="44" y="63"/>
                      <a:pt x="44" y="63"/>
                    </a:cubicBezTo>
                    <a:cubicBezTo>
                      <a:pt x="45" y="64"/>
                      <a:pt x="45" y="64"/>
                      <a:pt x="45" y="64"/>
                    </a:cubicBezTo>
                    <a:cubicBezTo>
                      <a:pt x="45" y="63"/>
                      <a:pt x="45" y="63"/>
                      <a:pt x="45" y="63"/>
                    </a:cubicBezTo>
                    <a:cubicBezTo>
                      <a:pt x="44" y="63"/>
                      <a:pt x="44" y="63"/>
                      <a:pt x="44" y="63"/>
                    </a:cubicBezTo>
                    <a:cubicBezTo>
                      <a:pt x="45" y="64"/>
                      <a:pt x="45" y="64"/>
                      <a:pt x="45" y="64"/>
                    </a:cubicBezTo>
                    <a:cubicBezTo>
                      <a:pt x="45" y="63"/>
                      <a:pt x="45" y="63"/>
                      <a:pt x="45" y="63"/>
                    </a:cubicBezTo>
                    <a:cubicBezTo>
                      <a:pt x="45" y="64"/>
                      <a:pt x="45" y="64"/>
                      <a:pt x="45" y="64"/>
                    </a:cubicBezTo>
                    <a:cubicBezTo>
                      <a:pt x="45" y="63"/>
                      <a:pt x="45" y="63"/>
                      <a:pt x="45" y="63"/>
                    </a:cubicBezTo>
                    <a:cubicBezTo>
                      <a:pt x="45" y="63"/>
                      <a:pt x="45" y="63"/>
                      <a:pt x="45" y="63"/>
                    </a:cubicBezTo>
                    <a:cubicBezTo>
                      <a:pt x="45" y="64"/>
                      <a:pt x="45" y="64"/>
                      <a:pt x="45" y="64"/>
                    </a:cubicBezTo>
                    <a:cubicBezTo>
                      <a:pt x="45" y="63"/>
                      <a:pt x="45" y="63"/>
                      <a:pt x="45" y="63"/>
                    </a:cubicBezTo>
                    <a:cubicBezTo>
                      <a:pt x="45" y="63"/>
                      <a:pt x="45" y="63"/>
                      <a:pt x="45" y="63"/>
                    </a:cubicBezTo>
                    <a:cubicBezTo>
                      <a:pt x="45" y="63"/>
                      <a:pt x="45" y="63"/>
                      <a:pt x="45" y="63"/>
                    </a:cubicBezTo>
                    <a:cubicBezTo>
                      <a:pt x="45" y="63"/>
                      <a:pt x="45" y="63"/>
                      <a:pt x="45" y="63"/>
                    </a:cubicBezTo>
                    <a:cubicBezTo>
                      <a:pt x="45" y="63"/>
                      <a:pt x="45" y="63"/>
                      <a:pt x="45" y="63"/>
                    </a:cubicBezTo>
                    <a:cubicBezTo>
                      <a:pt x="45" y="63"/>
                      <a:pt x="45" y="63"/>
                      <a:pt x="45" y="63"/>
                    </a:cubicBezTo>
                    <a:cubicBezTo>
                      <a:pt x="45" y="63"/>
                      <a:pt x="45" y="63"/>
                      <a:pt x="45" y="63"/>
                    </a:cubicBezTo>
                    <a:cubicBezTo>
                      <a:pt x="45" y="63"/>
                      <a:pt x="45" y="62"/>
                      <a:pt x="44" y="62"/>
                    </a:cubicBezTo>
                    <a:cubicBezTo>
                      <a:pt x="5" y="4"/>
                      <a:pt x="5" y="4"/>
                      <a:pt x="5" y="4"/>
                    </a:cubicBezTo>
                    <a:cubicBezTo>
                      <a:pt x="3" y="6"/>
                      <a:pt x="3" y="6"/>
                      <a:pt x="3" y="6"/>
                    </a:cubicBezTo>
                    <a:cubicBezTo>
                      <a:pt x="2" y="7"/>
                      <a:pt x="2" y="7"/>
                      <a:pt x="2" y="7"/>
                    </a:cubicBezTo>
                    <a:cubicBezTo>
                      <a:pt x="41" y="64"/>
                      <a:pt x="41" y="64"/>
                      <a:pt x="41" y="64"/>
                    </a:cubicBezTo>
                    <a:cubicBezTo>
                      <a:pt x="41" y="65"/>
                      <a:pt x="42" y="65"/>
                      <a:pt x="42" y="66"/>
                    </a:cubicBezTo>
                    <a:cubicBezTo>
                      <a:pt x="43" y="66"/>
                      <a:pt x="44" y="67"/>
                      <a:pt x="45" y="67"/>
                    </a:cubicBezTo>
                    <a:cubicBezTo>
                      <a:pt x="45" y="67"/>
                      <a:pt x="46" y="67"/>
                      <a:pt x="47" y="66"/>
                    </a:cubicBezTo>
                    <a:cubicBezTo>
                      <a:pt x="47" y="65"/>
                      <a:pt x="48" y="65"/>
                      <a:pt x="48" y="64"/>
                    </a:cubicBezTo>
                    <a:cubicBezTo>
                      <a:pt x="48" y="63"/>
                      <a:pt x="48" y="62"/>
                      <a:pt x="48" y="61"/>
                    </a:cubicBezTo>
                    <a:cubicBezTo>
                      <a:pt x="48" y="61"/>
                      <a:pt x="48" y="61"/>
                      <a:pt x="48" y="61"/>
                    </a:cubicBezTo>
                    <a:cubicBezTo>
                      <a:pt x="48" y="56"/>
                      <a:pt x="47" y="51"/>
                      <a:pt x="44" y="48"/>
                    </a:cubicBezTo>
                    <a:cubicBezTo>
                      <a:pt x="16" y="8"/>
                      <a:pt x="16" y="8"/>
                      <a:pt x="16" y="8"/>
                    </a:cubicBezTo>
                    <a:cubicBezTo>
                      <a:pt x="15" y="6"/>
                      <a:pt x="13" y="5"/>
                      <a:pt x="12" y="3"/>
                    </a:cubicBezTo>
                    <a:cubicBezTo>
                      <a:pt x="10" y="2"/>
                      <a:pt x="8" y="1"/>
                      <a:pt x="7" y="0"/>
                    </a:cubicBezTo>
                    <a:cubicBezTo>
                      <a:pt x="6" y="0"/>
                      <a:pt x="6" y="0"/>
                      <a:pt x="6" y="0"/>
                    </a:cubicBezTo>
                    <a:cubicBezTo>
                      <a:pt x="5" y="0"/>
                      <a:pt x="4" y="0"/>
                      <a:pt x="4" y="0"/>
                    </a:cubicBezTo>
                    <a:cubicBezTo>
                      <a:pt x="3" y="0"/>
                      <a:pt x="2" y="0"/>
                      <a:pt x="1" y="1"/>
                    </a:cubicBezTo>
                    <a:cubicBezTo>
                      <a:pt x="0" y="1"/>
                      <a:pt x="0" y="2"/>
                      <a:pt x="0" y="3"/>
                    </a:cubicBezTo>
                    <a:cubicBezTo>
                      <a:pt x="0" y="4"/>
                      <a:pt x="1" y="5"/>
                      <a:pt x="2" y="7"/>
                    </a:cubicBezTo>
                    <a:lnTo>
                      <a:pt x="3" y="6"/>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2" name="Freeform 287"/>
              <p:cNvSpPr>
                <a:spLocks/>
              </p:cNvSpPr>
              <p:nvPr/>
            </p:nvSpPr>
            <p:spPr bwMode="auto">
              <a:xfrm>
                <a:off x="-1485900" y="4025896"/>
                <a:ext cx="304799" cy="200025"/>
              </a:xfrm>
              <a:custGeom>
                <a:avLst/>
                <a:gdLst/>
                <a:ahLst/>
                <a:cxnLst>
                  <a:cxn ang="0">
                    <a:pos x="4" y="8"/>
                  </a:cxn>
                  <a:cxn ang="0">
                    <a:pos x="5" y="5"/>
                  </a:cxn>
                  <a:cxn ang="0">
                    <a:pos x="9" y="4"/>
                  </a:cxn>
                  <a:cxn ang="0">
                    <a:pos x="16" y="8"/>
                  </a:cxn>
                  <a:cxn ang="0">
                    <a:pos x="27" y="9"/>
                  </a:cxn>
                  <a:cxn ang="0">
                    <a:pos x="32" y="7"/>
                  </a:cxn>
                  <a:cxn ang="0">
                    <a:pos x="66" y="27"/>
                  </a:cxn>
                  <a:cxn ang="0">
                    <a:pos x="69" y="33"/>
                  </a:cxn>
                  <a:cxn ang="0">
                    <a:pos x="69" y="33"/>
                  </a:cxn>
                  <a:cxn ang="0">
                    <a:pos x="69" y="34"/>
                  </a:cxn>
                  <a:cxn ang="0">
                    <a:pos x="76" y="50"/>
                  </a:cxn>
                  <a:cxn ang="0">
                    <a:pos x="77" y="51"/>
                  </a:cxn>
                  <a:cxn ang="0">
                    <a:pos x="77" y="51"/>
                  </a:cxn>
                  <a:cxn ang="0">
                    <a:pos x="78" y="51"/>
                  </a:cxn>
                  <a:cxn ang="0">
                    <a:pos x="79" y="51"/>
                  </a:cxn>
                  <a:cxn ang="0">
                    <a:pos x="77" y="51"/>
                  </a:cxn>
                  <a:cxn ang="0">
                    <a:pos x="77" y="49"/>
                  </a:cxn>
                  <a:cxn ang="0">
                    <a:pos x="78" y="49"/>
                  </a:cxn>
                  <a:cxn ang="0">
                    <a:pos x="78" y="51"/>
                  </a:cxn>
                  <a:cxn ang="0">
                    <a:pos x="78" y="49"/>
                  </a:cxn>
                  <a:cxn ang="0">
                    <a:pos x="78" y="49"/>
                  </a:cxn>
                  <a:cxn ang="0">
                    <a:pos x="79" y="49"/>
                  </a:cxn>
                  <a:cxn ang="0">
                    <a:pos x="61" y="39"/>
                  </a:cxn>
                  <a:cxn ang="0">
                    <a:pos x="49" y="39"/>
                  </a:cxn>
                  <a:cxn ang="0">
                    <a:pos x="42" y="43"/>
                  </a:cxn>
                  <a:cxn ang="0">
                    <a:pos x="26" y="23"/>
                  </a:cxn>
                  <a:cxn ang="0">
                    <a:pos x="16" y="16"/>
                  </a:cxn>
                  <a:cxn ang="0">
                    <a:pos x="6" y="15"/>
                  </a:cxn>
                  <a:cxn ang="0">
                    <a:pos x="4" y="8"/>
                  </a:cxn>
                  <a:cxn ang="0">
                    <a:pos x="0" y="9"/>
                  </a:cxn>
                  <a:cxn ang="0">
                    <a:pos x="3" y="18"/>
                  </a:cxn>
                  <a:cxn ang="0">
                    <a:pos x="16" y="21"/>
                  </a:cxn>
                  <a:cxn ang="0">
                    <a:pos x="22" y="25"/>
                  </a:cxn>
                  <a:cxn ang="0">
                    <a:pos x="42" y="47"/>
                  </a:cxn>
                  <a:cxn ang="0">
                    <a:pos x="51" y="43"/>
                  </a:cxn>
                  <a:cxn ang="0">
                    <a:pos x="59" y="43"/>
                  </a:cxn>
                  <a:cxn ang="0">
                    <a:pos x="78" y="53"/>
                  </a:cxn>
                  <a:cxn ang="0">
                    <a:pos x="81" y="51"/>
                  </a:cxn>
                  <a:cxn ang="0">
                    <a:pos x="79" y="47"/>
                  </a:cxn>
                  <a:cxn ang="0">
                    <a:pos x="73" y="34"/>
                  </a:cxn>
                  <a:cxn ang="0">
                    <a:pos x="73" y="34"/>
                  </a:cxn>
                  <a:cxn ang="0">
                    <a:pos x="73" y="33"/>
                  </a:cxn>
                  <a:cxn ang="0">
                    <a:pos x="68" y="23"/>
                  </a:cxn>
                  <a:cxn ang="0">
                    <a:pos x="32" y="3"/>
                  </a:cxn>
                  <a:cxn ang="0">
                    <a:pos x="24" y="6"/>
                  </a:cxn>
                  <a:cxn ang="0">
                    <a:pos x="19" y="5"/>
                  </a:cxn>
                  <a:cxn ang="0">
                    <a:pos x="9" y="0"/>
                  </a:cxn>
                  <a:cxn ang="0">
                    <a:pos x="1" y="2"/>
                  </a:cxn>
                  <a:cxn ang="0">
                    <a:pos x="0" y="9"/>
                  </a:cxn>
                </a:cxnLst>
                <a:rect l="0" t="0" r="r" b="b"/>
                <a:pathLst>
                  <a:path w="81" h="53">
                    <a:moveTo>
                      <a:pt x="2" y="9"/>
                    </a:moveTo>
                    <a:cubicBezTo>
                      <a:pt x="4" y="8"/>
                      <a:pt x="4" y="8"/>
                      <a:pt x="4" y="8"/>
                    </a:cubicBezTo>
                    <a:cubicBezTo>
                      <a:pt x="4" y="8"/>
                      <a:pt x="4" y="8"/>
                      <a:pt x="4" y="8"/>
                    </a:cubicBezTo>
                    <a:cubicBezTo>
                      <a:pt x="4" y="7"/>
                      <a:pt x="4" y="6"/>
                      <a:pt x="5" y="5"/>
                    </a:cubicBezTo>
                    <a:cubicBezTo>
                      <a:pt x="5" y="4"/>
                      <a:pt x="6" y="4"/>
                      <a:pt x="6" y="4"/>
                    </a:cubicBezTo>
                    <a:cubicBezTo>
                      <a:pt x="9" y="4"/>
                      <a:pt x="9" y="4"/>
                      <a:pt x="9" y="4"/>
                    </a:cubicBezTo>
                    <a:cubicBezTo>
                      <a:pt x="10" y="4"/>
                      <a:pt x="12" y="5"/>
                      <a:pt x="13" y="5"/>
                    </a:cubicBezTo>
                    <a:cubicBezTo>
                      <a:pt x="14" y="6"/>
                      <a:pt x="15" y="7"/>
                      <a:pt x="16" y="8"/>
                    </a:cubicBezTo>
                    <a:cubicBezTo>
                      <a:pt x="18" y="9"/>
                      <a:pt x="20" y="10"/>
                      <a:pt x="22" y="10"/>
                    </a:cubicBezTo>
                    <a:cubicBezTo>
                      <a:pt x="24" y="10"/>
                      <a:pt x="25" y="10"/>
                      <a:pt x="27" y="9"/>
                    </a:cubicBezTo>
                    <a:cubicBezTo>
                      <a:pt x="28" y="8"/>
                      <a:pt x="28" y="8"/>
                      <a:pt x="28" y="8"/>
                    </a:cubicBezTo>
                    <a:cubicBezTo>
                      <a:pt x="29" y="7"/>
                      <a:pt x="31" y="7"/>
                      <a:pt x="32" y="7"/>
                    </a:cubicBezTo>
                    <a:cubicBezTo>
                      <a:pt x="33" y="7"/>
                      <a:pt x="34" y="7"/>
                      <a:pt x="35" y="8"/>
                    </a:cubicBezTo>
                    <a:cubicBezTo>
                      <a:pt x="66" y="27"/>
                      <a:pt x="66" y="27"/>
                      <a:pt x="66" y="27"/>
                    </a:cubicBezTo>
                    <a:cubicBezTo>
                      <a:pt x="66" y="28"/>
                      <a:pt x="67" y="28"/>
                      <a:pt x="68" y="30"/>
                    </a:cubicBezTo>
                    <a:cubicBezTo>
                      <a:pt x="69" y="31"/>
                      <a:pt x="69" y="32"/>
                      <a:pt x="69" y="33"/>
                    </a:cubicBezTo>
                    <a:cubicBezTo>
                      <a:pt x="69" y="33"/>
                      <a:pt x="69" y="33"/>
                      <a:pt x="69" y="33"/>
                    </a:cubicBezTo>
                    <a:cubicBezTo>
                      <a:pt x="69" y="33"/>
                      <a:pt x="69" y="33"/>
                      <a:pt x="69" y="33"/>
                    </a:cubicBezTo>
                    <a:cubicBezTo>
                      <a:pt x="69" y="33"/>
                      <a:pt x="69" y="33"/>
                      <a:pt x="69" y="33"/>
                    </a:cubicBezTo>
                    <a:cubicBezTo>
                      <a:pt x="69" y="34"/>
                      <a:pt x="69" y="34"/>
                      <a:pt x="69" y="34"/>
                    </a:cubicBezTo>
                    <a:cubicBezTo>
                      <a:pt x="69" y="38"/>
                      <a:pt x="70" y="42"/>
                      <a:pt x="72" y="45"/>
                    </a:cubicBezTo>
                    <a:cubicBezTo>
                      <a:pt x="76" y="50"/>
                      <a:pt x="76" y="50"/>
                      <a:pt x="76" y="50"/>
                    </a:cubicBezTo>
                    <a:cubicBezTo>
                      <a:pt x="76" y="50"/>
                      <a:pt x="77" y="50"/>
                      <a:pt x="77" y="51"/>
                    </a:cubicBezTo>
                    <a:cubicBezTo>
                      <a:pt x="77" y="51"/>
                      <a:pt x="77" y="51"/>
                      <a:pt x="77" y="51"/>
                    </a:cubicBezTo>
                    <a:cubicBezTo>
                      <a:pt x="78" y="51"/>
                      <a:pt x="78" y="51"/>
                      <a:pt x="78" y="51"/>
                    </a:cubicBezTo>
                    <a:cubicBezTo>
                      <a:pt x="77" y="51"/>
                      <a:pt x="77" y="51"/>
                      <a:pt x="77" y="51"/>
                    </a:cubicBezTo>
                    <a:cubicBezTo>
                      <a:pt x="77" y="51"/>
                      <a:pt x="77" y="51"/>
                      <a:pt x="77" y="51"/>
                    </a:cubicBezTo>
                    <a:cubicBezTo>
                      <a:pt x="78" y="51"/>
                      <a:pt x="78" y="51"/>
                      <a:pt x="78" y="51"/>
                    </a:cubicBezTo>
                    <a:cubicBezTo>
                      <a:pt x="77" y="51"/>
                      <a:pt x="77" y="51"/>
                      <a:pt x="77" y="51"/>
                    </a:cubicBezTo>
                    <a:cubicBezTo>
                      <a:pt x="79" y="51"/>
                      <a:pt x="79" y="51"/>
                      <a:pt x="79" y="51"/>
                    </a:cubicBezTo>
                    <a:cubicBezTo>
                      <a:pt x="77" y="49"/>
                      <a:pt x="77" y="49"/>
                      <a:pt x="77" y="49"/>
                    </a:cubicBezTo>
                    <a:cubicBezTo>
                      <a:pt x="77" y="50"/>
                      <a:pt x="77" y="50"/>
                      <a:pt x="77" y="51"/>
                    </a:cubicBezTo>
                    <a:cubicBezTo>
                      <a:pt x="79" y="51"/>
                      <a:pt x="79" y="51"/>
                      <a:pt x="79" y="51"/>
                    </a:cubicBezTo>
                    <a:cubicBezTo>
                      <a:pt x="77" y="49"/>
                      <a:pt x="77" y="49"/>
                      <a:pt x="77" y="49"/>
                    </a:cubicBezTo>
                    <a:cubicBezTo>
                      <a:pt x="78" y="51"/>
                      <a:pt x="78" y="51"/>
                      <a:pt x="78" y="51"/>
                    </a:cubicBezTo>
                    <a:cubicBezTo>
                      <a:pt x="78" y="49"/>
                      <a:pt x="78" y="49"/>
                      <a:pt x="78" y="49"/>
                    </a:cubicBezTo>
                    <a:cubicBezTo>
                      <a:pt x="78" y="49"/>
                      <a:pt x="78" y="49"/>
                      <a:pt x="77" y="49"/>
                    </a:cubicBezTo>
                    <a:cubicBezTo>
                      <a:pt x="78" y="51"/>
                      <a:pt x="78" y="51"/>
                      <a:pt x="78" y="51"/>
                    </a:cubicBezTo>
                    <a:cubicBezTo>
                      <a:pt x="78" y="49"/>
                      <a:pt x="78" y="49"/>
                      <a:pt x="78" y="49"/>
                    </a:cubicBezTo>
                    <a:cubicBezTo>
                      <a:pt x="78" y="49"/>
                      <a:pt x="78" y="49"/>
                      <a:pt x="78" y="49"/>
                    </a:cubicBezTo>
                    <a:cubicBezTo>
                      <a:pt x="79" y="49"/>
                      <a:pt x="79" y="49"/>
                      <a:pt x="79" y="49"/>
                    </a:cubicBezTo>
                    <a:cubicBezTo>
                      <a:pt x="78" y="49"/>
                      <a:pt x="78" y="49"/>
                      <a:pt x="78" y="49"/>
                    </a:cubicBezTo>
                    <a:cubicBezTo>
                      <a:pt x="78" y="49"/>
                      <a:pt x="78" y="49"/>
                      <a:pt x="78" y="49"/>
                    </a:cubicBezTo>
                    <a:cubicBezTo>
                      <a:pt x="79" y="49"/>
                      <a:pt x="79" y="49"/>
                      <a:pt x="79" y="49"/>
                    </a:cubicBezTo>
                    <a:cubicBezTo>
                      <a:pt x="78" y="49"/>
                      <a:pt x="78" y="49"/>
                      <a:pt x="78" y="49"/>
                    </a:cubicBezTo>
                    <a:cubicBezTo>
                      <a:pt x="61" y="39"/>
                      <a:pt x="61" y="39"/>
                      <a:pt x="61" y="39"/>
                    </a:cubicBezTo>
                    <a:cubicBezTo>
                      <a:pt x="59" y="39"/>
                      <a:pt x="57" y="38"/>
                      <a:pt x="55" y="38"/>
                    </a:cubicBezTo>
                    <a:cubicBezTo>
                      <a:pt x="53" y="38"/>
                      <a:pt x="51" y="39"/>
                      <a:pt x="49" y="39"/>
                    </a:cubicBezTo>
                    <a:cubicBezTo>
                      <a:pt x="44" y="43"/>
                      <a:pt x="44" y="43"/>
                      <a:pt x="44" y="43"/>
                    </a:cubicBezTo>
                    <a:cubicBezTo>
                      <a:pt x="43" y="43"/>
                      <a:pt x="43" y="43"/>
                      <a:pt x="42" y="43"/>
                    </a:cubicBezTo>
                    <a:cubicBezTo>
                      <a:pt x="41" y="43"/>
                      <a:pt x="39" y="42"/>
                      <a:pt x="38" y="41"/>
                    </a:cubicBezTo>
                    <a:cubicBezTo>
                      <a:pt x="26" y="23"/>
                      <a:pt x="26" y="23"/>
                      <a:pt x="26" y="23"/>
                    </a:cubicBezTo>
                    <a:cubicBezTo>
                      <a:pt x="25" y="21"/>
                      <a:pt x="23" y="19"/>
                      <a:pt x="21" y="18"/>
                    </a:cubicBezTo>
                    <a:cubicBezTo>
                      <a:pt x="20" y="17"/>
                      <a:pt x="18" y="17"/>
                      <a:pt x="16" y="16"/>
                    </a:cubicBezTo>
                    <a:cubicBezTo>
                      <a:pt x="8" y="16"/>
                      <a:pt x="8" y="16"/>
                      <a:pt x="8" y="16"/>
                    </a:cubicBezTo>
                    <a:cubicBezTo>
                      <a:pt x="7" y="17"/>
                      <a:pt x="6" y="16"/>
                      <a:pt x="6" y="15"/>
                    </a:cubicBezTo>
                    <a:cubicBezTo>
                      <a:pt x="5" y="14"/>
                      <a:pt x="4" y="13"/>
                      <a:pt x="4" y="12"/>
                    </a:cubicBezTo>
                    <a:cubicBezTo>
                      <a:pt x="4" y="8"/>
                      <a:pt x="4" y="8"/>
                      <a:pt x="4" y="8"/>
                    </a:cubicBezTo>
                    <a:cubicBezTo>
                      <a:pt x="2" y="9"/>
                      <a:pt x="2" y="9"/>
                      <a:pt x="2" y="9"/>
                    </a:cubicBezTo>
                    <a:cubicBezTo>
                      <a:pt x="0" y="9"/>
                      <a:pt x="0" y="9"/>
                      <a:pt x="0" y="9"/>
                    </a:cubicBezTo>
                    <a:cubicBezTo>
                      <a:pt x="0" y="12"/>
                      <a:pt x="0" y="12"/>
                      <a:pt x="0" y="12"/>
                    </a:cubicBezTo>
                    <a:cubicBezTo>
                      <a:pt x="0" y="14"/>
                      <a:pt x="1" y="17"/>
                      <a:pt x="3" y="18"/>
                    </a:cubicBezTo>
                    <a:cubicBezTo>
                      <a:pt x="4" y="20"/>
                      <a:pt x="6" y="21"/>
                      <a:pt x="8" y="21"/>
                    </a:cubicBezTo>
                    <a:cubicBezTo>
                      <a:pt x="16" y="21"/>
                      <a:pt x="16" y="21"/>
                      <a:pt x="16" y="21"/>
                    </a:cubicBezTo>
                    <a:cubicBezTo>
                      <a:pt x="17" y="21"/>
                      <a:pt x="18" y="21"/>
                      <a:pt x="19" y="22"/>
                    </a:cubicBezTo>
                    <a:cubicBezTo>
                      <a:pt x="21" y="23"/>
                      <a:pt x="22" y="24"/>
                      <a:pt x="22" y="25"/>
                    </a:cubicBezTo>
                    <a:cubicBezTo>
                      <a:pt x="35" y="43"/>
                      <a:pt x="35" y="43"/>
                      <a:pt x="35" y="43"/>
                    </a:cubicBezTo>
                    <a:cubicBezTo>
                      <a:pt x="36" y="46"/>
                      <a:pt x="39" y="47"/>
                      <a:pt x="42" y="47"/>
                    </a:cubicBezTo>
                    <a:cubicBezTo>
                      <a:pt x="43" y="47"/>
                      <a:pt x="44" y="47"/>
                      <a:pt x="46" y="46"/>
                    </a:cubicBezTo>
                    <a:cubicBezTo>
                      <a:pt x="51" y="43"/>
                      <a:pt x="51" y="43"/>
                      <a:pt x="51" y="43"/>
                    </a:cubicBezTo>
                    <a:cubicBezTo>
                      <a:pt x="52" y="43"/>
                      <a:pt x="54" y="42"/>
                      <a:pt x="55" y="42"/>
                    </a:cubicBezTo>
                    <a:cubicBezTo>
                      <a:pt x="57" y="42"/>
                      <a:pt x="58" y="43"/>
                      <a:pt x="59" y="43"/>
                    </a:cubicBezTo>
                    <a:cubicBezTo>
                      <a:pt x="76" y="52"/>
                      <a:pt x="76" y="52"/>
                      <a:pt x="76" y="52"/>
                    </a:cubicBezTo>
                    <a:cubicBezTo>
                      <a:pt x="77" y="53"/>
                      <a:pt x="77" y="53"/>
                      <a:pt x="78" y="53"/>
                    </a:cubicBezTo>
                    <a:cubicBezTo>
                      <a:pt x="79" y="53"/>
                      <a:pt x="80" y="53"/>
                      <a:pt x="80" y="53"/>
                    </a:cubicBezTo>
                    <a:cubicBezTo>
                      <a:pt x="81" y="52"/>
                      <a:pt x="81" y="51"/>
                      <a:pt x="81" y="51"/>
                    </a:cubicBezTo>
                    <a:cubicBezTo>
                      <a:pt x="81" y="50"/>
                      <a:pt x="81" y="49"/>
                      <a:pt x="81" y="49"/>
                    </a:cubicBezTo>
                    <a:cubicBezTo>
                      <a:pt x="80" y="48"/>
                      <a:pt x="80" y="48"/>
                      <a:pt x="79" y="47"/>
                    </a:cubicBezTo>
                    <a:cubicBezTo>
                      <a:pt x="76" y="42"/>
                      <a:pt x="76" y="42"/>
                      <a:pt x="76" y="42"/>
                    </a:cubicBezTo>
                    <a:cubicBezTo>
                      <a:pt x="74" y="40"/>
                      <a:pt x="73" y="36"/>
                      <a:pt x="73" y="34"/>
                    </a:cubicBezTo>
                    <a:cubicBezTo>
                      <a:pt x="73" y="34"/>
                      <a:pt x="73" y="34"/>
                      <a:pt x="73" y="34"/>
                    </a:cubicBezTo>
                    <a:cubicBezTo>
                      <a:pt x="73" y="34"/>
                      <a:pt x="73" y="34"/>
                      <a:pt x="73" y="34"/>
                    </a:cubicBezTo>
                    <a:cubicBezTo>
                      <a:pt x="73" y="34"/>
                      <a:pt x="73" y="34"/>
                      <a:pt x="73" y="34"/>
                    </a:cubicBezTo>
                    <a:cubicBezTo>
                      <a:pt x="73" y="33"/>
                      <a:pt x="73" y="33"/>
                      <a:pt x="73" y="33"/>
                    </a:cubicBezTo>
                    <a:cubicBezTo>
                      <a:pt x="73" y="31"/>
                      <a:pt x="73" y="29"/>
                      <a:pt x="72" y="28"/>
                    </a:cubicBezTo>
                    <a:cubicBezTo>
                      <a:pt x="71" y="26"/>
                      <a:pt x="70" y="24"/>
                      <a:pt x="68" y="23"/>
                    </a:cubicBezTo>
                    <a:cubicBezTo>
                      <a:pt x="37" y="4"/>
                      <a:pt x="37" y="4"/>
                      <a:pt x="37" y="4"/>
                    </a:cubicBezTo>
                    <a:cubicBezTo>
                      <a:pt x="36" y="3"/>
                      <a:pt x="34" y="3"/>
                      <a:pt x="32" y="3"/>
                    </a:cubicBezTo>
                    <a:cubicBezTo>
                      <a:pt x="30" y="3"/>
                      <a:pt x="28" y="3"/>
                      <a:pt x="26" y="4"/>
                    </a:cubicBezTo>
                    <a:cubicBezTo>
                      <a:pt x="24" y="6"/>
                      <a:pt x="24" y="6"/>
                      <a:pt x="24" y="6"/>
                    </a:cubicBezTo>
                    <a:cubicBezTo>
                      <a:pt x="24" y="6"/>
                      <a:pt x="23" y="6"/>
                      <a:pt x="22" y="6"/>
                    </a:cubicBezTo>
                    <a:cubicBezTo>
                      <a:pt x="21" y="6"/>
                      <a:pt x="20" y="6"/>
                      <a:pt x="19" y="5"/>
                    </a:cubicBezTo>
                    <a:cubicBezTo>
                      <a:pt x="18" y="3"/>
                      <a:pt x="17" y="2"/>
                      <a:pt x="15" y="1"/>
                    </a:cubicBezTo>
                    <a:cubicBezTo>
                      <a:pt x="13" y="0"/>
                      <a:pt x="11" y="0"/>
                      <a:pt x="9" y="0"/>
                    </a:cubicBezTo>
                    <a:cubicBezTo>
                      <a:pt x="6" y="0"/>
                      <a:pt x="6" y="0"/>
                      <a:pt x="6" y="0"/>
                    </a:cubicBezTo>
                    <a:cubicBezTo>
                      <a:pt x="4" y="0"/>
                      <a:pt x="2" y="1"/>
                      <a:pt x="1" y="2"/>
                    </a:cubicBezTo>
                    <a:cubicBezTo>
                      <a:pt x="0" y="4"/>
                      <a:pt x="0" y="6"/>
                      <a:pt x="0" y="8"/>
                    </a:cubicBezTo>
                    <a:cubicBezTo>
                      <a:pt x="0" y="9"/>
                      <a:pt x="0" y="9"/>
                      <a:pt x="0" y="9"/>
                    </a:cubicBezTo>
                    <a:lnTo>
                      <a:pt x="2" y="9"/>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3" name="Freeform 288"/>
              <p:cNvSpPr>
                <a:spLocks/>
              </p:cNvSpPr>
              <p:nvPr/>
            </p:nvSpPr>
            <p:spPr bwMode="auto">
              <a:xfrm>
                <a:off x="-1711326" y="4251321"/>
                <a:ext cx="574674" cy="568324"/>
              </a:xfrm>
              <a:custGeom>
                <a:avLst/>
                <a:gdLst/>
                <a:ahLst/>
                <a:cxnLst>
                  <a:cxn ang="0">
                    <a:pos x="5" y="60"/>
                  </a:cxn>
                  <a:cxn ang="0">
                    <a:pos x="6" y="53"/>
                  </a:cxn>
                  <a:cxn ang="0">
                    <a:pos x="45" y="21"/>
                  </a:cxn>
                  <a:cxn ang="0">
                    <a:pos x="50" y="20"/>
                  </a:cxn>
                  <a:cxn ang="0">
                    <a:pos x="59" y="12"/>
                  </a:cxn>
                  <a:cxn ang="0">
                    <a:pos x="62" y="5"/>
                  </a:cxn>
                  <a:cxn ang="0">
                    <a:pos x="65" y="4"/>
                  </a:cxn>
                  <a:cxn ang="0">
                    <a:pos x="82" y="8"/>
                  </a:cxn>
                  <a:cxn ang="0">
                    <a:pos x="83" y="14"/>
                  </a:cxn>
                  <a:cxn ang="0">
                    <a:pos x="89" y="25"/>
                  </a:cxn>
                  <a:cxn ang="0">
                    <a:pos x="99" y="32"/>
                  </a:cxn>
                  <a:cxn ang="0">
                    <a:pos x="104" y="25"/>
                  </a:cxn>
                  <a:cxn ang="0">
                    <a:pos x="104" y="4"/>
                  </a:cxn>
                  <a:cxn ang="0">
                    <a:pos x="104" y="4"/>
                  </a:cxn>
                  <a:cxn ang="0">
                    <a:pos x="104" y="4"/>
                  </a:cxn>
                  <a:cxn ang="0">
                    <a:pos x="104" y="4"/>
                  </a:cxn>
                  <a:cxn ang="0">
                    <a:pos x="103" y="4"/>
                  </a:cxn>
                  <a:cxn ang="0">
                    <a:pos x="103" y="3"/>
                  </a:cxn>
                  <a:cxn ang="0">
                    <a:pos x="103" y="3"/>
                  </a:cxn>
                  <a:cxn ang="0">
                    <a:pos x="103" y="4"/>
                  </a:cxn>
                  <a:cxn ang="0">
                    <a:pos x="103" y="4"/>
                  </a:cxn>
                  <a:cxn ang="0">
                    <a:pos x="104" y="5"/>
                  </a:cxn>
                  <a:cxn ang="0">
                    <a:pos x="119" y="26"/>
                  </a:cxn>
                  <a:cxn ang="0">
                    <a:pos x="120" y="37"/>
                  </a:cxn>
                  <a:cxn ang="0">
                    <a:pos x="124" y="50"/>
                  </a:cxn>
                  <a:cxn ang="0">
                    <a:pos x="147" y="83"/>
                  </a:cxn>
                  <a:cxn ang="0">
                    <a:pos x="148" y="108"/>
                  </a:cxn>
                  <a:cxn ang="0">
                    <a:pos x="127" y="145"/>
                  </a:cxn>
                  <a:cxn ang="0">
                    <a:pos x="122" y="147"/>
                  </a:cxn>
                  <a:cxn ang="0">
                    <a:pos x="72" y="111"/>
                  </a:cxn>
                  <a:cxn ang="0">
                    <a:pos x="31" y="125"/>
                  </a:cxn>
                  <a:cxn ang="0">
                    <a:pos x="27" y="122"/>
                  </a:cxn>
                  <a:cxn ang="0">
                    <a:pos x="3" y="61"/>
                  </a:cxn>
                  <a:cxn ang="0">
                    <a:pos x="23" y="124"/>
                  </a:cxn>
                  <a:cxn ang="0">
                    <a:pos x="32" y="129"/>
                  </a:cxn>
                  <a:cxn ang="0">
                    <a:pos x="72" y="115"/>
                  </a:cxn>
                  <a:cxn ang="0">
                    <a:pos x="119" y="150"/>
                  </a:cxn>
                  <a:cxn ang="0">
                    <a:pos x="130" y="148"/>
                  </a:cxn>
                  <a:cxn ang="0">
                    <a:pos x="153" y="108"/>
                  </a:cxn>
                  <a:cxn ang="0">
                    <a:pos x="151" y="82"/>
                  </a:cxn>
                  <a:cxn ang="0">
                    <a:pos x="128" y="47"/>
                  </a:cxn>
                  <a:cxn ang="0">
                    <a:pos x="125" y="37"/>
                  </a:cxn>
                  <a:cxn ang="0">
                    <a:pos x="123" y="25"/>
                  </a:cxn>
                  <a:cxn ang="0">
                    <a:pos x="107" y="2"/>
                  </a:cxn>
                  <a:cxn ang="0">
                    <a:pos x="103" y="0"/>
                  </a:cxn>
                  <a:cxn ang="0">
                    <a:pos x="100" y="3"/>
                  </a:cxn>
                  <a:cxn ang="0">
                    <a:pos x="100" y="25"/>
                  </a:cxn>
                  <a:cxn ang="0">
                    <a:pos x="99" y="27"/>
                  </a:cxn>
                  <a:cxn ang="0">
                    <a:pos x="99" y="28"/>
                  </a:cxn>
                  <a:cxn ang="0">
                    <a:pos x="99" y="27"/>
                  </a:cxn>
                  <a:cxn ang="0">
                    <a:pos x="99" y="27"/>
                  </a:cxn>
                  <a:cxn ang="0">
                    <a:pos x="91" y="22"/>
                  </a:cxn>
                  <a:cxn ang="0">
                    <a:pos x="88" y="14"/>
                  </a:cxn>
                  <a:cxn ang="0">
                    <a:pos x="86" y="5"/>
                  </a:cxn>
                  <a:cxn ang="0">
                    <a:pos x="66" y="0"/>
                  </a:cxn>
                  <a:cxn ang="0">
                    <a:pos x="59" y="2"/>
                  </a:cxn>
                  <a:cxn ang="0">
                    <a:pos x="55" y="11"/>
                  </a:cxn>
                  <a:cxn ang="0">
                    <a:pos x="50" y="16"/>
                  </a:cxn>
                  <a:cxn ang="0">
                    <a:pos x="43" y="17"/>
                  </a:cxn>
                  <a:cxn ang="0">
                    <a:pos x="3" y="49"/>
                  </a:cxn>
                  <a:cxn ang="0">
                    <a:pos x="1" y="61"/>
                  </a:cxn>
                </a:cxnLst>
                <a:rect l="0" t="0" r="r" b="b"/>
                <a:pathLst>
                  <a:path w="153" h="151">
                    <a:moveTo>
                      <a:pt x="3" y="61"/>
                    </a:moveTo>
                    <a:cubicBezTo>
                      <a:pt x="5" y="60"/>
                      <a:pt x="5" y="60"/>
                      <a:pt x="5" y="60"/>
                    </a:cubicBezTo>
                    <a:cubicBezTo>
                      <a:pt x="4" y="59"/>
                      <a:pt x="4" y="58"/>
                      <a:pt x="4" y="58"/>
                    </a:cubicBezTo>
                    <a:cubicBezTo>
                      <a:pt x="4" y="55"/>
                      <a:pt x="5" y="53"/>
                      <a:pt x="6" y="53"/>
                    </a:cubicBezTo>
                    <a:cubicBezTo>
                      <a:pt x="41" y="23"/>
                      <a:pt x="41" y="23"/>
                      <a:pt x="41" y="23"/>
                    </a:cubicBezTo>
                    <a:cubicBezTo>
                      <a:pt x="42" y="22"/>
                      <a:pt x="43" y="22"/>
                      <a:pt x="45" y="21"/>
                    </a:cubicBezTo>
                    <a:cubicBezTo>
                      <a:pt x="46" y="20"/>
                      <a:pt x="48" y="20"/>
                      <a:pt x="49" y="20"/>
                    </a:cubicBezTo>
                    <a:cubicBezTo>
                      <a:pt x="50" y="20"/>
                      <a:pt x="50" y="20"/>
                      <a:pt x="50" y="20"/>
                    </a:cubicBezTo>
                    <a:cubicBezTo>
                      <a:pt x="52" y="20"/>
                      <a:pt x="54" y="19"/>
                      <a:pt x="55" y="18"/>
                    </a:cubicBezTo>
                    <a:cubicBezTo>
                      <a:pt x="57" y="16"/>
                      <a:pt x="58" y="14"/>
                      <a:pt x="59" y="12"/>
                    </a:cubicBezTo>
                    <a:cubicBezTo>
                      <a:pt x="60" y="8"/>
                      <a:pt x="60" y="8"/>
                      <a:pt x="60" y="8"/>
                    </a:cubicBezTo>
                    <a:cubicBezTo>
                      <a:pt x="61" y="7"/>
                      <a:pt x="61" y="6"/>
                      <a:pt x="62" y="5"/>
                    </a:cubicBezTo>
                    <a:cubicBezTo>
                      <a:pt x="63" y="4"/>
                      <a:pt x="64" y="4"/>
                      <a:pt x="65" y="4"/>
                    </a:cubicBezTo>
                    <a:cubicBezTo>
                      <a:pt x="65" y="4"/>
                      <a:pt x="65" y="4"/>
                      <a:pt x="65" y="4"/>
                    </a:cubicBezTo>
                    <a:cubicBezTo>
                      <a:pt x="80" y="6"/>
                      <a:pt x="80" y="6"/>
                      <a:pt x="80" y="6"/>
                    </a:cubicBezTo>
                    <a:cubicBezTo>
                      <a:pt x="81" y="6"/>
                      <a:pt x="81" y="7"/>
                      <a:pt x="82" y="8"/>
                    </a:cubicBezTo>
                    <a:cubicBezTo>
                      <a:pt x="83" y="9"/>
                      <a:pt x="83" y="10"/>
                      <a:pt x="83" y="12"/>
                    </a:cubicBezTo>
                    <a:cubicBezTo>
                      <a:pt x="83" y="14"/>
                      <a:pt x="83" y="14"/>
                      <a:pt x="83" y="14"/>
                    </a:cubicBezTo>
                    <a:cubicBezTo>
                      <a:pt x="83" y="16"/>
                      <a:pt x="84" y="18"/>
                      <a:pt x="85" y="20"/>
                    </a:cubicBezTo>
                    <a:cubicBezTo>
                      <a:pt x="86" y="22"/>
                      <a:pt x="87" y="24"/>
                      <a:pt x="89" y="25"/>
                    </a:cubicBezTo>
                    <a:cubicBezTo>
                      <a:pt x="96" y="31"/>
                      <a:pt x="96" y="31"/>
                      <a:pt x="96" y="31"/>
                    </a:cubicBezTo>
                    <a:cubicBezTo>
                      <a:pt x="97" y="31"/>
                      <a:pt x="98" y="32"/>
                      <a:pt x="99" y="32"/>
                    </a:cubicBezTo>
                    <a:cubicBezTo>
                      <a:pt x="101" y="32"/>
                      <a:pt x="102" y="31"/>
                      <a:pt x="103" y="30"/>
                    </a:cubicBezTo>
                    <a:cubicBezTo>
                      <a:pt x="104" y="28"/>
                      <a:pt x="104" y="27"/>
                      <a:pt x="104" y="25"/>
                    </a:cubicBezTo>
                    <a:cubicBezTo>
                      <a:pt x="104" y="6"/>
                      <a:pt x="104" y="6"/>
                      <a:pt x="104" y="6"/>
                    </a:cubicBezTo>
                    <a:cubicBezTo>
                      <a:pt x="104" y="5"/>
                      <a:pt x="104" y="4"/>
                      <a:pt x="104" y="4"/>
                    </a:cubicBezTo>
                    <a:cubicBezTo>
                      <a:pt x="104" y="4"/>
                      <a:pt x="104" y="4"/>
                      <a:pt x="104" y="4"/>
                    </a:cubicBezTo>
                    <a:cubicBezTo>
                      <a:pt x="104" y="4"/>
                      <a:pt x="104" y="4"/>
                      <a:pt x="104" y="4"/>
                    </a:cubicBezTo>
                    <a:cubicBezTo>
                      <a:pt x="104" y="4"/>
                      <a:pt x="104" y="4"/>
                      <a:pt x="104" y="4"/>
                    </a:cubicBezTo>
                    <a:cubicBezTo>
                      <a:pt x="104" y="4"/>
                      <a:pt x="104" y="4"/>
                      <a:pt x="104" y="4"/>
                    </a:cubicBezTo>
                    <a:cubicBezTo>
                      <a:pt x="104" y="4"/>
                      <a:pt x="104" y="4"/>
                      <a:pt x="104" y="4"/>
                    </a:cubicBezTo>
                    <a:cubicBezTo>
                      <a:pt x="104" y="4"/>
                      <a:pt x="104" y="4"/>
                      <a:pt x="104" y="4"/>
                    </a:cubicBezTo>
                    <a:cubicBezTo>
                      <a:pt x="103" y="3"/>
                      <a:pt x="103" y="3"/>
                      <a:pt x="103" y="3"/>
                    </a:cubicBezTo>
                    <a:cubicBezTo>
                      <a:pt x="103" y="4"/>
                      <a:pt x="103" y="4"/>
                      <a:pt x="103" y="4"/>
                    </a:cubicBezTo>
                    <a:cubicBezTo>
                      <a:pt x="104" y="4"/>
                      <a:pt x="104" y="4"/>
                      <a:pt x="104" y="4"/>
                    </a:cubicBezTo>
                    <a:cubicBezTo>
                      <a:pt x="103" y="3"/>
                      <a:pt x="103" y="3"/>
                      <a:pt x="103" y="3"/>
                    </a:cubicBezTo>
                    <a:cubicBezTo>
                      <a:pt x="103" y="4"/>
                      <a:pt x="103" y="4"/>
                      <a:pt x="103" y="4"/>
                    </a:cubicBezTo>
                    <a:cubicBezTo>
                      <a:pt x="103" y="3"/>
                      <a:pt x="103" y="3"/>
                      <a:pt x="103" y="3"/>
                    </a:cubicBezTo>
                    <a:cubicBezTo>
                      <a:pt x="103" y="4"/>
                      <a:pt x="103" y="4"/>
                      <a:pt x="103" y="4"/>
                    </a:cubicBezTo>
                    <a:cubicBezTo>
                      <a:pt x="103" y="4"/>
                      <a:pt x="103" y="4"/>
                      <a:pt x="103" y="4"/>
                    </a:cubicBezTo>
                    <a:cubicBezTo>
                      <a:pt x="103" y="3"/>
                      <a:pt x="103" y="3"/>
                      <a:pt x="103" y="3"/>
                    </a:cubicBezTo>
                    <a:cubicBezTo>
                      <a:pt x="103" y="4"/>
                      <a:pt x="103" y="4"/>
                      <a:pt x="103" y="4"/>
                    </a:cubicBezTo>
                    <a:cubicBezTo>
                      <a:pt x="103" y="4"/>
                      <a:pt x="103" y="4"/>
                      <a:pt x="103" y="4"/>
                    </a:cubicBezTo>
                    <a:cubicBezTo>
                      <a:pt x="103" y="4"/>
                      <a:pt x="103" y="4"/>
                      <a:pt x="104" y="5"/>
                    </a:cubicBezTo>
                    <a:cubicBezTo>
                      <a:pt x="117" y="22"/>
                      <a:pt x="117" y="22"/>
                      <a:pt x="117" y="22"/>
                    </a:cubicBezTo>
                    <a:cubicBezTo>
                      <a:pt x="118" y="23"/>
                      <a:pt x="119" y="24"/>
                      <a:pt x="119" y="26"/>
                    </a:cubicBezTo>
                    <a:cubicBezTo>
                      <a:pt x="120" y="28"/>
                      <a:pt x="120" y="30"/>
                      <a:pt x="120" y="32"/>
                    </a:cubicBezTo>
                    <a:cubicBezTo>
                      <a:pt x="120" y="37"/>
                      <a:pt x="120" y="37"/>
                      <a:pt x="120" y="37"/>
                    </a:cubicBezTo>
                    <a:cubicBezTo>
                      <a:pt x="120" y="39"/>
                      <a:pt x="121" y="42"/>
                      <a:pt x="121" y="44"/>
                    </a:cubicBezTo>
                    <a:cubicBezTo>
                      <a:pt x="122" y="46"/>
                      <a:pt x="123" y="48"/>
                      <a:pt x="124" y="50"/>
                    </a:cubicBezTo>
                    <a:cubicBezTo>
                      <a:pt x="145" y="78"/>
                      <a:pt x="145" y="78"/>
                      <a:pt x="145" y="78"/>
                    </a:cubicBezTo>
                    <a:cubicBezTo>
                      <a:pt x="146" y="79"/>
                      <a:pt x="147" y="81"/>
                      <a:pt x="147" y="83"/>
                    </a:cubicBezTo>
                    <a:cubicBezTo>
                      <a:pt x="148" y="85"/>
                      <a:pt x="148" y="87"/>
                      <a:pt x="148" y="89"/>
                    </a:cubicBezTo>
                    <a:cubicBezTo>
                      <a:pt x="148" y="108"/>
                      <a:pt x="148" y="108"/>
                      <a:pt x="148" y="108"/>
                    </a:cubicBezTo>
                    <a:cubicBezTo>
                      <a:pt x="148" y="111"/>
                      <a:pt x="147" y="117"/>
                      <a:pt x="145" y="119"/>
                    </a:cubicBezTo>
                    <a:cubicBezTo>
                      <a:pt x="127" y="145"/>
                      <a:pt x="127" y="145"/>
                      <a:pt x="127" y="145"/>
                    </a:cubicBezTo>
                    <a:cubicBezTo>
                      <a:pt x="126" y="147"/>
                      <a:pt x="125" y="147"/>
                      <a:pt x="124" y="147"/>
                    </a:cubicBezTo>
                    <a:cubicBezTo>
                      <a:pt x="123" y="147"/>
                      <a:pt x="123" y="147"/>
                      <a:pt x="122" y="147"/>
                    </a:cubicBezTo>
                    <a:cubicBezTo>
                      <a:pt x="79" y="113"/>
                      <a:pt x="79" y="113"/>
                      <a:pt x="79" y="113"/>
                    </a:cubicBezTo>
                    <a:cubicBezTo>
                      <a:pt x="77" y="111"/>
                      <a:pt x="74" y="111"/>
                      <a:pt x="72" y="111"/>
                    </a:cubicBezTo>
                    <a:cubicBezTo>
                      <a:pt x="70" y="111"/>
                      <a:pt x="69" y="111"/>
                      <a:pt x="68" y="111"/>
                    </a:cubicBezTo>
                    <a:cubicBezTo>
                      <a:pt x="31" y="125"/>
                      <a:pt x="31" y="125"/>
                      <a:pt x="31" y="125"/>
                    </a:cubicBezTo>
                    <a:cubicBezTo>
                      <a:pt x="30" y="125"/>
                      <a:pt x="30" y="125"/>
                      <a:pt x="30" y="125"/>
                    </a:cubicBezTo>
                    <a:cubicBezTo>
                      <a:pt x="29" y="125"/>
                      <a:pt x="27" y="124"/>
                      <a:pt x="27" y="122"/>
                    </a:cubicBezTo>
                    <a:cubicBezTo>
                      <a:pt x="5" y="60"/>
                      <a:pt x="5" y="60"/>
                      <a:pt x="5" y="60"/>
                    </a:cubicBezTo>
                    <a:cubicBezTo>
                      <a:pt x="3" y="61"/>
                      <a:pt x="3" y="61"/>
                      <a:pt x="3" y="61"/>
                    </a:cubicBezTo>
                    <a:cubicBezTo>
                      <a:pt x="1" y="61"/>
                      <a:pt x="1" y="61"/>
                      <a:pt x="1" y="61"/>
                    </a:cubicBezTo>
                    <a:cubicBezTo>
                      <a:pt x="23" y="124"/>
                      <a:pt x="23" y="124"/>
                      <a:pt x="23" y="124"/>
                    </a:cubicBezTo>
                    <a:cubicBezTo>
                      <a:pt x="24" y="127"/>
                      <a:pt x="27" y="130"/>
                      <a:pt x="30" y="130"/>
                    </a:cubicBezTo>
                    <a:cubicBezTo>
                      <a:pt x="31" y="130"/>
                      <a:pt x="32" y="130"/>
                      <a:pt x="32" y="129"/>
                    </a:cubicBezTo>
                    <a:cubicBezTo>
                      <a:pt x="70" y="115"/>
                      <a:pt x="70" y="115"/>
                      <a:pt x="70" y="115"/>
                    </a:cubicBezTo>
                    <a:cubicBezTo>
                      <a:pt x="70" y="115"/>
                      <a:pt x="71" y="115"/>
                      <a:pt x="72" y="115"/>
                    </a:cubicBezTo>
                    <a:cubicBezTo>
                      <a:pt x="73" y="115"/>
                      <a:pt x="76" y="116"/>
                      <a:pt x="77" y="117"/>
                    </a:cubicBezTo>
                    <a:cubicBezTo>
                      <a:pt x="119" y="150"/>
                      <a:pt x="119" y="150"/>
                      <a:pt x="119" y="150"/>
                    </a:cubicBezTo>
                    <a:cubicBezTo>
                      <a:pt x="121" y="151"/>
                      <a:pt x="122" y="151"/>
                      <a:pt x="124" y="151"/>
                    </a:cubicBezTo>
                    <a:cubicBezTo>
                      <a:pt x="126" y="151"/>
                      <a:pt x="129" y="150"/>
                      <a:pt x="130" y="148"/>
                    </a:cubicBezTo>
                    <a:cubicBezTo>
                      <a:pt x="149" y="121"/>
                      <a:pt x="149" y="121"/>
                      <a:pt x="149" y="121"/>
                    </a:cubicBezTo>
                    <a:cubicBezTo>
                      <a:pt x="151" y="118"/>
                      <a:pt x="152" y="113"/>
                      <a:pt x="153" y="108"/>
                    </a:cubicBezTo>
                    <a:cubicBezTo>
                      <a:pt x="153" y="89"/>
                      <a:pt x="153" y="89"/>
                      <a:pt x="153" y="89"/>
                    </a:cubicBezTo>
                    <a:cubicBezTo>
                      <a:pt x="153" y="86"/>
                      <a:pt x="152" y="84"/>
                      <a:pt x="151" y="82"/>
                    </a:cubicBezTo>
                    <a:cubicBezTo>
                      <a:pt x="151" y="79"/>
                      <a:pt x="150" y="77"/>
                      <a:pt x="149" y="76"/>
                    </a:cubicBezTo>
                    <a:cubicBezTo>
                      <a:pt x="128" y="47"/>
                      <a:pt x="128" y="47"/>
                      <a:pt x="128" y="47"/>
                    </a:cubicBezTo>
                    <a:cubicBezTo>
                      <a:pt x="127" y="46"/>
                      <a:pt x="126" y="45"/>
                      <a:pt x="126" y="43"/>
                    </a:cubicBezTo>
                    <a:cubicBezTo>
                      <a:pt x="125" y="41"/>
                      <a:pt x="125" y="39"/>
                      <a:pt x="125" y="37"/>
                    </a:cubicBezTo>
                    <a:cubicBezTo>
                      <a:pt x="125" y="32"/>
                      <a:pt x="125" y="32"/>
                      <a:pt x="125" y="32"/>
                    </a:cubicBezTo>
                    <a:cubicBezTo>
                      <a:pt x="125" y="30"/>
                      <a:pt x="124" y="27"/>
                      <a:pt x="123" y="25"/>
                    </a:cubicBezTo>
                    <a:cubicBezTo>
                      <a:pt x="123" y="23"/>
                      <a:pt x="122" y="21"/>
                      <a:pt x="120" y="19"/>
                    </a:cubicBezTo>
                    <a:cubicBezTo>
                      <a:pt x="107" y="2"/>
                      <a:pt x="107" y="2"/>
                      <a:pt x="107" y="2"/>
                    </a:cubicBezTo>
                    <a:cubicBezTo>
                      <a:pt x="107" y="2"/>
                      <a:pt x="106" y="1"/>
                      <a:pt x="105" y="1"/>
                    </a:cubicBezTo>
                    <a:cubicBezTo>
                      <a:pt x="105" y="0"/>
                      <a:pt x="104" y="0"/>
                      <a:pt x="103" y="0"/>
                    </a:cubicBezTo>
                    <a:cubicBezTo>
                      <a:pt x="103" y="0"/>
                      <a:pt x="102" y="0"/>
                      <a:pt x="101" y="1"/>
                    </a:cubicBezTo>
                    <a:cubicBezTo>
                      <a:pt x="100" y="1"/>
                      <a:pt x="100" y="2"/>
                      <a:pt x="100" y="3"/>
                    </a:cubicBezTo>
                    <a:cubicBezTo>
                      <a:pt x="100" y="4"/>
                      <a:pt x="100" y="5"/>
                      <a:pt x="100" y="6"/>
                    </a:cubicBezTo>
                    <a:cubicBezTo>
                      <a:pt x="100" y="25"/>
                      <a:pt x="100" y="25"/>
                      <a:pt x="100" y="25"/>
                    </a:cubicBezTo>
                    <a:cubicBezTo>
                      <a:pt x="100" y="26"/>
                      <a:pt x="99" y="27"/>
                      <a:pt x="99" y="27"/>
                    </a:cubicBezTo>
                    <a:cubicBezTo>
                      <a:pt x="99" y="27"/>
                      <a:pt x="99" y="27"/>
                      <a:pt x="99" y="27"/>
                    </a:cubicBezTo>
                    <a:cubicBezTo>
                      <a:pt x="99" y="27"/>
                      <a:pt x="99" y="27"/>
                      <a:pt x="99" y="27"/>
                    </a:cubicBezTo>
                    <a:cubicBezTo>
                      <a:pt x="99" y="28"/>
                      <a:pt x="99" y="28"/>
                      <a:pt x="99" y="28"/>
                    </a:cubicBezTo>
                    <a:cubicBezTo>
                      <a:pt x="99" y="27"/>
                      <a:pt x="99" y="27"/>
                      <a:pt x="99" y="27"/>
                    </a:cubicBezTo>
                    <a:cubicBezTo>
                      <a:pt x="99" y="27"/>
                      <a:pt x="99" y="27"/>
                      <a:pt x="99" y="27"/>
                    </a:cubicBezTo>
                    <a:cubicBezTo>
                      <a:pt x="99" y="28"/>
                      <a:pt x="99" y="28"/>
                      <a:pt x="99" y="28"/>
                    </a:cubicBezTo>
                    <a:cubicBezTo>
                      <a:pt x="99" y="27"/>
                      <a:pt x="99" y="27"/>
                      <a:pt x="99" y="27"/>
                    </a:cubicBezTo>
                    <a:cubicBezTo>
                      <a:pt x="99" y="27"/>
                      <a:pt x="99" y="27"/>
                      <a:pt x="98" y="27"/>
                    </a:cubicBezTo>
                    <a:cubicBezTo>
                      <a:pt x="91" y="22"/>
                      <a:pt x="91" y="22"/>
                      <a:pt x="91" y="22"/>
                    </a:cubicBezTo>
                    <a:cubicBezTo>
                      <a:pt x="90" y="21"/>
                      <a:pt x="89" y="20"/>
                      <a:pt x="89" y="18"/>
                    </a:cubicBezTo>
                    <a:cubicBezTo>
                      <a:pt x="88" y="17"/>
                      <a:pt x="88" y="15"/>
                      <a:pt x="88" y="14"/>
                    </a:cubicBezTo>
                    <a:cubicBezTo>
                      <a:pt x="88" y="12"/>
                      <a:pt x="88" y="12"/>
                      <a:pt x="88" y="12"/>
                    </a:cubicBezTo>
                    <a:cubicBezTo>
                      <a:pt x="88" y="9"/>
                      <a:pt x="87" y="7"/>
                      <a:pt x="86" y="5"/>
                    </a:cubicBezTo>
                    <a:cubicBezTo>
                      <a:pt x="85" y="4"/>
                      <a:pt x="83" y="2"/>
                      <a:pt x="81" y="2"/>
                    </a:cubicBezTo>
                    <a:cubicBezTo>
                      <a:pt x="66" y="0"/>
                      <a:pt x="66" y="0"/>
                      <a:pt x="66" y="0"/>
                    </a:cubicBezTo>
                    <a:cubicBezTo>
                      <a:pt x="65" y="0"/>
                      <a:pt x="65" y="0"/>
                      <a:pt x="65" y="0"/>
                    </a:cubicBezTo>
                    <a:cubicBezTo>
                      <a:pt x="63" y="0"/>
                      <a:pt x="61" y="1"/>
                      <a:pt x="59" y="2"/>
                    </a:cubicBezTo>
                    <a:cubicBezTo>
                      <a:pt x="58" y="3"/>
                      <a:pt x="57" y="5"/>
                      <a:pt x="56" y="7"/>
                    </a:cubicBezTo>
                    <a:cubicBezTo>
                      <a:pt x="55" y="11"/>
                      <a:pt x="55" y="11"/>
                      <a:pt x="55" y="11"/>
                    </a:cubicBezTo>
                    <a:cubicBezTo>
                      <a:pt x="54" y="12"/>
                      <a:pt x="53" y="14"/>
                      <a:pt x="52" y="14"/>
                    </a:cubicBezTo>
                    <a:cubicBezTo>
                      <a:pt x="51" y="15"/>
                      <a:pt x="50" y="16"/>
                      <a:pt x="50" y="16"/>
                    </a:cubicBezTo>
                    <a:cubicBezTo>
                      <a:pt x="49" y="16"/>
                      <a:pt x="49" y="16"/>
                      <a:pt x="49" y="16"/>
                    </a:cubicBezTo>
                    <a:cubicBezTo>
                      <a:pt x="47" y="16"/>
                      <a:pt x="45" y="16"/>
                      <a:pt x="43" y="17"/>
                    </a:cubicBezTo>
                    <a:cubicBezTo>
                      <a:pt x="41" y="18"/>
                      <a:pt x="40" y="19"/>
                      <a:pt x="38" y="20"/>
                    </a:cubicBezTo>
                    <a:cubicBezTo>
                      <a:pt x="3" y="49"/>
                      <a:pt x="3" y="49"/>
                      <a:pt x="3" y="49"/>
                    </a:cubicBezTo>
                    <a:cubicBezTo>
                      <a:pt x="1" y="51"/>
                      <a:pt x="0" y="54"/>
                      <a:pt x="0" y="58"/>
                    </a:cubicBezTo>
                    <a:cubicBezTo>
                      <a:pt x="0" y="59"/>
                      <a:pt x="0" y="60"/>
                      <a:pt x="1" y="61"/>
                    </a:cubicBezTo>
                    <a:lnTo>
                      <a:pt x="3" y="61"/>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4" name="Freeform 289"/>
              <p:cNvSpPr>
                <a:spLocks/>
              </p:cNvSpPr>
              <p:nvPr/>
            </p:nvSpPr>
            <p:spPr bwMode="auto">
              <a:xfrm>
                <a:off x="-5230812" y="2525710"/>
                <a:ext cx="52388" cy="47625"/>
              </a:xfrm>
              <a:custGeom>
                <a:avLst/>
                <a:gdLst/>
                <a:ahLst/>
                <a:cxnLst>
                  <a:cxn ang="0">
                    <a:pos x="4" y="11"/>
                  </a:cxn>
                  <a:cxn ang="0">
                    <a:pos x="5" y="9"/>
                  </a:cxn>
                  <a:cxn ang="0">
                    <a:pos x="4" y="9"/>
                  </a:cxn>
                  <a:cxn ang="0">
                    <a:pos x="4" y="8"/>
                  </a:cxn>
                  <a:cxn ang="0">
                    <a:pos x="5" y="6"/>
                  </a:cxn>
                  <a:cxn ang="0">
                    <a:pos x="8" y="4"/>
                  </a:cxn>
                  <a:cxn ang="0">
                    <a:pos x="9" y="4"/>
                  </a:cxn>
                  <a:cxn ang="0">
                    <a:pos x="10" y="6"/>
                  </a:cxn>
                  <a:cxn ang="0">
                    <a:pos x="9" y="8"/>
                  </a:cxn>
                  <a:cxn ang="0">
                    <a:pos x="6" y="9"/>
                  </a:cxn>
                  <a:cxn ang="0">
                    <a:pos x="5" y="9"/>
                  </a:cxn>
                  <a:cxn ang="0">
                    <a:pos x="4" y="11"/>
                  </a:cxn>
                  <a:cxn ang="0">
                    <a:pos x="3" y="13"/>
                  </a:cxn>
                  <a:cxn ang="0">
                    <a:pos x="6" y="13"/>
                  </a:cxn>
                  <a:cxn ang="0">
                    <a:pos x="13" y="11"/>
                  </a:cxn>
                  <a:cxn ang="0">
                    <a:pos x="14" y="6"/>
                  </a:cxn>
                  <a:cxn ang="0">
                    <a:pos x="12" y="1"/>
                  </a:cxn>
                  <a:cxn ang="0">
                    <a:pos x="8" y="0"/>
                  </a:cxn>
                  <a:cxn ang="0">
                    <a:pos x="2" y="3"/>
                  </a:cxn>
                  <a:cxn ang="0">
                    <a:pos x="0" y="8"/>
                  </a:cxn>
                  <a:cxn ang="0">
                    <a:pos x="1" y="11"/>
                  </a:cxn>
                  <a:cxn ang="0">
                    <a:pos x="3" y="13"/>
                  </a:cxn>
                  <a:cxn ang="0">
                    <a:pos x="4" y="11"/>
                  </a:cxn>
                </a:cxnLst>
                <a:rect l="0" t="0" r="r" b="b"/>
                <a:pathLst>
                  <a:path w="14" h="13">
                    <a:moveTo>
                      <a:pt x="4" y="11"/>
                    </a:moveTo>
                    <a:cubicBezTo>
                      <a:pt x="5" y="9"/>
                      <a:pt x="5" y="9"/>
                      <a:pt x="5" y="9"/>
                    </a:cubicBezTo>
                    <a:cubicBezTo>
                      <a:pt x="4" y="9"/>
                      <a:pt x="4" y="9"/>
                      <a:pt x="4" y="9"/>
                    </a:cubicBezTo>
                    <a:cubicBezTo>
                      <a:pt x="4" y="8"/>
                      <a:pt x="4" y="8"/>
                      <a:pt x="4" y="8"/>
                    </a:cubicBezTo>
                    <a:cubicBezTo>
                      <a:pt x="4" y="7"/>
                      <a:pt x="4" y="7"/>
                      <a:pt x="5" y="6"/>
                    </a:cubicBezTo>
                    <a:cubicBezTo>
                      <a:pt x="6" y="4"/>
                      <a:pt x="7" y="4"/>
                      <a:pt x="8" y="4"/>
                    </a:cubicBezTo>
                    <a:cubicBezTo>
                      <a:pt x="9" y="4"/>
                      <a:pt x="9" y="4"/>
                      <a:pt x="9" y="4"/>
                    </a:cubicBezTo>
                    <a:cubicBezTo>
                      <a:pt x="10" y="5"/>
                      <a:pt x="10" y="5"/>
                      <a:pt x="10" y="6"/>
                    </a:cubicBezTo>
                    <a:cubicBezTo>
                      <a:pt x="10" y="7"/>
                      <a:pt x="10" y="7"/>
                      <a:pt x="9" y="8"/>
                    </a:cubicBezTo>
                    <a:cubicBezTo>
                      <a:pt x="9" y="9"/>
                      <a:pt x="7" y="9"/>
                      <a:pt x="6" y="9"/>
                    </a:cubicBezTo>
                    <a:cubicBezTo>
                      <a:pt x="5" y="9"/>
                      <a:pt x="5" y="9"/>
                      <a:pt x="5" y="9"/>
                    </a:cubicBezTo>
                    <a:cubicBezTo>
                      <a:pt x="4" y="11"/>
                      <a:pt x="4" y="11"/>
                      <a:pt x="4" y="11"/>
                    </a:cubicBezTo>
                    <a:cubicBezTo>
                      <a:pt x="3" y="13"/>
                      <a:pt x="3" y="13"/>
                      <a:pt x="3" y="13"/>
                    </a:cubicBezTo>
                    <a:cubicBezTo>
                      <a:pt x="4" y="13"/>
                      <a:pt x="5" y="13"/>
                      <a:pt x="6" y="13"/>
                    </a:cubicBezTo>
                    <a:cubicBezTo>
                      <a:pt x="8" y="13"/>
                      <a:pt x="11" y="12"/>
                      <a:pt x="13" y="11"/>
                    </a:cubicBezTo>
                    <a:cubicBezTo>
                      <a:pt x="14" y="9"/>
                      <a:pt x="14" y="8"/>
                      <a:pt x="14" y="6"/>
                    </a:cubicBezTo>
                    <a:cubicBezTo>
                      <a:pt x="14" y="4"/>
                      <a:pt x="13" y="2"/>
                      <a:pt x="12" y="1"/>
                    </a:cubicBezTo>
                    <a:cubicBezTo>
                      <a:pt x="11" y="0"/>
                      <a:pt x="9" y="0"/>
                      <a:pt x="8" y="0"/>
                    </a:cubicBezTo>
                    <a:cubicBezTo>
                      <a:pt x="6" y="0"/>
                      <a:pt x="3" y="1"/>
                      <a:pt x="2" y="3"/>
                    </a:cubicBezTo>
                    <a:cubicBezTo>
                      <a:pt x="0" y="5"/>
                      <a:pt x="0" y="6"/>
                      <a:pt x="0" y="8"/>
                    </a:cubicBezTo>
                    <a:cubicBezTo>
                      <a:pt x="0" y="9"/>
                      <a:pt x="0" y="10"/>
                      <a:pt x="1" y="11"/>
                    </a:cubicBezTo>
                    <a:cubicBezTo>
                      <a:pt x="1" y="12"/>
                      <a:pt x="2" y="12"/>
                      <a:pt x="3" y="13"/>
                    </a:cubicBezTo>
                    <a:lnTo>
                      <a:pt x="4" y="11"/>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5" name="Freeform 290"/>
              <p:cNvSpPr>
                <a:spLocks/>
              </p:cNvSpPr>
              <p:nvPr/>
            </p:nvSpPr>
            <p:spPr bwMode="auto">
              <a:xfrm>
                <a:off x="-5172075" y="2559047"/>
                <a:ext cx="87313" cy="55562"/>
              </a:xfrm>
              <a:custGeom>
                <a:avLst/>
                <a:gdLst/>
                <a:ahLst/>
                <a:cxnLst>
                  <a:cxn ang="0">
                    <a:pos x="3" y="6"/>
                  </a:cxn>
                  <a:cxn ang="0">
                    <a:pos x="5" y="6"/>
                  </a:cxn>
                  <a:cxn ang="0">
                    <a:pos x="5" y="5"/>
                  </a:cxn>
                  <a:cxn ang="0">
                    <a:pos x="7" y="4"/>
                  </a:cxn>
                  <a:cxn ang="0">
                    <a:pos x="7" y="4"/>
                  </a:cxn>
                  <a:cxn ang="0">
                    <a:pos x="8" y="5"/>
                  </a:cxn>
                  <a:cxn ang="0">
                    <a:pos x="17" y="8"/>
                  </a:cxn>
                  <a:cxn ang="0">
                    <a:pos x="19" y="10"/>
                  </a:cxn>
                  <a:cxn ang="0">
                    <a:pos x="19" y="10"/>
                  </a:cxn>
                  <a:cxn ang="0">
                    <a:pos x="17" y="11"/>
                  </a:cxn>
                  <a:cxn ang="0">
                    <a:pos x="15" y="11"/>
                  </a:cxn>
                  <a:cxn ang="0">
                    <a:pos x="13" y="11"/>
                  </a:cxn>
                  <a:cxn ang="0">
                    <a:pos x="8" y="10"/>
                  </a:cxn>
                  <a:cxn ang="0">
                    <a:pos x="6" y="8"/>
                  </a:cxn>
                  <a:cxn ang="0">
                    <a:pos x="5" y="6"/>
                  </a:cxn>
                  <a:cxn ang="0">
                    <a:pos x="3" y="6"/>
                  </a:cxn>
                  <a:cxn ang="0">
                    <a:pos x="0" y="6"/>
                  </a:cxn>
                  <a:cxn ang="0">
                    <a:pos x="2" y="11"/>
                  </a:cxn>
                  <a:cxn ang="0">
                    <a:pos x="7" y="14"/>
                  </a:cxn>
                  <a:cxn ang="0">
                    <a:pos x="12" y="15"/>
                  </a:cxn>
                  <a:cxn ang="0">
                    <a:pos x="15" y="15"/>
                  </a:cxn>
                  <a:cxn ang="0">
                    <a:pos x="19" y="15"/>
                  </a:cxn>
                  <a:cxn ang="0">
                    <a:pos x="22" y="13"/>
                  </a:cxn>
                  <a:cxn ang="0">
                    <a:pos x="23" y="10"/>
                  </a:cxn>
                  <a:cxn ang="0">
                    <a:pos x="19" y="4"/>
                  </a:cxn>
                  <a:cxn ang="0">
                    <a:pos x="9" y="0"/>
                  </a:cxn>
                  <a:cxn ang="0">
                    <a:pos x="8" y="0"/>
                  </a:cxn>
                  <a:cxn ang="0">
                    <a:pos x="7" y="0"/>
                  </a:cxn>
                  <a:cxn ang="0">
                    <a:pos x="2" y="2"/>
                  </a:cxn>
                  <a:cxn ang="0">
                    <a:pos x="0" y="6"/>
                  </a:cxn>
                  <a:cxn ang="0">
                    <a:pos x="3" y="6"/>
                  </a:cxn>
                </a:cxnLst>
                <a:rect l="0" t="0" r="r" b="b"/>
                <a:pathLst>
                  <a:path w="23" h="15">
                    <a:moveTo>
                      <a:pt x="3" y="6"/>
                    </a:moveTo>
                    <a:cubicBezTo>
                      <a:pt x="5" y="6"/>
                      <a:pt x="5" y="6"/>
                      <a:pt x="5" y="6"/>
                    </a:cubicBezTo>
                    <a:cubicBezTo>
                      <a:pt x="5" y="5"/>
                      <a:pt x="5" y="5"/>
                      <a:pt x="5" y="5"/>
                    </a:cubicBezTo>
                    <a:cubicBezTo>
                      <a:pt x="5" y="5"/>
                      <a:pt x="6" y="4"/>
                      <a:pt x="7" y="4"/>
                    </a:cubicBezTo>
                    <a:cubicBezTo>
                      <a:pt x="7" y="4"/>
                      <a:pt x="7" y="4"/>
                      <a:pt x="7" y="4"/>
                    </a:cubicBezTo>
                    <a:cubicBezTo>
                      <a:pt x="8" y="5"/>
                      <a:pt x="8" y="5"/>
                      <a:pt x="8" y="5"/>
                    </a:cubicBezTo>
                    <a:cubicBezTo>
                      <a:pt x="10" y="5"/>
                      <a:pt x="15" y="7"/>
                      <a:pt x="17" y="8"/>
                    </a:cubicBezTo>
                    <a:cubicBezTo>
                      <a:pt x="18" y="9"/>
                      <a:pt x="19" y="10"/>
                      <a:pt x="19" y="10"/>
                    </a:cubicBezTo>
                    <a:cubicBezTo>
                      <a:pt x="19" y="10"/>
                      <a:pt x="19" y="10"/>
                      <a:pt x="19" y="10"/>
                    </a:cubicBezTo>
                    <a:cubicBezTo>
                      <a:pt x="18" y="10"/>
                      <a:pt x="18" y="11"/>
                      <a:pt x="17" y="11"/>
                    </a:cubicBezTo>
                    <a:cubicBezTo>
                      <a:pt x="17" y="11"/>
                      <a:pt x="16" y="11"/>
                      <a:pt x="15" y="11"/>
                    </a:cubicBezTo>
                    <a:cubicBezTo>
                      <a:pt x="14" y="11"/>
                      <a:pt x="14" y="11"/>
                      <a:pt x="13" y="11"/>
                    </a:cubicBezTo>
                    <a:cubicBezTo>
                      <a:pt x="8" y="10"/>
                      <a:pt x="8" y="10"/>
                      <a:pt x="8" y="10"/>
                    </a:cubicBezTo>
                    <a:cubicBezTo>
                      <a:pt x="7" y="10"/>
                      <a:pt x="6" y="9"/>
                      <a:pt x="6" y="8"/>
                    </a:cubicBezTo>
                    <a:cubicBezTo>
                      <a:pt x="5" y="8"/>
                      <a:pt x="5" y="7"/>
                      <a:pt x="5" y="6"/>
                    </a:cubicBezTo>
                    <a:cubicBezTo>
                      <a:pt x="3" y="6"/>
                      <a:pt x="3" y="6"/>
                      <a:pt x="3" y="6"/>
                    </a:cubicBezTo>
                    <a:cubicBezTo>
                      <a:pt x="0" y="6"/>
                      <a:pt x="0" y="6"/>
                      <a:pt x="0" y="6"/>
                    </a:cubicBezTo>
                    <a:cubicBezTo>
                      <a:pt x="0" y="8"/>
                      <a:pt x="1" y="10"/>
                      <a:pt x="2" y="11"/>
                    </a:cubicBezTo>
                    <a:cubicBezTo>
                      <a:pt x="4" y="12"/>
                      <a:pt x="5" y="14"/>
                      <a:pt x="7" y="14"/>
                    </a:cubicBezTo>
                    <a:cubicBezTo>
                      <a:pt x="12" y="15"/>
                      <a:pt x="12" y="15"/>
                      <a:pt x="12" y="15"/>
                    </a:cubicBezTo>
                    <a:cubicBezTo>
                      <a:pt x="13" y="15"/>
                      <a:pt x="14" y="15"/>
                      <a:pt x="15" y="15"/>
                    </a:cubicBezTo>
                    <a:cubicBezTo>
                      <a:pt x="16" y="15"/>
                      <a:pt x="18" y="15"/>
                      <a:pt x="19" y="15"/>
                    </a:cubicBezTo>
                    <a:cubicBezTo>
                      <a:pt x="20" y="14"/>
                      <a:pt x="21" y="14"/>
                      <a:pt x="22" y="13"/>
                    </a:cubicBezTo>
                    <a:cubicBezTo>
                      <a:pt x="23" y="12"/>
                      <a:pt x="23" y="11"/>
                      <a:pt x="23" y="10"/>
                    </a:cubicBezTo>
                    <a:cubicBezTo>
                      <a:pt x="23" y="7"/>
                      <a:pt x="21" y="5"/>
                      <a:pt x="19" y="4"/>
                    </a:cubicBezTo>
                    <a:cubicBezTo>
                      <a:pt x="16" y="3"/>
                      <a:pt x="12" y="1"/>
                      <a:pt x="9" y="0"/>
                    </a:cubicBezTo>
                    <a:cubicBezTo>
                      <a:pt x="8" y="0"/>
                      <a:pt x="8" y="0"/>
                      <a:pt x="8" y="0"/>
                    </a:cubicBezTo>
                    <a:cubicBezTo>
                      <a:pt x="7" y="0"/>
                      <a:pt x="7" y="0"/>
                      <a:pt x="7" y="0"/>
                    </a:cubicBezTo>
                    <a:cubicBezTo>
                      <a:pt x="5" y="0"/>
                      <a:pt x="3" y="1"/>
                      <a:pt x="2" y="2"/>
                    </a:cubicBezTo>
                    <a:cubicBezTo>
                      <a:pt x="1" y="3"/>
                      <a:pt x="0" y="4"/>
                      <a:pt x="0" y="6"/>
                    </a:cubicBezTo>
                    <a:lnTo>
                      <a:pt x="3" y="6"/>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6" name="Freeform 291"/>
              <p:cNvSpPr>
                <a:spLocks/>
              </p:cNvSpPr>
              <p:nvPr/>
            </p:nvSpPr>
            <p:spPr bwMode="auto">
              <a:xfrm>
                <a:off x="-5029199" y="2419349"/>
                <a:ext cx="79374" cy="90487"/>
              </a:xfrm>
              <a:custGeom>
                <a:avLst/>
                <a:gdLst/>
                <a:ahLst/>
                <a:cxnLst>
                  <a:cxn ang="0">
                    <a:pos x="4" y="13"/>
                  </a:cxn>
                  <a:cxn ang="0">
                    <a:pos x="5" y="12"/>
                  </a:cxn>
                  <a:cxn ang="0">
                    <a:pos x="5" y="10"/>
                  </a:cxn>
                  <a:cxn ang="0">
                    <a:pos x="6" y="9"/>
                  </a:cxn>
                  <a:cxn ang="0">
                    <a:pos x="16" y="4"/>
                  </a:cxn>
                  <a:cxn ang="0">
                    <a:pos x="16" y="4"/>
                  </a:cxn>
                  <a:cxn ang="0">
                    <a:pos x="16" y="4"/>
                  </a:cxn>
                  <a:cxn ang="0">
                    <a:pos x="16" y="4"/>
                  </a:cxn>
                  <a:cxn ang="0">
                    <a:pos x="16" y="4"/>
                  </a:cxn>
                  <a:cxn ang="0">
                    <a:pos x="16" y="4"/>
                  </a:cxn>
                  <a:cxn ang="0">
                    <a:pos x="16" y="4"/>
                  </a:cxn>
                  <a:cxn ang="0">
                    <a:pos x="16" y="4"/>
                  </a:cxn>
                  <a:cxn ang="0">
                    <a:pos x="16" y="4"/>
                  </a:cxn>
                  <a:cxn ang="0">
                    <a:pos x="16" y="4"/>
                  </a:cxn>
                  <a:cxn ang="0">
                    <a:pos x="16" y="4"/>
                  </a:cxn>
                  <a:cxn ang="0">
                    <a:pos x="16" y="4"/>
                  </a:cxn>
                  <a:cxn ang="0">
                    <a:pos x="16" y="4"/>
                  </a:cxn>
                  <a:cxn ang="0">
                    <a:pos x="16" y="5"/>
                  </a:cxn>
                  <a:cxn ang="0">
                    <a:pos x="16" y="6"/>
                  </a:cxn>
                  <a:cxn ang="0">
                    <a:pos x="14" y="18"/>
                  </a:cxn>
                  <a:cxn ang="0">
                    <a:pos x="13" y="20"/>
                  </a:cxn>
                  <a:cxn ang="0">
                    <a:pos x="13" y="20"/>
                  </a:cxn>
                  <a:cxn ang="0">
                    <a:pos x="13" y="20"/>
                  </a:cxn>
                  <a:cxn ang="0">
                    <a:pos x="13" y="20"/>
                  </a:cxn>
                  <a:cxn ang="0">
                    <a:pos x="13" y="20"/>
                  </a:cxn>
                  <a:cxn ang="0">
                    <a:pos x="13" y="20"/>
                  </a:cxn>
                  <a:cxn ang="0">
                    <a:pos x="13" y="20"/>
                  </a:cxn>
                  <a:cxn ang="0">
                    <a:pos x="13" y="20"/>
                  </a:cxn>
                  <a:cxn ang="0">
                    <a:pos x="12" y="19"/>
                  </a:cxn>
                  <a:cxn ang="0">
                    <a:pos x="5" y="12"/>
                  </a:cxn>
                  <a:cxn ang="0">
                    <a:pos x="4" y="13"/>
                  </a:cxn>
                  <a:cxn ang="0">
                    <a:pos x="2" y="14"/>
                  </a:cxn>
                  <a:cxn ang="0">
                    <a:pos x="9" y="22"/>
                  </a:cxn>
                  <a:cxn ang="0">
                    <a:pos x="13" y="24"/>
                  </a:cxn>
                  <a:cxn ang="0">
                    <a:pos x="16" y="23"/>
                  </a:cxn>
                  <a:cxn ang="0">
                    <a:pos x="18" y="19"/>
                  </a:cxn>
                  <a:cxn ang="0">
                    <a:pos x="20" y="7"/>
                  </a:cxn>
                  <a:cxn ang="0">
                    <a:pos x="21" y="5"/>
                  </a:cxn>
                  <a:cxn ang="0">
                    <a:pos x="20" y="2"/>
                  </a:cxn>
                  <a:cxn ang="0">
                    <a:pos x="16" y="0"/>
                  </a:cxn>
                  <a:cxn ang="0">
                    <a:pos x="14" y="0"/>
                  </a:cxn>
                  <a:cxn ang="0">
                    <a:pos x="4" y="5"/>
                  </a:cxn>
                  <a:cxn ang="0">
                    <a:pos x="0" y="10"/>
                  </a:cxn>
                  <a:cxn ang="0">
                    <a:pos x="2" y="14"/>
                  </a:cxn>
                  <a:cxn ang="0">
                    <a:pos x="4" y="13"/>
                  </a:cxn>
                </a:cxnLst>
                <a:rect l="0" t="0" r="r" b="b"/>
                <a:pathLst>
                  <a:path w="21" h="24">
                    <a:moveTo>
                      <a:pt x="4" y="13"/>
                    </a:moveTo>
                    <a:cubicBezTo>
                      <a:pt x="5" y="12"/>
                      <a:pt x="5" y="12"/>
                      <a:pt x="5" y="12"/>
                    </a:cubicBezTo>
                    <a:cubicBezTo>
                      <a:pt x="5" y="11"/>
                      <a:pt x="5" y="10"/>
                      <a:pt x="5" y="10"/>
                    </a:cubicBezTo>
                    <a:cubicBezTo>
                      <a:pt x="5" y="9"/>
                      <a:pt x="5" y="9"/>
                      <a:pt x="6" y="9"/>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5"/>
                      <a:pt x="16" y="5"/>
                      <a:pt x="16" y="5"/>
                    </a:cubicBezTo>
                    <a:cubicBezTo>
                      <a:pt x="16" y="6"/>
                      <a:pt x="16" y="6"/>
                      <a:pt x="16" y="6"/>
                    </a:cubicBezTo>
                    <a:cubicBezTo>
                      <a:pt x="14" y="18"/>
                      <a:pt x="14" y="18"/>
                      <a:pt x="14" y="18"/>
                    </a:cubicBezTo>
                    <a:cubicBezTo>
                      <a:pt x="13" y="19"/>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2" y="19"/>
                      <a:pt x="12" y="19"/>
                      <a:pt x="12" y="19"/>
                    </a:cubicBezTo>
                    <a:cubicBezTo>
                      <a:pt x="5" y="12"/>
                      <a:pt x="5" y="12"/>
                      <a:pt x="5" y="12"/>
                    </a:cubicBezTo>
                    <a:cubicBezTo>
                      <a:pt x="4" y="13"/>
                      <a:pt x="4" y="13"/>
                      <a:pt x="4" y="13"/>
                    </a:cubicBezTo>
                    <a:cubicBezTo>
                      <a:pt x="2" y="14"/>
                      <a:pt x="2" y="14"/>
                      <a:pt x="2" y="14"/>
                    </a:cubicBezTo>
                    <a:cubicBezTo>
                      <a:pt x="9" y="22"/>
                      <a:pt x="9" y="22"/>
                      <a:pt x="9" y="22"/>
                    </a:cubicBezTo>
                    <a:cubicBezTo>
                      <a:pt x="10" y="23"/>
                      <a:pt x="11" y="24"/>
                      <a:pt x="13" y="24"/>
                    </a:cubicBezTo>
                    <a:cubicBezTo>
                      <a:pt x="14" y="24"/>
                      <a:pt x="15" y="24"/>
                      <a:pt x="16" y="23"/>
                    </a:cubicBezTo>
                    <a:cubicBezTo>
                      <a:pt x="17" y="22"/>
                      <a:pt x="17" y="21"/>
                      <a:pt x="18" y="19"/>
                    </a:cubicBezTo>
                    <a:cubicBezTo>
                      <a:pt x="20" y="7"/>
                      <a:pt x="20" y="7"/>
                      <a:pt x="20" y="7"/>
                    </a:cubicBezTo>
                    <a:cubicBezTo>
                      <a:pt x="21" y="7"/>
                      <a:pt x="21" y="6"/>
                      <a:pt x="21" y="5"/>
                    </a:cubicBezTo>
                    <a:cubicBezTo>
                      <a:pt x="21" y="4"/>
                      <a:pt x="20" y="3"/>
                      <a:pt x="20" y="2"/>
                    </a:cubicBezTo>
                    <a:cubicBezTo>
                      <a:pt x="19" y="1"/>
                      <a:pt x="17" y="0"/>
                      <a:pt x="16" y="0"/>
                    </a:cubicBezTo>
                    <a:cubicBezTo>
                      <a:pt x="15" y="0"/>
                      <a:pt x="15" y="0"/>
                      <a:pt x="14" y="0"/>
                    </a:cubicBezTo>
                    <a:cubicBezTo>
                      <a:pt x="4" y="5"/>
                      <a:pt x="4" y="5"/>
                      <a:pt x="4" y="5"/>
                    </a:cubicBezTo>
                    <a:cubicBezTo>
                      <a:pt x="2" y="6"/>
                      <a:pt x="0" y="8"/>
                      <a:pt x="0" y="10"/>
                    </a:cubicBezTo>
                    <a:cubicBezTo>
                      <a:pt x="0" y="12"/>
                      <a:pt x="1" y="13"/>
                      <a:pt x="2" y="14"/>
                    </a:cubicBezTo>
                    <a:lnTo>
                      <a:pt x="4" y="13"/>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7" name="Freeform 292"/>
              <p:cNvSpPr>
                <a:spLocks/>
              </p:cNvSpPr>
              <p:nvPr/>
            </p:nvSpPr>
            <p:spPr bwMode="auto">
              <a:xfrm>
                <a:off x="-5054600" y="2554285"/>
                <a:ext cx="112712" cy="128587"/>
              </a:xfrm>
              <a:custGeom>
                <a:avLst/>
                <a:gdLst/>
                <a:ahLst/>
                <a:cxnLst>
                  <a:cxn ang="0">
                    <a:pos x="7" y="6"/>
                  </a:cxn>
                  <a:cxn ang="0">
                    <a:pos x="7" y="4"/>
                  </a:cxn>
                  <a:cxn ang="0">
                    <a:pos x="7" y="4"/>
                  </a:cxn>
                  <a:cxn ang="0">
                    <a:pos x="6" y="3"/>
                  </a:cxn>
                  <a:cxn ang="0">
                    <a:pos x="6" y="3"/>
                  </a:cxn>
                  <a:cxn ang="0">
                    <a:pos x="7" y="4"/>
                  </a:cxn>
                  <a:cxn ang="0">
                    <a:pos x="6" y="5"/>
                  </a:cxn>
                  <a:cxn ang="0">
                    <a:pos x="5" y="4"/>
                  </a:cxn>
                  <a:cxn ang="0">
                    <a:pos x="6" y="3"/>
                  </a:cxn>
                  <a:cxn ang="0">
                    <a:pos x="6" y="3"/>
                  </a:cxn>
                  <a:cxn ang="0">
                    <a:pos x="5" y="4"/>
                  </a:cxn>
                  <a:cxn ang="0">
                    <a:pos x="4" y="4"/>
                  </a:cxn>
                  <a:cxn ang="0">
                    <a:pos x="4" y="4"/>
                  </a:cxn>
                  <a:cxn ang="0">
                    <a:pos x="4" y="4"/>
                  </a:cxn>
                  <a:cxn ang="0">
                    <a:pos x="5" y="6"/>
                  </a:cxn>
                  <a:cxn ang="0">
                    <a:pos x="7" y="14"/>
                  </a:cxn>
                  <a:cxn ang="0">
                    <a:pos x="15" y="21"/>
                  </a:cxn>
                  <a:cxn ang="0">
                    <a:pos x="23" y="24"/>
                  </a:cxn>
                  <a:cxn ang="0">
                    <a:pos x="24" y="24"/>
                  </a:cxn>
                  <a:cxn ang="0">
                    <a:pos x="24" y="24"/>
                  </a:cxn>
                  <a:cxn ang="0">
                    <a:pos x="24" y="24"/>
                  </a:cxn>
                  <a:cxn ang="0">
                    <a:pos x="24" y="24"/>
                  </a:cxn>
                  <a:cxn ang="0">
                    <a:pos x="24" y="24"/>
                  </a:cxn>
                  <a:cxn ang="0">
                    <a:pos x="24" y="24"/>
                  </a:cxn>
                  <a:cxn ang="0">
                    <a:pos x="25" y="27"/>
                  </a:cxn>
                  <a:cxn ang="0">
                    <a:pos x="25" y="29"/>
                  </a:cxn>
                  <a:cxn ang="0">
                    <a:pos x="19" y="29"/>
                  </a:cxn>
                  <a:cxn ang="0">
                    <a:pos x="7" y="22"/>
                  </a:cxn>
                  <a:cxn ang="0">
                    <a:pos x="5" y="17"/>
                  </a:cxn>
                  <a:cxn ang="0">
                    <a:pos x="7" y="6"/>
                  </a:cxn>
                  <a:cxn ang="0">
                    <a:pos x="3" y="5"/>
                  </a:cxn>
                  <a:cxn ang="0">
                    <a:pos x="0" y="17"/>
                  </a:cxn>
                  <a:cxn ang="0">
                    <a:pos x="5" y="26"/>
                  </a:cxn>
                  <a:cxn ang="0">
                    <a:pos x="18" y="33"/>
                  </a:cxn>
                  <a:cxn ang="0">
                    <a:pos x="28" y="32"/>
                  </a:cxn>
                  <a:cxn ang="0">
                    <a:pos x="30" y="26"/>
                  </a:cxn>
                  <a:cxn ang="0">
                    <a:pos x="24" y="20"/>
                  </a:cxn>
                  <a:cxn ang="0">
                    <a:pos x="23" y="20"/>
                  </a:cxn>
                  <a:cxn ang="0">
                    <a:pos x="20" y="19"/>
                  </a:cxn>
                  <a:cxn ang="0">
                    <a:pos x="13" y="15"/>
                  </a:cxn>
                  <a:cxn ang="0">
                    <a:pos x="9" y="7"/>
                  </a:cxn>
                  <a:cxn ang="0">
                    <a:pos x="8" y="3"/>
                  </a:cxn>
                  <a:cxn ang="0">
                    <a:pos x="7" y="1"/>
                  </a:cxn>
                  <a:cxn ang="0">
                    <a:pos x="5" y="1"/>
                  </a:cxn>
                  <a:cxn ang="0">
                    <a:pos x="3" y="5"/>
                  </a:cxn>
                </a:cxnLst>
                <a:rect l="0" t="0" r="r" b="b"/>
                <a:pathLst>
                  <a:path w="30" h="34">
                    <a:moveTo>
                      <a:pt x="5" y="5"/>
                    </a:moveTo>
                    <a:cubicBezTo>
                      <a:pt x="7" y="6"/>
                      <a:pt x="7" y="6"/>
                      <a:pt x="7" y="6"/>
                    </a:cubicBezTo>
                    <a:cubicBezTo>
                      <a:pt x="7" y="5"/>
                      <a:pt x="7" y="4"/>
                      <a:pt x="7" y="4"/>
                    </a:cubicBezTo>
                    <a:cubicBezTo>
                      <a:pt x="7" y="4"/>
                      <a:pt x="7" y="4"/>
                      <a:pt x="7" y="4"/>
                    </a:cubicBezTo>
                    <a:cubicBezTo>
                      <a:pt x="6" y="3"/>
                      <a:pt x="6" y="3"/>
                      <a:pt x="6" y="3"/>
                    </a:cubicBezTo>
                    <a:cubicBezTo>
                      <a:pt x="7" y="4"/>
                      <a:pt x="7" y="4"/>
                      <a:pt x="7" y="4"/>
                    </a:cubicBezTo>
                    <a:cubicBezTo>
                      <a:pt x="7" y="4"/>
                      <a:pt x="7" y="4"/>
                      <a:pt x="7" y="4"/>
                    </a:cubicBezTo>
                    <a:cubicBezTo>
                      <a:pt x="6" y="3"/>
                      <a:pt x="6" y="3"/>
                      <a:pt x="6" y="3"/>
                    </a:cubicBezTo>
                    <a:cubicBezTo>
                      <a:pt x="7" y="4"/>
                      <a:pt x="7" y="4"/>
                      <a:pt x="7" y="4"/>
                    </a:cubicBezTo>
                    <a:cubicBezTo>
                      <a:pt x="6" y="3"/>
                      <a:pt x="6" y="3"/>
                      <a:pt x="6" y="3"/>
                    </a:cubicBezTo>
                    <a:cubicBezTo>
                      <a:pt x="6" y="5"/>
                      <a:pt x="6" y="5"/>
                      <a:pt x="6" y="5"/>
                    </a:cubicBezTo>
                    <a:cubicBezTo>
                      <a:pt x="7" y="4"/>
                      <a:pt x="7" y="4"/>
                      <a:pt x="7" y="4"/>
                    </a:cubicBezTo>
                    <a:cubicBezTo>
                      <a:pt x="6" y="3"/>
                      <a:pt x="6" y="3"/>
                      <a:pt x="6" y="3"/>
                    </a:cubicBezTo>
                    <a:cubicBezTo>
                      <a:pt x="6" y="5"/>
                      <a:pt x="6" y="5"/>
                      <a:pt x="6" y="5"/>
                    </a:cubicBezTo>
                    <a:cubicBezTo>
                      <a:pt x="6" y="3"/>
                      <a:pt x="6" y="3"/>
                      <a:pt x="6" y="3"/>
                    </a:cubicBezTo>
                    <a:cubicBezTo>
                      <a:pt x="5" y="4"/>
                      <a:pt x="5" y="4"/>
                      <a:pt x="5" y="4"/>
                    </a:cubicBezTo>
                    <a:cubicBezTo>
                      <a:pt x="5" y="5"/>
                      <a:pt x="5" y="5"/>
                      <a:pt x="6" y="5"/>
                    </a:cubicBezTo>
                    <a:cubicBezTo>
                      <a:pt x="6" y="3"/>
                      <a:pt x="6" y="3"/>
                      <a:pt x="6" y="3"/>
                    </a:cubicBezTo>
                    <a:cubicBezTo>
                      <a:pt x="5" y="4"/>
                      <a:pt x="5" y="4"/>
                      <a:pt x="5" y="4"/>
                    </a:cubicBezTo>
                    <a:cubicBezTo>
                      <a:pt x="6" y="3"/>
                      <a:pt x="6" y="3"/>
                      <a:pt x="6" y="3"/>
                    </a:cubicBezTo>
                    <a:cubicBezTo>
                      <a:pt x="4" y="4"/>
                      <a:pt x="4" y="4"/>
                      <a:pt x="4" y="4"/>
                    </a:cubicBezTo>
                    <a:cubicBezTo>
                      <a:pt x="4" y="4"/>
                      <a:pt x="4" y="4"/>
                      <a:pt x="5" y="4"/>
                    </a:cubicBezTo>
                    <a:cubicBezTo>
                      <a:pt x="6" y="3"/>
                      <a:pt x="6" y="3"/>
                      <a:pt x="6" y="3"/>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5"/>
                      <a:pt x="5" y="6"/>
                    </a:cubicBezTo>
                    <a:cubicBezTo>
                      <a:pt x="5" y="8"/>
                      <a:pt x="5" y="8"/>
                      <a:pt x="5" y="8"/>
                    </a:cubicBezTo>
                    <a:cubicBezTo>
                      <a:pt x="5" y="10"/>
                      <a:pt x="6" y="12"/>
                      <a:pt x="7" y="14"/>
                    </a:cubicBezTo>
                    <a:cubicBezTo>
                      <a:pt x="8" y="16"/>
                      <a:pt x="9" y="18"/>
                      <a:pt x="11" y="19"/>
                    </a:cubicBezTo>
                    <a:cubicBezTo>
                      <a:pt x="15" y="21"/>
                      <a:pt x="15" y="21"/>
                      <a:pt x="15" y="21"/>
                    </a:cubicBezTo>
                    <a:cubicBezTo>
                      <a:pt x="16" y="22"/>
                      <a:pt x="17" y="23"/>
                      <a:pt x="19" y="23"/>
                    </a:cubicBezTo>
                    <a:cubicBezTo>
                      <a:pt x="20" y="24"/>
                      <a:pt x="22" y="24"/>
                      <a:pt x="23"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5" y="25"/>
                    </a:cubicBezTo>
                    <a:cubicBezTo>
                      <a:pt x="25" y="25"/>
                      <a:pt x="25" y="26"/>
                      <a:pt x="25" y="27"/>
                    </a:cubicBezTo>
                    <a:cubicBezTo>
                      <a:pt x="26" y="27"/>
                      <a:pt x="26" y="27"/>
                      <a:pt x="26" y="27"/>
                    </a:cubicBezTo>
                    <a:cubicBezTo>
                      <a:pt x="26" y="28"/>
                      <a:pt x="25" y="29"/>
                      <a:pt x="25" y="29"/>
                    </a:cubicBezTo>
                    <a:cubicBezTo>
                      <a:pt x="25" y="30"/>
                      <a:pt x="24" y="30"/>
                      <a:pt x="24" y="30"/>
                    </a:cubicBezTo>
                    <a:cubicBezTo>
                      <a:pt x="22" y="30"/>
                      <a:pt x="21" y="29"/>
                      <a:pt x="19" y="29"/>
                    </a:cubicBezTo>
                    <a:cubicBezTo>
                      <a:pt x="18" y="29"/>
                      <a:pt x="16" y="28"/>
                      <a:pt x="15" y="27"/>
                    </a:cubicBezTo>
                    <a:cubicBezTo>
                      <a:pt x="7" y="22"/>
                      <a:pt x="7" y="22"/>
                      <a:pt x="7" y="22"/>
                    </a:cubicBezTo>
                    <a:cubicBezTo>
                      <a:pt x="7" y="22"/>
                      <a:pt x="6" y="21"/>
                      <a:pt x="5" y="20"/>
                    </a:cubicBezTo>
                    <a:cubicBezTo>
                      <a:pt x="5" y="19"/>
                      <a:pt x="5" y="18"/>
                      <a:pt x="5" y="17"/>
                    </a:cubicBezTo>
                    <a:cubicBezTo>
                      <a:pt x="5" y="16"/>
                      <a:pt x="5" y="16"/>
                      <a:pt x="5" y="15"/>
                    </a:cubicBezTo>
                    <a:cubicBezTo>
                      <a:pt x="7" y="6"/>
                      <a:pt x="7" y="6"/>
                      <a:pt x="7" y="6"/>
                    </a:cubicBezTo>
                    <a:cubicBezTo>
                      <a:pt x="5" y="5"/>
                      <a:pt x="5" y="5"/>
                      <a:pt x="5" y="5"/>
                    </a:cubicBezTo>
                    <a:cubicBezTo>
                      <a:pt x="3" y="5"/>
                      <a:pt x="3" y="5"/>
                      <a:pt x="3" y="5"/>
                    </a:cubicBezTo>
                    <a:cubicBezTo>
                      <a:pt x="1" y="14"/>
                      <a:pt x="1" y="14"/>
                      <a:pt x="1" y="14"/>
                    </a:cubicBezTo>
                    <a:cubicBezTo>
                      <a:pt x="0" y="15"/>
                      <a:pt x="0" y="16"/>
                      <a:pt x="0" y="17"/>
                    </a:cubicBezTo>
                    <a:cubicBezTo>
                      <a:pt x="0" y="18"/>
                      <a:pt x="1" y="20"/>
                      <a:pt x="2" y="22"/>
                    </a:cubicBezTo>
                    <a:cubicBezTo>
                      <a:pt x="2" y="24"/>
                      <a:pt x="3" y="25"/>
                      <a:pt x="5" y="26"/>
                    </a:cubicBezTo>
                    <a:cubicBezTo>
                      <a:pt x="13" y="31"/>
                      <a:pt x="13" y="31"/>
                      <a:pt x="13" y="31"/>
                    </a:cubicBezTo>
                    <a:cubicBezTo>
                      <a:pt x="14" y="32"/>
                      <a:pt x="16" y="33"/>
                      <a:pt x="18" y="33"/>
                    </a:cubicBezTo>
                    <a:cubicBezTo>
                      <a:pt x="20" y="34"/>
                      <a:pt x="22" y="34"/>
                      <a:pt x="24" y="34"/>
                    </a:cubicBezTo>
                    <a:cubicBezTo>
                      <a:pt x="25" y="34"/>
                      <a:pt x="27" y="33"/>
                      <a:pt x="28" y="32"/>
                    </a:cubicBezTo>
                    <a:cubicBezTo>
                      <a:pt x="29" y="31"/>
                      <a:pt x="30" y="29"/>
                      <a:pt x="30" y="27"/>
                    </a:cubicBezTo>
                    <a:cubicBezTo>
                      <a:pt x="30" y="27"/>
                      <a:pt x="30" y="27"/>
                      <a:pt x="30" y="26"/>
                    </a:cubicBezTo>
                    <a:cubicBezTo>
                      <a:pt x="29" y="25"/>
                      <a:pt x="29" y="23"/>
                      <a:pt x="28" y="22"/>
                    </a:cubicBezTo>
                    <a:cubicBezTo>
                      <a:pt x="27" y="21"/>
                      <a:pt x="26" y="20"/>
                      <a:pt x="24" y="20"/>
                    </a:cubicBezTo>
                    <a:cubicBezTo>
                      <a:pt x="23" y="20"/>
                      <a:pt x="23" y="20"/>
                      <a:pt x="23" y="20"/>
                    </a:cubicBezTo>
                    <a:cubicBezTo>
                      <a:pt x="23" y="20"/>
                      <a:pt x="23" y="20"/>
                      <a:pt x="23" y="20"/>
                    </a:cubicBezTo>
                    <a:cubicBezTo>
                      <a:pt x="23" y="20"/>
                      <a:pt x="23" y="20"/>
                      <a:pt x="23" y="20"/>
                    </a:cubicBezTo>
                    <a:cubicBezTo>
                      <a:pt x="22" y="20"/>
                      <a:pt x="21" y="20"/>
                      <a:pt x="20" y="19"/>
                    </a:cubicBezTo>
                    <a:cubicBezTo>
                      <a:pt x="19" y="19"/>
                      <a:pt x="18" y="18"/>
                      <a:pt x="17" y="18"/>
                    </a:cubicBezTo>
                    <a:cubicBezTo>
                      <a:pt x="13" y="15"/>
                      <a:pt x="13" y="15"/>
                      <a:pt x="13" y="15"/>
                    </a:cubicBezTo>
                    <a:cubicBezTo>
                      <a:pt x="13" y="15"/>
                      <a:pt x="12" y="14"/>
                      <a:pt x="11" y="12"/>
                    </a:cubicBezTo>
                    <a:cubicBezTo>
                      <a:pt x="10" y="10"/>
                      <a:pt x="9" y="9"/>
                      <a:pt x="9" y="7"/>
                    </a:cubicBezTo>
                    <a:cubicBezTo>
                      <a:pt x="9" y="5"/>
                      <a:pt x="9" y="5"/>
                      <a:pt x="9" y="5"/>
                    </a:cubicBezTo>
                    <a:cubicBezTo>
                      <a:pt x="9" y="4"/>
                      <a:pt x="9" y="3"/>
                      <a:pt x="8" y="3"/>
                    </a:cubicBezTo>
                    <a:cubicBezTo>
                      <a:pt x="8" y="2"/>
                      <a:pt x="8" y="2"/>
                      <a:pt x="8" y="1"/>
                    </a:cubicBezTo>
                    <a:cubicBezTo>
                      <a:pt x="7" y="1"/>
                      <a:pt x="7" y="1"/>
                      <a:pt x="7" y="1"/>
                    </a:cubicBezTo>
                    <a:cubicBezTo>
                      <a:pt x="6" y="0"/>
                      <a:pt x="6" y="0"/>
                      <a:pt x="6" y="0"/>
                    </a:cubicBezTo>
                    <a:cubicBezTo>
                      <a:pt x="5" y="0"/>
                      <a:pt x="5" y="1"/>
                      <a:pt x="5" y="1"/>
                    </a:cubicBezTo>
                    <a:cubicBezTo>
                      <a:pt x="4" y="1"/>
                      <a:pt x="4" y="1"/>
                      <a:pt x="4" y="2"/>
                    </a:cubicBezTo>
                    <a:cubicBezTo>
                      <a:pt x="3" y="3"/>
                      <a:pt x="3" y="4"/>
                      <a:pt x="3" y="5"/>
                    </a:cubicBezTo>
                    <a:lnTo>
                      <a:pt x="5" y="5"/>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8" name="Freeform 293"/>
              <p:cNvSpPr>
                <a:spLocks/>
              </p:cNvSpPr>
              <p:nvPr/>
            </p:nvSpPr>
            <p:spPr bwMode="auto">
              <a:xfrm>
                <a:off x="-5126037" y="2482848"/>
                <a:ext cx="52388" cy="60325"/>
              </a:xfrm>
              <a:custGeom>
                <a:avLst/>
                <a:gdLst/>
                <a:ahLst/>
                <a:cxnLst>
                  <a:cxn ang="0">
                    <a:pos x="2" y="8"/>
                  </a:cxn>
                  <a:cxn ang="0">
                    <a:pos x="4" y="8"/>
                  </a:cxn>
                  <a:cxn ang="0">
                    <a:pos x="5" y="6"/>
                  </a:cxn>
                  <a:cxn ang="0">
                    <a:pos x="7" y="4"/>
                  </a:cxn>
                  <a:cxn ang="0">
                    <a:pos x="9" y="5"/>
                  </a:cxn>
                  <a:cxn ang="0">
                    <a:pos x="10" y="8"/>
                  </a:cxn>
                  <a:cxn ang="0">
                    <a:pos x="10" y="8"/>
                  </a:cxn>
                  <a:cxn ang="0">
                    <a:pos x="8" y="11"/>
                  </a:cxn>
                  <a:cxn ang="0">
                    <a:pos x="6" y="12"/>
                  </a:cxn>
                  <a:cxn ang="0">
                    <a:pos x="5" y="11"/>
                  </a:cxn>
                  <a:cxn ang="0">
                    <a:pos x="4" y="9"/>
                  </a:cxn>
                  <a:cxn ang="0">
                    <a:pos x="4" y="8"/>
                  </a:cxn>
                  <a:cxn ang="0">
                    <a:pos x="2" y="8"/>
                  </a:cxn>
                  <a:cxn ang="0">
                    <a:pos x="0" y="8"/>
                  </a:cxn>
                  <a:cxn ang="0">
                    <a:pos x="0" y="9"/>
                  </a:cxn>
                  <a:cxn ang="0">
                    <a:pos x="2" y="14"/>
                  </a:cxn>
                  <a:cxn ang="0">
                    <a:pos x="6" y="16"/>
                  </a:cxn>
                  <a:cxn ang="0">
                    <a:pos x="12" y="14"/>
                  </a:cxn>
                  <a:cxn ang="0">
                    <a:pos x="14" y="8"/>
                  </a:cxn>
                  <a:cxn ang="0">
                    <a:pos x="14" y="8"/>
                  </a:cxn>
                  <a:cxn ang="0">
                    <a:pos x="12" y="3"/>
                  </a:cxn>
                  <a:cxn ang="0">
                    <a:pos x="7" y="0"/>
                  </a:cxn>
                  <a:cxn ang="0">
                    <a:pos x="2" y="3"/>
                  </a:cxn>
                  <a:cxn ang="0">
                    <a:pos x="0" y="8"/>
                  </a:cxn>
                  <a:cxn ang="0">
                    <a:pos x="2" y="8"/>
                  </a:cxn>
                </a:cxnLst>
                <a:rect l="0" t="0" r="r" b="b"/>
                <a:pathLst>
                  <a:path w="14" h="16">
                    <a:moveTo>
                      <a:pt x="2" y="8"/>
                    </a:moveTo>
                    <a:cubicBezTo>
                      <a:pt x="4" y="8"/>
                      <a:pt x="4" y="8"/>
                      <a:pt x="4" y="8"/>
                    </a:cubicBezTo>
                    <a:cubicBezTo>
                      <a:pt x="4" y="7"/>
                      <a:pt x="5" y="6"/>
                      <a:pt x="5" y="6"/>
                    </a:cubicBezTo>
                    <a:cubicBezTo>
                      <a:pt x="6" y="5"/>
                      <a:pt x="7" y="4"/>
                      <a:pt x="7" y="4"/>
                    </a:cubicBezTo>
                    <a:cubicBezTo>
                      <a:pt x="8" y="4"/>
                      <a:pt x="8" y="5"/>
                      <a:pt x="9" y="5"/>
                    </a:cubicBezTo>
                    <a:cubicBezTo>
                      <a:pt x="9" y="6"/>
                      <a:pt x="10" y="7"/>
                      <a:pt x="10" y="8"/>
                    </a:cubicBezTo>
                    <a:cubicBezTo>
                      <a:pt x="10" y="8"/>
                      <a:pt x="10" y="8"/>
                      <a:pt x="10" y="8"/>
                    </a:cubicBezTo>
                    <a:cubicBezTo>
                      <a:pt x="10" y="9"/>
                      <a:pt x="9" y="10"/>
                      <a:pt x="8" y="11"/>
                    </a:cubicBezTo>
                    <a:cubicBezTo>
                      <a:pt x="8" y="12"/>
                      <a:pt x="7" y="12"/>
                      <a:pt x="6" y="12"/>
                    </a:cubicBezTo>
                    <a:cubicBezTo>
                      <a:pt x="6" y="12"/>
                      <a:pt x="5" y="12"/>
                      <a:pt x="5" y="11"/>
                    </a:cubicBezTo>
                    <a:cubicBezTo>
                      <a:pt x="4" y="11"/>
                      <a:pt x="4" y="10"/>
                      <a:pt x="4" y="9"/>
                    </a:cubicBezTo>
                    <a:cubicBezTo>
                      <a:pt x="4" y="8"/>
                      <a:pt x="4" y="8"/>
                      <a:pt x="4" y="8"/>
                    </a:cubicBezTo>
                    <a:cubicBezTo>
                      <a:pt x="2" y="8"/>
                      <a:pt x="2" y="8"/>
                      <a:pt x="2" y="8"/>
                    </a:cubicBezTo>
                    <a:cubicBezTo>
                      <a:pt x="0" y="8"/>
                      <a:pt x="0" y="8"/>
                      <a:pt x="0" y="8"/>
                    </a:cubicBezTo>
                    <a:cubicBezTo>
                      <a:pt x="0" y="9"/>
                      <a:pt x="0" y="9"/>
                      <a:pt x="0" y="9"/>
                    </a:cubicBezTo>
                    <a:cubicBezTo>
                      <a:pt x="0" y="11"/>
                      <a:pt x="0" y="13"/>
                      <a:pt x="2" y="14"/>
                    </a:cubicBezTo>
                    <a:cubicBezTo>
                      <a:pt x="3" y="15"/>
                      <a:pt x="4" y="16"/>
                      <a:pt x="6" y="16"/>
                    </a:cubicBezTo>
                    <a:cubicBezTo>
                      <a:pt x="9" y="16"/>
                      <a:pt x="10" y="15"/>
                      <a:pt x="12" y="14"/>
                    </a:cubicBezTo>
                    <a:cubicBezTo>
                      <a:pt x="13" y="12"/>
                      <a:pt x="14" y="11"/>
                      <a:pt x="14" y="8"/>
                    </a:cubicBezTo>
                    <a:cubicBezTo>
                      <a:pt x="14" y="8"/>
                      <a:pt x="14" y="8"/>
                      <a:pt x="14" y="8"/>
                    </a:cubicBezTo>
                    <a:cubicBezTo>
                      <a:pt x="14" y="6"/>
                      <a:pt x="13" y="4"/>
                      <a:pt x="12" y="3"/>
                    </a:cubicBezTo>
                    <a:cubicBezTo>
                      <a:pt x="11" y="1"/>
                      <a:pt x="9" y="0"/>
                      <a:pt x="7" y="0"/>
                    </a:cubicBezTo>
                    <a:cubicBezTo>
                      <a:pt x="5" y="0"/>
                      <a:pt x="3" y="1"/>
                      <a:pt x="2" y="3"/>
                    </a:cubicBezTo>
                    <a:cubicBezTo>
                      <a:pt x="1" y="4"/>
                      <a:pt x="0" y="6"/>
                      <a:pt x="0" y="8"/>
                    </a:cubicBezTo>
                    <a:lnTo>
                      <a:pt x="2" y="8"/>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9" name="Freeform 294"/>
              <p:cNvSpPr>
                <a:spLocks/>
              </p:cNvSpPr>
              <p:nvPr/>
            </p:nvSpPr>
            <p:spPr bwMode="auto">
              <a:xfrm>
                <a:off x="-4845050" y="3506786"/>
                <a:ext cx="117475" cy="98425"/>
              </a:xfrm>
              <a:custGeom>
                <a:avLst/>
                <a:gdLst/>
                <a:ahLst/>
                <a:cxnLst>
                  <a:cxn ang="0">
                    <a:pos x="4" y="6"/>
                  </a:cxn>
                  <a:cxn ang="0">
                    <a:pos x="5" y="4"/>
                  </a:cxn>
                  <a:cxn ang="0">
                    <a:pos x="4" y="4"/>
                  </a:cxn>
                  <a:cxn ang="0">
                    <a:pos x="4" y="3"/>
                  </a:cxn>
                  <a:cxn ang="0">
                    <a:pos x="4" y="4"/>
                  </a:cxn>
                  <a:cxn ang="0">
                    <a:pos x="4" y="4"/>
                  </a:cxn>
                  <a:cxn ang="0">
                    <a:pos x="4" y="3"/>
                  </a:cxn>
                  <a:cxn ang="0">
                    <a:pos x="4" y="4"/>
                  </a:cxn>
                  <a:cxn ang="0">
                    <a:pos x="4" y="4"/>
                  </a:cxn>
                  <a:cxn ang="0">
                    <a:pos x="3" y="4"/>
                  </a:cxn>
                  <a:cxn ang="0">
                    <a:pos x="4" y="5"/>
                  </a:cxn>
                  <a:cxn ang="0">
                    <a:pos x="4" y="4"/>
                  </a:cxn>
                  <a:cxn ang="0">
                    <a:pos x="3" y="4"/>
                  </a:cxn>
                  <a:cxn ang="0">
                    <a:pos x="4" y="5"/>
                  </a:cxn>
                  <a:cxn ang="0">
                    <a:pos x="3" y="4"/>
                  </a:cxn>
                  <a:cxn ang="0">
                    <a:pos x="4" y="5"/>
                  </a:cxn>
                  <a:cxn ang="0">
                    <a:pos x="4" y="5"/>
                  </a:cxn>
                  <a:cxn ang="0">
                    <a:pos x="3" y="4"/>
                  </a:cxn>
                  <a:cxn ang="0">
                    <a:pos x="4" y="5"/>
                  </a:cxn>
                  <a:cxn ang="0">
                    <a:pos x="4" y="5"/>
                  </a:cxn>
                  <a:cxn ang="0">
                    <a:pos x="4" y="5"/>
                  </a:cxn>
                  <a:cxn ang="0">
                    <a:pos x="15" y="6"/>
                  </a:cxn>
                  <a:cxn ang="0">
                    <a:pos x="18" y="8"/>
                  </a:cxn>
                  <a:cxn ang="0">
                    <a:pos x="22" y="11"/>
                  </a:cxn>
                  <a:cxn ang="0">
                    <a:pos x="26" y="17"/>
                  </a:cxn>
                  <a:cxn ang="0">
                    <a:pos x="27" y="19"/>
                  </a:cxn>
                  <a:cxn ang="0">
                    <a:pos x="26" y="21"/>
                  </a:cxn>
                  <a:cxn ang="0">
                    <a:pos x="25" y="22"/>
                  </a:cxn>
                  <a:cxn ang="0">
                    <a:pos x="21" y="20"/>
                  </a:cxn>
                  <a:cxn ang="0">
                    <a:pos x="5" y="4"/>
                  </a:cxn>
                  <a:cxn ang="0">
                    <a:pos x="4" y="6"/>
                  </a:cxn>
                  <a:cxn ang="0">
                    <a:pos x="2" y="7"/>
                  </a:cxn>
                  <a:cxn ang="0">
                    <a:pos x="18" y="23"/>
                  </a:cxn>
                  <a:cxn ang="0">
                    <a:pos x="25" y="26"/>
                  </a:cxn>
                  <a:cxn ang="0">
                    <a:pos x="29" y="25"/>
                  </a:cxn>
                  <a:cxn ang="0">
                    <a:pos x="31" y="19"/>
                  </a:cxn>
                  <a:cxn ang="0">
                    <a:pos x="30" y="14"/>
                  </a:cxn>
                  <a:cxn ang="0">
                    <a:pos x="25" y="9"/>
                  </a:cxn>
                  <a:cxn ang="0">
                    <a:pos x="21" y="4"/>
                  </a:cxn>
                  <a:cxn ang="0">
                    <a:pos x="15" y="2"/>
                  </a:cxn>
                  <a:cxn ang="0">
                    <a:pos x="5" y="1"/>
                  </a:cxn>
                  <a:cxn ang="0">
                    <a:pos x="4" y="0"/>
                  </a:cxn>
                  <a:cxn ang="0">
                    <a:pos x="1" y="1"/>
                  </a:cxn>
                  <a:cxn ang="0">
                    <a:pos x="0" y="4"/>
                  </a:cxn>
                  <a:cxn ang="0">
                    <a:pos x="1" y="6"/>
                  </a:cxn>
                  <a:cxn ang="0">
                    <a:pos x="2" y="7"/>
                  </a:cxn>
                  <a:cxn ang="0">
                    <a:pos x="4" y="6"/>
                  </a:cxn>
                </a:cxnLst>
                <a:rect l="0" t="0" r="r" b="b"/>
                <a:pathLst>
                  <a:path w="31" h="26">
                    <a:moveTo>
                      <a:pt x="4" y="6"/>
                    </a:moveTo>
                    <a:cubicBezTo>
                      <a:pt x="5" y="4"/>
                      <a:pt x="5" y="4"/>
                      <a:pt x="5" y="4"/>
                    </a:cubicBezTo>
                    <a:cubicBezTo>
                      <a:pt x="5" y="4"/>
                      <a:pt x="5" y="4"/>
                      <a:pt x="4" y="4"/>
                    </a:cubicBezTo>
                    <a:cubicBezTo>
                      <a:pt x="4" y="3"/>
                      <a:pt x="4" y="3"/>
                      <a:pt x="4" y="3"/>
                    </a:cubicBezTo>
                    <a:cubicBezTo>
                      <a:pt x="4" y="4"/>
                      <a:pt x="4" y="4"/>
                      <a:pt x="4" y="4"/>
                    </a:cubicBezTo>
                    <a:cubicBezTo>
                      <a:pt x="4" y="4"/>
                      <a:pt x="4" y="4"/>
                      <a:pt x="4" y="4"/>
                    </a:cubicBezTo>
                    <a:cubicBezTo>
                      <a:pt x="4" y="3"/>
                      <a:pt x="4" y="3"/>
                      <a:pt x="4" y="3"/>
                    </a:cubicBezTo>
                    <a:cubicBezTo>
                      <a:pt x="4" y="4"/>
                      <a:pt x="4" y="4"/>
                      <a:pt x="4" y="4"/>
                    </a:cubicBezTo>
                    <a:cubicBezTo>
                      <a:pt x="4" y="4"/>
                      <a:pt x="4" y="4"/>
                      <a:pt x="4" y="4"/>
                    </a:cubicBezTo>
                    <a:cubicBezTo>
                      <a:pt x="3" y="4"/>
                      <a:pt x="3" y="4"/>
                      <a:pt x="3" y="4"/>
                    </a:cubicBezTo>
                    <a:cubicBezTo>
                      <a:pt x="4" y="5"/>
                      <a:pt x="4" y="5"/>
                      <a:pt x="4" y="5"/>
                    </a:cubicBezTo>
                    <a:cubicBezTo>
                      <a:pt x="4" y="4"/>
                      <a:pt x="4" y="4"/>
                      <a:pt x="4" y="4"/>
                    </a:cubicBezTo>
                    <a:cubicBezTo>
                      <a:pt x="3" y="4"/>
                      <a:pt x="3" y="4"/>
                      <a:pt x="3" y="4"/>
                    </a:cubicBezTo>
                    <a:cubicBezTo>
                      <a:pt x="4" y="5"/>
                      <a:pt x="4" y="5"/>
                      <a:pt x="4" y="5"/>
                    </a:cubicBezTo>
                    <a:cubicBezTo>
                      <a:pt x="3" y="4"/>
                      <a:pt x="3" y="4"/>
                      <a:pt x="3" y="4"/>
                    </a:cubicBezTo>
                    <a:cubicBezTo>
                      <a:pt x="4" y="5"/>
                      <a:pt x="4" y="5"/>
                      <a:pt x="4" y="5"/>
                    </a:cubicBezTo>
                    <a:cubicBezTo>
                      <a:pt x="4" y="5"/>
                      <a:pt x="4" y="5"/>
                      <a:pt x="4" y="5"/>
                    </a:cubicBezTo>
                    <a:cubicBezTo>
                      <a:pt x="3" y="4"/>
                      <a:pt x="3" y="4"/>
                      <a:pt x="3" y="4"/>
                    </a:cubicBezTo>
                    <a:cubicBezTo>
                      <a:pt x="4" y="5"/>
                      <a:pt x="4" y="5"/>
                      <a:pt x="4" y="5"/>
                    </a:cubicBezTo>
                    <a:cubicBezTo>
                      <a:pt x="4" y="5"/>
                      <a:pt x="4" y="5"/>
                      <a:pt x="4" y="5"/>
                    </a:cubicBezTo>
                    <a:cubicBezTo>
                      <a:pt x="4" y="5"/>
                      <a:pt x="4" y="5"/>
                      <a:pt x="4" y="5"/>
                    </a:cubicBezTo>
                    <a:cubicBezTo>
                      <a:pt x="15" y="6"/>
                      <a:pt x="15" y="6"/>
                      <a:pt x="15" y="6"/>
                    </a:cubicBezTo>
                    <a:cubicBezTo>
                      <a:pt x="16" y="7"/>
                      <a:pt x="17" y="7"/>
                      <a:pt x="18" y="8"/>
                    </a:cubicBezTo>
                    <a:cubicBezTo>
                      <a:pt x="20" y="9"/>
                      <a:pt x="21" y="10"/>
                      <a:pt x="22" y="11"/>
                    </a:cubicBezTo>
                    <a:cubicBezTo>
                      <a:pt x="26" y="17"/>
                      <a:pt x="26" y="17"/>
                      <a:pt x="26" y="17"/>
                    </a:cubicBezTo>
                    <a:cubicBezTo>
                      <a:pt x="27" y="18"/>
                      <a:pt x="27" y="18"/>
                      <a:pt x="27" y="19"/>
                    </a:cubicBezTo>
                    <a:cubicBezTo>
                      <a:pt x="27" y="20"/>
                      <a:pt x="27" y="21"/>
                      <a:pt x="26" y="21"/>
                    </a:cubicBezTo>
                    <a:cubicBezTo>
                      <a:pt x="25" y="22"/>
                      <a:pt x="25" y="22"/>
                      <a:pt x="25" y="22"/>
                    </a:cubicBezTo>
                    <a:cubicBezTo>
                      <a:pt x="23" y="22"/>
                      <a:pt x="22" y="21"/>
                      <a:pt x="21" y="20"/>
                    </a:cubicBezTo>
                    <a:cubicBezTo>
                      <a:pt x="5" y="4"/>
                      <a:pt x="5" y="4"/>
                      <a:pt x="5" y="4"/>
                    </a:cubicBezTo>
                    <a:cubicBezTo>
                      <a:pt x="4" y="6"/>
                      <a:pt x="4" y="6"/>
                      <a:pt x="4" y="6"/>
                    </a:cubicBezTo>
                    <a:cubicBezTo>
                      <a:pt x="2" y="7"/>
                      <a:pt x="2" y="7"/>
                      <a:pt x="2" y="7"/>
                    </a:cubicBezTo>
                    <a:cubicBezTo>
                      <a:pt x="18" y="23"/>
                      <a:pt x="18" y="23"/>
                      <a:pt x="18" y="23"/>
                    </a:cubicBezTo>
                    <a:cubicBezTo>
                      <a:pt x="20" y="25"/>
                      <a:pt x="22" y="26"/>
                      <a:pt x="25" y="26"/>
                    </a:cubicBezTo>
                    <a:cubicBezTo>
                      <a:pt x="26" y="26"/>
                      <a:pt x="28" y="25"/>
                      <a:pt x="29" y="25"/>
                    </a:cubicBezTo>
                    <a:cubicBezTo>
                      <a:pt x="31" y="23"/>
                      <a:pt x="31" y="21"/>
                      <a:pt x="31" y="19"/>
                    </a:cubicBezTo>
                    <a:cubicBezTo>
                      <a:pt x="31" y="17"/>
                      <a:pt x="31" y="16"/>
                      <a:pt x="30" y="14"/>
                    </a:cubicBezTo>
                    <a:cubicBezTo>
                      <a:pt x="25" y="9"/>
                      <a:pt x="25" y="9"/>
                      <a:pt x="25" y="9"/>
                    </a:cubicBezTo>
                    <a:cubicBezTo>
                      <a:pt x="24" y="7"/>
                      <a:pt x="23" y="6"/>
                      <a:pt x="21" y="4"/>
                    </a:cubicBezTo>
                    <a:cubicBezTo>
                      <a:pt x="19" y="3"/>
                      <a:pt x="17" y="2"/>
                      <a:pt x="15" y="2"/>
                    </a:cubicBezTo>
                    <a:cubicBezTo>
                      <a:pt x="5" y="1"/>
                      <a:pt x="5" y="1"/>
                      <a:pt x="5" y="1"/>
                    </a:cubicBezTo>
                    <a:cubicBezTo>
                      <a:pt x="4" y="0"/>
                      <a:pt x="4" y="0"/>
                      <a:pt x="4" y="0"/>
                    </a:cubicBezTo>
                    <a:cubicBezTo>
                      <a:pt x="3" y="0"/>
                      <a:pt x="2" y="1"/>
                      <a:pt x="1" y="1"/>
                    </a:cubicBezTo>
                    <a:cubicBezTo>
                      <a:pt x="1" y="2"/>
                      <a:pt x="0" y="3"/>
                      <a:pt x="0" y="4"/>
                    </a:cubicBezTo>
                    <a:cubicBezTo>
                      <a:pt x="0" y="4"/>
                      <a:pt x="0" y="5"/>
                      <a:pt x="1" y="6"/>
                    </a:cubicBezTo>
                    <a:cubicBezTo>
                      <a:pt x="2" y="7"/>
                      <a:pt x="2" y="7"/>
                      <a:pt x="2" y="7"/>
                    </a:cubicBezTo>
                    <a:lnTo>
                      <a:pt x="4" y="6"/>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0" name="Freeform 295"/>
              <p:cNvSpPr>
                <a:spLocks/>
              </p:cNvSpPr>
              <p:nvPr/>
            </p:nvSpPr>
            <p:spPr bwMode="auto">
              <a:xfrm>
                <a:off x="-4454525" y="2663823"/>
                <a:ext cx="95250" cy="57150"/>
              </a:xfrm>
              <a:custGeom>
                <a:avLst/>
                <a:gdLst/>
                <a:ahLst/>
                <a:cxnLst>
                  <a:cxn ang="0">
                    <a:pos x="3" y="7"/>
                  </a:cxn>
                  <a:cxn ang="0">
                    <a:pos x="5" y="7"/>
                  </a:cxn>
                  <a:cxn ang="0">
                    <a:pos x="5" y="6"/>
                  </a:cxn>
                  <a:cxn ang="0">
                    <a:pos x="5" y="4"/>
                  </a:cxn>
                  <a:cxn ang="0">
                    <a:pos x="7" y="4"/>
                  </a:cxn>
                  <a:cxn ang="0">
                    <a:pos x="17" y="4"/>
                  </a:cxn>
                  <a:cxn ang="0">
                    <a:pos x="19" y="5"/>
                  </a:cxn>
                  <a:cxn ang="0">
                    <a:pos x="20" y="7"/>
                  </a:cxn>
                  <a:cxn ang="0">
                    <a:pos x="20" y="8"/>
                  </a:cxn>
                  <a:cxn ang="0">
                    <a:pos x="20" y="10"/>
                  </a:cxn>
                  <a:cxn ang="0">
                    <a:pos x="18" y="11"/>
                  </a:cxn>
                  <a:cxn ang="0">
                    <a:pos x="9" y="11"/>
                  </a:cxn>
                  <a:cxn ang="0">
                    <a:pos x="6" y="10"/>
                  </a:cxn>
                  <a:cxn ang="0">
                    <a:pos x="5" y="7"/>
                  </a:cxn>
                  <a:cxn ang="0">
                    <a:pos x="3" y="7"/>
                  </a:cxn>
                  <a:cxn ang="0">
                    <a:pos x="1" y="8"/>
                  </a:cxn>
                  <a:cxn ang="0">
                    <a:pos x="4" y="13"/>
                  </a:cxn>
                  <a:cxn ang="0">
                    <a:pos x="9" y="15"/>
                  </a:cxn>
                  <a:cxn ang="0">
                    <a:pos x="18" y="15"/>
                  </a:cxn>
                  <a:cxn ang="0">
                    <a:pos x="23" y="13"/>
                  </a:cxn>
                  <a:cxn ang="0">
                    <a:pos x="25" y="8"/>
                  </a:cxn>
                  <a:cxn ang="0">
                    <a:pos x="25" y="7"/>
                  </a:cxn>
                  <a:cxn ang="0">
                    <a:pos x="22" y="2"/>
                  </a:cxn>
                  <a:cxn ang="0">
                    <a:pos x="17" y="0"/>
                  </a:cxn>
                  <a:cxn ang="0">
                    <a:pos x="7" y="0"/>
                  </a:cxn>
                  <a:cxn ang="0">
                    <a:pos x="2" y="1"/>
                  </a:cxn>
                  <a:cxn ang="0">
                    <a:pos x="0" y="6"/>
                  </a:cxn>
                  <a:cxn ang="0">
                    <a:pos x="1" y="8"/>
                  </a:cxn>
                  <a:cxn ang="0">
                    <a:pos x="3" y="7"/>
                  </a:cxn>
                </a:cxnLst>
                <a:rect l="0" t="0" r="r" b="b"/>
                <a:pathLst>
                  <a:path w="25" h="15">
                    <a:moveTo>
                      <a:pt x="3" y="7"/>
                    </a:moveTo>
                    <a:cubicBezTo>
                      <a:pt x="5" y="7"/>
                      <a:pt x="5" y="7"/>
                      <a:pt x="5" y="7"/>
                    </a:cubicBezTo>
                    <a:cubicBezTo>
                      <a:pt x="5" y="6"/>
                      <a:pt x="5" y="6"/>
                      <a:pt x="5" y="6"/>
                    </a:cubicBezTo>
                    <a:cubicBezTo>
                      <a:pt x="5" y="5"/>
                      <a:pt x="5" y="5"/>
                      <a:pt x="5" y="4"/>
                    </a:cubicBezTo>
                    <a:cubicBezTo>
                      <a:pt x="6" y="4"/>
                      <a:pt x="6" y="4"/>
                      <a:pt x="7" y="4"/>
                    </a:cubicBezTo>
                    <a:cubicBezTo>
                      <a:pt x="17" y="4"/>
                      <a:pt x="17" y="4"/>
                      <a:pt x="17" y="4"/>
                    </a:cubicBezTo>
                    <a:cubicBezTo>
                      <a:pt x="18" y="4"/>
                      <a:pt x="18" y="4"/>
                      <a:pt x="19" y="5"/>
                    </a:cubicBezTo>
                    <a:cubicBezTo>
                      <a:pt x="20" y="6"/>
                      <a:pt x="20" y="6"/>
                      <a:pt x="20" y="7"/>
                    </a:cubicBezTo>
                    <a:cubicBezTo>
                      <a:pt x="20" y="8"/>
                      <a:pt x="20" y="8"/>
                      <a:pt x="20" y="8"/>
                    </a:cubicBezTo>
                    <a:cubicBezTo>
                      <a:pt x="20" y="9"/>
                      <a:pt x="20" y="9"/>
                      <a:pt x="20" y="10"/>
                    </a:cubicBezTo>
                    <a:cubicBezTo>
                      <a:pt x="19" y="10"/>
                      <a:pt x="19" y="11"/>
                      <a:pt x="18" y="11"/>
                    </a:cubicBezTo>
                    <a:cubicBezTo>
                      <a:pt x="9" y="11"/>
                      <a:pt x="9" y="11"/>
                      <a:pt x="9" y="11"/>
                    </a:cubicBezTo>
                    <a:cubicBezTo>
                      <a:pt x="8" y="11"/>
                      <a:pt x="7" y="10"/>
                      <a:pt x="6" y="10"/>
                    </a:cubicBezTo>
                    <a:cubicBezTo>
                      <a:pt x="6" y="9"/>
                      <a:pt x="5" y="8"/>
                      <a:pt x="5" y="7"/>
                    </a:cubicBezTo>
                    <a:cubicBezTo>
                      <a:pt x="3" y="7"/>
                      <a:pt x="3" y="7"/>
                      <a:pt x="3" y="7"/>
                    </a:cubicBezTo>
                    <a:cubicBezTo>
                      <a:pt x="1" y="8"/>
                      <a:pt x="1" y="8"/>
                      <a:pt x="1" y="8"/>
                    </a:cubicBezTo>
                    <a:cubicBezTo>
                      <a:pt x="1" y="10"/>
                      <a:pt x="2" y="11"/>
                      <a:pt x="4" y="13"/>
                    </a:cubicBezTo>
                    <a:cubicBezTo>
                      <a:pt x="5" y="14"/>
                      <a:pt x="7" y="15"/>
                      <a:pt x="9" y="15"/>
                    </a:cubicBezTo>
                    <a:cubicBezTo>
                      <a:pt x="18" y="15"/>
                      <a:pt x="18" y="15"/>
                      <a:pt x="18" y="15"/>
                    </a:cubicBezTo>
                    <a:cubicBezTo>
                      <a:pt x="20" y="15"/>
                      <a:pt x="22" y="14"/>
                      <a:pt x="23" y="13"/>
                    </a:cubicBezTo>
                    <a:cubicBezTo>
                      <a:pt x="24" y="12"/>
                      <a:pt x="25" y="10"/>
                      <a:pt x="25" y="8"/>
                    </a:cubicBezTo>
                    <a:cubicBezTo>
                      <a:pt x="25" y="7"/>
                      <a:pt x="25" y="7"/>
                      <a:pt x="25" y="7"/>
                    </a:cubicBezTo>
                    <a:cubicBezTo>
                      <a:pt x="24" y="5"/>
                      <a:pt x="24" y="3"/>
                      <a:pt x="22" y="2"/>
                    </a:cubicBezTo>
                    <a:cubicBezTo>
                      <a:pt x="21" y="0"/>
                      <a:pt x="19" y="0"/>
                      <a:pt x="17" y="0"/>
                    </a:cubicBezTo>
                    <a:cubicBezTo>
                      <a:pt x="7" y="0"/>
                      <a:pt x="7" y="0"/>
                      <a:pt x="7" y="0"/>
                    </a:cubicBezTo>
                    <a:cubicBezTo>
                      <a:pt x="5" y="0"/>
                      <a:pt x="3" y="0"/>
                      <a:pt x="2" y="1"/>
                    </a:cubicBezTo>
                    <a:cubicBezTo>
                      <a:pt x="1" y="3"/>
                      <a:pt x="0" y="4"/>
                      <a:pt x="0" y="6"/>
                    </a:cubicBezTo>
                    <a:cubicBezTo>
                      <a:pt x="0" y="7"/>
                      <a:pt x="0" y="7"/>
                      <a:pt x="1" y="8"/>
                    </a:cubicBezTo>
                    <a:lnTo>
                      <a:pt x="3" y="7"/>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1" name="Freeform 296"/>
              <p:cNvSpPr>
                <a:spLocks/>
              </p:cNvSpPr>
              <p:nvPr/>
            </p:nvSpPr>
            <p:spPr bwMode="auto">
              <a:xfrm>
                <a:off x="-3432175" y="2822573"/>
                <a:ext cx="87313" cy="165100"/>
              </a:xfrm>
              <a:custGeom>
                <a:avLst/>
                <a:gdLst/>
                <a:ahLst/>
                <a:cxnLst>
                  <a:cxn ang="0">
                    <a:pos x="3" y="9"/>
                  </a:cxn>
                  <a:cxn ang="0">
                    <a:pos x="1" y="15"/>
                  </a:cxn>
                  <a:cxn ang="0">
                    <a:pos x="6" y="21"/>
                  </a:cxn>
                  <a:cxn ang="0">
                    <a:pos x="6" y="23"/>
                  </a:cxn>
                  <a:cxn ang="0">
                    <a:pos x="2" y="34"/>
                  </a:cxn>
                  <a:cxn ang="0">
                    <a:pos x="0" y="40"/>
                  </a:cxn>
                  <a:cxn ang="0">
                    <a:pos x="0" y="42"/>
                  </a:cxn>
                  <a:cxn ang="0">
                    <a:pos x="2" y="44"/>
                  </a:cxn>
                  <a:cxn ang="0">
                    <a:pos x="4" y="43"/>
                  </a:cxn>
                  <a:cxn ang="0">
                    <a:pos x="15" y="37"/>
                  </a:cxn>
                  <a:cxn ang="0">
                    <a:pos x="23" y="24"/>
                  </a:cxn>
                  <a:cxn ang="0">
                    <a:pos x="14" y="7"/>
                  </a:cxn>
                  <a:cxn ang="0">
                    <a:pos x="12" y="4"/>
                  </a:cxn>
                  <a:cxn ang="0">
                    <a:pos x="12" y="4"/>
                  </a:cxn>
                  <a:cxn ang="0">
                    <a:pos x="12" y="4"/>
                  </a:cxn>
                  <a:cxn ang="0">
                    <a:pos x="12" y="4"/>
                  </a:cxn>
                  <a:cxn ang="0">
                    <a:pos x="12" y="4"/>
                  </a:cxn>
                  <a:cxn ang="0">
                    <a:pos x="12" y="3"/>
                  </a:cxn>
                  <a:cxn ang="0">
                    <a:pos x="10" y="0"/>
                  </a:cxn>
                  <a:cxn ang="0">
                    <a:pos x="4" y="4"/>
                  </a:cxn>
                  <a:cxn ang="0">
                    <a:pos x="5" y="9"/>
                  </a:cxn>
                  <a:cxn ang="0">
                    <a:pos x="8" y="6"/>
                  </a:cxn>
                  <a:cxn ang="0">
                    <a:pos x="10" y="5"/>
                  </a:cxn>
                  <a:cxn ang="0">
                    <a:pos x="10" y="4"/>
                  </a:cxn>
                  <a:cxn ang="0">
                    <a:pos x="10" y="5"/>
                  </a:cxn>
                  <a:cxn ang="0">
                    <a:pos x="10" y="5"/>
                  </a:cxn>
                  <a:cxn ang="0">
                    <a:pos x="9" y="4"/>
                  </a:cxn>
                  <a:cxn ang="0">
                    <a:pos x="10" y="3"/>
                  </a:cxn>
                  <a:cxn ang="0">
                    <a:pos x="10" y="3"/>
                  </a:cxn>
                  <a:cxn ang="0">
                    <a:pos x="9" y="4"/>
                  </a:cxn>
                  <a:cxn ang="0">
                    <a:pos x="8" y="3"/>
                  </a:cxn>
                  <a:cxn ang="0">
                    <a:pos x="8" y="3"/>
                  </a:cxn>
                  <a:cxn ang="0">
                    <a:pos x="9" y="3"/>
                  </a:cxn>
                  <a:cxn ang="0">
                    <a:pos x="8" y="3"/>
                  </a:cxn>
                  <a:cxn ang="0">
                    <a:pos x="9" y="7"/>
                  </a:cxn>
                  <a:cxn ang="0">
                    <a:pos x="19" y="24"/>
                  </a:cxn>
                  <a:cxn ang="0">
                    <a:pos x="10" y="35"/>
                  </a:cxn>
                  <a:cxn ang="0">
                    <a:pos x="2" y="40"/>
                  </a:cxn>
                  <a:cxn ang="0">
                    <a:pos x="2" y="41"/>
                  </a:cxn>
                  <a:cxn ang="0">
                    <a:pos x="2" y="40"/>
                  </a:cxn>
                  <a:cxn ang="0">
                    <a:pos x="2" y="40"/>
                  </a:cxn>
                  <a:cxn ang="0">
                    <a:pos x="4" y="41"/>
                  </a:cxn>
                  <a:cxn ang="0">
                    <a:pos x="2" y="42"/>
                  </a:cxn>
                  <a:cxn ang="0">
                    <a:pos x="2" y="42"/>
                  </a:cxn>
                  <a:cxn ang="0">
                    <a:pos x="4" y="41"/>
                  </a:cxn>
                  <a:cxn ang="0">
                    <a:pos x="4" y="42"/>
                  </a:cxn>
                  <a:cxn ang="0">
                    <a:pos x="4" y="42"/>
                  </a:cxn>
                  <a:cxn ang="0">
                    <a:pos x="3" y="42"/>
                  </a:cxn>
                  <a:cxn ang="0">
                    <a:pos x="5" y="41"/>
                  </a:cxn>
                  <a:cxn ang="0">
                    <a:pos x="7" y="34"/>
                  </a:cxn>
                  <a:cxn ang="0">
                    <a:pos x="10" y="23"/>
                  </a:cxn>
                  <a:cxn ang="0">
                    <a:pos x="9" y="18"/>
                  </a:cxn>
                  <a:cxn ang="0">
                    <a:pos x="6" y="16"/>
                  </a:cxn>
                  <a:cxn ang="0">
                    <a:pos x="6" y="13"/>
                  </a:cxn>
                  <a:cxn ang="0">
                    <a:pos x="5" y="9"/>
                  </a:cxn>
                </a:cxnLst>
                <a:rect l="0" t="0" r="r" b="b"/>
                <a:pathLst>
                  <a:path w="23" h="44">
                    <a:moveTo>
                      <a:pt x="5" y="9"/>
                    </a:moveTo>
                    <a:cubicBezTo>
                      <a:pt x="3" y="9"/>
                      <a:pt x="3" y="9"/>
                      <a:pt x="3" y="9"/>
                    </a:cubicBezTo>
                    <a:cubicBezTo>
                      <a:pt x="3" y="10"/>
                      <a:pt x="2" y="11"/>
                      <a:pt x="2" y="11"/>
                    </a:cubicBezTo>
                    <a:cubicBezTo>
                      <a:pt x="2" y="12"/>
                      <a:pt x="1" y="13"/>
                      <a:pt x="1" y="15"/>
                    </a:cubicBezTo>
                    <a:cubicBezTo>
                      <a:pt x="1" y="16"/>
                      <a:pt x="2" y="18"/>
                      <a:pt x="3" y="19"/>
                    </a:cubicBezTo>
                    <a:cubicBezTo>
                      <a:pt x="4" y="20"/>
                      <a:pt x="5" y="21"/>
                      <a:pt x="6" y="21"/>
                    </a:cubicBezTo>
                    <a:cubicBezTo>
                      <a:pt x="6" y="21"/>
                      <a:pt x="6" y="21"/>
                      <a:pt x="6" y="21"/>
                    </a:cubicBezTo>
                    <a:cubicBezTo>
                      <a:pt x="6" y="22"/>
                      <a:pt x="6" y="22"/>
                      <a:pt x="6" y="23"/>
                    </a:cubicBezTo>
                    <a:cubicBezTo>
                      <a:pt x="6" y="24"/>
                      <a:pt x="5" y="26"/>
                      <a:pt x="4" y="28"/>
                    </a:cubicBezTo>
                    <a:cubicBezTo>
                      <a:pt x="3" y="30"/>
                      <a:pt x="2" y="32"/>
                      <a:pt x="2" y="34"/>
                    </a:cubicBezTo>
                    <a:cubicBezTo>
                      <a:pt x="2" y="35"/>
                      <a:pt x="2" y="36"/>
                      <a:pt x="1" y="38"/>
                    </a:cubicBezTo>
                    <a:cubicBezTo>
                      <a:pt x="1" y="38"/>
                      <a:pt x="1" y="39"/>
                      <a:pt x="0" y="40"/>
                    </a:cubicBezTo>
                    <a:cubicBezTo>
                      <a:pt x="0" y="41"/>
                      <a:pt x="0" y="41"/>
                      <a:pt x="0" y="41"/>
                    </a:cubicBezTo>
                    <a:cubicBezTo>
                      <a:pt x="0" y="41"/>
                      <a:pt x="0" y="41"/>
                      <a:pt x="0" y="42"/>
                    </a:cubicBezTo>
                    <a:cubicBezTo>
                      <a:pt x="0" y="43"/>
                      <a:pt x="0" y="43"/>
                      <a:pt x="0" y="43"/>
                    </a:cubicBezTo>
                    <a:cubicBezTo>
                      <a:pt x="1" y="44"/>
                      <a:pt x="2" y="44"/>
                      <a:pt x="2" y="44"/>
                    </a:cubicBezTo>
                    <a:cubicBezTo>
                      <a:pt x="3" y="44"/>
                      <a:pt x="3" y="44"/>
                      <a:pt x="3" y="44"/>
                    </a:cubicBezTo>
                    <a:cubicBezTo>
                      <a:pt x="4" y="43"/>
                      <a:pt x="4" y="43"/>
                      <a:pt x="4" y="43"/>
                    </a:cubicBezTo>
                    <a:cubicBezTo>
                      <a:pt x="5" y="43"/>
                      <a:pt x="6" y="42"/>
                      <a:pt x="7" y="41"/>
                    </a:cubicBezTo>
                    <a:cubicBezTo>
                      <a:pt x="10" y="40"/>
                      <a:pt x="12" y="39"/>
                      <a:pt x="15" y="37"/>
                    </a:cubicBezTo>
                    <a:cubicBezTo>
                      <a:pt x="18" y="35"/>
                      <a:pt x="20" y="33"/>
                      <a:pt x="21" y="31"/>
                    </a:cubicBezTo>
                    <a:cubicBezTo>
                      <a:pt x="23" y="29"/>
                      <a:pt x="23" y="26"/>
                      <a:pt x="23" y="24"/>
                    </a:cubicBezTo>
                    <a:cubicBezTo>
                      <a:pt x="23" y="19"/>
                      <a:pt x="22" y="15"/>
                      <a:pt x="19" y="12"/>
                    </a:cubicBezTo>
                    <a:cubicBezTo>
                      <a:pt x="17" y="10"/>
                      <a:pt x="16" y="9"/>
                      <a:pt x="14" y="7"/>
                    </a:cubicBezTo>
                    <a:cubicBezTo>
                      <a:pt x="14" y="6"/>
                      <a:pt x="13" y="5"/>
                      <a:pt x="13" y="5"/>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3"/>
                      <a:pt x="12" y="3"/>
                      <a:pt x="12" y="3"/>
                    </a:cubicBezTo>
                    <a:cubicBezTo>
                      <a:pt x="12" y="2"/>
                      <a:pt x="12" y="2"/>
                      <a:pt x="12" y="1"/>
                    </a:cubicBezTo>
                    <a:cubicBezTo>
                      <a:pt x="11" y="1"/>
                      <a:pt x="10" y="0"/>
                      <a:pt x="10" y="0"/>
                    </a:cubicBezTo>
                    <a:cubicBezTo>
                      <a:pt x="9" y="1"/>
                      <a:pt x="8" y="1"/>
                      <a:pt x="7" y="1"/>
                    </a:cubicBezTo>
                    <a:cubicBezTo>
                      <a:pt x="6" y="2"/>
                      <a:pt x="5" y="3"/>
                      <a:pt x="4" y="4"/>
                    </a:cubicBezTo>
                    <a:cubicBezTo>
                      <a:pt x="3" y="6"/>
                      <a:pt x="3" y="7"/>
                      <a:pt x="3" y="9"/>
                    </a:cubicBezTo>
                    <a:cubicBezTo>
                      <a:pt x="5" y="9"/>
                      <a:pt x="5" y="9"/>
                      <a:pt x="5" y="9"/>
                    </a:cubicBezTo>
                    <a:cubicBezTo>
                      <a:pt x="7" y="9"/>
                      <a:pt x="7" y="9"/>
                      <a:pt x="7" y="9"/>
                    </a:cubicBezTo>
                    <a:cubicBezTo>
                      <a:pt x="7" y="8"/>
                      <a:pt x="8" y="7"/>
                      <a:pt x="8" y="6"/>
                    </a:cubicBezTo>
                    <a:cubicBezTo>
                      <a:pt x="9" y="6"/>
                      <a:pt x="9" y="5"/>
                      <a:pt x="10" y="5"/>
                    </a:cubicBezTo>
                    <a:cubicBezTo>
                      <a:pt x="10" y="5"/>
                      <a:pt x="10" y="5"/>
                      <a:pt x="10" y="5"/>
                    </a:cubicBezTo>
                    <a:cubicBezTo>
                      <a:pt x="10" y="5"/>
                      <a:pt x="10" y="5"/>
                      <a:pt x="10" y="5"/>
                    </a:cubicBezTo>
                    <a:cubicBezTo>
                      <a:pt x="10" y="4"/>
                      <a:pt x="10" y="4"/>
                      <a:pt x="10" y="4"/>
                    </a:cubicBezTo>
                    <a:cubicBezTo>
                      <a:pt x="10" y="5"/>
                      <a:pt x="10" y="5"/>
                      <a:pt x="10" y="5"/>
                    </a:cubicBezTo>
                    <a:cubicBezTo>
                      <a:pt x="10" y="5"/>
                      <a:pt x="10" y="5"/>
                      <a:pt x="10" y="5"/>
                    </a:cubicBezTo>
                    <a:cubicBezTo>
                      <a:pt x="10" y="4"/>
                      <a:pt x="10" y="4"/>
                      <a:pt x="10" y="4"/>
                    </a:cubicBezTo>
                    <a:cubicBezTo>
                      <a:pt x="10" y="5"/>
                      <a:pt x="10" y="5"/>
                      <a:pt x="10" y="5"/>
                    </a:cubicBezTo>
                    <a:cubicBezTo>
                      <a:pt x="10" y="3"/>
                      <a:pt x="10" y="3"/>
                      <a:pt x="10" y="3"/>
                    </a:cubicBezTo>
                    <a:cubicBezTo>
                      <a:pt x="9" y="4"/>
                      <a:pt x="9" y="4"/>
                      <a:pt x="9" y="4"/>
                    </a:cubicBezTo>
                    <a:cubicBezTo>
                      <a:pt x="9" y="5"/>
                      <a:pt x="10" y="5"/>
                      <a:pt x="10" y="5"/>
                    </a:cubicBezTo>
                    <a:cubicBezTo>
                      <a:pt x="10" y="3"/>
                      <a:pt x="10" y="3"/>
                      <a:pt x="10" y="3"/>
                    </a:cubicBezTo>
                    <a:cubicBezTo>
                      <a:pt x="9" y="4"/>
                      <a:pt x="9" y="4"/>
                      <a:pt x="9" y="4"/>
                    </a:cubicBezTo>
                    <a:cubicBezTo>
                      <a:pt x="10" y="3"/>
                      <a:pt x="10" y="3"/>
                      <a:pt x="10" y="3"/>
                    </a:cubicBezTo>
                    <a:cubicBezTo>
                      <a:pt x="8" y="3"/>
                      <a:pt x="8" y="3"/>
                      <a:pt x="8" y="3"/>
                    </a:cubicBezTo>
                    <a:cubicBezTo>
                      <a:pt x="8" y="3"/>
                      <a:pt x="8" y="4"/>
                      <a:pt x="9" y="4"/>
                    </a:cubicBezTo>
                    <a:cubicBezTo>
                      <a:pt x="10" y="3"/>
                      <a:pt x="10" y="3"/>
                      <a:pt x="10" y="3"/>
                    </a:cubicBezTo>
                    <a:cubicBezTo>
                      <a:pt x="8" y="3"/>
                      <a:pt x="8" y="3"/>
                      <a:pt x="8" y="3"/>
                    </a:cubicBezTo>
                    <a:cubicBezTo>
                      <a:pt x="9" y="3"/>
                      <a:pt x="9" y="3"/>
                      <a:pt x="9" y="3"/>
                    </a:cubicBezTo>
                    <a:cubicBezTo>
                      <a:pt x="8" y="3"/>
                      <a:pt x="8" y="3"/>
                      <a:pt x="8" y="3"/>
                    </a:cubicBezTo>
                    <a:cubicBezTo>
                      <a:pt x="8" y="3"/>
                      <a:pt x="8" y="3"/>
                      <a:pt x="8" y="3"/>
                    </a:cubicBezTo>
                    <a:cubicBezTo>
                      <a:pt x="9" y="3"/>
                      <a:pt x="9" y="3"/>
                      <a:pt x="9" y="3"/>
                    </a:cubicBezTo>
                    <a:cubicBezTo>
                      <a:pt x="8" y="3"/>
                      <a:pt x="8" y="3"/>
                      <a:pt x="8" y="3"/>
                    </a:cubicBezTo>
                    <a:cubicBezTo>
                      <a:pt x="8" y="3"/>
                      <a:pt x="8" y="3"/>
                      <a:pt x="8" y="3"/>
                    </a:cubicBezTo>
                    <a:cubicBezTo>
                      <a:pt x="8" y="4"/>
                      <a:pt x="8" y="4"/>
                      <a:pt x="8" y="4"/>
                    </a:cubicBezTo>
                    <a:cubicBezTo>
                      <a:pt x="8" y="5"/>
                      <a:pt x="8" y="6"/>
                      <a:pt x="9" y="7"/>
                    </a:cubicBezTo>
                    <a:cubicBezTo>
                      <a:pt x="10" y="9"/>
                      <a:pt x="13" y="12"/>
                      <a:pt x="16" y="15"/>
                    </a:cubicBezTo>
                    <a:cubicBezTo>
                      <a:pt x="18" y="17"/>
                      <a:pt x="19" y="20"/>
                      <a:pt x="19" y="24"/>
                    </a:cubicBezTo>
                    <a:cubicBezTo>
                      <a:pt x="19" y="26"/>
                      <a:pt x="19" y="27"/>
                      <a:pt x="18" y="29"/>
                    </a:cubicBezTo>
                    <a:cubicBezTo>
                      <a:pt x="17" y="30"/>
                      <a:pt x="13" y="33"/>
                      <a:pt x="10" y="35"/>
                    </a:cubicBezTo>
                    <a:cubicBezTo>
                      <a:pt x="9" y="36"/>
                      <a:pt x="7" y="37"/>
                      <a:pt x="5" y="38"/>
                    </a:cubicBezTo>
                    <a:cubicBezTo>
                      <a:pt x="4" y="39"/>
                      <a:pt x="3" y="39"/>
                      <a:pt x="2" y="40"/>
                    </a:cubicBezTo>
                    <a:cubicBezTo>
                      <a:pt x="2" y="40"/>
                      <a:pt x="2" y="40"/>
                      <a:pt x="2" y="40"/>
                    </a:cubicBezTo>
                    <a:cubicBezTo>
                      <a:pt x="2" y="41"/>
                      <a:pt x="2" y="41"/>
                      <a:pt x="2" y="41"/>
                    </a:cubicBezTo>
                    <a:cubicBezTo>
                      <a:pt x="2" y="40"/>
                      <a:pt x="2" y="40"/>
                      <a:pt x="2" y="40"/>
                    </a:cubicBezTo>
                    <a:cubicBezTo>
                      <a:pt x="2" y="40"/>
                      <a:pt x="2" y="40"/>
                      <a:pt x="2" y="40"/>
                    </a:cubicBezTo>
                    <a:cubicBezTo>
                      <a:pt x="2" y="41"/>
                      <a:pt x="2" y="41"/>
                      <a:pt x="2" y="41"/>
                    </a:cubicBezTo>
                    <a:cubicBezTo>
                      <a:pt x="2" y="40"/>
                      <a:pt x="2" y="40"/>
                      <a:pt x="2" y="40"/>
                    </a:cubicBezTo>
                    <a:cubicBezTo>
                      <a:pt x="2" y="42"/>
                      <a:pt x="2" y="42"/>
                      <a:pt x="2" y="42"/>
                    </a:cubicBezTo>
                    <a:cubicBezTo>
                      <a:pt x="4" y="41"/>
                      <a:pt x="4" y="41"/>
                      <a:pt x="4" y="41"/>
                    </a:cubicBezTo>
                    <a:cubicBezTo>
                      <a:pt x="3" y="40"/>
                      <a:pt x="3" y="40"/>
                      <a:pt x="2" y="40"/>
                    </a:cubicBezTo>
                    <a:cubicBezTo>
                      <a:pt x="2" y="42"/>
                      <a:pt x="2" y="42"/>
                      <a:pt x="2" y="42"/>
                    </a:cubicBezTo>
                    <a:cubicBezTo>
                      <a:pt x="4" y="41"/>
                      <a:pt x="4" y="41"/>
                      <a:pt x="4" y="41"/>
                    </a:cubicBezTo>
                    <a:cubicBezTo>
                      <a:pt x="2" y="42"/>
                      <a:pt x="2" y="42"/>
                      <a:pt x="2" y="42"/>
                    </a:cubicBezTo>
                    <a:cubicBezTo>
                      <a:pt x="4" y="42"/>
                      <a:pt x="4" y="42"/>
                      <a:pt x="4" y="42"/>
                    </a:cubicBezTo>
                    <a:cubicBezTo>
                      <a:pt x="4" y="41"/>
                      <a:pt x="4" y="41"/>
                      <a:pt x="4" y="41"/>
                    </a:cubicBezTo>
                    <a:cubicBezTo>
                      <a:pt x="2" y="42"/>
                      <a:pt x="2" y="42"/>
                      <a:pt x="2" y="42"/>
                    </a:cubicBezTo>
                    <a:cubicBezTo>
                      <a:pt x="4" y="42"/>
                      <a:pt x="4" y="42"/>
                      <a:pt x="4" y="42"/>
                    </a:cubicBezTo>
                    <a:cubicBezTo>
                      <a:pt x="3" y="42"/>
                      <a:pt x="3" y="42"/>
                      <a:pt x="3" y="42"/>
                    </a:cubicBezTo>
                    <a:cubicBezTo>
                      <a:pt x="4" y="42"/>
                      <a:pt x="4" y="42"/>
                      <a:pt x="4" y="42"/>
                    </a:cubicBezTo>
                    <a:cubicBezTo>
                      <a:pt x="4" y="42"/>
                      <a:pt x="4" y="42"/>
                      <a:pt x="4" y="42"/>
                    </a:cubicBezTo>
                    <a:cubicBezTo>
                      <a:pt x="3" y="42"/>
                      <a:pt x="3" y="42"/>
                      <a:pt x="3" y="42"/>
                    </a:cubicBezTo>
                    <a:cubicBezTo>
                      <a:pt x="4" y="42"/>
                      <a:pt x="4" y="42"/>
                      <a:pt x="4" y="42"/>
                    </a:cubicBezTo>
                    <a:cubicBezTo>
                      <a:pt x="4" y="42"/>
                      <a:pt x="4" y="42"/>
                      <a:pt x="5" y="41"/>
                    </a:cubicBezTo>
                    <a:cubicBezTo>
                      <a:pt x="5" y="40"/>
                      <a:pt x="5" y="39"/>
                      <a:pt x="6" y="38"/>
                    </a:cubicBezTo>
                    <a:cubicBezTo>
                      <a:pt x="6" y="37"/>
                      <a:pt x="7" y="36"/>
                      <a:pt x="7" y="34"/>
                    </a:cubicBezTo>
                    <a:cubicBezTo>
                      <a:pt x="7" y="33"/>
                      <a:pt x="7" y="32"/>
                      <a:pt x="8" y="30"/>
                    </a:cubicBezTo>
                    <a:cubicBezTo>
                      <a:pt x="9" y="28"/>
                      <a:pt x="10" y="26"/>
                      <a:pt x="10" y="23"/>
                    </a:cubicBezTo>
                    <a:cubicBezTo>
                      <a:pt x="10" y="22"/>
                      <a:pt x="10" y="21"/>
                      <a:pt x="10" y="20"/>
                    </a:cubicBezTo>
                    <a:cubicBezTo>
                      <a:pt x="10" y="20"/>
                      <a:pt x="9" y="19"/>
                      <a:pt x="9" y="18"/>
                    </a:cubicBezTo>
                    <a:cubicBezTo>
                      <a:pt x="8" y="18"/>
                      <a:pt x="8" y="17"/>
                      <a:pt x="7" y="17"/>
                    </a:cubicBezTo>
                    <a:cubicBezTo>
                      <a:pt x="6" y="16"/>
                      <a:pt x="6" y="16"/>
                      <a:pt x="6" y="16"/>
                    </a:cubicBezTo>
                    <a:cubicBezTo>
                      <a:pt x="5" y="15"/>
                      <a:pt x="5" y="15"/>
                      <a:pt x="5" y="15"/>
                    </a:cubicBezTo>
                    <a:cubicBezTo>
                      <a:pt x="5" y="15"/>
                      <a:pt x="5" y="14"/>
                      <a:pt x="6" y="13"/>
                    </a:cubicBezTo>
                    <a:cubicBezTo>
                      <a:pt x="6" y="12"/>
                      <a:pt x="7" y="11"/>
                      <a:pt x="7" y="9"/>
                    </a:cubicBezTo>
                    <a:lnTo>
                      <a:pt x="5" y="9"/>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2" name="Freeform 297"/>
              <p:cNvSpPr>
                <a:spLocks/>
              </p:cNvSpPr>
              <p:nvPr/>
            </p:nvSpPr>
            <p:spPr bwMode="auto">
              <a:xfrm>
                <a:off x="-3487738" y="2889248"/>
                <a:ext cx="66675" cy="65087"/>
              </a:xfrm>
              <a:custGeom>
                <a:avLst/>
                <a:gdLst/>
                <a:ahLst/>
                <a:cxnLst>
                  <a:cxn ang="0">
                    <a:pos x="10" y="2"/>
                  </a:cxn>
                  <a:cxn ang="0">
                    <a:pos x="10" y="4"/>
                  </a:cxn>
                  <a:cxn ang="0">
                    <a:pos x="13" y="5"/>
                  </a:cxn>
                  <a:cxn ang="0">
                    <a:pos x="14" y="6"/>
                  </a:cxn>
                  <a:cxn ang="0">
                    <a:pos x="14" y="6"/>
                  </a:cxn>
                  <a:cxn ang="0">
                    <a:pos x="14" y="6"/>
                  </a:cxn>
                  <a:cxn ang="0">
                    <a:pos x="14" y="6"/>
                  </a:cxn>
                  <a:cxn ang="0">
                    <a:pos x="14" y="6"/>
                  </a:cxn>
                  <a:cxn ang="0">
                    <a:pos x="14" y="6"/>
                  </a:cxn>
                  <a:cxn ang="0">
                    <a:pos x="14" y="6"/>
                  </a:cxn>
                  <a:cxn ang="0">
                    <a:pos x="14" y="6"/>
                  </a:cxn>
                  <a:cxn ang="0">
                    <a:pos x="12" y="10"/>
                  </a:cxn>
                  <a:cxn ang="0">
                    <a:pos x="11" y="11"/>
                  </a:cxn>
                  <a:cxn ang="0">
                    <a:pos x="10" y="12"/>
                  </a:cxn>
                  <a:cxn ang="0">
                    <a:pos x="6" y="12"/>
                  </a:cxn>
                  <a:cxn ang="0">
                    <a:pos x="4" y="12"/>
                  </a:cxn>
                  <a:cxn ang="0">
                    <a:pos x="4" y="12"/>
                  </a:cxn>
                  <a:cxn ang="0">
                    <a:pos x="4" y="11"/>
                  </a:cxn>
                  <a:cxn ang="0">
                    <a:pos x="7" y="6"/>
                  </a:cxn>
                  <a:cxn ang="0">
                    <a:pos x="10" y="4"/>
                  </a:cxn>
                  <a:cxn ang="0">
                    <a:pos x="10" y="2"/>
                  </a:cxn>
                  <a:cxn ang="0">
                    <a:pos x="10" y="0"/>
                  </a:cxn>
                  <a:cxn ang="0">
                    <a:pos x="4" y="3"/>
                  </a:cxn>
                  <a:cxn ang="0">
                    <a:pos x="0" y="10"/>
                  </a:cxn>
                  <a:cxn ang="0">
                    <a:pos x="0" y="12"/>
                  </a:cxn>
                  <a:cxn ang="0">
                    <a:pos x="2" y="16"/>
                  </a:cxn>
                  <a:cxn ang="0">
                    <a:pos x="6" y="17"/>
                  </a:cxn>
                  <a:cxn ang="0">
                    <a:pos x="11" y="16"/>
                  </a:cxn>
                  <a:cxn ang="0">
                    <a:pos x="14" y="14"/>
                  </a:cxn>
                  <a:cxn ang="0">
                    <a:pos x="16" y="11"/>
                  </a:cxn>
                  <a:cxn ang="0">
                    <a:pos x="18" y="8"/>
                  </a:cxn>
                  <a:cxn ang="0">
                    <a:pos x="18" y="6"/>
                  </a:cxn>
                  <a:cxn ang="0">
                    <a:pos x="17" y="3"/>
                  </a:cxn>
                  <a:cxn ang="0">
                    <a:pos x="13" y="1"/>
                  </a:cxn>
                  <a:cxn ang="0">
                    <a:pos x="10" y="0"/>
                  </a:cxn>
                  <a:cxn ang="0">
                    <a:pos x="10" y="2"/>
                  </a:cxn>
                </a:cxnLst>
                <a:rect l="0" t="0" r="r" b="b"/>
                <a:pathLst>
                  <a:path w="18" h="17">
                    <a:moveTo>
                      <a:pt x="10" y="2"/>
                    </a:moveTo>
                    <a:cubicBezTo>
                      <a:pt x="10" y="4"/>
                      <a:pt x="10" y="4"/>
                      <a:pt x="10" y="4"/>
                    </a:cubicBezTo>
                    <a:cubicBezTo>
                      <a:pt x="10" y="4"/>
                      <a:pt x="12" y="4"/>
                      <a:pt x="13" y="5"/>
                    </a:cubicBezTo>
                    <a:cubicBezTo>
                      <a:pt x="13" y="5"/>
                      <a:pt x="14" y="5"/>
                      <a:pt x="14" y="6"/>
                    </a:cubicBezTo>
                    <a:cubicBezTo>
                      <a:pt x="14" y="6"/>
                      <a:pt x="14" y="6"/>
                      <a:pt x="14" y="6"/>
                    </a:cubicBezTo>
                    <a:cubicBezTo>
                      <a:pt x="14" y="6"/>
                      <a:pt x="14" y="6"/>
                      <a:pt x="14" y="6"/>
                    </a:cubicBezTo>
                    <a:cubicBezTo>
                      <a:pt x="14" y="6"/>
                      <a:pt x="14" y="6"/>
                      <a:pt x="14" y="6"/>
                    </a:cubicBezTo>
                    <a:cubicBezTo>
                      <a:pt x="14" y="6"/>
                      <a:pt x="14" y="6"/>
                      <a:pt x="14" y="6"/>
                    </a:cubicBezTo>
                    <a:cubicBezTo>
                      <a:pt x="14" y="6"/>
                      <a:pt x="14" y="6"/>
                      <a:pt x="14" y="6"/>
                    </a:cubicBezTo>
                    <a:cubicBezTo>
                      <a:pt x="14" y="6"/>
                      <a:pt x="14" y="6"/>
                      <a:pt x="14" y="6"/>
                    </a:cubicBezTo>
                    <a:cubicBezTo>
                      <a:pt x="14" y="6"/>
                      <a:pt x="14" y="6"/>
                      <a:pt x="14" y="6"/>
                    </a:cubicBezTo>
                    <a:cubicBezTo>
                      <a:pt x="13" y="8"/>
                      <a:pt x="12" y="9"/>
                      <a:pt x="12" y="10"/>
                    </a:cubicBezTo>
                    <a:cubicBezTo>
                      <a:pt x="12" y="10"/>
                      <a:pt x="12" y="11"/>
                      <a:pt x="11" y="11"/>
                    </a:cubicBezTo>
                    <a:cubicBezTo>
                      <a:pt x="11" y="11"/>
                      <a:pt x="11" y="11"/>
                      <a:pt x="10" y="12"/>
                    </a:cubicBezTo>
                    <a:cubicBezTo>
                      <a:pt x="8" y="12"/>
                      <a:pt x="7" y="12"/>
                      <a:pt x="6" y="12"/>
                    </a:cubicBezTo>
                    <a:cubicBezTo>
                      <a:pt x="5" y="12"/>
                      <a:pt x="4" y="12"/>
                      <a:pt x="4" y="12"/>
                    </a:cubicBezTo>
                    <a:cubicBezTo>
                      <a:pt x="4" y="12"/>
                      <a:pt x="4" y="12"/>
                      <a:pt x="4" y="12"/>
                    </a:cubicBezTo>
                    <a:cubicBezTo>
                      <a:pt x="4" y="11"/>
                      <a:pt x="4" y="11"/>
                      <a:pt x="4" y="11"/>
                    </a:cubicBezTo>
                    <a:cubicBezTo>
                      <a:pt x="5" y="9"/>
                      <a:pt x="6" y="7"/>
                      <a:pt x="7" y="6"/>
                    </a:cubicBezTo>
                    <a:cubicBezTo>
                      <a:pt x="8" y="5"/>
                      <a:pt x="9" y="4"/>
                      <a:pt x="10" y="4"/>
                    </a:cubicBezTo>
                    <a:cubicBezTo>
                      <a:pt x="10" y="2"/>
                      <a:pt x="10" y="2"/>
                      <a:pt x="10" y="2"/>
                    </a:cubicBezTo>
                    <a:cubicBezTo>
                      <a:pt x="10" y="0"/>
                      <a:pt x="10" y="0"/>
                      <a:pt x="10" y="0"/>
                    </a:cubicBezTo>
                    <a:cubicBezTo>
                      <a:pt x="8" y="0"/>
                      <a:pt x="6" y="1"/>
                      <a:pt x="4" y="3"/>
                    </a:cubicBezTo>
                    <a:cubicBezTo>
                      <a:pt x="2" y="4"/>
                      <a:pt x="1" y="7"/>
                      <a:pt x="0" y="10"/>
                    </a:cubicBezTo>
                    <a:cubicBezTo>
                      <a:pt x="0" y="10"/>
                      <a:pt x="0" y="11"/>
                      <a:pt x="0" y="12"/>
                    </a:cubicBezTo>
                    <a:cubicBezTo>
                      <a:pt x="0" y="13"/>
                      <a:pt x="1" y="15"/>
                      <a:pt x="2" y="16"/>
                    </a:cubicBezTo>
                    <a:cubicBezTo>
                      <a:pt x="3" y="17"/>
                      <a:pt x="5" y="17"/>
                      <a:pt x="6" y="17"/>
                    </a:cubicBezTo>
                    <a:cubicBezTo>
                      <a:pt x="8" y="17"/>
                      <a:pt x="9" y="16"/>
                      <a:pt x="11" y="16"/>
                    </a:cubicBezTo>
                    <a:cubicBezTo>
                      <a:pt x="12" y="15"/>
                      <a:pt x="13" y="15"/>
                      <a:pt x="14" y="14"/>
                    </a:cubicBezTo>
                    <a:cubicBezTo>
                      <a:pt x="15" y="13"/>
                      <a:pt x="16" y="12"/>
                      <a:pt x="16" y="11"/>
                    </a:cubicBezTo>
                    <a:cubicBezTo>
                      <a:pt x="17" y="10"/>
                      <a:pt x="17" y="9"/>
                      <a:pt x="18" y="8"/>
                    </a:cubicBezTo>
                    <a:cubicBezTo>
                      <a:pt x="18" y="7"/>
                      <a:pt x="18" y="7"/>
                      <a:pt x="18" y="6"/>
                    </a:cubicBezTo>
                    <a:cubicBezTo>
                      <a:pt x="18" y="5"/>
                      <a:pt x="18" y="3"/>
                      <a:pt x="17" y="3"/>
                    </a:cubicBezTo>
                    <a:cubicBezTo>
                      <a:pt x="16" y="2"/>
                      <a:pt x="15" y="1"/>
                      <a:pt x="13" y="1"/>
                    </a:cubicBezTo>
                    <a:cubicBezTo>
                      <a:pt x="12" y="0"/>
                      <a:pt x="11" y="0"/>
                      <a:pt x="10" y="0"/>
                    </a:cubicBezTo>
                    <a:lnTo>
                      <a:pt x="10" y="2"/>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3" name="Freeform 298"/>
              <p:cNvSpPr>
                <a:spLocks/>
              </p:cNvSpPr>
              <p:nvPr/>
            </p:nvSpPr>
            <p:spPr bwMode="auto">
              <a:xfrm>
                <a:off x="-5084763" y="2419350"/>
                <a:ext cx="7937" cy="1584325"/>
              </a:xfrm>
              <a:custGeom>
                <a:avLst/>
                <a:gdLst/>
                <a:ahLst/>
                <a:cxnLst>
                  <a:cxn ang="0">
                    <a:pos x="2" y="421"/>
                  </a:cxn>
                  <a:cxn ang="0">
                    <a:pos x="0" y="0"/>
                  </a:cxn>
                </a:cxnLst>
                <a:rect l="0" t="0" r="r" b="b"/>
                <a:pathLst>
                  <a:path w="2" h="421">
                    <a:moveTo>
                      <a:pt x="2" y="421"/>
                    </a:moveTo>
                    <a:cubicBezTo>
                      <a:pt x="0" y="340"/>
                      <a:pt x="0" y="0"/>
                      <a:pt x="0" y="0"/>
                    </a:cubicBezTo>
                  </a:path>
                </a:pathLst>
              </a:custGeom>
              <a:noFill/>
              <a:ln w="6350"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134" name="Freeform 299"/>
              <p:cNvSpPr>
                <a:spLocks/>
              </p:cNvSpPr>
              <p:nvPr/>
            </p:nvSpPr>
            <p:spPr bwMode="auto">
              <a:xfrm>
                <a:off x="-2901950" y="2419351"/>
                <a:ext cx="646113" cy="1647825"/>
              </a:xfrm>
              <a:custGeom>
                <a:avLst/>
                <a:gdLst/>
                <a:ahLst/>
                <a:cxnLst>
                  <a:cxn ang="0">
                    <a:pos x="0" y="0"/>
                  </a:cxn>
                  <a:cxn ang="0">
                    <a:pos x="136" y="198"/>
                  </a:cxn>
                  <a:cxn ang="0">
                    <a:pos x="170" y="438"/>
                  </a:cxn>
                </a:cxnLst>
                <a:rect l="0" t="0" r="r" b="b"/>
                <a:pathLst>
                  <a:path w="172" h="438">
                    <a:moveTo>
                      <a:pt x="0" y="0"/>
                    </a:moveTo>
                    <a:cubicBezTo>
                      <a:pt x="73" y="63"/>
                      <a:pt x="120" y="122"/>
                      <a:pt x="136" y="198"/>
                    </a:cubicBezTo>
                    <a:cubicBezTo>
                      <a:pt x="152" y="274"/>
                      <a:pt x="172" y="418"/>
                      <a:pt x="170" y="438"/>
                    </a:cubicBezTo>
                  </a:path>
                </a:pathLst>
              </a:custGeom>
              <a:noFill/>
              <a:ln w="6350"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7" name="Group 21"/>
            <p:cNvGrpSpPr/>
            <p:nvPr userDrawn="1">
              <p:custDataLst>
                <p:tags r:id="rId5"/>
              </p:custDataLst>
            </p:nvPr>
          </p:nvGrpSpPr>
          <p:grpSpPr>
            <a:xfrm>
              <a:off x="6450012" y="3926681"/>
              <a:ext cx="3425033" cy="1653383"/>
              <a:chOff x="6450011" y="3926681"/>
              <a:chExt cx="3425034" cy="1653383"/>
            </a:xfrm>
          </p:grpSpPr>
          <p:sp>
            <p:nvSpPr>
              <p:cNvPr id="8" name="Oval 22"/>
              <p:cNvSpPr/>
              <p:nvPr/>
            </p:nvSpPr>
            <p:spPr>
              <a:xfrm>
                <a:off x="6821486" y="4043362"/>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p>
            </p:txBody>
          </p:sp>
          <p:sp>
            <p:nvSpPr>
              <p:cNvPr id="9" name="Oval 23"/>
              <p:cNvSpPr/>
              <p:nvPr/>
            </p:nvSpPr>
            <p:spPr>
              <a:xfrm>
                <a:off x="6450011" y="4283868"/>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p>
            </p:txBody>
          </p:sp>
          <p:sp>
            <p:nvSpPr>
              <p:cNvPr id="10" name="Oval 24"/>
              <p:cNvSpPr/>
              <p:nvPr/>
            </p:nvSpPr>
            <p:spPr>
              <a:xfrm>
                <a:off x="6528592" y="4500562"/>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p>
            </p:txBody>
          </p:sp>
          <p:sp>
            <p:nvSpPr>
              <p:cNvPr id="11" name="Oval 25"/>
              <p:cNvSpPr/>
              <p:nvPr/>
            </p:nvSpPr>
            <p:spPr>
              <a:xfrm>
                <a:off x="6685755" y="4681537"/>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p>
            </p:txBody>
          </p:sp>
          <p:sp>
            <p:nvSpPr>
              <p:cNvPr id="12" name="Oval 26"/>
              <p:cNvSpPr/>
              <p:nvPr/>
            </p:nvSpPr>
            <p:spPr>
              <a:xfrm>
                <a:off x="7235824" y="5150643"/>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p>
            </p:txBody>
          </p:sp>
          <p:sp>
            <p:nvSpPr>
              <p:cNvPr id="13" name="Oval 27"/>
              <p:cNvSpPr/>
              <p:nvPr/>
            </p:nvSpPr>
            <p:spPr>
              <a:xfrm>
                <a:off x="6969124" y="5484018"/>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p>
            </p:txBody>
          </p:sp>
          <p:sp>
            <p:nvSpPr>
              <p:cNvPr id="14" name="Oval 28"/>
              <p:cNvSpPr/>
              <p:nvPr/>
            </p:nvSpPr>
            <p:spPr>
              <a:xfrm>
                <a:off x="7121524" y="5524500"/>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p>
            </p:txBody>
          </p:sp>
          <p:sp>
            <p:nvSpPr>
              <p:cNvPr id="15" name="Oval 29"/>
              <p:cNvSpPr/>
              <p:nvPr/>
            </p:nvSpPr>
            <p:spPr>
              <a:xfrm>
                <a:off x="9819481" y="5476875"/>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p>
            </p:txBody>
          </p:sp>
          <p:sp>
            <p:nvSpPr>
              <p:cNvPr id="16" name="Oval 30"/>
              <p:cNvSpPr/>
              <p:nvPr/>
            </p:nvSpPr>
            <p:spPr>
              <a:xfrm>
                <a:off x="9271793" y="4964906"/>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p>
            </p:txBody>
          </p:sp>
          <p:sp>
            <p:nvSpPr>
              <p:cNvPr id="17" name="Oval 31"/>
              <p:cNvSpPr/>
              <p:nvPr/>
            </p:nvSpPr>
            <p:spPr>
              <a:xfrm>
                <a:off x="9324181" y="4698206"/>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p>
            </p:txBody>
          </p:sp>
          <p:sp>
            <p:nvSpPr>
              <p:cNvPr id="18" name="Oval 32"/>
              <p:cNvSpPr/>
              <p:nvPr/>
            </p:nvSpPr>
            <p:spPr>
              <a:xfrm>
                <a:off x="9409906" y="4726781"/>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p>
            </p:txBody>
          </p:sp>
          <p:sp>
            <p:nvSpPr>
              <p:cNvPr id="19" name="Oval 33"/>
              <p:cNvSpPr/>
              <p:nvPr/>
            </p:nvSpPr>
            <p:spPr>
              <a:xfrm>
                <a:off x="9419431" y="4588669"/>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p>
            </p:txBody>
          </p:sp>
          <p:sp>
            <p:nvSpPr>
              <p:cNvPr id="20" name="Oval 34"/>
              <p:cNvSpPr/>
              <p:nvPr/>
            </p:nvSpPr>
            <p:spPr>
              <a:xfrm>
                <a:off x="9095581" y="4400550"/>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p>
            </p:txBody>
          </p:sp>
          <p:sp>
            <p:nvSpPr>
              <p:cNvPr id="21" name="Oval 35"/>
              <p:cNvSpPr/>
              <p:nvPr/>
            </p:nvSpPr>
            <p:spPr>
              <a:xfrm>
                <a:off x="8933656" y="4683919"/>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p>
            </p:txBody>
          </p:sp>
          <p:sp>
            <p:nvSpPr>
              <p:cNvPr id="22" name="Oval 36"/>
              <p:cNvSpPr/>
              <p:nvPr/>
            </p:nvSpPr>
            <p:spPr>
              <a:xfrm>
                <a:off x="8600281" y="4548187"/>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p>
            </p:txBody>
          </p:sp>
          <p:sp>
            <p:nvSpPr>
              <p:cNvPr id="23" name="Oval 37"/>
              <p:cNvSpPr/>
              <p:nvPr/>
            </p:nvSpPr>
            <p:spPr>
              <a:xfrm>
                <a:off x="8612187" y="4674394"/>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p>
            </p:txBody>
          </p:sp>
          <p:sp>
            <p:nvSpPr>
              <p:cNvPr id="24" name="Oval 38"/>
              <p:cNvSpPr/>
              <p:nvPr/>
            </p:nvSpPr>
            <p:spPr>
              <a:xfrm>
                <a:off x="8369300" y="4379119"/>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p>
            </p:txBody>
          </p:sp>
          <p:sp>
            <p:nvSpPr>
              <p:cNvPr id="25" name="Oval 39"/>
              <p:cNvSpPr/>
              <p:nvPr/>
            </p:nvSpPr>
            <p:spPr>
              <a:xfrm>
                <a:off x="7845425" y="4438650"/>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p>
            </p:txBody>
          </p:sp>
          <p:sp>
            <p:nvSpPr>
              <p:cNvPr id="26" name="Oval 40"/>
              <p:cNvSpPr/>
              <p:nvPr/>
            </p:nvSpPr>
            <p:spPr>
              <a:xfrm>
                <a:off x="7914482" y="4260056"/>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p>
            </p:txBody>
          </p:sp>
          <p:sp>
            <p:nvSpPr>
              <p:cNvPr id="27" name="Oval 41"/>
              <p:cNvSpPr/>
              <p:nvPr/>
            </p:nvSpPr>
            <p:spPr>
              <a:xfrm>
                <a:off x="7983538" y="4260056"/>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p>
            </p:txBody>
          </p:sp>
          <p:sp>
            <p:nvSpPr>
              <p:cNvPr id="28" name="Oval 42"/>
              <p:cNvSpPr/>
              <p:nvPr/>
            </p:nvSpPr>
            <p:spPr>
              <a:xfrm>
                <a:off x="8052595" y="4174331"/>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p>
            </p:txBody>
          </p:sp>
          <p:sp>
            <p:nvSpPr>
              <p:cNvPr id="29" name="Oval 43"/>
              <p:cNvSpPr/>
              <p:nvPr/>
            </p:nvSpPr>
            <p:spPr>
              <a:xfrm>
                <a:off x="8031163" y="4048125"/>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p>
            </p:txBody>
          </p:sp>
          <p:sp>
            <p:nvSpPr>
              <p:cNvPr id="30" name="Oval 44"/>
              <p:cNvSpPr/>
              <p:nvPr/>
            </p:nvSpPr>
            <p:spPr>
              <a:xfrm>
                <a:off x="8138320" y="3926681"/>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p>
            </p:txBody>
          </p:sp>
          <p:sp>
            <p:nvSpPr>
              <p:cNvPr id="31" name="Oval 45"/>
              <p:cNvSpPr/>
              <p:nvPr/>
            </p:nvSpPr>
            <p:spPr>
              <a:xfrm>
                <a:off x="8212138" y="3967162"/>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p>
            </p:txBody>
          </p:sp>
          <p:sp>
            <p:nvSpPr>
              <p:cNvPr id="32" name="Oval 46"/>
              <p:cNvSpPr/>
              <p:nvPr/>
            </p:nvSpPr>
            <p:spPr>
              <a:xfrm>
                <a:off x="8145463" y="4033837"/>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p>
            </p:txBody>
          </p:sp>
          <p:sp>
            <p:nvSpPr>
              <p:cNvPr id="33" name="Oval 47"/>
              <p:cNvSpPr/>
              <p:nvPr/>
            </p:nvSpPr>
            <p:spPr>
              <a:xfrm>
                <a:off x="8085932" y="4124325"/>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p>
            </p:txBody>
          </p:sp>
          <p:sp>
            <p:nvSpPr>
              <p:cNvPr id="34" name="Oval 48"/>
              <p:cNvSpPr/>
              <p:nvPr/>
            </p:nvSpPr>
            <p:spPr>
              <a:xfrm>
                <a:off x="8150226" y="4117181"/>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p>
            </p:txBody>
          </p:sp>
          <p:sp>
            <p:nvSpPr>
              <p:cNvPr id="35" name="Oval 49"/>
              <p:cNvSpPr/>
              <p:nvPr/>
            </p:nvSpPr>
            <p:spPr>
              <a:xfrm>
                <a:off x="8204995" y="4148137"/>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p>
            </p:txBody>
          </p:sp>
          <p:sp>
            <p:nvSpPr>
              <p:cNvPr id="36" name="Oval 50"/>
              <p:cNvSpPr/>
              <p:nvPr/>
            </p:nvSpPr>
            <p:spPr>
              <a:xfrm>
                <a:off x="8240713" y="4198143"/>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p>
            </p:txBody>
          </p:sp>
          <p:sp>
            <p:nvSpPr>
              <p:cNvPr id="37" name="Oval 51"/>
              <p:cNvSpPr/>
              <p:nvPr/>
            </p:nvSpPr>
            <p:spPr>
              <a:xfrm>
                <a:off x="8243095" y="4260056"/>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p>
            </p:txBody>
          </p:sp>
          <p:sp>
            <p:nvSpPr>
              <p:cNvPr id="38" name="Oval 52"/>
              <p:cNvSpPr/>
              <p:nvPr/>
            </p:nvSpPr>
            <p:spPr>
              <a:xfrm>
                <a:off x="8171657" y="4276725"/>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p>
            </p:txBody>
          </p:sp>
          <p:sp>
            <p:nvSpPr>
              <p:cNvPr id="39" name="Oval 53"/>
              <p:cNvSpPr/>
              <p:nvPr/>
            </p:nvSpPr>
            <p:spPr>
              <a:xfrm>
                <a:off x="8128795" y="4202906"/>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smtClean="0"/>
              </a:p>
            </p:txBody>
          </p:sp>
        </p:grpSp>
      </p:grpSp>
      <p:sp>
        <p:nvSpPr>
          <p:cNvPr id="335" name="Rectangle 9"/>
          <p:cNvSpPr>
            <a:spLocks noChangeArrowheads="1"/>
          </p:cNvSpPr>
          <p:nvPr userDrawn="1">
            <p:custDataLst>
              <p:tags r:id="rId3"/>
            </p:custDataLst>
          </p:nvPr>
        </p:nvSpPr>
        <p:spPr bwMode="gray">
          <a:xfrm>
            <a:off x="1238359" y="3617150"/>
            <a:ext cx="4718592" cy="2376667"/>
          </a:xfrm>
          <a:custGeom>
            <a:avLst/>
            <a:gdLst>
              <a:gd name="connsiteX0" fmla="*/ 0 w 4423977"/>
              <a:gd name="connsiteY0" fmla="*/ 164137 h 2296914"/>
              <a:gd name="connsiteX1" fmla="*/ 48075 w 4423977"/>
              <a:gd name="connsiteY1" fmla="*/ 48075 h 2296914"/>
              <a:gd name="connsiteX2" fmla="*/ 164138 w 4423977"/>
              <a:gd name="connsiteY2" fmla="*/ 1 h 2296914"/>
              <a:gd name="connsiteX3" fmla="*/ 4259840 w 4423977"/>
              <a:gd name="connsiteY3" fmla="*/ 0 h 2296914"/>
              <a:gd name="connsiteX4" fmla="*/ 4375902 w 4423977"/>
              <a:gd name="connsiteY4" fmla="*/ 48075 h 2296914"/>
              <a:gd name="connsiteX5" fmla="*/ 4423976 w 4423977"/>
              <a:gd name="connsiteY5" fmla="*/ 164138 h 2296914"/>
              <a:gd name="connsiteX6" fmla="*/ 4423977 w 4423977"/>
              <a:gd name="connsiteY6" fmla="*/ 2132777 h 2296914"/>
              <a:gd name="connsiteX7" fmla="*/ 4375902 w 4423977"/>
              <a:gd name="connsiteY7" fmla="*/ 2248839 h 2296914"/>
              <a:gd name="connsiteX8" fmla="*/ 4259840 w 4423977"/>
              <a:gd name="connsiteY8" fmla="*/ 2296914 h 2296914"/>
              <a:gd name="connsiteX9" fmla="*/ 164137 w 4423977"/>
              <a:gd name="connsiteY9" fmla="*/ 2296914 h 2296914"/>
              <a:gd name="connsiteX10" fmla="*/ 48075 w 4423977"/>
              <a:gd name="connsiteY10" fmla="*/ 2248839 h 2296914"/>
              <a:gd name="connsiteX11" fmla="*/ 0 w 4423977"/>
              <a:gd name="connsiteY11" fmla="*/ 2132777 h 2296914"/>
              <a:gd name="connsiteX12" fmla="*/ 0 w 4423977"/>
              <a:gd name="connsiteY12" fmla="*/ 164137 h 2296914"/>
              <a:gd name="connsiteX0" fmla="*/ 0 w 4969813"/>
              <a:gd name="connsiteY0" fmla="*/ 164137 h 2488240"/>
              <a:gd name="connsiteX1" fmla="*/ 48075 w 4969813"/>
              <a:gd name="connsiteY1" fmla="*/ 48075 h 2488240"/>
              <a:gd name="connsiteX2" fmla="*/ 164138 w 4969813"/>
              <a:gd name="connsiteY2" fmla="*/ 1 h 2488240"/>
              <a:gd name="connsiteX3" fmla="*/ 4259840 w 4969813"/>
              <a:gd name="connsiteY3" fmla="*/ 0 h 2488240"/>
              <a:gd name="connsiteX4" fmla="*/ 4375902 w 4969813"/>
              <a:gd name="connsiteY4" fmla="*/ 48075 h 2488240"/>
              <a:gd name="connsiteX5" fmla="*/ 4423976 w 4969813"/>
              <a:gd name="connsiteY5" fmla="*/ 164138 h 2488240"/>
              <a:gd name="connsiteX6" fmla="*/ 4423977 w 4969813"/>
              <a:gd name="connsiteY6" fmla="*/ 2132777 h 2488240"/>
              <a:gd name="connsiteX7" fmla="*/ 4259840 w 4969813"/>
              <a:gd name="connsiteY7" fmla="*/ 2296914 h 2488240"/>
              <a:gd name="connsiteX8" fmla="*/ 164137 w 4969813"/>
              <a:gd name="connsiteY8" fmla="*/ 2296914 h 2488240"/>
              <a:gd name="connsiteX9" fmla="*/ 48075 w 4969813"/>
              <a:gd name="connsiteY9" fmla="*/ 2248839 h 2488240"/>
              <a:gd name="connsiteX10" fmla="*/ 0 w 4969813"/>
              <a:gd name="connsiteY10" fmla="*/ 2132777 h 2488240"/>
              <a:gd name="connsiteX11" fmla="*/ 0 w 4969813"/>
              <a:gd name="connsiteY11" fmla="*/ 164137 h 2488240"/>
              <a:gd name="connsiteX0" fmla="*/ 0 w 4969813"/>
              <a:gd name="connsiteY0" fmla="*/ 164137 h 2296914"/>
              <a:gd name="connsiteX1" fmla="*/ 48075 w 4969813"/>
              <a:gd name="connsiteY1" fmla="*/ 48075 h 2296914"/>
              <a:gd name="connsiteX2" fmla="*/ 164138 w 4969813"/>
              <a:gd name="connsiteY2" fmla="*/ 1 h 2296914"/>
              <a:gd name="connsiteX3" fmla="*/ 4259840 w 4969813"/>
              <a:gd name="connsiteY3" fmla="*/ 0 h 2296914"/>
              <a:gd name="connsiteX4" fmla="*/ 4375902 w 4969813"/>
              <a:gd name="connsiteY4" fmla="*/ 48075 h 2296914"/>
              <a:gd name="connsiteX5" fmla="*/ 4423976 w 4969813"/>
              <a:gd name="connsiteY5" fmla="*/ 164138 h 2296914"/>
              <a:gd name="connsiteX6" fmla="*/ 4259840 w 4969813"/>
              <a:gd name="connsiteY6" fmla="*/ 2296914 h 2296914"/>
              <a:gd name="connsiteX7" fmla="*/ 164137 w 4969813"/>
              <a:gd name="connsiteY7" fmla="*/ 2296914 h 2296914"/>
              <a:gd name="connsiteX8" fmla="*/ 48075 w 4969813"/>
              <a:gd name="connsiteY8" fmla="*/ 2248839 h 2296914"/>
              <a:gd name="connsiteX9" fmla="*/ 0 w 4969813"/>
              <a:gd name="connsiteY9" fmla="*/ 2132777 h 2296914"/>
              <a:gd name="connsiteX10" fmla="*/ 0 w 4969813"/>
              <a:gd name="connsiteY10" fmla="*/ 164137 h 2296914"/>
              <a:gd name="connsiteX0" fmla="*/ 0 w 4961801"/>
              <a:gd name="connsiteY0" fmla="*/ 498881 h 2631658"/>
              <a:gd name="connsiteX1" fmla="*/ 48075 w 4961801"/>
              <a:gd name="connsiteY1" fmla="*/ 382819 h 2631658"/>
              <a:gd name="connsiteX2" fmla="*/ 164138 w 4961801"/>
              <a:gd name="connsiteY2" fmla="*/ 334745 h 2631658"/>
              <a:gd name="connsiteX3" fmla="*/ 4259840 w 4961801"/>
              <a:gd name="connsiteY3" fmla="*/ 334744 h 2631658"/>
              <a:gd name="connsiteX4" fmla="*/ 4375902 w 4961801"/>
              <a:gd name="connsiteY4" fmla="*/ 382819 h 2631658"/>
              <a:gd name="connsiteX5" fmla="*/ 4259840 w 4961801"/>
              <a:gd name="connsiteY5" fmla="*/ 2631658 h 2631658"/>
              <a:gd name="connsiteX6" fmla="*/ 164137 w 4961801"/>
              <a:gd name="connsiteY6" fmla="*/ 2631658 h 2631658"/>
              <a:gd name="connsiteX7" fmla="*/ 48075 w 4961801"/>
              <a:gd name="connsiteY7" fmla="*/ 2583583 h 2631658"/>
              <a:gd name="connsiteX8" fmla="*/ 0 w 4961801"/>
              <a:gd name="connsiteY8" fmla="*/ 2467521 h 2631658"/>
              <a:gd name="connsiteX9" fmla="*/ 0 w 4961801"/>
              <a:gd name="connsiteY9" fmla="*/ 498881 h 2631658"/>
              <a:gd name="connsiteX0" fmla="*/ 0 w 4942457"/>
              <a:gd name="connsiteY0" fmla="*/ 164137 h 2296914"/>
              <a:gd name="connsiteX1" fmla="*/ 48075 w 4942457"/>
              <a:gd name="connsiteY1" fmla="*/ 48075 h 2296914"/>
              <a:gd name="connsiteX2" fmla="*/ 164138 w 4942457"/>
              <a:gd name="connsiteY2" fmla="*/ 1 h 2296914"/>
              <a:gd name="connsiteX3" fmla="*/ 4259840 w 4942457"/>
              <a:gd name="connsiteY3" fmla="*/ 0 h 2296914"/>
              <a:gd name="connsiteX4" fmla="*/ 4259840 w 4942457"/>
              <a:gd name="connsiteY4" fmla="*/ 2296914 h 2296914"/>
              <a:gd name="connsiteX5" fmla="*/ 164137 w 4942457"/>
              <a:gd name="connsiteY5" fmla="*/ 2296914 h 2296914"/>
              <a:gd name="connsiteX6" fmla="*/ 48075 w 4942457"/>
              <a:gd name="connsiteY6" fmla="*/ 2248839 h 2296914"/>
              <a:gd name="connsiteX7" fmla="*/ 0 w 4942457"/>
              <a:gd name="connsiteY7" fmla="*/ 2132777 h 2296914"/>
              <a:gd name="connsiteX8" fmla="*/ 0 w 4942457"/>
              <a:gd name="connsiteY8" fmla="*/ 164137 h 2296914"/>
              <a:gd name="connsiteX0" fmla="*/ 4259840 w 4942457"/>
              <a:gd name="connsiteY0" fmla="*/ 0 h 2296914"/>
              <a:gd name="connsiteX1" fmla="*/ 4259840 w 4942457"/>
              <a:gd name="connsiteY1" fmla="*/ 2296914 h 2296914"/>
              <a:gd name="connsiteX2" fmla="*/ 164137 w 4942457"/>
              <a:gd name="connsiteY2" fmla="*/ 2296914 h 2296914"/>
              <a:gd name="connsiteX3" fmla="*/ 48075 w 4942457"/>
              <a:gd name="connsiteY3" fmla="*/ 2248839 h 2296914"/>
              <a:gd name="connsiteX4" fmla="*/ 0 w 4942457"/>
              <a:gd name="connsiteY4" fmla="*/ 2132777 h 2296914"/>
              <a:gd name="connsiteX5" fmla="*/ 0 w 4942457"/>
              <a:gd name="connsiteY5" fmla="*/ 164137 h 2296914"/>
              <a:gd name="connsiteX6" fmla="*/ 48075 w 4942457"/>
              <a:gd name="connsiteY6" fmla="*/ 48075 h 2296914"/>
              <a:gd name="connsiteX7" fmla="*/ 164138 w 4942457"/>
              <a:gd name="connsiteY7" fmla="*/ 1 h 2296914"/>
              <a:gd name="connsiteX8" fmla="*/ 4351280 w 4942457"/>
              <a:gd name="connsiteY8" fmla="*/ 91440 h 2296914"/>
              <a:gd name="connsiteX0" fmla="*/ 4259840 w 4351280"/>
              <a:gd name="connsiteY0" fmla="*/ 2296914 h 2296914"/>
              <a:gd name="connsiteX1" fmla="*/ 164137 w 4351280"/>
              <a:gd name="connsiteY1" fmla="*/ 2296914 h 2296914"/>
              <a:gd name="connsiteX2" fmla="*/ 48075 w 4351280"/>
              <a:gd name="connsiteY2" fmla="*/ 2248839 h 2296914"/>
              <a:gd name="connsiteX3" fmla="*/ 0 w 4351280"/>
              <a:gd name="connsiteY3" fmla="*/ 2132777 h 2296914"/>
              <a:gd name="connsiteX4" fmla="*/ 0 w 4351280"/>
              <a:gd name="connsiteY4" fmla="*/ 164137 h 2296914"/>
              <a:gd name="connsiteX5" fmla="*/ 48075 w 4351280"/>
              <a:gd name="connsiteY5" fmla="*/ 48075 h 2296914"/>
              <a:gd name="connsiteX6" fmla="*/ 164138 w 4351280"/>
              <a:gd name="connsiteY6" fmla="*/ 1 h 2296914"/>
              <a:gd name="connsiteX7" fmla="*/ 4351280 w 4351280"/>
              <a:gd name="connsiteY7" fmla="*/ 91440 h 2296914"/>
              <a:gd name="connsiteX0" fmla="*/ 4259840 w 4330731"/>
              <a:gd name="connsiteY0" fmla="*/ 2297942 h 2297942"/>
              <a:gd name="connsiteX1" fmla="*/ 164137 w 4330731"/>
              <a:gd name="connsiteY1" fmla="*/ 2297942 h 2297942"/>
              <a:gd name="connsiteX2" fmla="*/ 48075 w 4330731"/>
              <a:gd name="connsiteY2" fmla="*/ 2249867 h 2297942"/>
              <a:gd name="connsiteX3" fmla="*/ 0 w 4330731"/>
              <a:gd name="connsiteY3" fmla="*/ 2133805 h 2297942"/>
              <a:gd name="connsiteX4" fmla="*/ 0 w 4330731"/>
              <a:gd name="connsiteY4" fmla="*/ 165165 h 2297942"/>
              <a:gd name="connsiteX5" fmla="*/ 48075 w 4330731"/>
              <a:gd name="connsiteY5" fmla="*/ 49103 h 2297942"/>
              <a:gd name="connsiteX6" fmla="*/ 164138 w 4330731"/>
              <a:gd name="connsiteY6" fmla="*/ 1029 h 2297942"/>
              <a:gd name="connsiteX7" fmla="*/ 4330731 w 4330731"/>
              <a:gd name="connsiteY7" fmla="*/ 0 h 2297942"/>
              <a:gd name="connsiteX0" fmla="*/ 4259840 w 4259840"/>
              <a:gd name="connsiteY0" fmla="*/ 2296914 h 2296914"/>
              <a:gd name="connsiteX1" fmla="*/ 164137 w 4259840"/>
              <a:gd name="connsiteY1" fmla="*/ 2296914 h 2296914"/>
              <a:gd name="connsiteX2" fmla="*/ 48075 w 4259840"/>
              <a:gd name="connsiteY2" fmla="*/ 2248839 h 2296914"/>
              <a:gd name="connsiteX3" fmla="*/ 0 w 4259840"/>
              <a:gd name="connsiteY3" fmla="*/ 2132777 h 2296914"/>
              <a:gd name="connsiteX4" fmla="*/ 0 w 4259840"/>
              <a:gd name="connsiteY4" fmla="*/ 164137 h 2296914"/>
              <a:gd name="connsiteX5" fmla="*/ 48075 w 4259840"/>
              <a:gd name="connsiteY5" fmla="*/ 48075 h 2296914"/>
              <a:gd name="connsiteX6" fmla="*/ 164138 w 4259840"/>
              <a:gd name="connsiteY6" fmla="*/ 1 h 2296914"/>
              <a:gd name="connsiteX0" fmla="*/ 4259840 w 4259840"/>
              <a:gd name="connsiteY0" fmla="*/ 2248839 h 2248839"/>
              <a:gd name="connsiteX1" fmla="*/ 164137 w 4259840"/>
              <a:gd name="connsiteY1" fmla="*/ 2248839 h 2248839"/>
              <a:gd name="connsiteX2" fmla="*/ 48075 w 4259840"/>
              <a:gd name="connsiteY2" fmla="*/ 2200764 h 2248839"/>
              <a:gd name="connsiteX3" fmla="*/ 0 w 4259840"/>
              <a:gd name="connsiteY3" fmla="*/ 2084702 h 2248839"/>
              <a:gd name="connsiteX4" fmla="*/ 0 w 4259840"/>
              <a:gd name="connsiteY4" fmla="*/ 116062 h 2248839"/>
              <a:gd name="connsiteX5" fmla="*/ 48075 w 4259840"/>
              <a:gd name="connsiteY5" fmla="*/ 0 h 2248839"/>
              <a:gd name="connsiteX0" fmla="*/ 4259840 w 4259840"/>
              <a:gd name="connsiteY0" fmla="*/ 2132777 h 2132777"/>
              <a:gd name="connsiteX1" fmla="*/ 164137 w 4259840"/>
              <a:gd name="connsiteY1" fmla="*/ 2132777 h 2132777"/>
              <a:gd name="connsiteX2" fmla="*/ 48075 w 4259840"/>
              <a:gd name="connsiteY2" fmla="*/ 2084702 h 2132777"/>
              <a:gd name="connsiteX3" fmla="*/ 0 w 4259840"/>
              <a:gd name="connsiteY3" fmla="*/ 1968640 h 2132777"/>
              <a:gd name="connsiteX4" fmla="*/ 0 w 4259840"/>
              <a:gd name="connsiteY4" fmla="*/ 0 h 2132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9840" h="2132777">
                <a:moveTo>
                  <a:pt x="4259840" y="2132777"/>
                </a:moveTo>
                <a:lnTo>
                  <a:pt x="164137" y="2132777"/>
                </a:lnTo>
                <a:cubicBezTo>
                  <a:pt x="120605" y="2132777"/>
                  <a:pt x="78856" y="2115484"/>
                  <a:pt x="48075" y="2084702"/>
                </a:cubicBezTo>
                <a:cubicBezTo>
                  <a:pt x="17293" y="2053920"/>
                  <a:pt x="0" y="2012171"/>
                  <a:pt x="0" y="1968640"/>
                </a:cubicBezTo>
                <a:lnTo>
                  <a:pt x="0" y="0"/>
                </a:lnTo>
              </a:path>
            </a:pathLst>
          </a:custGeom>
          <a:noFill/>
          <a:ln w="19050" cap="flat" cmpd="sng" algn="ctr">
            <a:gradFill flip="none" rotWithShape="1">
              <a:gsLst>
                <a:gs pos="0">
                  <a:schemeClr val="accent5"/>
                </a:gs>
                <a:gs pos="100000">
                  <a:schemeClr val="accent5">
                    <a:lumMod val="20000"/>
                    <a:lumOff val="80000"/>
                  </a:schemeClr>
                </a:gs>
              </a:gsLst>
              <a:lin ang="240000" scaled="0"/>
              <a:tileRect/>
            </a:gradFill>
            <a:prstDash val="solid"/>
            <a:round/>
          </a:ln>
          <a:effectLst/>
        </p:spPr>
        <p:txBody>
          <a:bodyPr wrap="square" lIns="360000" tIns="50951" rIns="216000" bIns="144000" rtlCol="0" anchor="b"/>
          <a:lstStyle/>
          <a:p>
            <a:pPr marL="0" marR="0" indent="0" algn="just" defTabSz="1042966" rtl="0" eaLnBrk="1" fontAlgn="auto" latinLnBrk="0" hangingPunct="1">
              <a:lnSpc>
                <a:spcPct val="100000"/>
              </a:lnSpc>
              <a:spcBef>
                <a:spcPts val="0"/>
              </a:spcBef>
              <a:spcAft>
                <a:spcPts val="0"/>
              </a:spcAft>
              <a:buClrTx/>
              <a:buSzTx/>
              <a:buFontTx/>
              <a:buNone/>
              <a:tabLst/>
              <a:defRPr/>
            </a:pPr>
            <a:r>
              <a:rPr lang="en-US" sz="1800" b="1" dirty="0" smtClean="0">
                <a:solidFill>
                  <a:schemeClr val="bg1"/>
                </a:solidFill>
                <a:latin typeface="Arial"/>
                <a:cs typeface="Arial"/>
              </a:rPr>
              <a:t>About Capgemini</a:t>
            </a:r>
            <a:endParaRPr lang="en-US" sz="1000" dirty="0" smtClean="0">
              <a:solidFill>
                <a:schemeClr val="bg1"/>
              </a:solidFill>
              <a:latin typeface="Arial" pitchFamily="34" charset="0"/>
              <a:cs typeface="Arial" pitchFamily="34" charset="0"/>
            </a:endParaRPr>
          </a:p>
          <a:p>
            <a:pPr marL="0" indent="0" algn="just"/>
            <a:endParaRPr lang="en-US" sz="1000" dirty="0" smtClean="0">
              <a:solidFill>
                <a:schemeClr val="bg1"/>
              </a:solidFill>
              <a:latin typeface="Arial" pitchFamily="34" charset="0"/>
              <a:cs typeface="Arial" pitchFamily="34" charset="0"/>
            </a:endParaRPr>
          </a:p>
          <a:p>
            <a:pPr marL="0" indent="0" algn="just"/>
            <a:r>
              <a:rPr lang="en-US" sz="1000" dirty="0" smtClean="0">
                <a:solidFill>
                  <a:schemeClr val="bg1"/>
                </a:solidFill>
                <a:latin typeface="Arial" pitchFamily="34" charset="0"/>
                <a:cs typeface="Arial" pitchFamily="34" charset="0"/>
              </a:rPr>
              <a:t>With </a:t>
            </a:r>
            <a:r>
              <a:rPr lang="en-US" sz="1000" dirty="0">
                <a:solidFill>
                  <a:schemeClr val="bg1"/>
                </a:solidFill>
                <a:latin typeface="Arial" pitchFamily="34" charset="0"/>
                <a:cs typeface="Arial" pitchFamily="34" charset="0"/>
              </a:rPr>
              <a:t>more than </a:t>
            </a:r>
            <a:r>
              <a:rPr lang="en-US" sz="1000" dirty="0" smtClean="0">
                <a:solidFill>
                  <a:schemeClr val="bg1"/>
                </a:solidFill>
                <a:latin typeface="Arial" pitchFamily="34" charset="0"/>
                <a:cs typeface="Arial" pitchFamily="34" charset="0"/>
              </a:rPr>
              <a:t>125,000 </a:t>
            </a:r>
            <a:r>
              <a:rPr lang="en-US" sz="1000" dirty="0">
                <a:solidFill>
                  <a:schemeClr val="bg1"/>
                </a:solidFill>
                <a:latin typeface="Arial" pitchFamily="34" charset="0"/>
                <a:cs typeface="Arial" pitchFamily="34" charset="0"/>
              </a:rPr>
              <a:t>people in </a:t>
            </a:r>
            <a:r>
              <a:rPr lang="en-US" sz="1000" dirty="0" smtClean="0">
                <a:solidFill>
                  <a:schemeClr val="bg1"/>
                </a:solidFill>
                <a:latin typeface="Arial" pitchFamily="34" charset="0"/>
                <a:cs typeface="Arial" pitchFamily="34" charset="0"/>
              </a:rPr>
              <a:t>44 </a:t>
            </a:r>
            <a:r>
              <a:rPr lang="en-US" sz="1000" dirty="0">
                <a:solidFill>
                  <a:schemeClr val="bg1"/>
                </a:solidFill>
                <a:latin typeface="Arial" pitchFamily="34" charset="0"/>
                <a:cs typeface="Arial" pitchFamily="34" charset="0"/>
              </a:rPr>
              <a:t>countries, Capgemini is one of the world's foremost providers of consulting, technology and outsourcing services. The Group reported </a:t>
            </a:r>
            <a:r>
              <a:rPr lang="en-US" sz="1000" dirty="0" smtClean="0">
                <a:solidFill>
                  <a:schemeClr val="bg1"/>
                </a:solidFill>
                <a:latin typeface="Arial" pitchFamily="34" charset="0"/>
                <a:cs typeface="Arial" pitchFamily="34" charset="0"/>
              </a:rPr>
              <a:t>2012 </a:t>
            </a:r>
            <a:r>
              <a:rPr lang="en-US" sz="1000" dirty="0">
                <a:solidFill>
                  <a:schemeClr val="bg1"/>
                </a:solidFill>
                <a:latin typeface="Arial" pitchFamily="34" charset="0"/>
                <a:cs typeface="Arial" pitchFamily="34" charset="0"/>
              </a:rPr>
              <a:t>global revenues of EUR </a:t>
            </a:r>
            <a:r>
              <a:rPr lang="en-US" sz="1000" dirty="0" smtClean="0">
                <a:solidFill>
                  <a:schemeClr val="bg1"/>
                </a:solidFill>
                <a:latin typeface="Arial" pitchFamily="34" charset="0"/>
                <a:cs typeface="Arial" pitchFamily="34" charset="0"/>
              </a:rPr>
              <a:t>10.3 </a:t>
            </a:r>
            <a:r>
              <a:rPr lang="en-US" sz="1000" dirty="0">
                <a:solidFill>
                  <a:schemeClr val="bg1"/>
                </a:solidFill>
                <a:latin typeface="Arial" pitchFamily="34" charset="0"/>
                <a:cs typeface="Arial" pitchFamily="34" charset="0"/>
              </a:rPr>
              <a:t>billion.</a:t>
            </a:r>
          </a:p>
          <a:p>
            <a:pPr marL="0" indent="0" algn="just"/>
            <a:r>
              <a:rPr lang="en-US" sz="1000" dirty="0">
                <a:solidFill>
                  <a:schemeClr val="bg1"/>
                </a:solidFill>
                <a:latin typeface="Arial" pitchFamily="34" charset="0"/>
                <a:cs typeface="Arial" pitchFamily="34" charset="0"/>
              </a:rPr>
              <a:t>Together with its clients, Capgemini creates and delivers business and technology solutions that fit their needs and drive the results they want. A deeply multicultural organization, Capgemini has developed its own way of working, the Collaborative Business </a:t>
            </a:r>
            <a:r>
              <a:rPr lang="en-US" sz="1000" dirty="0" smtClean="0">
                <a:solidFill>
                  <a:schemeClr val="bg1"/>
                </a:solidFill>
                <a:latin typeface="Arial" pitchFamily="34" charset="0"/>
                <a:cs typeface="Arial" pitchFamily="34" charset="0"/>
              </a:rPr>
              <a:t>Experience™, </a:t>
            </a:r>
            <a:r>
              <a:rPr lang="en-US" sz="1000" dirty="0">
                <a:solidFill>
                  <a:schemeClr val="bg1"/>
                </a:solidFill>
                <a:latin typeface="Arial" pitchFamily="34" charset="0"/>
                <a:cs typeface="Arial" pitchFamily="34" charset="0"/>
              </a:rPr>
              <a:t>and draws on </a:t>
            </a:r>
            <a:r>
              <a:rPr lang="en-US" sz="1000" dirty="0" smtClean="0">
                <a:solidFill>
                  <a:schemeClr val="bg1"/>
                </a:solidFill>
                <a:latin typeface="Arial" pitchFamily="34" charset="0"/>
                <a:cs typeface="Arial" pitchFamily="34" charset="0"/>
              </a:rPr>
              <a:t>Rightshore</a:t>
            </a:r>
            <a:r>
              <a:rPr lang="en-US" sz="1000" b="1" baseline="30000" dirty="0" smtClean="0">
                <a:solidFill>
                  <a:schemeClr val="bg1"/>
                </a:solidFill>
                <a:latin typeface="Arial" pitchFamily="34" charset="0"/>
                <a:cs typeface="Arial" pitchFamily="34" charset="0"/>
              </a:rPr>
              <a:t>®</a:t>
            </a:r>
            <a:r>
              <a:rPr lang="en-US" sz="1000" dirty="0" smtClean="0">
                <a:solidFill>
                  <a:schemeClr val="bg1"/>
                </a:solidFill>
                <a:latin typeface="Arial" pitchFamily="34" charset="0"/>
                <a:cs typeface="Arial" pitchFamily="34" charset="0"/>
              </a:rPr>
              <a:t>, </a:t>
            </a:r>
            <a:r>
              <a:rPr lang="en-US" sz="1000" dirty="0">
                <a:solidFill>
                  <a:schemeClr val="bg1"/>
                </a:solidFill>
                <a:latin typeface="Arial" pitchFamily="34" charset="0"/>
                <a:cs typeface="Arial" pitchFamily="34" charset="0"/>
              </a:rPr>
              <a:t>its worldwide delivery model</a:t>
            </a:r>
            <a:r>
              <a:rPr lang="en-US" sz="1000" dirty="0" smtClean="0">
                <a:solidFill>
                  <a:schemeClr val="bg1"/>
                </a:solidFill>
                <a:latin typeface="Arial" pitchFamily="34" charset="0"/>
                <a:cs typeface="Arial" pitchFamily="34" charset="0"/>
              </a:rPr>
              <a:t>.</a:t>
            </a:r>
            <a:endParaRPr lang="en-US" sz="1000" dirty="0">
              <a:solidFill>
                <a:schemeClr val="bg1"/>
              </a:solidFill>
              <a:latin typeface="Arial" pitchFamily="34" charset="0"/>
              <a:cs typeface="Arial" pitchFamily="34" charset="0"/>
            </a:endParaRPr>
          </a:p>
          <a:p>
            <a:pPr marL="0" indent="0" algn="just"/>
            <a:endParaRPr lang="en-US" sz="1050" dirty="0">
              <a:solidFill>
                <a:schemeClr val="bg1"/>
              </a:solidFill>
              <a:latin typeface="Arial" pitchFamily="34" charset="0"/>
              <a:cs typeface="Arial" pitchFamily="34" charset="0"/>
            </a:endParaRPr>
          </a:p>
          <a:p>
            <a:pPr marL="0" indent="0" algn="just"/>
            <a:r>
              <a:rPr lang="en-US" sz="900" i="1" dirty="0">
                <a:solidFill>
                  <a:schemeClr val="bg1"/>
                </a:solidFill>
                <a:latin typeface="Arial" pitchFamily="34" charset="0"/>
                <a:cs typeface="Arial" pitchFamily="34" charset="0"/>
              </a:rPr>
              <a:t>Rightshore</a:t>
            </a:r>
            <a:r>
              <a:rPr lang="en-US" sz="900" i="1" baseline="30000" dirty="0">
                <a:solidFill>
                  <a:schemeClr val="bg1"/>
                </a:solidFill>
                <a:latin typeface="Arial" pitchFamily="34" charset="0"/>
                <a:cs typeface="Arial" pitchFamily="34" charset="0"/>
              </a:rPr>
              <a:t>®</a:t>
            </a:r>
            <a:r>
              <a:rPr lang="en-US" sz="900" i="1" dirty="0">
                <a:solidFill>
                  <a:schemeClr val="bg1"/>
                </a:solidFill>
                <a:latin typeface="Arial" pitchFamily="34" charset="0"/>
                <a:cs typeface="Arial" pitchFamily="34" charset="0"/>
              </a:rPr>
              <a:t> is a trademark belonging to Capgemini</a:t>
            </a:r>
            <a:endParaRPr lang="en-US" sz="900" b="1" kern="0" noProof="1">
              <a:solidFill>
                <a:schemeClr val="bg1"/>
              </a:solidFill>
              <a:latin typeface="Arial" pitchFamily="34" charset="0"/>
              <a:cs typeface="Arial" pitchFamily="34" charset="0"/>
            </a:endParaRPr>
          </a:p>
        </p:txBody>
      </p:sp>
      <p:pic>
        <p:nvPicPr>
          <p:cNvPr id="338" name="Image 337" descr="CBE_Label_ppt.png"/>
          <p:cNvPicPr>
            <a:picLocks noChangeAspect="1"/>
          </p:cNvPicPr>
          <p:nvPr userDrawn="1"/>
        </p:nvPicPr>
        <p:blipFill>
          <a:blip r:embed="rId8" cstate="print"/>
          <a:stretch>
            <a:fillRect/>
          </a:stretch>
        </p:blipFill>
        <p:spPr>
          <a:xfrm>
            <a:off x="961172" y="3468294"/>
            <a:ext cx="575526" cy="522508"/>
          </a:xfrm>
          <a:prstGeom prst="rect">
            <a:avLst/>
          </a:prstGeom>
        </p:spPr>
      </p:pic>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losing 2">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nvGraphicFramePr>
        <p:xfrm>
          <a:off x="1" y="1"/>
          <a:ext cx="162898" cy="143985"/>
        </p:xfrm>
        <a:graphic>
          <a:graphicData uri="http://schemas.openxmlformats.org/presentationml/2006/ole">
            <p:oleObj spid="_x0000_s131266" name="think-cell Slide" r:id="rId4" imgW="360" imgH="360" progId="">
              <p:embed/>
            </p:oleObj>
          </a:graphicData>
        </a:graphic>
      </p:graphicFrame>
      <p:sp>
        <p:nvSpPr>
          <p:cNvPr id="5" name="Rectangle 9"/>
          <p:cNvSpPr>
            <a:spLocks noChangeArrowheads="1"/>
          </p:cNvSpPr>
          <p:nvPr userDrawn="1">
            <p:custDataLst>
              <p:tags r:id="rId2"/>
            </p:custDataLst>
          </p:nvPr>
        </p:nvSpPr>
        <p:spPr bwMode="gray">
          <a:xfrm>
            <a:off x="5855485" y="2940256"/>
            <a:ext cx="4718592" cy="2376667"/>
          </a:xfrm>
          <a:custGeom>
            <a:avLst/>
            <a:gdLst>
              <a:gd name="connsiteX0" fmla="*/ 0 w 4423977"/>
              <a:gd name="connsiteY0" fmla="*/ 164137 h 2296914"/>
              <a:gd name="connsiteX1" fmla="*/ 48075 w 4423977"/>
              <a:gd name="connsiteY1" fmla="*/ 48075 h 2296914"/>
              <a:gd name="connsiteX2" fmla="*/ 164138 w 4423977"/>
              <a:gd name="connsiteY2" fmla="*/ 1 h 2296914"/>
              <a:gd name="connsiteX3" fmla="*/ 4259840 w 4423977"/>
              <a:gd name="connsiteY3" fmla="*/ 0 h 2296914"/>
              <a:gd name="connsiteX4" fmla="*/ 4375902 w 4423977"/>
              <a:gd name="connsiteY4" fmla="*/ 48075 h 2296914"/>
              <a:gd name="connsiteX5" fmla="*/ 4423976 w 4423977"/>
              <a:gd name="connsiteY5" fmla="*/ 164138 h 2296914"/>
              <a:gd name="connsiteX6" fmla="*/ 4423977 w 4423977"/>
              <a:gd name="connsiteY6" fmla="*/ 2132777 h 2296914"/>
              <a:gd name="connsiteX7" fmla="*/ 4375902 w 4423977"/>
              <a:gd name="connsiteY7" fmla="*/ 2248839 h 2296914"/>
              <a:gd name="connsiteX8" fmla="*/ 4259840 w 4423977"/>
              <a:gd name="connsiteY8" fmla="*/ 2296914 h 2296914"/>
              <a:gd name="connsiteX9" fmla="*/ 164137 w 4423977"/>
              <a:gd name="connsiteY9" fmla="*/ 2296914 h 2296914"/>
              <a:gd name="connsiteX10" fmla="*/ 48075 w 4423977"/>
              <a:gd name="connsiteY10" fmla="*/ 2248839 h 2296914"/>
              <a:gd name="connsiteX11" fmla="*/ 0 w 4423977"/>
              <a:gd name="connsiteY11" fmla="*/ 2132777 h 2296914"/>
              <a:gd name="connsiteX12" fmla="*/ 0 w 4423977"/>
              <a:gd name="connsiteY12" fmla="*/ 164137 h 2296914"/>
              <a:gd name="connsiteX0" fmla="*/ 0 w 4969813"/>
              <a:gd name="connsiteY0" fmla="*/ 164137 h 2488240"/>
              <a:gd name="connsiteX1" fmla="*/ 48075 w 4969813"/>
              <a:gd name="connsiteY1" fmla="*/ 48075 h 2488240"/>
              <a:gd name="connsiteX2" fmla="*/ 164138 w 4969813"/>
              <a:gd name="connsiteY2" fmla="*/ 1 h 2488240"/>
              <a:gd name="connsiteX3" fmla="*/ 4259840 w 4969813"/>
              <a:gd name="connsiteY3" fmla="*/ 0 h 2488240"/>
              <a:gd name="connsiteX4" fmla="*/ 4375902 w 4969813"/>
              <a:gd name="connsiteY4" fmla="*/ 48075 h 2488240"/>
              <a:gd name="connsiteX5" fmla="*/ 4423976 w 4969813"/>
              <a:gd name="connsiteY5" fmla="*/ 164138 h 2488240"/>
              <a:gd name="connsiteX6" fmla="*/ 4423977 w 4969813"/>
              <a:gd name="connsiteY6" fmla="*/ 2132777 h 2488240"/>
              <a:gd name="connsiteX7" fmla="*/ 4259840 w 4969813"/>
              <a:gd name="connsiteY7" fmla="*/ 2296914 h 2488240"/>
              <a:gd name="connsiteX8" fmla="*/ 164137 w 4969813"/>
              <a:gd name="connsiteY8" fmla="*/ 2296914 h 2488240"/>
              <a:gd name="connsiteX9" fmla="*/ 48075 w 4969813"/>
              <a:gd name="connsiteY9" fmla="*/ 2248839 h 2488240"/>
              <a:gd name="connsiteX10" fmla="*/ 0 w 4969813"/>
              <a:gd name="connsiteY10" fmla="*/ 2132777 h 2488240"/>
              <a:gd name="connsiteX11" fmla="*/ 0 w 4969813"/>
              <a:gd name="connsiteY11" fmla="*/ 164137 h 2488240"/>
              <a:gd name="connsiteX0" fmla="*/ 0 w 4969813"/>
              <a:gd name="connsiteY0" fmla="*/ 164137 h 2296914"/>
              <a:gd name="connsiteX1" fmla="*/ 48075 w 4969813"/>
              <a:gd name="connsiteY1" fmla="*/ 48075 h 2296914"/>
              <a:gd name="connsiteX2" fmla="*/ 164138 w 4969813"/>
              <a:gd name="connsiteY2" fmla="*/ 1 h 2296914"/>
              <a:gd name="connsiteX3" fmla="*/ 4259840 w 4969813"/>
              <a:gd name="connsiteY3" fmla="*/ 0 h 2296914"/>
              <a:gd name="connsiteX4" fmla="*/ 4375902 w 4969813"/>
              <a:gd name="connsiteY4" fmla="*/ 48075 h 2296914"/>
              <a:gd name="connsiteX5" fmla="*/ 4423976 w 4969813"/>
              <a:gd name="connsiteY5" fmla="*/ 164138 h 2296914"/>
              <a:gd name="connsiteX6" fmla="*/ 4259840 w 4969813"/>
              <a:gd name="connsiteY6" fmla="*/ 2296914 h 2296914"/>
              <a:gd name="connsiteX7" fmla="*/ 164137 w 4969813"/>
              <a:gd name="connsiteY7" fmla="*/ 2296914 h 2296914"/>
              <a:gd name="connsiteX8" fmla="*/ 48075 w 4969813"/>
              <a:gd name="connsiteY8" fmla="*/ 2248839 h 2296914"/>
              <a:gd name="connsiteX9" fmla="*/ 0 w 4969813"/>
              <a:gd name="connsiteY9" fmla="*/ 2132777 h 2296914"/>
              <a:gd name="connsiteX10" fmla="*/ 0 w 4969813"/>
              <a:gd name="connsiteY10" fmla="*/ 164137 h 2296914"/>
              <a:gd name="connsiteX0" fmla="*/ 0 w 4961801"/>
              <a:gd name="connsiteY0" fmla="*/ 498881 h 2631658"/>
              <a:gd name="connsiteX1" fmla="*/ 48075 w 4961801"/>
              <a:gd name="connsiteY1" fmla="*/ 382819 h 2631658"/>
              <a:gd name="connsiteX2" fmla="*/ 164138 w 4961801"/>
              <a:gd name="connsiteY2" fmla="*/ 334745 h 2631658"/>
              <a:gd name="connsiteX3" fmla="*/ 4259840 w 4961801"/>
              <a:gd name="connsiteY3" fmla="*/ 334744 h 2631658"/>
              <a:gd name="connsiteX4" fmla="*/ 4375902 w 4961801"/>
              <a:gd name="connsiteY4" fmla="*/ 382819 h 2631658"/>
              <a:gd name="connsiteX5" fmla="*/ 4259840 w 4961801"/>
              <a:gd name="connsiteY5" fmla="*/ 2631658 h 2631658"/>
              <a:gd name="connsiteX6" fmla="*/ 164137 w 4961801"/>
              <a:gd name="connsiteY6" fmla="*/ 2631658 h 2631658"/>
              <a:gd name="connsiteX7" fmla="*/ 48075 w 4961801"/>
              <a:gd name="connsiteY7" fmla="*/ 2583583 h 2631658"/>
              <a:gd name="connsiteX8" fmla="*/ 0 w 4961801"/>
              <a:gd name="connsiteY8" fmla="*/ 2467521 h 2631658"/>
              <a:gd name="connsiteX9" fmla="*/ 0 w 4961801"/>
              <a:gd name="connsiteY9" fmla="*/ 498881 h 2631658"/>
              <a:gd name="connsiteX0" fmla="*/ 0 w 4942457"/>
              <a:gd name="connsiteY0" fmla="*/ 164137 h 2296914"/>
              <a:gd name="connsiteX1" fmla="*/ 48075 w 4942457"/>
              <a:gd name="connsiteY1" fmla="*/ 48075 h 2296914"/>
              <a:gd name="connsiteX2" fmla="*/ 164138 w 4942457"/>
              <a:gd name="connsiteY2" fmla="*/ 1 h 2296914"/>
              <a:gd name="connsiteX3" fmla="*/ 4259840 w 4942457"/>
              <a:gd name="connsiteY3" fmla="*/ 0 h 2296914"/>
              <a:gd name="connsiteX4" fmla="*/ 4259840 w 4942457"/>
              <a:gd name="connsiteY4" fmla="*/ 2296914 h 2296914"/>
              <a:gd name="connsiteX5" fmla="*/ 164137 w 4942457"/>
              <a:gd name="connsiteY5" fmla="*/ 2296914 h 2296914"/>
              <a:gd name="connsiteX6" fmla="*/ 48075 w 4942457"/>
              <a:gd name="connsiteY6" fmla="*/ 2248839 h 2296914"/>
              <a:gd name="connsiteX7" fmla="*/ 0 w 4942457"/>
              <a:gd name="connsiteY7" fmla="*/ 2132777 h 2296914"/>
              <a:gd name="connsiteX8" fmla="*/ 0 w 4942457"/>
              <a:gd name="connsiteY8" fmla="*/ 164137 h 2296914"/>
              <a:gd name="connsiteX0" fmla="*/ 4259840 w 4942457"/>
              <a:gd name="connsiteY0" fmla="*/ 0 h 2296914"/>
              <a:gd name="connsiteX1" fmla="*/ 4259840 w 4942457"/>
              <a:gd name="connsiteY1" fmla="*/ 2296914 h 2296914"/>
              <a:gd name="connsiteX2" fmla="*/ 164137 w 4942457"/>
              <a:gd name="connsiteY2" fmla="*/ 2296914 h 2296914"/>
              <a:gd name="connsiteX3" fmla="*/ 48075 w 4942457"/>
              <a:gd name="connsiteY3" fmla="*/ 2248839 h 2296914"/>
              <a:gd name="connsiteX4" fmla="*/ 0 w 4942457"/>
              <a:gd name="connsiteY4" fmla="*/ 2132777 h 2296914"/>
              <a:gd name="connsiteX5" fmla="*/ 0 w 4942457"/>
              <a:gd name="connsiteY5" fmla="*/ 164137 h 2296914"/>
              <a:gd name="connsiteX6" fmla="*/ 48075 w 4942457"/>
              <a:gd name="connsiteY6" fmla="*/ 48075 h 2296914"/>
              <a:gd name="connsiteX7" fmla="*/ 164138 w 4942457"/>
              <a:gd name="connsiteY7" fmla="*/ 1 h 2296914"/>
              <a:gd name="connsiteX8" fmla="*/ 4351280 w 4942457"/>
              <a:gd name="connsiteY8" fmla="*/ 91440 h 2296914"/>
              <a:gd name="connsiteX0" fmla="*/ 4259840 w 4351280"/>
              <a:gd name="connsiteY0" fmla="*/ 2296914 h 2296914"/>
              <a:gd name="connsiteX1" fmla="*/ 164137 w 4351280"/>
              <a:gd name="connsiteY1" fmla="*/ 2296914 h 2296914"/>
              <a:gd name="connsiteX2" fmla="*/ 48075 w 4351280"/>
              <a:gd name="connsiteY2" fmla="*/ 2248839 h 2296914"/>
              <a:gd name="connsiteX3" fmla="*/ 0 w 4351280"/>
              <a:gd name="connsiteY3" fmla="*/ 2132777 h 2296914"/>
              <a:gd name="connsiteX4" fmla="*/ 0 w 4351280"/>
              <a:gd name="connsiteY4" fmla="*/ 164137 h 2296914"/>
              <a:gd name="connsiteX5" fmla="*/ 48075 w 4351280"/>
              <a:gd name="connsiteY5" fmla="*/ 48075 h 2296914"/>
              <a:gd name="connsiteX6" fmla="*/ 164138 w 4351280"/>
              <a:gd name="connsiteY6" fmla="*/ 1 h 2296914"/>
              <a:gd name="connsiteX7" fmla="*/ 4351280 w 4351280"/>
              <a:gd name="connsiteY7" fmla="*/ 91440 h 2296914"/>
              <a:gd name="connsiteX0" fmla="*/ 4259840 w 4330731"/>
              <a:gd name="connsiteY0" fmla="*/ 2297942 h 2297942"/>
              <a:gd name="connsiteX1" fmla="*/ 164137 w 4330731"/>
              <a:gd name="connsiteY1" fmla="*/ 2297942 h 2297942"/>
              <a:gd name="connsiteX2" fmla="*/ 48075 w 4330731"/>
              <a:gd name="connsiteY2" fmla="*/ 2249867 h 2297942"/>
              <a:gd name="connsiteX3" fmla="*/ 0 w 4330731"/>
              <a:gd name="connsiteY3" fmla="*/ 2133805 h 2297942"/>
              <a:gd name="connsiteX4" fmla="*/ 0 w 4330731"/>
              <a:gd name="connsiteY4" fmla="*/ 165165 h 2297942"/>
              <a:gd name="connsiteX5" fmla="*/ 48075 w 4330731"/>
              <a:gd name="connsiteY5" fmla="*/ 49103 h 2297942"/>
              <a:gd name="connsiteX6" fmla="*/ 164138 w 4330731"/>
              <a:gd name="connsiteY6" fmla="*/ 1029 h 2297942"/>
              <a:gd name="connsiteX7" fmla="*/ 4330731 w 4330731"/>
              <a:gd name="connsiteY7" fmla="*/ 0 h 2297942"/>
              <a:gd name="connsiteX0" fmla="*/ 4259840 w 4259840"/>
              <a:gd name="connsiteY0" fmla="*/ 2296914 h 2296914"/>
              <a:gd name="connsiteX1" fmla="*/ 164137 w 4259840"/>
              <a:gd name="connsiteY1" fmla="*/ 2296914 h 2296914"/>
              <a:gd name="connsiteX2" fmla="*/ 48075 w 4259840"/>
              <a:gd name="connsiteY2" fmla="*/ 2248839 h 2296914"/>
              <a:gd name="connsiteX3" fmla="*/ 0 w 4259840"/>
              <a:gd name="connsiteY3" fmla="*/ 2132777 h 2296914"/>
              <a:gd name="connsiteX4" fmla="*/ 0 w 4259840"/>
              <a:gd name="connsiteY4" fmla="*/ 164137 h 2296914"/>
              <a:gd name="connsiteX5" fmla="*/ 48075 w 4259840"/>
              <a:gd name="connsiteY5" fmla="*/ 48075 h 2296914"/>
              <a:gd name="connsiteX6" fmla="*/ 164138 w 4259840"/>
              <a:gd name="connsiteY6" fmla="*/ 1 h 2296914"/>
              <a:gd name="connsiteX0" fmla="*/ 4259840 w 4259840"/>
              <a:gd name="connsiteY0" fmla="*/ 2248839 h 2248839"/>
              <a:gd name="connsiteX1" fmla="*/ 164137 w 4259840"/>
              <a:gd name="connsiteY1" fmla="*/ 2248839 h 2248839"/>
              <a:gd name="connsiteX2" fmla="*/ 48075 w 4259840"/>
              <a:gd name="connsiteY2" fmla="*/ 2200764 h 2248839"/>
              <a:gd name="connsiteX3" fmla="*/ 0 w 4259840"/>
              <a:gd name="connsiteY3" fmla="*/ 2084702 h 2248839"/>
              <a:gd name="connsiteX4" fmla="*/ 0 w 4259840"/>
              <a:gd name="connsiteY4" fmla="*/ 116062 h 2248839"/>
              <a:gd name="connsiteX5" fmla="*/ 48075 w 4259840"/>
              <a:gd name="connsiteY5" fmla="*/ 0 h 2248839"/>
              <a:gd name="connsiteX0" fmla="*/ 4259840 w 4259840"/>
              <a:gd name="connsiteY0" fmla="*/ 2132777 h 2132777"/>
              <a:gd name="connsiteX1" fmla="*/ 164137 w 4259840"/>
              <a:gd name="connsiteY1" fmla="*/ 2132777 h 2132777"/>
              <a:gd name="connsiteX2" fmla="*/ 48075 w 4259840"/>
              <a:gd name="connsiteY2" fmla="*/ 2084702 h 2132777"/>
              <a:gd name="connsiteX3" fmla="*/ 0 w 4259840"/>
              <a:gd name="connsiteY3" fmla="*/ 1968640 h 2132777"/>
              <a:gd name="connsiteX4" fmla="*/ 0 w 4259840"/>
              <a:gd name="connsiteY4" fmla="*/ 0 h 2132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9840" h="2132777">
                <a:moveTo>
                  <a:pt x="4259840" y="2132777"/>
                </a:moveTo>
                <a:lnTo>
                  <a:pt x="164137" y="2132777"/>
                </a:lnTo>
                <a:cubicBezTo>
                  <a:pt x="120605" y="2132777"/>
                  <a:pt x="78856" y="2115484"/>
                  <a:pt x="48075" y="2084702"/>
                </a:cubicBezTo>
                <a:cubicBezTo>
                  <a:pt x="17293" y="2053920"/>
                  <a:pt x="0" y="2012171"/>
                  <a:pt x="0" y="1968640"/>
                </a:cubicBezTo>
                <a:lnTo>
                  <a:pt x="0" y="0"/>
                </a:lnTo>
              </a:path>
            </a:pathLst>
          </a:custGeom>
          <a:noFill/>
          <a:ln w="19050" cap="flat" cmpd="sng" algn="ctr">
            <a:gradFill flip="none" rotWithShape="1">
              <a:gsLst>
                <a:gs pos="0">
                  <a:schemeClr val="accent5"/>
                </a:gs>
                <a:gs pos="100000">
                  <a:schemeClr val="accent5">
                    <a:lumMod val="20000"/>
                    <a:lumOff val="80000"/>
                  </a:schemeClr>
                </a:gs>
              </a:gsLst>
              <a:lin ang="240000" scaled="0"/>
              <a:tileRect/>
            </a:gradFill>
            <a:prstDash val="solid"/>
            <a:round/>
          </a:ln>
          <a:effectLst/>
        </p:spPr>
        <p:txBody>
          <a:bodyPr wrap="square" lIns="360000" tIns="50951" rIns="216000" bIns="144000" rtlCol="0" anchor="b"/>
          <a:lstStyle/>
          <a:p>
            <a:pPr marL="0" marR="0" indent="0" algn="just" defTabSz="1042966" rtl="0" eaLnBrk="1" fontAlgn="auto" latinLnBrk="0" hangingPunct="1">
              <a:lnSpc>
                <a:spcPct val="100000"/>
              </a:lnSpc>
              <a:spcBef>
                <a:spcPts val="0"/>
              </a:spcBef>
              <a:spcAft>
                <a:spcPts val="0"/>
              </a:spcAft>
              <a:buClrTx/>
              <a:buSzTx/>
              <a:buFontTx/>
              <a:buNone/>
              <a:tabLst/>
              <a:defRPr/>
            </a:pPr>
            <a:r>
              <a:rPr lang="en-US" sz="1800" b="1" dirty="0" smtClean="0">
                <a:solidFill>
                  <a:schemeClr val="bg1"/>
                </a:solidFill>
                <a:latin typeface="Arial"/>
                <a:cs typeface="Arial"/>
              </a:rPr>
              <a:t>About Capgemini</a:t>
            </a:r>
            <a:endParaRPr lang="en-US" sz="1000" dirty="0" smtClean="0">
              <a:solidFill>
                <a:schemeClr val="bg1"/>
              </a:solidFill>
              <a:latin typeface="Arial" pitchFamily="34" charset="0"/>
              <a:cs typeface="Arial" pitchFamily="34" charset="0"/>
            </a:endParaRPr>
          </a:p>
          <a:p>
            <a:pPr marL="0" indent="0" algn="just"/>
            <a:endParaRPr lang="en-US" sz="1000" dirty="0" smtClean="0">
              <a:solidFill>
                <a:schemeClr val="bg1"/>
              </a:solidFill>
              <a:latin typeface="Arial" pitchFamily="34" charset="0"/>
              <a:cs typeface="Arial" pitchFamily="34" charset="0"/>
            </a:endParaRPr>
          </a:p>
          <a:p>
            <a:pPr marL="0" indent="0" algn="just"/>
            <a:r>
              <a:rPr lang="en-US" sz="1000" dirty="0" smtClean="0">
                <a:solidFill>
                  <a:schemeClr val="bg1"/>
                </a:solidFill>
                <a:latin typeface="Arial" pitchFamily="34" charset="0"/>
                <a:cs typeface="Arial" pitchFamily="34" charset="0"/>
              </a:rPr>
              <a:t>With more than 125,000 people in 44 countries, Capgemini is one of the world's foremost providers of consulting, technology and outsourcing services. The Group reported 2012 global revenues of EUR 10.3 billion.</a:t>
            </a:r>
          </a:p>
          <a:p>
            <a:pPr marL="0" indent="0" algn="just"/>
            <a:r>
              <a:rPr lang="en-US" sz="1000" dirty="0" smtClean="0">
                <a:solidFill>
                  <a:schemeClr val="bg1"/>
                </a:solidFill>
                <a:latin typeface="Arial" pitchFamily="34" charset="0"/>
                <a:cs typeface="Arial" pitchFamily="34" charset="0"/>
              </a:rPr>
              <a:t>Together </a:t>
            </a:r>
            <a:r>
              <a:rPr lang="en-US" sz="1000" dirty="0">
                <a:solidFill>
                  <a:schemeClr val="bg1"/>
                </a:solidFill>
                <a:latin typeface="Arial" pitchFamily="34" charset="0"/>
                <a:cs typeface="Arial" pitchFamily="34" charset="0"/>
              </a:rPr>
              <a:t>with its clients, Capgemini creates and delivers business and technology solutions that fit their needs and drive the results they want. A deeply multicultural organization, Capgemini has developed its own way of working, the Collaborative Business </a:t>
            </a:r>
            <a:r>
              <a:rPr lang="en-US" sz="1000" dirty="0" smtClean="0">
                <a:solidFill>
                  <a:schemeClr val="bg1"/>
                </a:solidFill>
                <a:latin typeface="Arial" pitchFamily="34" charset="0"/>
                <a:cs typeface="Arial" pitchFamily="34" charset="0"/>
              </a:rPr>
              <a:t>Experience™, </a:t>
            </a:r>
            <a:r>
              <a:rPr lang="en-US" sz="1000" dirty="0">
                <a:solidFill>
                  <a:schemeClr val="bg1"/>
                </a:solidFill>
                <a:latin typeface="Arial" pitchFamily="34" charset="0"/>
                <a:cs typeface="Arial" pitchFamily="34" charset="0"/>
              </a:rPr>
              <a:t>and draws on </a:t>
            </a:r>
            <a:r>
              <a:rPr lang="en-US" sz="1000" dirty="0" smtClean="0">
                <a:solidFill>
                  <a:schemeClr val="bg1"/>
                </a:solidFill>
                <a:latin typeface="Arial" pitchFamily="34" charset="0"/>
                <a:cs typeface="Arial" pitchFamily="34" charset="0"/>
              </a:rPr>
              <a:t>Rightshore</a:t>
            </a:r>
            <a:r>
              <a:rPr lang="en-US" sz="1000" b="1" baseline="30000" dirty="0" smtClean="0">
                <a:solidFill>
                  <a:schemeClr val="bg1"/>
                </a:solidFill>
                <a:latin typeface="Arial" pitchFamily="34" charset="0"/>
                <a:cs typeface="Arial" pitchFamily="34" charset="0"/>
              </a:rPr>
              <a:t>®</a:t>
            </a:r>
            <a:r>
              <a:rPr lang="en-US" sz="1000" dirty="0" smtClean="0">
                <a:solidFill>
                  <a:schemeClr val="bg1"/>
                </a:solidFill>
                <a:latin typeface="Arial" pitchFamily="34" charset="0"/>
                <a:cs typeface="Arial" pitchFamily="34" charset="0"/>
              </a:rPr>
              <a:t>, </a:t>
            </a:r>
            <a:r>
              <a:rPr lang="en-US" sz="1000" dirty="0">
                <a:solidFill>
                  <a:schemeClr val="bg1"/>
                </a:solidFill>
                <a:latin typeface="Arial" pitchFamily="34" charset="0"/>
                <a:cs typeface="Arial" pitchFamily="34" charset="0"/>
              </a:rPr>
              <a:t>its worldwide delivery model</a:t>
            </a:r>
            <a:r>
              <a:rPr lang="en-US" sz="1000" dirty="0" smtClean="0">
                <a:solidFill>
                  <a:schemeClr val="bg1"/>
                </a:solidFill>
                <a:latin typeface="Arial" pitchFamily="34" charset="0"/>
                <a:cs typeface="Arial" pitchFamily="34" charset="0"/>
              </a:rPr>
              <a:t>.</a:t>
            </a:r>
            <a:endParaRPr lang="en-US" sz="1000" dirty="0">
              <a:solidFill>
                <a:schemeClr val="bg1"/>
              </a:solidFill>
              <a:latin typeface="Arial" pitchFamily="34" charset="0"/>
              <a:cs typeface="Arial" pitchFamily="34" charset="0"/>
            </a:endParaRPr>
          </a:p>
          <a:p>
            <a:pPr marL="0" indent="0" algn="just"/>
            <a:endParaRPr lang="en-US" sz="1050" dirty="0">
              <a:solidFill>
                <a:schemeClr val="bg1"/>
              </a:solidFill>
              <a:latin typeface="Arial" pitchFamily="34" charset="0"/>
              <a:cs typeface="Arial" pitchFamily="34" charset="0"/>
            </a:endParaRPr>
          </a:p>
          <a:p>
            <a:pPr marL="0" indent="0" algn="just"/>
            <a:r>
              <a:rPr lang="en-US" sz="900" i="1" dirty="0">
                <a:solidFill>
                  <a:schemeClr val="bg1"/>
                </a:solidFill>
                <a:latin typeface="Arial" pitchFamily="34" charset="0"/>
                <a:cs typeface="Arial" pitchFamily="34" charset="0"/>
              </a:rPr>
              <a:t>Rightshore</a:t>
            </a:r>
            <a:r>
              <a:rPr lang="en-US" sz="900" i="1" baseline="30000" dirty="0">
                <a:solidFill>
                  <a:schemeClr val="bg1"/>
                </a:solidFill>
                <a:latin typeface="Arial" pitchFamily="34" charset="0"/>
                <a:cs typeface="Arial" pitchFamily="34" charset="0"/>
              </a:rPr>
              <a:t>®</a:t>
            </a:r>
            <a:r>
              <a:rPr lang="en-US" sz="900" i="1" dirty="0">
                <a:solidFill>
                  <a:schemeClr val="bg1"/>
                </a:solidFill>
                <a:latin typeface="Arial" pitchFamily="34" charset="0"/>
                <a:cs typeface="Arial" pitchFamily="34" charset="0"/>
              </a:rPr>
              <a:t> is a trademark belonging to Capgemini</a:t>
            </a:r>
            <a:endParaRPr lang="en-US" sz="900" b="1" kern="0" noProof="1">
              <a:solidFill>
                <a:schemeClr val="bg1"/>
              </a:solidFill>
              <a:latin typeface="Arial" pitchFamily="34" charset="0"/>
              <a:cs typeface="Arial" pitchFamily="34" charset="0"/>
            </a:endParaRPr>
          </a:p>
        </p:txBody>
      </p:sp>
      <p:pic>
        <p:nvPicPr>
          <p:cNvPr id="7" name="Image 6" descr="CBE_Label_ppt.png"/>
          <p:cNvPicPr>
            <a:picLocks noChangeAspect="1"/>
          </p:cNvPicPr>
          <p:nvPr userDrawn="1"/>
        </p:nvPicPr>
        <p:blipFill>
          <a:blip r:embed="rId5" cstate="print"/>
          <a:stretch>
            <a:fillRect/>
          </a:stretch>
        </p:blipFill>
        <p:spPr>
          <a:xfrm>
            <a:off x="5578299" y="2791400"/>
            <a:ext cx="575526" cy="522508"/>
          </a:xfrm>
          <a:prstGeom prst="rect">
            <a:avLst/>
          </a:prstGeom>
        </p:spPr>
      </p:pic>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Closing 3">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nvGraphicFramePr>
        <p:xfrm>
          <a:off x="0" y="0"/>
          <a:ext cx="175846" cy="158750"/>
        </p:xfrm>
        <a:graphic>
          <a:graphicData uri="http://schemas.openxmlformats.org/presentationml/2006/ole">
            <p:oleObj spid="_x0000_s130242" name="think-cell Slide" r:id="rId3" imgW="360" imgH="360" progId="">
              <p:embed/>
            </p:oleObj>
          </a:graphicData>
        </a:graphic>
      </p:graphicFrame>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1">
    <p:bg>
      <p:bgPr>
        <a:gradFill rotWithShape="1">
          <a:gsLst>
            <a:gs pos="0">
              <a:schemeClr val="bg1">
                <a:tint val="80000"/>
                <a:satMod val="300000"/>
              </a:schemeClr>
            </a:gs>
            <a:gs pos="100000">
              <a:schemeClr val="accent5">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nvGraphicFramePr>
        <p:xfrm>
          <a:off x="0" y="0"/>
          <a:ext cx="175846" cy="158750"/>
        </p:xfrm>
        <a:graphic>
          <a:graphicData uri="http://schemas.openxmlformats.org/presentationml/2006/ole">
            <p:oleObj spid="_x0000_s142532" name="think-cell Slide" r:id="rId5" imgW="360" imgH="360" progId="">
              <p:embed/>
            </p:oleObj>
          </a:graphicData>
        </a:graphic>
      </p:graphicFrame>
      <p:sp>
        <p:nvSpPr>
          <p:cNvPr id="7" name="Rectangle 7"/>
          <p:cNvSpPr/>
          <p:nvPr userDrawn="1">
            <p:custDataLst>
              <p:tags r:id="rId2"/>
            </p:custDataLst>
          </p:nvPr>
        </p:nvSpPr>
        <p:spPr bwMode="auto">
          <a:xfrm flipV="1">
            <a:off x="-1302" y="3384912"/>
            <a:ext cx="10974103" cy="3473089"/>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411"/>
              <a:gd name="connsiteY0" fmla="*/ 2791 h 3881172"/>
              <a:gd name="connsiteX1" fmla="*/ 10561655 w 10562411"/>
              <a:gd name="connsiteY1" fmla="*/ 0 h 3881172"/>
              <a:gd name="connsiteX2" fmla="*/ 10561157 w 10562411"/>
              <a:gd name="connsiteY2" fmla="*/ 1476338 h 3881172"/>
              <a:gd name="connsiteX3" fmla="*/ 9288594 w 10562411"/>
              <a:gd name="connsiteY3" fmla="*/ 2153103 h 3881172"/>
              <a:gd name="connsiteX4" fmla="*/ 2317558 w 10562411"/>
              <a:gd name="connsiteY4" fmla="*/ 2159512 h 3881172"/>
              <a:gd name="connsiteX5" fmla="*/ 1180889 w 10562411"/>
              <a:gd name="connsiteY5" fmla="*/ 2958168 h 3881172"/>
              <a:gd name="connsiteX6" fmla="*/ 0 w 10562411"/>
              <a:gd name="connsiteY6" fmla="*/ 2174065 h 3881172"/>
              <a:gd name="connsiteX7" fmla="*/ 1331 w 10562411"/>
              <a:gd name="connsiteY7" fmla="*/ 2791 h 3881172"/>
              <a:gd name="connsiteX0" fmla="*/ 1331 w 10562411"/>
              <a:gd name="connsiteY0" fmla="*/ 2791 h 4143392"/>
              <a:gd name="connsiteX1" fmla="*/ 10561655 w 10562411"/>
              <a:gd name="connsiteY1" fmla="*/ 0 h 4143392"/>
              <a:gd name="connsiteX2" fmla="*/ 10561157 w 10562411"/>
              <a:gd name="connsiteY2" fmla="*/ 1476338 h 4143392"/>
              <a:gd name="connsiteX3" fmla="*/ 9288594 w 10562411"/>
              <a:gd name="connsiteY3" fmla="*/ 2153103 h 4143392"/>
              <a:gd name="connsiteX4" fmla="*/ 2317558 w 10562411"/>
              <a:gd name="connsiteY4" fmla="*/ 2159512 h 4143392"/>
              <a:gd name="connsiteX5" fmla="*/ 1180889 w 10562411"/>
              <a:gd name="connsiteY5" fmla="*/ 2958168 h 4143392"/>
              <a:gd name="connsiteX6" fmla="*/ 0 w 10562411"/>
              <a:gd name="connsiteY6" fmla="*/ 2174065 h 4143392"/>
              <a:gd name="connsiteX7" fmla="*/ 1331 w 10562411"/>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336031 w 10580884"/>
              <a:gd name="connsiteY4" fmla="*/ 2159512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013072 w 10580884"/>
              <a:gd name="connsiteY3" fmla="*/ 3716089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641"/>
              <a:gd name="connsiteY0" fmla="*/ 2791 h 4143392"/>
              <a:gd name="connsiteX1" fmla="*/ 10580128 w 10580641"/>
              <a:gd name="connsiteY1" fmla="*/ 0 h 4143392"/>
              <a:gd name="connsiteX2" fmla="*/ 10559884 w 10580641"/>
              <a:gd name="connsiteY2" fmla="*/ 3400831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625733"/>
              <a:gd name="connsiteX1" fmla="*/ 10580128 w 10580641"/>
              <a:gd name="connsiteY1" fmla="*/ 0 h 4625733"/>
              <a:gd name="connsiteX2" fmla="*/ 10559883 w 10580641"/>
              <a:gd name="connsiteY2" fmla="*/ 3953724 h 4625733"/>
              <a:gd name="connsiteX3" fmla="*/ 9013072 w 10580641"/>
              <a:gd name="connsiteY3" fmla="*/ 3716089 h 4625733"/>
              <a:gd name="connsiteX4" fmla="*/ 2283533 w 10580641"/>
              <a:gd name="connsiteY4" fmla="*/ 3711866 h 4625733"/>
              <a:gd name="connsiteX5" fmla="*/ 1199362 w 10580641"/>
              <a:gd name="connsiteY5" fmla="*/ 2958168 h 4625733"/>
              <a:gd name="connsiteX6" fmla="*/ 0 w 10580641"/>
              <a:gd name="connsiteY6" fmla="*/ 3726419 h 4625733"/>
              <a:gd name="connsiteX7" fmla="*/ 19804 w 10580641"/>
              <a:gd name="connsiteY7" fmla="*/ 2791 h 4625733"/>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37052 h 3953724"/>
              <a:gd name="connsiteX7" fmla="*/ 19804 w 10580641"/>
              <a:gd name="connsiteY7" fmla="*/ 2791 h 3953724"/>
              <a:gd name="connsiteX0" fmla="*/ 0 w 10581837"/>
              <a:gd name="connsiteY0" fmla="*/ 13424 h 3953724"/>
              <a:gd name="connsiteX1" fmla="*/ 10581324 w 10581837"/>
              <a:gd name="connsiteY1" fmla="*/ 0 h 3953724"/>
              <a:gd name="connsiteX2" fmla="*/ 10561079 w 10581837"/>
              <a:gd name="connsiteY2" fmla="*/ 3953724 h 3953724"/>
              <a:gd name="connsiteX3" fmla="*/ 9014268 w 10581837"/>
              <a:gd name="connsiteY3" fmla="*/ 3716089 h 3953724"/>
              <a:gd name="connsiteX4" fmla="*/ 2284729 w 10581837"/>
              <a:gd name="connsiteY4" fmla="*/ 3711866 h 3953724"/>
              <a:gd name="connsiteX5" fmla="*/ 1200558 w 10581837"/>
              <a:gd name="connsiteY5" fmla="*/ 2958168 h 3953724"/>
              <a:gd name="connsiteX6" fmla="*/ 1196 w 10581837"/>
              <a:gd name="connsiteY6" fmla="*/ 3737052 h 3953724"/>
              <a:gd name="connsiteX7" fmla="*/ 0 w 10581837"/>
              <a:gd name="connsiteY7" fmla="*/ 13424 h 3953724"/>
              <a:gd name="connsiteX0" fmla="*/ 0 w 10562333"/>
              <a:gd name="connsiteY0" fmla="*/ 24056 h 3964356"/>
              <a:gd name="connsiteX1" fmla="*/ 10549824 w 10562333"/>
              <a:gd name="connsiteY1" fmla="*/ 0 h 3964356"/>
              <a:gd name="connsiteX2" fmla="*/ 10561079 w 10562333"/>
              <a:gd name="connsiteY2" fmla="*/ 3964356 h 3964356"/>
              <a:gd name="connsiteX3" fmla="*/ 9014268 w 10562333"/>
              <a:gd name="connsiteY3" fmla="*/ 3726721 h 3964356"/>
              <a:gd name="connsiteX4" fmla="*/ 2284729 w 10562333"/>
              <a:gd name="connsiteY4" fmla="*/ 3722498 h 3964356"/>
              <a:gd name="connsiteX5" fmla="*/ 1200558 w 10562333"/>
              <a:gd name="connsiteY5" fmla="*/ 2968800 h 3964356"/>
              <a:gd name="connsiteX6" fmla="*/ 1196 w 10562333"/>
              <a:gd name="connsiteY6" fmla="*/ 3747684 h 3964356"/>
              <a:gd name="connsiteX7" fmla="*/ 0 w 10562333"/>
              <a:gd name="connsiteY7" fmla="*/ 24056 h 3964356"/>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10559884 w 10650182"/>
              <a:gd name="connsiteY0" fmla="*/ 18474 h 3993463"/>
              <a:gd name="connsiteX1" fmla="*/ 10561079 w 10650182"/>
              <a:gd name="connsiteY1" fmla="*/ 3993463 h 3993463"/>
              <a:gd name="connsiteX2" fmla="*/ 9024769 w 10650182"/>
              <a:gd name="connsiteY2" fmla="*/ 3734563 h 3993463"/>
              <a:gd name="connsiteX3" fmla="*/ 2295230 w 10650182"/>
              <a:gd name="connsiteY3" fmla="*/ 3719707 h 3993463"/>
              <a:gd name="connsiteX4" fmla="*/ 1200558 w 10650182"/>
              <a:gd name="connsiteY4" fmla="*/ 2997907 h 3993463"/>
              <a:gd name="connsiteX5" fmla="*/ 0 w 10650182"/>
              <a:gd name="connsiteY5" fmla="*/ 3712996 h 3993463"/>
              <a:gd name="connsiteX6" fmla="*/ 0 w 10650182"/>
              <a:gd name="connsiteY6" fmla="*/ 0 h 3993463"/>
              <a:gd name="connsiteX7" fmla="*/ 10650182 w 10650182"/>
              <a:gd name="connsiteY7" fmla="*/ 109914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10285606 w 10562333"/>
              <a:gd name="connsiteY7" fmla="*/ 418258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9991611 w 10562333"/>
              <a:gd name="connsiteY7" fmla="*/ 56751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0 w 10562846"/>
              <a:gd name="connsiteY5" fmla="*/ 3712996 h 3993463"/>
              <a:gd name="connsiteX6" fmla="*/ 0 w 10562846"/>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2449 w 10562846"/>
              <a:gd name="connsiteY5" fmla="*/ 3734261 h 3993463"/>
              <a:gd name="connsiteX6" fmla="*/ 0 w 10562846"/>
              <a:gd name="connsiteY6" fmla="*/ 0 h 3993463"/>
              <a:gd name="connsiteX0" fmla="*/ 10562334 w 10562847"/>
              <a:gd name="connsiteY0" fmla="*/ 1074357 h 5067820"/>
              <a:gd name="connsiteX1" fmla="*/ 10561080 w 10562847"/>
              <a:gd name="connsiteY1" fmla="*/ 5067820 h 5067820"/>
              <a:gd name="connsiteX2" fmla="*/ 9024770 w 10562847"/>
              <a:gd name="connsiteY2" fmla="*/ 4808920 h 5067820"/>
              <a:gd name="connsiteX3" fmla="*/ 2295231 w 10562847"/>
              <a:gd name="connsiteY3" fmla="*/ 4794064 h 5067820"/>
              <a:gd name="connsiteX4" fmla="*/ 1200559 w 10562847"/>
              <a:gd name="connsiteY4" fmla="*/ 4072264 h 5067820"/>
              <a:gd name="connsiteX5" fmla="*/ 2450 w 10562847"/>
              <a:gd name="connsiteY5" fmla="*/ 4808618 h 5067820"/>
              <a:gd name="connsiteX6" fmla="*/ 0 w 10562847"/>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2450 w 10563360"/>
              <a:gd name="connsiteY5" fmla="*/ 4808618 h 5067820"/>
              <a:gd name="connsiteX6" fmla="*/ 0 w 10563360"/>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514 w 10563360"/>
              <a:gd name="connsiteY5" fmla="*/ 4819150 h 5067820"/>
              <a:gd name="connsiteX6" fmla="*/ 0 w 10563360"/>
              <a:gd name="connsiteY6" fmla="*/ 0 h 5067820"/>
              <a:gd name="connsiteX0" fmla="*/ 10562847 w 10564614"/>
              <a:gd name="connsiteY0" fmla="*/ 0 h 5152083"/>
              <a:gd name="connsiteX1" fmla="*/ 10563360 w 10564614"/>
              <a:gd name="connsiteY1" fmla="*/ 5152083 h 5152083"/>
              <a:gd name="connsiteX2" fmla="*/ 9024770 w 10564614"/>
              <a:gd name="connsiteY2" fmla="*/ 4808920 h 5152083"/>
              <a:gd name="connsiteX3" fmla="*/ 2295231 w 10564614"/>
              <a:gd name="connsiteY3" fmla="*/ 4794064 h 5152083"/>
              <a:gd name="connsiteX4" fmla="*/ 1200559 w 10564614"/>
              <a:gd name="connsiteY4" fmla="*/ 4072264 h 5152083"/>
              <a:gd name="connsiteX5" fmla="*/ 514 w 10564614"/>
              <a:gd name="connsiteY5" fmla="*/ 4819150 h 5152083"/>
              <a:gd name="connsiteX6" fmla="*/ 0 w 10564614"/>
              <a:gd name="connsiteY6" fmla="*/ 0 h 5152083"/>
              <a:gd name="connsiteX0" fmla="*/ 10562847 w 10564614"/>
              <a:gd name="connsiteY0" fmla="*/ 0 h 5183681"/>
              <a:gd name="connsiteX1" fmla="*/ 10563360 w 10564614"/>
              <a:gd name="connsiteY1" fmla="*/ 5183681 h 5183681"/>
              <a:gd name="connsiteX2" fmla="*/ 9024770 w 10564614"/>
              <a:gd name="connsiteY2" fmla="*/ 4808920 h 5183681"/>
              <a:gd name="connsiteX3" fmla="*/ 2295231 w 10564614"/>
              <a:gd name="connsiteY3" fmla="*/ 4794064 h 5183681"/>
              <a:gd name="connsiteX4" fmla="*/ 1200559 w 10564614"/>
              <a:gd name="connsiteY4" fmla="*/ 4072264 h 5183681"/>
              <a:gd name="connsiteX5" fmla="*/ 514 w 10564614"/>
              <a:gd name="connsiteY5" fmla="*/ 4819150 h 5183681"/>
              <a:gd name="connsiteX6" fmla="*/ 0 w 10564614"/>
              <a:gd name="connsiteY6" fmla="*/ 0 h 518368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87552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1864314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333 w 10564100"/>
              <a:gd name="connsiteY0" fmla="*/ 0 h 3793347"/>
              <a:gd name="connsiteX1" fmla="*/ 10562846 w 10564100"/>
              <a:gd name="connsiteY1" fmla="*/ 3793347 h 3793347"/>
              <a:gd name="connsiteX2" fmla="*/ 9024256 w 10564100"/>
              <a:gd name="connsiteY2" fmla="*/ 2944606 h 3793347"/>
              <a:gd name="connsiteX3" fmla="*/ 2294717 w 10564100"/>
              <a:gd name="connsiteY3" fmla="*/ 2929750 h 3793347"/>
              <a:gd name="connsiteX4" fmla="*/ 1200045 w 10564100"/>
              <a:gd name="connsiteY4" fmla="*/ 2207950 h 3793347"/>
              <a:gd name="connsiteX5" fmla="*/ 0 w 10564100"/>
              <a:gd name="connsiteY5" fmla="*/ 2933771 h 3793347"/>
              <a:gd name="connsiteX6" fmla="*/ 30995 w 10564100"/>
              <a:gd name="connsiteY6" fmla="*/ 0 h 3793347"/>
              <a:gd name="connsiteX0" fmla="*/ 10562333 w 10564100"/>
              <a:gd name="connsiteY0" fmla="*/ 0 h 3793347"/>
              <a:gd name="connsiteX1" fmla="*/ 10562846 w 10564100"/>
              <a:gd name="connsiteY1" fmla="*/ 3793347 h 3793347"/>
              <a:gd name="connsiteX2" fmla="*/ 9024256 w 10564100"/>
              <a:gd name="connsiteY2" fmla="*/ 2944606 h 3793347"/>
              <a:gd name="connsiteX3" fmla="*/ 2294717 w 10564100"/>
              <a:gd name="connsiteY3" fmla="*/ 2929750 h 3793347"/>
              <a:gd name="connsiteX4" fmla="*/ 1200045 w 10564100"/>
              <a:gd name="connsiteY4" fmla="*/ 2207950 h 3793347"/>
              <a:gd name="connsiteX5" fmla="*/ 0 w 10564100"/>
              <a:gd name="connsiteY5" fmla="*/ 2933771 h 3793347"/>
              <a:gd name="connsiteX6" fmla="*/ 1254 w 10564100"/>
              <a:gd name="connsiteY6" fmla="*/ 0 h 379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64100" h="3793347">
                <a:moveTo>
                  <a:pt x="10562333" y="0"/>
                </a:moveTo>
                <a:cubicBezTo>
                  <a:pt x="10562846" y="67600"/>
                  <a:pt x="10564100" y="3749932"/>
                  <a:pt x="10562846" y="3793347"/>
                </a:cubicBezTo>
                <a:cubicBezTo>
                  <a:pt x="10190427" y="3056010"/>
                  <a:pt x="9461842" y="2928661"/>
                  <a:pt x="9024256" y="2944606"/>
                </a:cubicBezTo>
                <a:lnTo>
                  <a:pt x="2294717" y="2929750"/>
                </a:lnTo>
                <a:cubicBezTo>
                  <a:pt x="1854084" y="2930298"/>
                  <a:pt x="1423155" y="2679996"/>
                  <a:pt x="1200045" y="2207950"/>
                </a:cubicBezTo>
                <a:cubicBezTo>
                  <a:pt x="964689" y="2886404"/>
                  <a:pt x="278640" y="2932893"/>
                  <a:pt x="0" y="2933771"/>
                </a:cubicBezTo>
                <a:cubicBezTo>
                  <a:pt x="2067" y="2898258"/>
                  <a:pt x="2526" y="95582"/>
                  <a:pt x="1254" y="0"/>
                </a:cubicBezTo>
              </a:path>
            </a:pathLst>
          </a:custGeom>
          <a:solidFill>
            <a:schemeClr val="bg1"/>
          </a:solidFill>
          <a:ln w="12700" cmpd="sng" algn="ctr">
            <a:noFill/>
            <a:miter lim="800000"/>
            <a:headEnd/>
            <a:tailEnd/>
          </a:ln>
          <a:effectLst>
            <a:outerShdw blurRad="41275" dist="38100" dir="5400000" algn="t" rotWithShape="0">
              <a:schemeClr val="bg1">
                <a:lumMod val="65000"/>
                <a:alpha val="25000"/>
              </a:schemeClr>
            </a:outerShdw>
          </a:effectLst>
        </p:spPr>
        <p:txBody>
          <a:bodyPr wrap="square" lIns="33059" tIns="42976" rIns="33059" bIns="42976" rtlCol="0" anchor="ctr"/>
          <a:lstStyle/>
          <a:p>
            <a:pPr algn="ctr" fontAlgn="auto">
              <a:spcBef>
                <a:spcPts val="0"/>
              </a:spcBef>
              <a:spcAft>
                <a:spcPts val="0"/>
              </a:spcAft>
            </a:pPr>
            <a:endParaRPr lang="en-US" sz="1000" dirty="0" smtClean="0">
              <a:solidFill>
                <a:schemeClr val="bg1"/>
              </a:solidFill>
              <a:latin typeface="Arial"/>
              <a:cs typeface="Arial"/>
            </a:endParaRPr>
          </a:p>
        </p:txBody>
      </p:sp>
      <p:sp>
        <p:nvSpPr>
          <p:cNvPr id="2" name="Titre 1"/>
          <p:cNvSpPr>
            <a:spLocks noGrp="1"/>
          </p:cNvSpPr>
          <p:nvPr>
            <p:ph type="title" hasCustomPrompt="1"/>
            <p:custDataLst>
              <p:tags r:id="rId3"/>
            </p:custDataLst>
          </p:nvPr>
        </p:nvSpPr>
        <p:spPr>
          <a:xfrm>
            <a:off x="0" y="4686300"/>
            <a:ext cx="10972800" cy="1052000"/>
          </a:xfrm>
          <a:prstGeom prst="rect">
            <a:avLst/>
          </a:prstGeom>
        </p:spPr>
        <p:txBody>
          <a:bodyPr vert="horz" lIns="826470" tIns="33059" rIns="66118" bIns="33059" rtlCol="0" anchor="ctr" anchorCtr="0">
            <a:noAutofit/>
          </a:bodyPr>
          <a:lstStyle>
            <a:lvl1pPr algn="l" defTabSz="914342" rtl="0" eaLnBrk="1" latinLnBrk="0" hangingPunct="1">
              <a:spcBef>
                <a:spcPct val="0"/>
              </a:spcBef>
              <a:buNone/>
              <a:defRPr lang="en-US" sz="3200" b="0" kern="1200" cap="none" baseline="0" dirty="0" smtClean="0">
                <a:solidFill>
                  <a:schemeClr val="tx1"/>
                </a:solidFill>
                <a:latin typeface="Arial" pitchFamily="34" charset="0"/>
                <a:ea typeface="+mj-ea"/>
                <a:cs typeface="Arial" pitchFamily="34" charset="0"/>
              </a:defRPr>
            </a:lvl1pPr>
          </a:lstStyle>
          <a:p>
            <a:pPr lvl="0"/>
            <a:r>
              <a:rPr lang="en-US" noProof="0" dirty="0" smtClean="0"/>
              <a:t>Click to edit Master text style</a:t>
            </a:r>
          </a:p>
        </p:txBody>
      </p:sp>
      <p:pic>
        <p:nvPicPr>
          <p:cNvPr id="10" name="Image 9" descr="shutterstock_80837125.png"/>
          <p:cNvPicPr>
            <a:picLocks noChangeAspect="1"/>
          </p:cNvPicPr>
          <p:nvPr userDrawn="1"/>
        </p:nvPicPr>
        <p:blipFill>
          <a:blip r:embed="rId6" cstate="email"/>
          <a:stretch>
            <a:fillRect/>
          </a:stretch>
        </p:blipFill>
        <p:spPr>
          <a:xfrm>
            <a:off x="1078449" y="971046"/>
            <a:ext cx="7974034" cy="4797156"/>
          </a:xfrm>
          <a:prstGeom prst="rect">
            <a:avLst/>
          </a:prstGeom>
        </p:spPr>
      </p:pic>
      <p:sp>
        <p:nvSpPr>
          <p:cNvPr id="12" name="Rectangle 4"/>
          <p:cNvSpPr>
            <a:spLocks noGrp="1" noChangeArrowheads="1"/>
          </p:cNvSpPr>
          <p:nvPr>
            <p:ph type="subTitle" idx="1"/>
          </p:nvPr>
        </p:nvSpPr>
        <p:spPr bwMode="gray">
          <a:xfrm>
            <a:off x="0" y="5740401"/>
            <a:ext cx="10972800" cy="536575"/>
          </a:xfrm>
          <a:prstGeom prst="rect">
            <a:avLst/>
          </a:prstGeom>
        </p:spPr>
        <p:txBody>
          <a:bodyPr vert="horz" lIns="826470" tIns="33059" rIns="66118" bIns="33059" rtlCol="0" anchor="ctr" anchorCtr="0">
            <a:noAutofit/>
          </a:bodyPr>
          <a:lstStyle>
            <a:lvl1pPr algn="l" fontAlgn="t">
              <a:spcAft>
                <a:spcPct val="0"/>
              </a:spcAft>
              <a:buClrTx/>
              <a:buFontTx/>
              <a:buNone/>
              <a:defRPr lang="en-US" sz="2000" b="0" kern="1200" cap="none" baseline="0" noProof="0" dirty="0">
                <a:solidFill>
                  <a:schemeClr val="tx1"/>
                </a:solidFill>
                <a:latin typeface="Arial" pitchFamily="34" charset="0"/>
                <a:ea typeface="+mj-ea"/>
                <a:cs typeface="Arial" pitchFamily="34" charset="0"/>
              </a:defRPr>
            </a:lvl1pPr>
          </a:lstStyle>
          <a:p>
            <a:pPr lvl="0" algn="l" defTabSz="914342" rtl="0" eaLnBrk="1" latinLnBrk="0" hangingPunct="1">
              <a:spcBef>
                <a:spcPct val="0"/>
              </a:spcBef>
              <a:buNone/>
            </a:pPr>
            <a:r>
              <a:rPr lang="en-US" dirty="0" smtClean="0"/>
              <a:t>Click to edit Master subtitle style</a:t>
            </a:r>
            <a:endParaRPr lang="en-US" dirty="0"/>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pic>
        <p:nvPicPr>
          <p:cNvPr id="6" name="Image 5" descr="test5.jpg"/>
          <p:cNvPicPr>
            <a:picLocks noChangeAspect="1"/>
          </p:cNvPicPr>
          <p:nvPr userDrawn="1"/>
        </p:nvPicPr>
        <p:blipFill>
          <a:blip r:embed="rId5" cstate="print"/>
          <a:srcRect l="240" t="179" r="380" b="511"/>
          <a:stretch>
            <a:fillRect/>
          </a:stretch>
        </p:blipFill>
        <p:spPr>
          <a:xfrm>
            <a:off x="0" y="1050622"/>
            <a:ext cx="10972800" cy="5807378"/>
          </a:xfrm>
          <a:prstGeom prst="rect">
            <a:avLst/>
          </a:prstGeom>
        </p:spPr>
      </p:pic>
      <p:graphicFrame>
        <p:nvGraphicFramePr>
          <p:cNvPr id="5" name="Object 4" hidden="1"/>
          <p:cNvGraphicFramePr>
            <a:graphicFrameLocks noChangeAspect="1"/>
          </p:cNvGraphicFramePr>
          <p:nvPr/>
        </p:nvGraphicFramePr>
        <p:xfrm>
          <a:off x="0" y="0"/>
          <a:ext cx="175846" cy="158750"/>
        </p:xfrm>
        <a:graphic>
          <a:graphicData uri="http://schemas.openxmlformats.org/presentationml/2006/ole">
            <p:oleObj spid="_x0000_s127170" name="think-cell Slide" r:id="rId6" imgW="360" imgH="360" progId="">
              <p:embed/>
            </p:oleObj>
          </a:graphicData>
        </a:graphic>
      </p:graphicFrame>
      <p:sp>
        <p:nvSpPr>
          <p:cNvPr id="4" name="Rectangle 7"/>
          <p:cNvSpPr/>
          <p:nvPr userDrawn="1">
            <p:custDataLst>
              <p:tags r:id="rId2"/>
            </p:custDataLst>
          </p:nvPr>
        </p:nvSpPr>
        <p:spPr bwMode="auto">
          <a:xfrm>
            <a:off x="-2274" y="0"/>
            <a:ext cx="10975607" cy="3329158"/>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2188 w 10562411"/>
              <a:gd name="connsiteY0" fmla="*/ 0 h 3670551"/>
              <a:gd name="connsiteX1" fmla="*/ 10561655 w 10562411"/>
              <a:gd name="connsiteY1" fmla="*/ 712383 h 3670551"/>
              <a:gd name="connsiteX2" fmla="*/ 10561157 w 10562411"/>
              <a:gd name="connsiteY2" fmla="*/ 2188721 h 3670551"/>
              <a:gd name="connsiteX3" fmla="*/ 9288594 w 10562411"/>
              <a:gd name="connsiteY3" fmla="*/ 2865486 h 3670551"/>
              <a:gd name="connsiteX4" fmla="*/ 2317558 w 10562411"/>
              <a:gd name="connsiteY4" fmla="*/ 2871895 h 3670551"/>
              <a:gd name="connsiteX5" fmla="*/ 1180889 w 10562411"/>
              <a:gd name="connsiteY5" fmla="*/ 3670551 h 3670551"/>
              <a:gd name="connsiteX6" fmla="*/ 0 w 10562411"/>
              <a:gd name="connsiteY6" fmla="*/ 2886448 h 3670551"/>
              <a:gd name="connsiteX7" fmla="*/ 2188 w 10562411"/>
              <a:gd name="connsiteY7" fmla="*/ 0 h 3670551"/>
              <a:gd name="connsiteX0" fmla="*/ 2188 w 10562585"/>
              <a:gd name="connsiteY0" fmla="*/ 0 h 3670551"/>
              <a:gd name="connsiteX1" fmla="*/ 10562072 w 10562585"/>
              <a:gd name="connsiteY1" fmla="*/ 1 h 3670551"/>
              <a:gd name="connsiteX2" fmla="*/ 10561157 w 10562585"/>
              <a:gd name="connsiteY2" fmla="*/ 2188721 h 3670551"/>
              <a:gd name="connsiteX3" fmla="*/ 9288594 w 10562585"/>
              <a:gd name="connsiteY3" fmla="*/ 2865486 h 3670551"/>
              <a:gd name="connsiteX4" fmla="*/ 2317558 w 10562585"/>
              <a:gd name="connsiteY4" fmla="*/ 2871895 h 3670551"/>
              <a:gd name="connsiteX5" fmla="*/ 1180889 w 10562585"/>
              <a:gd name="connsiteY5" fmla="*/ 3670551 h 3670551"/>
              <a:gd name="connsiteX6" fmla="*/ 0 w 10562585"/>
              <a:gd name="connsiteY6" fmla="*/ 2886448 h 3670551"/>
              <a:gd name="connsiteX7" fmla="*/ 2188 w 10562585"/>
              <a:gd name="connsiteY7" fmla="*/ 0 h 3670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62585" h="3670551">
                <a:moveTo>
                  <a:pt x="2188" y="0"/>
                </a:moveTo>
                <a:lnTo>
                  <a:pt x="10562072" y="1"/>
                </a:lnTo>
                <a:cubicBezTo>
                  <a:pt x="10562585" y="67601"/>
                  <a:pt x="10562411" y="2145306"/>
                  <a:pt x="10561157" y="2188721"/>
                </a:cubicBezTo>
                <a:cubicBezTo>
                  <a:pt x="10083761" y="2860730"/>
                  <a:pt x="9705180" y="2870806"/>
                  <a:pt x="9288594" y="2865486"/>
                </a:cubicBezTo>
                <a:lnTo>
                  <a:pt x="2317558" y="2871895"/>
                </a:lnTo>
                <a:cubicBezTo>
                  <a:pt x="1740344" y="2905037"/>
                  <a:pt x="1372498" y="3207729"/>
                  <a:pt x="1180889" y="3670551"/>
                </a:cubicBezTo>
                <a:cubicBezTo>
                  <a:pt x="882535" y="2966774"/>
                  <a:pt x="278640" y="2885570"/>
                  <a:pt x="0" y="2886448"/>
                </a:cubicBezTo>
                <a:cubicBezTo>
                  <a:pt x="2067" y="2850935"/>
                  <a:pt x="3460" y="95582"/>
                  <a:pt x="2188" y="0"/>
                </a:cubicBezTo>
                <a:close/>
              </a:path>
            </a:pathLst>
          </a:custGeom>
          <a:solidFill>
            <a:schemeClr val="bg1"/>
          </a:solidFill>
          <a:ln w="12700" cmpd="sng" algn="ctr">
            <a:noFill/>
            <a:miter lim="800000"/>
            <a:headEnd/>
            <a:tailEnd/>
          </a:ln>
          <a:effectLst>
            <a:outerShdw blurRad="41275" dist="38100" dir="5400000" algn="t" rotWithShape="0">
              <a:schemeClr val="bg1">
                <a:lumMod val="65000"/>
                <a:alpha val="25000"/>
              </a:schemeClr>
            </a:outerShdw>
          </a:effectLst>
        </p:spPr>
        <p:txBody>
          <a:bodyPr wrap="square" lIns="33059" tIns="42976" rIns="33059" bIns="42976" rtlCol="0" anchor="ctr"/>
          <a:lstStyle/>
          <a:p>
            <a:pPr algn="ctr" fontAlgn="auto">
              <a:spcBef>
                <a:spcPts val="0"/>
              </a:spcBef>
              <a:spcAft>
                <a:spcPts val="0"/>
              </a:spcAft>
            </a:pPr>
            <a:endParaRPr lang="en-US" sz="1000" dirty="0" smtClean="0">
              <a:solidFill>
                <a:schemeClr val="bg1"/>
              </a:solidFill>
              <a:latin typeface="Arial"/>
              <a:cs typeface="Arial"/>
            </a:endParaRPr>
          </a:p>
        </p:txBody>
      </p:sp>
      <p:sp>
        <p:nvSpPr>
          <p:cNvPr id="2" name="Titre 1"/>
          <p:cNvSpPr>
            <a:spLocks noGrp="1"/>
          </p:cNvSpPr>
          <p:nvPr>
            <p:ph type="title" hasCustomPrompt="1"/>
            <p:custDataLst>
              <p:tags r:id="rId3"/>
            </p:custDataLst>
          </p:nvPr>
        </p:nvSpPr>
        <p:spPr>
          <a:xfrm>
            <a:off x="0" y="482600"/>
            <a:ext cx="10972800" cy="1130300"/>
          </a:xfrm>
          <a:prstGeom prst="rect">
            <a:avLst/>
          </a:prstGeom>
        </p:spPr>
        <p:txBody>
          <a:bodyPr lIns="330588" tIns="33059" rIns="33059" bIns="33059" anchor="ctr" anchorCtr="0"/>
          <a:lstStyle>
            <a:lvl1pPr algn="l">
              <a:defRPr>
                <a:solidFill>
                  <a:schemeClr val="tx1"/>
                </a:solidFill>
                <a:latin typeface="Arial" pitchFamily="34" charset="0"/>
                <a:cs typeface="Arial" pitchFamily="34" charset="0"/>
              </a:defRPr>
            </a:lvl1pPr>
          </a:lstStyle>
          <a:p>
            <a:pPr lvl="0"/>
            <a:r>
              <a:rPr lang="en-US" noProof="0" dirty="0" smtClean="0"/>
              <a:t>Click to edit Master text style</a:t>
            </a:r>
          </a:p>
        </p:txBody>
      </p:sp>
      <p:sp>
        <p:nvSpPr>
          <p:cNvPr id="7" name="Rectangle 4"/>
          <p:cNvSpPr>
            <a:spLocks noGrp="1" noChangeArrowheads="1"/>
          </p:cNvSpPr>
          <p:nvPr>
            <p:ph type="subTitle" idx="1"/>
          </p:nvPr>
        </p:nvSpPr>
        <p:spPr bwMode="gray">
          <a:xfrm>
            <a:off x="0" y="1625600"/>
            <a:ext cx="10972800" cy="774700"/>
          </a:xfrm>
          <a:prstGeom prst="rect">
            <a:avLst/>
          </a:prstGeom>
        </p:spPr>
        <p:txBody>
          <a:bodyPr lIns="330588" tIns="33059" rIns="33059" bIns="33059" anchor="ctr" anchorCtr="0"/>
          <a:lstStyle>
            <a:lvl1pPr algn="l" fontAlgn="t">
              <a:spcAft>
                <a:spcPct val="0"/>
              </a:spcAft>
              <a:buClrTx/>
              <a:buFontTx/>
              <a:buNone/>
              <a:defRPr lang="en-US" sz="2000" kern="1200" noProof="0" dirty="0">
                <a:solidFill>
                  <a:schemeClr val="tx1"/>
                </a:solidFill>
                <a:latin typeface="Arial" pitchFamily="34" charset="0"/>
                <a:ea typeface="+mj-ea"/>
                <a:cs typeface="Arial" pitchFamily="34" charset="0"/>
              </a:defRPr>
            </a:lvl1pPr>
          </a:lstStyle>
          <a:p>
            <a:pPr lvl="0" algn="l" defTabSz="839694" rtl="0" eaLnBrk="1" latinLnBrk="0" hangingPunct="1">
              <a:spcBef>
                <a:spcPct val="0"/>
              </a:spcBef>
              <a:buNone/>
            </a:pPr>
            <a:r>
              <a:rPr lang="en-US" dirty="0" smtClean="0"/>
              <a:t>Click to edit Master subtitle style</a:t>
            </a:r>
            <a:endParaRPr 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22325" y="2130425"/>
            <a:ext cx="932815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646238" y="3886200"/>
            <a:ext cx="7680325"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E9845D0-71EC-4FAB-9362-88C8DE3E0EEE}" type="datetimeFigureOut">
              <a:rPr lang="en-US" smtClean="0"/>
              <a:pPr/>
              <a:t>5/8/2017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47DC82-1A69-45FE-AFFF-96143EB8F803}" type="slidenum">
              <a:rPr lang="en-US" smtClean="0"/>
              <a:pPr/>
              <a:t>‹#›</a:t>
            </a:fld>
            <a:endParaRPr lang="en-US"/>
          </a:p>
        </p:txBody>
      </p:sp>
    </p:spTree>
    <p:extLst>
      <p:ext uri="{BB962C8B-B14F-4D97-AF65-F5344CB8AC3E}">
        <p14:creationId xmlns="" xmlns:p14="http://schemas.microsoft.com/office/powerpoint/2010/main" val="21593982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E9845D0-71EC-4FAB-9362-88C8DE3E0EEE}" type="datetimeFigureOut">
              <a:rPr lang="en-US" smtClean="0"/>
              <a:pPr/>
              <a:t>5/8/2017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47DC82-1A69-45FE-AFFF-96143EB8F803}" type="slidenum">
              <a:rPr lang="en-US" smtClean="0"/>
              <a:pPr/>
              <a:t>‹#›</a:t>
            </a:fld>
            <a:endParaRPr lang="en-US"/>
          </a:p>
        </p:txBody>
      </p:sp>
    </p:spTree>
    <p:extLst>
      <p:ext uri="{BB962C8B-B14F-4D97-AF65-F5344CB8AC3E}">
        <p14:creationId xmlns="" xmlns:p14="http://schemas.microsoft.com/office/powerpoint/2010/main" val="26545181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775" y="4406900"/>
            <a:ext cx="9326563"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866775" y="2906713"/>
            <a:ext cx="9326563"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E9845D0-71EC-4FAB-9362-88C8DE3E0EEE}" type="datetimeFigureOut">
              <a:rPr lang="en-US" smtClean="0"/>
              <a:pPr/>
              <a:t>5/8/2017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47DC82-1A69-45FE-AFFF-96143EB8F803}" type="slidenum">
              <a:rPr lang="en-US" smtClean="0"/>
              <a:pPr/>
              <a:t>‹#›</a:t>
            </a:fld>
            <a:endParaRPr lang="en-US"/>
          </a:p>
        </p:txBody>
      </p:sp>
    </p:spTree>
    <p:extLst>
      <p:ext uri="{BB962C8B-B14F-4D97-AF65-F5344CB8AC3E}">
        <p14:creationId xmlns="" xmlns:p14="http://schemas.microsoft.com/office/powerpoint/2010/main" val="41875115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549275" y="1600200"/>
            <a:ext cx="486092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562600" y="1600200"/>
            <a:ext cx="486092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E9845D0-71EC-4FAB-9362-88C8DE3E0EEE}" type="datetimeFigureOut">
              <a:rPr lang="en-US" smtClean="0"/>
              <a:pPr/>
              <a:t>5/8/2017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47DC82-1A69-45FE-AFFF-96143EB8F803}" type="slidenum">
              <a:rPr lang="en-US" smtClean="0"/>
              <a:pPr/>
              <a:t>‹#›</a:t>
            </a:fld>
            <a:endParaRPr lang="en-US"/>
          </a:p>
        </p:txBody>
      </p:sp>
    </p:spTree>
    <p:extLst>
      <p:ext uri="{BB962C8B-B14F-4D97-AF65-F5344CB8AC3E}">
        <p14:creationId xmlns="" xmlns:p14="http://schemas.microsoft.com/office/powerpoint/2010/main" val="32894525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549275" y="1535113"/>
            <a:ext cx="48482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49275" y="2174875"/>
            <a:ext cx="48482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573713" y="1535113"/>
            <a:ext cx="484981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573713" y="2174875"/>
            <a:ext cx="484981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E9845D0-71EC-4FAB-9362-88C8DE3E0EEE}" type="datetimeFigureOut">
              <a:rPr lang="en-US" smtClean="0"/>
              <a:pPr/>
              <a:t>5/8/2017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447DC82-1A69-45FE-AFFF-96143EB8F803}" type="slidenum">
              <a:rPr lang="en-US" smtClean="0"/>
              <a:pPr/>
              <a:t>‹#›</a:t>
            </a:fld>
            <a:endParaRPr lang="en-US"/>
          </a:p>
        </p:txBody>
      </p:sp>
    </p:spTree>
    <p:extLst>
      <p:ext uri="{BB962C8B-B14F-4D97-AF65-F5344CB8AC3E}">
        <p14:creationId xmlns="" xmlns:p14="http://schemas.microsoft.com/office/powerpoint/2010/main" val="32591900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E9845D0-71EC-4FAB-9362-88C8DE3E0EEE}" type="datetimeFigureOut">
              <a:rPr lang="en-US" smtClean="0"/>
              <a:pPr/>
              <a:t>5/8/2017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447DC82-1A69-45FE-AFFF-96143EB8F803}" type="slidenum">
              <a:rPr lang="en-US" smtClean="0"/>
              <a:pPr/>
              <a:t>‹#›</a:t>
            </a:fld>
            <a:endParaRPr lang="en-US"/>
          </a:p>
        </p:txBody>
      </p:sp>
    </p:spTree>
    <p:extLst>
      <p:ext uri="{BB962C8B-B14F-4D97-AF65-F5344CB8AC3E}">
        <p14:creationId xmlns="" xmlns:p14="http://schemas.microsoft.com/office/powerpoint/2010/main" val="2968992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E9845D0-71EC-4FAB-9362-88C8DE3E0EEE}" type="datetimeFigureOut">
              <a:rPr lang="en-US" smtClean="0"/>
              <a:pPr/>
              <a:t>5/8/2017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447DC82-1A69-45FE-AFFF-96143EB8F803}" type="slidenum">
              <a:rPr lang="en-US" smtClean="0"/>
              <a:pPr/>
              <a:t>‹#›</a:t>
            </a:fld>
            <a:endParaRPr lang="en-US"/>
          </a:p>
        </p:txBody>
      </p:sp>
    </p:spTree>
    <p:extLst>
      <p:ext uri="{BB962C8B-B14F-4D97-AF65-F5344CB8AC3E}">
        <p14:creationId xmlns="" xmlns:p14="http://schemas.microsoft.com/office/powerpoint/2010/main" val="36068087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9275" y="273050"/>
            <a:ext cx="3609975"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289425" y="273050"/>
            <a:ext cx="61341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549275" y="1435100"/>
            <a:ext cx="3609975"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E9845D0-71EC-4FAB-9362-88C8DE3E0EEE}" type="datetimeFigureOut">
              <a:rPr lang="en-US" smtClean="0"/>
              <a:pPr/>
              <a:t>5/8/2017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47DC82-1A69-45FE-AFFF-96143EB8F803}" type="slidenum">
              <a:rPr lang="en-US" smtClean="0"/>
              <a:pPr/>
              <a:t>‹#›</a:t>
            </a:fld>
            <a:endParaRPr lang="en-US"/>
          </a:p>
        </p:txBody>
      </p:sp>
    </p:spTree>
    <p:extLst>
      <p:ext uri="{BB962C8B-B14F-4D97-AF65-F5344CB8AC3E}">
        <p14:creationId xmlns="" xmlns:p14="http://schemas.microsoft.com/office/powerpoint/2010/main" val="39804511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51063" y="4800600"/>
            <a:ext cx="6583362"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151063" y="612775"/>
            <a:ext cx="6583362"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151063" y="5367338"/>
            <a:ext cx="6583362"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E9845D0-71EC-4FAB-9362-88C8DE3E0EEE}" type="datetimeFigureOut">
              <a:rPr lang="en-US" smtClean="0"/>
              <a:pPr/>
              <a:t>5/8/2017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47DC82-1A69-45FE-AFFF-96143EB8F803}" type="slidenum">
              <a:rPr lang="en-US" smtClean="0"/>
              <a:pPr/>
              <a:t>‹#›</a:t>
            </a:fld>
            <a:endParaRPr lang="en-US"/>
          </a:p>
        </p:txBody>
      </p:sp>
    </p:spTree>
    <p:extLst>
      <p:ext uri="{BB962C8B-B14F-4D97-AF65-F5344CB8AC3E}">
        <p14:creationId xmlns="" xmlns:p14="http://schemas.microsoft.com/office/powerpoint/2010/main" val="30870388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E9845D0-71EC-4FAB-9362-88C8DE3E0EEE}" type="datetimeFigureOut">
              <a:rPr lang="en-US" smtClean="0"/>
              <a:pPr/>
              <a:t>5/8/2017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47DC82-1A69-45FE-AFFF-96143EB8F803}" type="slidenum">
              <a:rPr lang="en-US" smtClean="0"/>
              <a:pPr/>
              <a:t>‹#›</a:t>
            </a:fld>
            <a:endParaRPr lang="en-US"/>
          </a:p>
        </p:txBody>
      </p:sp>
    </p:spTree>
    <p:extLst>
      <p:ext uri="{BB962C8B-B14F-4D97-AF65-F5344CB8AC3E}">
        <p14:creationId xmlns="" xmlns:p14="http://schemas.microsoft.com/office/powerpoint/2010/main" val="30698165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54963" y="274638"/>
            <a:ext cx="2468562"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549275" y="274638"/>
            <a:ext cx="7253288"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E9845D0-71EC-4FAB-9362-88C8DE3E0EEE}" type="datetimeFigureOut">
              <a:rPr lang="en-US" smtClean="0"/>
              <a:pPr/>
              <a:t>5/8/2017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47DC82-1A69-45FE-AFFF-96143EB8F803}" type="slidenum">
              <a:rPr lang="en-US" smtClean="0"/>
              <a:pPr/>
              <a:t>‹#›</a:t>
            </a:fld>
            <a:endParaRPr lang="en-US"/>
          </a:p>
        </p:txBody>
      </p:sp>
    </p:spTree>
    <p:extLst>
      <p:ext uri="{BB962C8B-B14F-4D97-AF65-F5344CB8AC3E}">
        <p14:creationId xmlns="" xmlns:p14="http://schemas.microsoft.com/office/powerpoint/2010/main" val="38029604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22960" y="2130426"/>
            <a:ext cx="932688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645920" y="3886200"/>
            <a:ext cx="768096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8D40B07-F82E-42C7-BFF5-C4AA3E6934CD}" type="datetimeFigureOut">
              <a:rPr lang="en-US" smtClean="0">
                <a:solidFill>
                  <a:prstClr val="black">
                    <a:tint val="75000"/>
                  </a:prstClr>
                </a:solidFill>
              </a:rPr>
              <a:pPr/>
              <a:t>5/8/2017</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03A5D3A-F9E5-4E8D-BAE1-2FD747E2935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 xmlns:p14="http://schemas.microsoft.com/office/powerpoint/2010/main" val="478768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8D40B07-F82E-42C7-BFF5-C4AA3E6934CD}" type="datetimeFigureOut">
              <a:rPr lang="en-US" smtClean="0">
                <a:solidFill>
                  <a:prstClr val="black">
                    <a:tint val="75000"/>
                  </a:prstClr>
                </a:solidFill>
              </a:rPr>
              <a:pPr/>
              <a:t>5/8/2017</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03A5D3A-F9E5-4E8D-BAE1-2FD747E2935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 xmlns:p14="http://schemas.microsoft.com/office/powerpoint/2010/main" val="12013316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776" y="4406901"/>
            <a:ext cx="932688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866776" y="2906713"/>
            <a:ext cx="932688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8D40B07-F82E-42C7-BFF5-C4AA3E6934CD}" type="datetimeFigureOut">
              <a:rPr lang="en-US" smtClean="0">
                <a:solidFill>
                  <a:prstClr val="black">
                    <a:tint val="75000"/>
                  </a:prstClr>
                </a:solidFill>
              </a:rPr>
              <a:pPr/>
              <a:t>5/8/2017</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03A5D3A-F9E5-4E8D-BAE1-2FD747E2935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 xmlns:p14="http://schemas.microsoft.com/office/powerpoint/2010/main" val="387691374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548640" y="1600201"/>
            <a:ext cx="484632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577840" y="1600201"/>
            <a:ext cx="484632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8D40B07-F82E-42C7-BFF5-C4AA3E6934CD}" type="datetimeFigureOut">
              <a:rPr lang="en-US" smtClean="0">
                <a:solidFill>
                  <a:prstClr val="black">
                    <a:tint val="75000"/>
                  </a:prstClr>
                </a:solidFill>
              </a:rPr>
              <a:pPr/>
              <a:t>5/8/2017</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A03A5D3A-F9E5-4E8D-BAE1-2FD747E2935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 xmlns:p14="http://schemas.microsoft.com/office/powerpoint/2010/main" val="175109250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548640" y="1535113"/>
            <a:ext cx="484822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48640" y="2174875"/>
            <a:ext cx="4848226"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574031" y="1535113"/>
            <a:ext cx="485013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574031" y="2174875"/>
            <a:ext cx="485013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8D40B07-F82E-42C7-BFF5-C4AA3E6934CD}" type="datetimeFigureOut">
              <a:rPr lang="en-US" smtClean="0">
                <a:solidFill>
                  <a:prstClr val="black">
                    <a:tint val="75000"/>
                  </a:prstClr>
                </a:solidFill>
              </a:rPr>
              <a:pPr/>
              <a:t>5/8/2017</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A03A5D3A-F9E5-4E8D-BAE1-2FD747E2935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 xmlns:p14="http://schemas.microsoft.com/office/powerpoint/2010/main" val="40172519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8D40B07-F82E-42C7-BFF5-C4AA3E6934CD}" type="datetimeFigureOut">
              <a:rPr lang="en-US" smtClean="0">
                <a:solidFill>
                  <a:prstClr val="black">
                    <a:tint val="75000"/>
                  </a:prstClr>
                </a:solidFill>
              </a:rPr>
              <a:pPr/>
              <a:t>5/8/2017</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A03A5D3A-F9E5-4E8D-BAE1-2FD747E2935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 xmlns:p14="http://schemas.microsoft.com/office/powerpoint/2010/main" val="146016011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D40B07-F82E-42C7-BFF5-C4AA3E6934CD}" type="datetimeFigureOut">
              <a:rPr lang="en-US" smtClean="0">
                <a:solidFill>
                  <a:prstClr val="black">
                    <a:tint val="75000"/>
                  </a:prstClr>
                </a:solidFill>
              </a:rPr>
              <a:pPr/>
              <a:t>5/8/2017</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A03A5D3A-F9E5-4E8D-BAE1-2FD747E2935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 xmlns:p14="http://schemas.microsoft.com/office/powerpoint/2010/main" val="6351895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8640" y="273050"/>
            <a:ext cx="3609976"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290060" y="273051"/>
            <a:ext cx="61341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548640" y="1435101"/>
            <a:ext cx="360997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D40B07-F82E-42C7-BFF5-C4AA3E6934CD}" type="datetimeFigureOut">
              <a:rPr lang="en-US" smtClean="0">
                <a:solidFill>
                  <a:prstClr val="black">
                    <a:tint val="75000"/>
                  </a:prstClr>
                </a:solidFill>
              </a:rPr>
              <a:pPr/>
              <a:t>5/8/2017</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A03A5D3A-F9E5-4E8D-BAE1-2FD747E2935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 xmlns:p14="http://schemas.microsoft.com/office/powerpoint/2010/main" val="383123805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50746" y="4800600"/>
            <a:ext cx="658368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150746" y="612775"/>
            <a:ext cx="658368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150746" y="5367338"/>
            <a:ext cx="658368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D40B07-F82E-42C7-BFF5-C4AA3E6934CD}" type="datetimeFigureOut">
              <a:rPr lang="en-US" smtClean="0">
                <a:solidFill>
                  <a:prstClr val="black">
                    <a:tint val="75000"/>
                  </a:prstClr>
                </a:solidFill>
              </a:rPr>
              <a:pPr/>
              <a:t>5/8/2017</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A03A5D3A-F9E5-4E8D-BAE1-2FD747E2935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 xmlns:p14="http://schemas.microsoft.com/office/powerpoint/2010/main" val="248467486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8D40B07-F82E-42C7-BFF5-C4AA3E6934CD}" type="datetimeFigureOut">
              <a:rPr lang="en-US" smtClean="0">
                <a:solidFill>
                  <a:prstClr val="black">
                    <a:tint val="75000"/>
                  </a:prstClr>
                </a:solidFill>
              </a:rPr>
              <a:pPr/>
              <a:t>5/8/2017</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03A5D3A-F9E5-4E8D-BAE1-2FD747E2935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 xmlns:p14="http://schemas.microsoft.com/office/powerpoint/2010/main" val="26003401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55280" y="274639"/>
            <a:ext cx="246888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548640" y="274639"/>
            <a:ext cx="722376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8D40B07-F82E-42C7-BFF5-C4AA3E6934CD}" type="datetimeFigureOut">
              <a:rPr lang="en-US" smtClean="0">
                <a:solidFill>
                  <a:prstClr val="black">
                    <a:tint val="75000"/>
                  </a:prstClr>
                </a:solidFill>
              </a:rPr>
              <a:pPr/>
              <a:t>5/8/2017</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03A5D3A-F9E5-4E8D-BAE1-2FD747E2935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 xmlns:p14="http://schemas.microsoft.com/office/powerpoint/2010/main" val="260888704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8D40B07-F82E-42C7-BFF5-C4AA3E6934CD}" type="datetimeFigureOut">
              <a:rPr lang="en-US" smtClean="0">
                <a:solidFill>
                  <a:prstClr val="black">
                    <a:tint val="75000"/>
                  </a:prstClr>
                </a:solidFill>
              </a:rPr>
              <a:pPr/>
              <a:t>5/8/2017</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03A5D3A-F9E5-4E8D-BAE1-2FD747E2935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 xmlns:p14="http://schemas.microsoft.com/office/powerpoint/2010/main" val="137464488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title" preserve="1">
  <p:cSld name="Title Slide 1">
    <p:spTree>
      <p:nvGrpSpPr>
        <p:cNvPr id="1" name=""/>
        <p:cNvGrpSpPr/>
        <p:nvPr/>
      </p:nvGrpSpPr>
      <p:grpSpPr>
        <a:xfrm>
          <a:off x="0" y="0"/>
          <a:ext cx="0" cy="0"/>
          <a:chOff x="0" y="0"/>
          <a:chExt cx="0" cy="0"/>
        </a:xfrm>
      </p:grpSpPr>
      <p:pic>
        <p:nvPicPr>
          <p:cNvPr id="12" name="Image 16" descr="ppt_People_shutterstock_46801036.jpg"/>
          <p:cNvPicPr>
            <a:picLocks noChangeAspect="1"/>
          </p:cNvPicPr>
          <p:nvPr userDrawn="1"/>
        </p:nvPicPr>
        <p:blipFill>
          <a:blip r:embed="rId9" cstate="print">
            <a:lum bright="-38000" contrast="-52000"/>
          </a:blip>
          <a:srcRect l="16116" r="8450" b="15758"/>
          <a:stretch>
            <a:fillRect/>
          </a:stretch>
        </p:blipFill>
        <p:spPr bwMode="auto">
          <a:xfrm>
            <a:off x="0" y="1244600"/>
            <a:ext cx="10972800" cy="5613400"/>
          </a:xfrm>
          <a:prstGeom prst="rect">
            <a:avLst/>
          </a:prstGeom>
          <a:noFill/>
          <a:ln w="9525">
            <a:noFill/>
            <a:miter lim="800000"/>
            <a:headEnd/>
            <a:tailEnd/>
          </a:ln>
        </p:spPr>
      </p:pic>
      <p:sp>
        <p:nvSpPr>
          <p:cNvPr id="18" name="Rectangle 17"/>
          <p:cNvSpPr/>
          <p:nvPr userDrawn="1">
            <p:custDataLst>
              <p:tags r:id="rId2"/>
            </p:custDataLst>
          </p:nvPr>
        </p:nvSpPr>
        <p:spPr>
          <a:xfrm>
            <a:off x="0" y="6400876"/>
            <a:ext cx="10972800" cy="4571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83969" tIns="41985" rIns="83969" bIns="41985" rtlCol="0" anchor="ctr"/>
          <a:lstStyle/>
          <a:p>
            <a:pPr algn="ctr"/>
            <a:endParaRPr lang="en-US" sz="1300" dirty="0" smtClean="0">
              <a:solidFill>
                <a:prstClr val="white"/>
              </a:solidFill>
            </a:endParaRPr>
          </a:p>
        </p:txBody>
      </p:sp>
      <p:sp>
        <p:nvSpPr>
          <p:cNvPr id="17" name="Rectangle 7"/>
          <p:cNvSpPr/>
          <p:nvPr userDrawn="1">
            <p:custDataLst>
              <p:tags r:id="rId3"/>
            </p:custDataLst>
          </p:nvPr>
        </p:nvSpPr>
        <p:spPr bwMode="auto">
          <a:xfrm>
            <a:off x="-2273" y="1"/>
            <a:ext cx="10975074" cy="2683033"/>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62072" h="2958168">
                <a:moveTo>
                  <a:pt x="1331" y="2791"/>
                </a:moveTo>
                <a:lnTo>
                  <a:pt x="10561655" y="0"/>
                </a:lnTo>
                <a:cubicBezTo>
                  <a:pt x="10562168" y="67600"/>
                  <a:pt x="10562411" y="1432923"/>
                  <a:pt x="10561157" y="1476338"/>
                </a:cubicBezTo>
                <a:cubicBezTo>
                  <a:pt x="10083761" y="2148347"/>
                  <a:pt x="9705180" y="2158423"/>
                  <a:pt x="9288594" y="2153103"/>
                </a:cubicBezTo>
                <a:lnTo>
                  <a:pt x="2317558" y="2159512"/>
                </a:lnTo>
                <a:cubicBezTo>
                  <a:pt x="1740344" y="2192654"/>
                  <a:pt x="1372498" y="2495346"/>
                  <a:pt x="1180889" y="2958168"/>
                </a:cubicBezTo>
                <a:cubicBezTo>
                  <a:pt x="882535" y="2254391"/>
                  <a:pt x="278640" y="2173187"/>
                  <a:pt x="0" y="2174065"/>
                </a:cubicBezTo>
                <a:cubicBezTo>
                  <a:pt x="2067" y="2138552"/>
                  <a:pt x="2603" y="98373"/>
                  <a:pt x="1331" y="2791"/>
                </a:cubicBezTo>
                <a:close/>
              </a:path>
            </a:pathLst>
          </a:custGeom>
          <a:solidFill>
            <a:schemeClr val="bg1"/>
          </a:solidFill>
          <a:ln w="12700" cmpd="sng" algn="ctr">
            <a:noFill/>
            <a:miter lim="800000"/>
            <a:headEnd/>
            <a:tailEnd/>
          </a:ln>
          <a:effectLst>
            <a:outerShdw blurRad="41275" dist="38100" dir="5400000" algn="t" rotWithShape="0">
              <a:schemeClr val="bg1">
                <a:lumMod val="65000"/>
                <a:alpha val="25000"/>
              </a:schemeClr>
            </a:outerShdw>
          </a:effectLst>
        </p:spPr>
        <p:txBody>
          <a:bodyPr wrap="square" lIns="33059" tIns="42976" rIns="33059" bIns="42976" rtlCol="0" anchor="ctr"/>
          <a:lstStyle/>
          <a:p>
            <a:pPr algn="ctr"/>
            <a:endParaRPr lang="en-US" sz="1000" dirty="0" smtClean="0">
              <a:solidFill>
                <a:prstClr val="white"/>
              </a:solidFill>
              <a:cs typeface="Arial"/>
            </a:endParaRPr>
          </a:p>
        </p:txBody>
      </p:sp>
      <p:graphicFrame>
        <p:nvGraphicFramePr>
          <p:cNvPr id="5" name="Object 4" hidden="1"/>
          <p:cNvGraphicFramePr>
            <a:graphicFrameLocks noChangeAspect="1"/>
          </p:cNvGraphicFramePr>
          <p:nvPr/>
        </p:nvGraphicFramePr>
        <p:xfrm>
          <a:off x="1" y="0"/>
          <a:ext cx="175846" cy="158750"/>
        </p:xfrm>
        <a:graphic>
          <a:graphicData uri="http://schemas.openxmlformats.org/presentationml/2006/ole">
            <p:oleObj spid="_x0000_s260098" name="think-cell Slide" r:id="rId10" imgW="360" imgH="360" progId="">
              <p:embed/>
            </p:oleObj>
          </a:graphicData>
        </a:graphic>
      </p:graphicFrame>
      <p:pic>
        <p:nvPicPr>
          <p:cNvPr id="10" name="Picture 104" descr="C:\Users\UserSim\Desktop\Capgemini\moto.emf"/>
          <p:cNvPicPr>
            <a:picLocks noChangeAspect="1" noChangeArrowheads="1"/>
          </p:cNvPicPr>
          <p:nvPr userDrawn="1">
            <p:custDataLst>
              <p:tags r:id="rId4"/>
            </p:custDataLst>
          </p:nvPr>
        </p:nvPicPr>
        <p:blipFill>
          <a:blip r:embed="rId11" cstate="email"/>
          <a:srcRect/>
          <a:stretch>
            <a:fillRect/>
          </a:stretch>
        </p:blipFill>
        <p:spPr bwMode="auto">
          <a:xfrm>
            <a:off x="7277302" y="6520695"/>
            <a:ext cx="3324655" cy="239021"/>
          </a:xfrm>
          <a:prstGeom prst="rect">
            <a:avLst/>
          </a:prstGeom>
          <a:noFill/>
        </p:spPr>
      </p:pic>
      <p:sp>
        <p:nvSpPr>
          <p:cNvPr id="2" name="Title 1"/>
          <p:cNvSpPr>
            <a:spLocks noGrp="1"/>
          </p:cNvSpPr>
          <p:nvPr>
            <p:ph type="ctrTitle" hasCustomPrompt="1"/>
            <p:custDataLst>
              <p:tags r:id="rId5"/>
            </p:custDataLst>
          </p:nvPr>
        </p:nvSpPr>
        <p:spPr>
          <a:xfrm>
            <a:off x="0" y="2256613"/>
            <a:ext cx="5642904" cy="2261632"/>
          </a:xfrm>
        </p:spPr>
        <p:txBody>
          <a:bodyPr lIns="231412" tIns="33059" rIns="33059" bIns="33059"/>
          <a:lstStyle>
            <a:lvl1pPr algn="l">
              <a:lnSpc>
                <a:spcPct val="100000"/>
              </a:lnSpc>
              <a:defRPr sz="3300" b="0">
                <a:solidFill>
                  <a:schemeClr val="bg1"/>
                </a:solidFill>
                <a:latin typeface="+mn-lt"/>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3" name="Subtitle 2"/>
          <p:cNvSpPr>
            <a:spLocks noGrp="1"/>
          </p:cNvSpPr>
          <p:nvPr>
            <p:ph type="subTitle" idx="1" hasCustomPrompt="1"/>
            <p:custDataLst>
              <p:tags r:id="rId6"/>
            </p:custDataLst>
          </p:nvPr>
        </p:nvSpPr>
        <p:spPr>
          <a:xfrm>
            <a:off x="0" y="4551798"/>
            <a:ext cx="5643584" cy="947750"/>
          </a:xfrm>
        </p:spPr>
        <p:txBody>
          <a:bodyPr lIns="231412" tIns="33059" rIns="33059" bIns="33059"/>
          <a:lstStyle>
            <a:lvl1pPr marL="0" indent="0" algn="l">
              <a:lnSpc>
                <a:spcPct val="100000"/>
              </a:lnSpc>
              <a:buNone/>
              <a:defRPr sz="2200" b="0">
                <a:solidFill>
                  <a:schemeClr val="bg1"/>
                </a:solidFill>
                <a:latin typeface="+mn-lt"/>
              </a:defRPr>
            </a:lvl1pPr>
            <a:lvl2pPr marL="457171" indent="0" algn="ctr">
              <a:buNone/>
              <a:defRPr>
                <a:solidFill>
                  <a:schemeClr val="tx1">
                    <a:tint val="75000"/>
                  </a:schemeClr>
                </a:solidFill>
              </a:defRPr>
            </a:lvl2pPr>
            <a:lvl3pPr marL="914342" indent="0" algn="ctr">
              <a:buNone/>
              <a:defRPr>
                <a:solidFill>
                  <a:schemeClr val="tx1">
                    <a:tint val="75000"/>
                  </a:schemeClr>
                </a:solidFill>
              </a:defRPr>
            </a:lvl3pPr>
            <a:lvl4pPr marL="1371513" indent="0" algn="ctr">
              <a:buNone/>
              <a:defRPr>
                <a:solidFill>
                  <a:schemeClr val="tx1">
                    <a:tint val="75000"/>
                  </a:schemeClr>
                </a:solidFill>
              </a:defRPr>
            </a:lvl4pPr>
            <a:lvl5pPr marL="1828684" indent="0" algn="ctr">
              <a:buNone/>
              <a:defRPr>
                <a:solidFill>
                  <a:schemeClr val="tx1">
                    <a:tint val="75000"/>
                  </a:schemeClr>
                </a:solidFill>
              </a:defRPr>
            </a:lvl5pPr>
            <a:lvl6pPr marL="2285855" indent="0" algn="ctr">
              <a:buNone/>
              <a:defRPr>
                <a:solidFill>
                  <a:schemeClr val="tx1">
                    <a:tint val="75000"/>
                  </a:schemeClr>
                </a:solidFill>
              </a:defRPr>
            </a:lvl6pPr>
            <a:lvl7pPr marL="2743026" indent="0" algn="ctr">
              <a:buNone/>
              <a:defRPr>
                <a:solidFill>
                  <a:schemeClr val="tx1">
                    <a:tint val="75000"/>
                  </a:schemeClr>
                </a:solidFill>
              </a:defRPr>
            </a:lvl7pPr>
            <a:lvl8pPr marL="3200198" indent="0" algn="ctr">
              <a:buNone/>
              <a:defRPr>
                <a:solidFill>
                  <a:schemeClr val="tx1">
                    <a:tint val="75000"/>
                  </a:schemeClr>
                </a:solidFill>
              </a:defRPr>
            </a:lvl8pPr>
            <a:lvl9pPr marL="3657369" indent="0" algn="ctr">
              <a:buNone/>
              <a:defRPr>
                <a:solidFill>
                  <a:schemeClr val="tx1">
                    <a:tint val="75000"/>
                  </a:schemeClr>
                </a:solidFill>
              </a:defRPr>
            </a:lvl9pPr>
          </a:lstStyle>
          <a:p>
            <a:r>
              <a:rPr lang="fr-FR" dirty="0" smtClean="0"/>
              <a:t>Click to </a:t>
            </a:r>
            <a:r>
              <a:rPr lang="fr-FR" dirty="0" err="1" smtClean="0"/>
              <a:t>edit</a:t>
            </a:r>
            <a:r>
              <a:rPr lang="fr-FR" dirty="0" smtClean="0"/>
              <a:t> Master </a:t>
            </a:r>
            <a:r>
              <a:rPr lang="fr-FR" dirty="0" err="1" smtClean="0"/>
              <a:t>text</a:t>
            </a:r>
            <a:r>
              <a:rPr lang="fr-FR" dirty="0" smtClean="0"/>
              <a:t> style</a:t>
            </a:r>
          </a:p>
        </p:txBody>
      </p:sp>
      <p:pic>
        <p:nvPicPr>
          <p:cNvPr id="13" name="Picture 103" descr="C:\Users\UserSim\Desktop\Capgemini\Capgemini_logo_cmyk.png"/>
          <p:cNvPicPr>
            <a:picLocks noChangeAspect="1" noChangeArrowheads="1"/>
          </p:cNvPicPr>
          <p:nvPr userDrawn="1">
            <p:custDataLst>
              <p:tags r:id="rId7"/>
            </p:custDataLst>
          </p:nvPr>
        </p:nvPicPr>
        <p:blipFill>
          <a:blip r:embed="rId12" cstate="email"/>
          <a:srcRect/>
          <a:stretch>
            <a:fillRect/>
          </a:stretch>
        </p:blipFill>
        <p:spPr bwMode="auto">
          <a:xfrm>
            <a:off x="793367" y="653034"/>
            <a:ext cx="3324193" cy="694690"/>
          </a:xfrm>
          <a:prstGeom prst="rect">
            <a:avLst/>
          </a:prstGeom>
          <a:noFill/>
        </p:spPr>
      </p:pic>
    </p:spTree>
  </p:cSld>
  <p:clrMapOvr>
    <a:masterClrMapping/>
  </p:clrMapOvr>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pic>
        <p:nvPicPr>
          <p:cNvPr id="10" name="Image 9" descr="test5.jpg"/>
          <p:cNvPicPr>
            <a:picLocks noChangeAspect="1"/>
          </p:cNvPicPr>
          <p:nvPr userDrawn="1"/>
        </p:nvPicPr>
        <p:blipFill>
          <a:blip r:embed="rId9" cstate="print"/>
          <a:srcRect l="240" t="179" r="380" b="511"/>
          <a:stretch>
            <a:fillRect/>
          </a:stretch>
        </p:blipFill>
        <p:spPr>
          <a:xfrm>
            <a:off x="0" y="1050622"/>
            <a:ext cx="10972800" cy="5807378"/>
          </a:xfrm>
          <a:prstGeom prst="rect">
            <a:avLst/>
          </a:prstGeom>
        </p:spPr>
      </p:pic>
      <p:graphicFrame>
        <p:nvGraphicFramePr>
          <p:cNvPr id="4" name="Object 3" hidden="1"/>
          <p:cNvGraphicFramePr>
            <a:graphicFrameLocks noChangeAspect="1"/>
          </p:cNvGraphicFramePr>
          <p:nvPr/>
        </p:nvGraphicFramePr>
        <p:xfrm>
          <a:off x="1" y="0"/>
          <a:ext cx="175846" cy="158750"/>
        </p:xfrm>
        <a:graphic>
          <a:graphicData uri="http://schemas.openxmlformats.org/presentationml/2006/ole">
            <p:oleObj spid="_x0000_s261122" name="think-cell Slide" r:id="rId10" imgW="360" imgH="360" progId="">
              <p:embed/>
            </p:oleObj>
          </a:graphicData>
        </a:graphic>
      </p:graphicFrame>
      <p:sp>
        <p:nvSpPr>
          <p:cNvPr id="16" name="Title 1"/>
          <p:cNvSpPr>
            <a:spLocks noGrp="1"/>
          </p:cNvSpPr>
          <p:nvPr>
            <p:ph type="title" hasCustomPrompt="1"/>
            <p:custDataLst>
              <p:tags r:id="rId2"/>
            </p:custDataLst>
          </p:nvPr>
        </p:nvSpPr>
        <p:spPr>
          <a:xfrm>
            <a:off x="4974371" y="1968817"/>
            <a:ext cx="5998429" cy="2414915"/>
          </a:xfrm>
        </p:spPr>
        <p:txBody>
          <a:bodyPr vert="horz" lIns="36000" tIns="36000" rIns="360000" bIns="36000" rtlCol="0" anchor="ctr">
            <a:noAutofit/>
          </a:bodyPr>
          <a:lstStyle>
            <a:lvl1pPr algn="r" defTabSz="995690" rtl="0" eaLnBrk="1" latinLnBrk="0" hangingPunct="1">
              <a:lnSpc>
                <a:spcPct val="100000"/>
              </a:lnSpc>
              <a:spcBef>
                <a:spcPct val="0"/>
              </a:spcBef>
              <a:buNone/>
              <a:defRPr lang="en-US" sz="3600" b="0" kern="1200" dirty="0">
                <a:solidFill>
                  <a:schemeClr val="bg1"/>
                </a:solidFill>
                <a:effectLst>
                  <a:outerShdw blurRad="38100" dist="38100" dir="2700000" algn="tl">
                    <a:srgbClr val="000000">
                      <a:alpha val="43137"/>
                    </a:srgbClr>
                  </a:outerShdw>
                </a:effectLst>
                <a:latin typeface="+mn-lt"/>
                <a:ea typeface="+mj-ea"/>
                <a:cs typeface="+mj-cs"/>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17" name="Text Placeholder 8"/>
          <p:cNvSpPr>
            <a:spLocks noGrp="1"/>
          </p:cNvSpPr>
          <p:nvPr>
            <p:ph type="body" sz="quarter" idx="10" hasCustomPrompt="1"/>
            <p:custDataLst>
              <p:tags r:id="rId3"/>
            </p:custDataLst>
          </p:nvPr>
        </p:nvSpPr>
        <p:spPr>
          <a:xfrm>
            <a:off x="5911702" y="4609876"/>
            <a:ext cx="5061098" cy="1806302"/>
          </a:xfrm>
        </p:spPr>
        <p:txBody>
          <a:bodyPr vert="horz" lIns="36000" tIns="36000" rIns="360000" bIns="36000" rtlCol="0">
            <a:noAutofit/>
          </a:bodyPr>
          <a:lstStyle>
            <a:lvl1pPr marL="0" indent="0" algn="r" defTabSz="995690" rtl="0" eaLnBrk="1" latinLnBrk="0" hangingPunct="1">
              <a:lnSpc>
                <a:spcPct val="100000"/>
              </a:lnSpc>
              <a:spcBef>
                <a:spcPts val="0"/>
              </a:spcBef>
              <a:buFontTx/>
              <a:buNone/>
              <a:defRPr lang="fr-FR" sz="2400" b="0" kern="1200" baseline="0" smtClean="0">
                <a:solidFill>
                  <a:schemeClr val="bg1"/>
                </a:solidFill>
                <a:effectLst>
                  <a:outerShdw blurRad="38100" dist="38100" dir="2700000" algn="tl">
                    <a:srgbClr val="000000">
                      <a:alpha val="43137"/>
                    </a:srgbClr>
                  </a:outerShdw>
                </a:effectLst>
                <a:latin typeface="+mn-lt"/>
                <a:ea typeface="+mn-ea"/>
                <a:cs typeface="+mn-cs"/>
              </a:defRPr>
            </a:lvl1pPr>
          </a:lstStyle>
          <a:p>
            <a:pPr lvl="0"/>
            <a:r>
              <a:rPr lang="fr-FR" dirty="0" smtClean="0"/>
              <a:t>Click to </a:t>
            </a:r>
            <a:r>
              <a:rPr lang="fr-FR" dirty="0" err="1" smtClean="0"/>
              <a:t>edit</a:t>
            </a:r>
            <a:r>
              <a:rPr lang="fr-FR" dirty="0" smtClean="0"/>
              <a:t> Master </a:t>
            </a:r>
            <a:r>
              <a:rPr lang="fr-FR" dirty="0" err="1" smtClean="0"/>
              <a:t>text</a:t>
            </a:r>
            <a:r>
              <a:rPr lang="fr-FR" dirty="0" smtClean="0"/>
              <a:t> style</a:t>
            </a:r>
          </a:p>
        </p:txBody>
      </p:sp>
      <p:sp>
        <p:nvSpPr>
          <p:cNvPr id="21" name="Rectangle 7"/>
          <p:cNvSpPr/>
          <p:nvPr userDrawn="1">
            <p:custDataLst>
              <p:tags r:id="rId4"/>
            </p:custDataLst>
          </p:nvPr>
        </p:nvSpPr>
        <p:spPr bwMode="auto">
          <a:xfrm>
            <a:off x="-2273" y="1"/>
            <a:ext cx="10975074" cy="2683033"/>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62072" h="2958168">
                <a:moveTo>
                  <a:pt x="1331" y="2791"/>
                </a:moveTo>
                <a:lnTo>
                  <a:pt x="10561655" y="0"/>
                </a:lnTo>
                <a:cubicBezTo>
                  <a:pt x="10562168" y="67600"/>
                  <a:pt x="10562411" y="1432923"/>
                  <a:pt x="10561157" y="1476338"/>
                </a:cubicBezTo>
                <a:cubicBezTo>
                  <a:pt x="10083761" y="2148347"/>
                  <a:pt x="9705180" y="2158423"/>
                  <a:pt x="9288594" y="2153103"/>
                </a:cubicBezTo>
                <a:lnTo>
                  <a:pt x="2317558" y="2159512"/>
                </a:lnTo>
                <a:cubicBezTo>
                  <a:pt x="1740344" y="2192654"/>
                  <a:pt x="1372498" y="2495346"/>
                  <a:pt x="1180889" y="2958168"/>
                </a:cubicBezTo>
                <a:cubicBezTo>
                  <a:pt x="882535" y="2254391"/>
                  <a:pt x="278640" y="2173187"/>
                  <a:pt x="0" y="2174065"/>
                </a:cubicBezTo>
                <a:cubicBezTo>
                  <a:pt x="2067" y="2138552"/>
                  <a:pt x="2603" y="98373"/>
                  <a:pt x="1331" y="2791"/>
                </a:cubicBezTo>
                <a:close/>
              </a:path>
            </a:pathLst>
          </a:custGeom>
          <a:solidFill>
            <a:schemeClr val="bg1"/>
          </a:solidFill>
          <a:ln w="12700" cmpd="sng" algn="ctr">
            <a:noFill/>
            <a:miter lim="800000"/>
            <a:headEnd/>
            <a:tailEnd/>
          </a:ln>
          <a:effectLst>
            <a:outerShdw blurRad="41275" dist="38100" dir="5400000" algn="t" rotWithShape="0">
              <a:schemeClr val="bg1">
                <a:lumMod val="65000"/>
                <a:alpha val="25000"/>
              </a:schemeClr>
            </a:outerShdw>
          </a:effectLst>
        </p:spPr>
        <p:txBody>
          <a:bodyPr wrap="square" lIns="33059" tIns="42976" rIns="33059" bIns="42976" rtlCol="0" anchor="ctr"/>
          <a:lstStyle/>
          <a:p>
            <a:pPr algn="ctr"/>
            <a:endParaRPr lang="en-US" sz="1000" dirty="0" smtClean="0">
              <a:solidFill>
                <a:prstClr val="white"/>
              </a:solidFill>
              <a:cs typeface="Arial"/>
            </a:endParaRPr>
          </a:p>
        </p:txBody>
      </p:sp>
      <p:pic>
        <p:nvPicPr>
          <p:cNvPr id="22" name="Picture 103" descr="C:\Users\UserSim\Desktop\Capgemini\Capgemini_logo_cmyk.png"/>
          <p:cNvPicPr>
            <a:picLocks noChangeAspect="1" noChangeArrowheads="1"/>
          </p:cNvPicPr>
          <p:nvPr userDrawn="1">
            <p:custDataLst>
              <p:tags r:id="rId5"/>
            </p:custDataLst>
          </p:nvPr>
        </p:nvPicPr>
        <p:blipFill>
          <a:blip r:embed="rId11" cstate="email"/>
          <a:srcRect/>
          <a:stretch>
            <a:fillRect/>
          </a:stretch>
        </p:blipFill>
        <p:spPr bwMode="auto">
          <a:xfrm>
            <a:off x="793367" y="653034"/>
            <a:ext cx="3324193" cy="694690"/>
          </a:xfrm>
          <a:prstGeom prst="rect">
            <a:avLst/>
          </a:prstGeom>
          <a:noFill/>
        </p:spPr>
      </p:pic>
      <p:sp>
        <p:nvSpPr>
          <p:cNvPr id="23" name="Rectangle 22"/>
          <p:cNvSpPr/>
          <p:nvPr userDrawn="1">
            <p:custDataLst>
              <p:tags r:id="rId6"/>
            </p:custDataLst>
          </p:nvPr>
        </p:nvSpPr>
        <p:spPr>
          <a:xfrm>
            <a:off x="0" y="6400876"/>
            <a:ext cx="10972800" cy="4571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83969" tIns="41985" rIns="83969" bIns="41985" rtlCol="0" anchor="ctr"/>
          <a:lstStyle/>
          <a:p>
            <a:pPr algn="ctr"/>
            <a:endParaRPr lang="en-US" sz="1300" dirty="0" smtClean="0">
              <a:solidFill>
                <a:prstClr val="white"/>
              </a:solidFill>
            </a:endParaRPr>
          </a:p>
        </p:txBody>
      </p:sp>
      <p:pic>
        <p:nvPicPr>
          <p:cNvPr id="24" name="Picture 104" descr="C:\Users\UserSim\Desktop\Capgemini\moto.emf"/>
          <p:cNvPicPr>
            <a:picLocks noChangeAspect="1" noChangeArrowheads="1"/>
          </p:cNvPicPr>
          <p:nvPr userDrawn="1">
            <p:custDataLst>
              <p:tags r:id="rId7"/>
            </p:custDataLst>
          </p:nvPr>
        </p:nvPicPr>
        <p:blipFill>
          <a:blip r:embed="rId12" cstate="email"/>
          <a:srcRect/>
          <a:stretch>
            <a:fillRect/>
          </a:stretch>
        </p:blipFill>
        <p:spPr bwMode="auto">
          <a:xfrm>
            <a:off x="7277302" y="6520695"/>
            <a:ext cx="3324655" cy="239021"/>
          </a:xfrm>
          <a:prstGeom prst="rect">
            <a:avLst/>
          </a:prstGeom>
          <a:noFill/>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able of Content-Agenda">
    <p:spTree>
      <p:nvGrpSpPr>
        <p:cNvPr id="1" name=""/>
        <p:cNvGrpSpPr/>
        <p:nvPr/>
      </p:nvGrpSpPr>
      <p:grpSpPr>
        <a:xfrm>
          <a:off x="0" y="0"/>
          <a:ext cx="0" cy="0"/>
          <a:chOff x="0" y="0"/>
          <a:chExt cx="0" cy="0"/>
        </a:xfrm>
      </p:grpSpPr>
      <p:pic>
        <p:nvPicPr>
          <p:cNvPr id="9" name="Image 8" descr="test3.jpg"/>
          <p:cNvPicPr>
            <a:picLocks noChangeAspect="1"/>
          </p:cNvPicPr>
          <p:nvPr userDrawn="1"/>
        </p:nvPicPr>
        <p:blipFill>
          <a:blip r:embed="rId6" cstate="print"/>
          <a:srcRect l="120" t="188" r="380" b="564"/>
          <a:stretch>
            <a:fillRect/>
          </a:stretch>
        </p:blipFill>
        <p:spPr>
          <a:xfrm>
            <a:off x="0" y="0"/>
            <a:ext cx="10972800" cy="6353298"/>
          </a:xfrm>
          <a:prstGeom prst="rect">
            <a:avLst/>
          </a:prstGeom>
        </p:spPr>
      </p:pic>
      <p:sp>
        <p:nvSpPr>
          <p:cNvPr id="8" name="Rectangle 7"/>
          <p:cNvSpPr/>
          <p:nvPr userDrawn="1"/>
        </p:nvSpPr>
        <p:spPr>
          <a:xfrm>
            <a:off x="0" y="1"/>
            <a:ext cx="10972800" cy="6469039"/>
          </a:xfrm>
          <a:prstGeom prst="rect">
            <a:avLst/>
          </a:pr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smtClean="0">
              <a:solidFill>
                <a:srgbClr val="998C85">
                  <a:lumMod val="50000"/>
                </a:srgbClr>
              </a:solidFill>
            </a:endParaRPr>
          </a:p>
        </p:txBody>
      </p:sp>
      <p:graphicFrame>
        <p:nvGraphicFramePr>
          <p:cNvPr id="7" name="Object 6" hidden="1"/>
          <p:cNvGraphicFramePr>
            <a:graphicFrameLocks noChangeAspect="1"/>
          </p:cNvGraphicFramePr>
          <p:nvPr/>
        </p:nvGraphicFramePr>
        <p:xfrm>
          <a:off x="0" y="0"/>
          <a:ext cx="175846" cy="158750"/>
        </p:xfrm>
        <a:graphic>
          <a:graphicData uri="http://schemas.openxmlformats.org/presentationml/2006/ole">
            <p:oleObj spid="_x0000_s262146" name="think-cell Slide" r:id="rId7" imgW="360" imgH="360" progId="">
              <p:embed/>
            </p:oleObj>
          </a:graphicData>
        </a:graphic>
      </p:graphicFrame>
      <p:sp>
        <p:nvSpPr>
          <p:cNvPr id="2" name="Titre 1"/>
          <p:cNvSpPr>
            <a:spLocks noGrp="1"/>
          </p:cNvSpPr>
          <p:nvPr>
            <p:ph type="title" hasCustomPrompt="1"/>
            <p:custDataLst>
              <p:tags r:id="rId2"/>
            </p:custDataLst>
          </p:nvPr>
        </p:nvSpPr>
        <p:spPr/>
        <p:txBody>
          <a:bodyPr/>
          <a:lstStyle/>
          <a:p>
            <a:r>
              <a:rPr lang="en-US" dirty="0" smtClean="0"/>
              <a:t>Click to edit Master title style</a:t>
            </a:r>
            <a:endParaRPr lang="en-US" dirty="0"/>
          </a:p>
        </p:txBody>
      </p:sp>
      <p:sp>
        <p:nvSpPr>
          <p:cNvPr id="4" name="Freeform 4"/>
          <p:cNvSpPr>
            <a:spLocks/>
          </p:cNvSpPr>
          <p:nvPr userDrawn="1">
            <p:custDataLst>
              <p:tags r:id="rId3"/>
            </p:custDataLst>
          </p:nvPr>
        </p:nvSpPr>
        <p:spPr bwMode="auto">
          <a:xfrm>
            <a:off x="3" y="676402"/>
            <a:ext cx="10972799" cy="72812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vert="horz" wrap="square" lIns="99563" tIns="49782" rIns="99563" bIns="49782" numCol="1" anchor="t" anchorCtr="0" compatLnSpc="1">
            <a:prstTxWarp prst="textNoShape">
              <a:avLst/>
            </a:prstTxWarp>
          </a:bodyPr>
          <a:lstStyle/>
          <a:p>
            <a:endParaRPr lang="fr-FR" dirty="0">
              <a:solidFill>
                <a:srgbClr val="263147"/>
              </a:solidFill>
            </a:endParaRPr>
          </a:p>
        </p:txBody>
      </p:sp>
      <p:sp>
        <p:nvSpPr>
          <p:cNvPr id="6" name="Espace réservé du contenu 5"/>
          <p:cNvSpPr>
            <a:spLocks noGrp="1"/>
          </p:cNvSpPr>
          <p:nvPr>
            <p:ph sz="quarter" idx="10" hasCustomPrompt="1"/>
            <p:custDataLst>
              <p:tags r:id="rId4"/>
            </p:custDataLst>
          </p:nvPr>
        </p:nvSpPr>
        <p:spPr>
          <a:xfrm>
            <a:off x="358324" y="1501978"/>
            <a:ext cx="7540783" cy="2950251"/>
          </a:xfrm>
        </p:spPr>
        <p:txBody>
          <a:bodyPr/>
          <a:lstStyle/>
          <a:p>
            <a:pPr lvl="0"/>
            <a:r>
              <a:rPr lang="en-US" noProof="0" dirty="0" smtClean="0"/>
              <a:t>Click to edit Master text style</a:t>
            </a: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nvGraphicFramePr>
        <p:xfrm>
          <a:off x="1" y="1"/>
          <a:ext cx="162898" cy="143985"/>
        </p:xfrm>
        <a:graphic>
          <a:graphicData uri="http://schemas.openxmlformats.org/presentationml/2006/ole">
            <p:oleObj spid="_x0000_s263170" name="think-cell Slide" r:id="rId4" imgW="360" imgH="360" progId="">
              <p:embed/>
            </p:oleObj>
          </a:graphicData>
        </a:graphic>
      </p:graphicFrame>
      <p:sp>
        <p:nvSpPr>
          <p:cNvPr id="2" name="Title 1"/>
          <p:cNvSpPr>
            <a:spLocks noGrp="1"/>
          </p:cNvSpPr>
          <p:nvPr>
            <p:ph type="title" hasCustomPrompt="1"/>
            <p:custDataLst>
              <p:tags r:id="rId2"/>
            </p:custDataLst>
          </p:nvPr>
        </p:nvSpPr>
        <p:spPr/>
        <p:txBody>
          <a:bodyPr/>
          <a:lstStyle>
            <a:lvl1pPr>
              <a:defRPr/>
            </a:lvl1pPr>
          </a:lstStyle>
          <a:p>
            <a:r>
              <a:rPr lang="en-US" noProof="0" dirty="0" smtClean="0"/>
              <a:t>Click to edit Master title style</a:t>
            </a:r>
            <a:endParaRPr lang="en-US" dirty="0"/>
          </a:p>
        </p:txBody>
      </p:sp>
      <p:sp>
        <p:nvSpPr>
          <p:cNvPr id="8" name="Content Placeholder 7"/>
          <p:cNvSpPr>
            <a:spLocks noGrp="1"/>
          </p:cNvSpPr>
          <p:nvPr>
            <p:ph sz="quarter" idx="10"/>
          </p:nvPr>
        </p:nvSpPr>
        <p:spPr>
          <a:xfrm>
            <a:off x="351694" y="1511300"/>
            <a:ext cx="10265897" cy="4584700"/>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p:txBody>
      </p:sp>
    </p:spTree>
  </p:cSld>
  <p:clrMapOvr>
    <a:masterClrMapping/>
  </p:clrMapOvr>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nvGraphicFramePr>
        <p:xfrm>
          <a:off x="1" y="1"/>
          <a:ext cx="162898" cy="143985"/>
        </p:xfrm>
        <a:graphic>
          <a:graphicData uri="http://schemas.openxmlformats.org/presentationml/2006/ole">
            <p:oleObj spid="_x0000_s264194" name="think-cell Slide" r:id="rId6" imgW="360" imgH="360" progId="">
              <p:embed/>
            </p:oleObj>
          </a:graphicData>
        </a:graphic>
      </p:graphicFrame>
      <p:sp>
        <p:nvSpPr>
          <p:cNvPr id="2" name="Title 1"/>
          <p:cNvSpPr>
            <a:spLocks noGrp="1"/>
          </p:cNvSpPr>
          <p:nvPr>
            <p:ph type="title" hasCustomPrompt="1"/>
            <p:custDataLst>
              <p:tags r:id="rId2"/>
            </p:custDataLst>
          </p:nvPr>
        </p:nvSpPr>
        <p:spPr/>
        <p:txBody>
          <a:bodyPr/>
          <a:lstStyle>
            <a:lvl1pPr>
              <a:defRPr/>
            </a:lvl1pPr>
          </a:lstStyle>
          <a:p>
            <a:r>
              <a:rPr lang="en-US" noProof="0" dirty="0" smtClean="0"/>
              <a:t>Click to edit Master title style</a:t>
            </a:r>
            <a:endParaRPr lang="en-US" dirty="0"/>
          </a:p>
        </p:txBody>
      </p:sp>
      <p:sp>
        <p:nvSpPr>
          <p:cNvPr id="3" name="Content Placeholder 2"/>
          <p:cNvSpPr>
            <a:spLocks noGrp="1"/>
          </p:cNvSpPr>
          <p:nvPr>
            <p:ph idx="1" hasCustomPrompt="1"/>
            <p:custDataLst>
              <p:tags r:id="rId3"/>
            </p:custDataLst>
          </p:nvPr>
        </p:nvSpPr>
        <p:spPr>
          <a:xfrm>
            <a:off x="358219" y="2111956"/>
            <a:ext cx="10614581" cy="4026560"/>
          </a:xfrm>
        </p:spPr>
        <p:txBody>
          <a:bodyPr/>
          <a:lstStyle>
            <a:lvl1pPr>
              <a:defRPr b="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8" name="Espace réservé du texte 7"/>
          <p:cNvSpPr>
            <a:spLocks noGrp="1"/>
          </p:cNvSpPr>
          <p:nvPr>
            <p:ph type="body" sz="quarter" idx="11" hasCustomPrompt="1"/>
            <p:custDataLst>
              <p:tags r:id="rId4"/>
            </p:custDataLst>
          </p:nvPr>
        </p:nvSpPr>
        <p:spPr>
          <a:xfrm>
            <a:off x="358325" y="1495447"/>
            <a:ext cx="10632343" cy="643612"/>
          </a:xfrm>
        </p:spPr>
        <p:txBody>
          <a:bodyPr/>
          <a:lstStyle>
            <a:lvl1pPr marL="0" indent="0">
              <a:buNone/>
              <a:defRPr b="1">
                <a:solidFill>
                  <a:schemeClr val="accent2"/>
                </a:solidFill>
              </a:defRPr>
            </a:lvl1pPr>
          </a:lstStyle>
          <a:p>
            <a:pPr lvl="0"/>
            <a:r>
              <a:rPr lang="fr-FR" dirty="0" smtClean="0"/>
              <a:t>Click to </a:t>
            </a:r>
            <a:r>
              <a:rPr lang="fr-FR" dirty="0" err="1" smtClean="0"/>
              <a:t>edit</a:t>
            </a:r>
            <a:r>
              <a:rPr lang="fr-FR" dirty="0" smtClean="0"/>
              <a:t> Master </a:t>
            </a:r>
            <a:r>
              <a:rPr lang="fr-FR" dirty="0" err="1" smtClean="0"/>
              <a:t>text</a:t>
            </a:r>
            <a:r>
              <a:rPr lang="fr-FR" dirty="0" smtClean="0"/>
              <a:t> style</a:t>
            </a:r>
          </a:p>
        </p:txBody>
      </p:sp>
    </p:spTree>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 Content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nvGraphicFramePr>
        <p:xfrm>
          <a:off x="0" y="0"/>
          <a:ext cx="175846" cy="158750"/>
        </p:xfrm>
        <a:graphic>
          <a:graphicData uri="http://schemas.openxmlformats.org/presentationml/2006/ole">
            <p:oleObj spid="_x0000_s265218" name="think-cell Slide" r:id="rId6" imgW="360" imgH="360" progId="">
              <p:embed/>
            </p:oleObj>
          </a:graphicData>
        </a:graphic>
      </p:graphicFrame>
      <p:sp>
        <p:nvSpPr>
          <p:cNvPr id="2" name="Titre 1"/>
          <p:cNvSpPr>
            <a:spLocks noGrp="1"/>
          </p:cNvSpPr>
          <p:nvPr>
            <p:ph type="title" hasCustomPrompt="1"/>
            <p:custDataLst>
              <p:tags r:id="rId2"/>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hasCustomPrompt="1"/>
            <p:custDataLst>
              <p:tags r:id="rId3"/>
            </p:custDataLst>
          </p:nvPr>
        </p:nvSpPr>
        <p:spPr>
          <a:xfrm>
            <a:off x="348601" y="1533439"/>
            <a:ext cx="4986984" cy="4715504"/>
          </a:xfrm>
        </p:spPr>
        <p:txBody>
          <a:bodyPr/>
          <a:lstStyle>
            <a:lvl1pPr>
              <a:defRPr sz="1400"/>
            </a:lvl1pPr>
            <a:lvl2pPr>
              <a:defRPr sz="1400"/>
            </a:lvl2pPr>
            <a:lvl3pPr>
              <a:defRPr sz="1400"/>
            </a:lvl3pPr>
            <a:lvl4pPr>
              <a:defRPr sz="1400"/>
            </a:lvl4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6" name="Espace réservé du contenu 5"/>
          <p:cNvSpPr>
            <a:spLocks noGrp="1"/>
          </p:cNvSpPr>
          <p:nvPr>
            <p:ph sz="quarter" idx="11" hasCustomPrompt="1"/>
            <p:custDataLst>
              <p:tags r:id="rId4"/>
            </p:custDataLst>
          </p:nvPr>
        </p:nvSpPr>
        <p:spPr>
          <a:xfrm>
            <a:off x="5563759" y="1533440"/>
            <a:ext cx="4986984" cy="4725584"/>
          </a:xfrm>
        </p:spPr>
        <p:txBody>
          <a:bodyPr/>
          <a:lstStyle>
            <a:lvl1pPr>
              <a:defRPr sz="1400"/>
            </a:lvl1pPr>
            <a:lvl2pPr>
              <a:defRPr sz="1400"/>
            </a:lvl2pPr>
            <a:lvl3pPr>
              <a:defRPr sz="1400"/>
            </a:lvl3pPr>
            <a:lvl4pPr>
              <a:defRPr sz="1400"/>
            </a:lvl4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 Contents &amp; Headings">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nvGraphicFramePr>
        <p:xfrm>
          <a:off x="0" y="0"/>
          <a:ext cx="175846" cy="158750"/>
        </p:xfrm>
        <a:graphic>
          <a:graphicData uri="http://schemas.openxmlformats.org/presentationml/2006/ole">
            <p:oleObj spid="_x0000_s266242" name="think-cell Slide" r:id="rId8" imgW="360" imgH="360" progId="">
              <p:embed/>
            </p:oleObj>
          </a:graphicData>
        </a:graphic>
      </p:graphicFrame>
      <p:sp>
        <p:nvSpPr>
          <p:cNvPr id="2" name="Titre 1"/>
          <p:cNvSpPr>
            <a:spLocks noGrp="1"/>
          </p:cNvSpPr>
          <p:nvPr>
            <p:ph type="title" hasCustomPrompt="1"/>
            <p:custDataLst>
              <p:tags r:id="rId2"/>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hasCustomPrompt="1"/>
            <p:custDataLst>
              <p:tags r:id="rId3"/>
            </p:custDataLst>
          </p:nvPr>
        </p:nvSpPr>
        <p:spPr>
          <a:xfrm>
            <a:off x="348601" y="2206953"/>
            <a:ext cx="4986984" cy="4041990"/>
          </a:xfrm>
        </p:spPr>
        <p:txBody>
          <a:bodyPr/>
          <a:lstStyle>
            <a:lvl1pPr>
              <a:defRPr sz="1400"/>
            </a:lvl1pPr>
            <a:lvl2pPr>
              <a:defRPr sz="1400"/>
            </a:lvl2pPr>
            <a:lvl3pPr>
              <a:defRPr sz="1400"/>
            </a:lvl3pPr>
            <a:lvl4pPr>
              <a:defRPr sz="1400"/>
            </a:lvl4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6" name="Espace réservé du contenu 5"/>
          <p:cNvSpPr>
            <a:spLocks noGrp="1"/>
          </p:cNvSpPr>
          <p:nvPr>
            <p:ph sz="quarter" idx="11" hasCustomPrompt="1"/>
            <p:custDataLst>
              <p:tags r:id="rId4"/>
            </p:custDataLst>
          </p:nvPr>
        </p:nvSpPr>
        <p:spPr>
          <a:xfrm>
            <a:off x="5563759" y="2208394"/>
            <a:ext cx="4986984" cy="4050630"/>
          </a:xfrm>
        </p:spPr>
        <p:txBody>
          <a:bodyPr/>
          <a:lstStyle>
            <a:lvl1pPr>
              <a:defRPr sz="1400"/>
            </a:lvl1pPr>
            <a:lvl2pPr>
              <a:defRPr sz="1400"/>
            </a:lvl2pPr>
            <a:lvl3pPr>
              <a:defRPr sz="1400"/>
            </a:lvl3pPr>
            <a:lvl4pPr>
              <a:defRPr sz="1400"/>
            </a:lvl4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7" name="Espace réservé du texte 6"/>
          <p:cNvSpPr>
            <a:spLocks noGrp="1"/>
          </p:cNvSpPr>
          <p:nvPr>
            <p:ph type="body" sz="quarter" idx="12" hasCustomPrompt="1"/>
            <p:custDataLst>
              <p:tags r:id="rId5"/>
            </p:custDataLst>
          </p:nvPr>
        </p:nvSpPr>
        <p:spPr>
          <a:xfrm>
            <a:off x="348602" y="1542648"/>
            <a:ext cx="4986984" cy="653034"/>
          </a:xfrm>
        </p:spPr>
        <p:txBody>
          <a:bodyPr anchor="ctr"/>
          <a:lstStyle>
            <a:lvl1pPr algn="ctr">
              <a:buNone/>
              <a:defRPr sz="2200" b="1">
                <a:solidFill>
                  <a:schemeClr val="tx2">
                    <a:lumMod val="50000"/>
                  </a:schemeClr>
                </a:solidFill>
              </a:defRPr>
            </a:lvl1pPr>
            <a:lvl5pPr>
              <a:buNone/>
              <a:defRPr/>
            </a:lvl5pPr>
          </a:lstStyle>
          <a:p>
            <a:pPr lvl="0"/>
            <a:r>
              <a:rPr lang="en-US" noProof="0" dirty="0" smtClean="0"/>
              <a:t>Click to edit Master text style</a:t>
            </a:r>
          </a:p>
        </p:txBody>
      </p:sp>
      <p:sp>
        <p:nvSpPr>
          <p:cNvPr id="9" name="Espace réservé du texte 8"/>
          <p:cNvSpPr>
            <a:spLocks noGrp="1"/>
          </p:cNvSpPr>
          <p:nvPr>
            <p:ph type="body" sz="quarter" idx="13" hasCustomPrompt="1"/>
            <p:custDataLst>
              <p:tags r:id="rId6"/>
            </p:custDataLst>
          </p:nvPr>
        </p:nvSpPr>
        <p:spPr>
          <a:xfrm>
            <a:off x="5564099" y="1533439"/>
            <a:ext cx="4986984" cy="653034"/>
          </a:xfrm>
        </p:spPr>
        <p:txBody>
          <a:bodyPr anchor="ctr"/>
          <a:lstStyle>
            <a:lvl1pPr algn="ctr">
              <a:buNone/>
              <a:defRPr lang="fr-FR" sz="2200" b="1" kern="1200" noProof="0" dirty="0" smtClean="0">
                <a:solidFill>
                  <a:schemeClr val="tx2">
                    <a:lumMod val="50000"/>
                  </a:schemeClr>
                </a:solidFill>
                <a:latin typeface="+mn-lt"/>
                <a:ea typeface="+mn-ea"/>
                <a:cs typeface="+mn-cs"/>
              </a:defRPr>
            </a:lvl1pPr>
          </a:lstStyle>
          <a:p>
            <a:pPr lvl="0"/>
            <a:r>
              <a:rPr lang="en-US" noProof="0" dirty="0" smtClean="0"/>
              <a:t>Click to edit Master text style</a:t>
            </a: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4-Content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hasCustomPrompt="1"/>
          </p:nvPr>
        </p:nvSpPr>
        <p:spPr>
          <a:xfrm>
            <a:off x="351692" y="1511299"/>
            <a:ext cx="5057664" cy="443745"/>
          </a:xfrm>
          <a:solidFill>
            <a:schemeClr val="accent2"/>
          </a:solidFill>
          <a:ln w="19050">
            <a:solidFill>
              <a:schemeClr val="accent2"/>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400" b="1" kern="1200" dirty="0" smtClean="0">
                <a:solidFill>
                  <a:schemeClr val="bg1"/>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4" name="Content Placeholder 3"/>
          <p:cNvSpPr>
            <a:spLocks noGrp="1"/>
          </p:cNvSpPr>
          <p:nvPr>
            <p:ph sz="half" idx="2" hasCustomPrompt="1"/>
          </p:nvPr>
        </p:nvSpPr>
        <p:spPr>
          <a:xfrm>
            <a:off x="351692" y="1902610"/>
            <a:ext cx="5057664" cy="1861869"/>
          </a:xfrm>
          <a:ln w="19050">
            <a:solidFill>
              <a:schemeClr val="accent2"/>
            </a:solidFill>
          </a:ln>
        </p:spPr>
        <p:style>
          <a:lnRef idx="2">
            <a:schemeClr val="accent1"/>
          </a:lnRef>
          <a:fillRef idx="1">
            <a:schemeClr val="lt1"/>
          </a:fillRef>
          <a:effectRef idx="0">
            <a:schemeClr val="accent1"/>
          </a:effectRef>
          <a:fontRef idx="none"/>
        </p:style>
        <p:txBody>
          <a:bodyPr lIns="91440"/>
          <a:lstStyle>
            <a:lvl1pPr>
              <a:defRPr sz="1200"/>
            </a:lvl1pPr>
            <a:lvl2pPr>
              <a:defRPr sz="1200"/>
            </a:lvl2pPr>
            <a:lvl3pPr>
              <a:defRPr sz="1200"/>
            </a:lvl3pPr>
            <a:lvl4pPr>
              <a:defRPr sz="1200" baseline="0"/>
            </a:lvl4pPr>
            <a:lvl5pPr>
              <a:defRPr sz="12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5" name="Text Placeholder 4"/>
          <p:cNvSpPr>
            <a:spLocks noGrp="1"/>
          </p:cNvSpPr>
          <p:nvPr>
            <p:ph type="body" sz="quarter" idx="3" hasCustomPrompt="1"/>
          </p:nvPr>
        </p:nvSpPr>
        <p:spPr>
          <a:xfrm>
            <a:off x="5595349" y="1511299"/>
            <a:ext cx="5022243" cy="443745"/>
          </a:xfrm>
          <a:solidFill>
            <a:schemeClr val="accent2"/>
          </a:solidFill>
          <a:ln w="19050">
            <a:solidFill>
              <a:schemeClr val="accent2"/>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400" b="1" kern="1200" dirty="0" smtClean="0">
                <a:solidFill>
                  <a:schemeClr val="bg1"/>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6" name="Content Placeholder 5"/>
          <p:cNvSpPr>
            <a:spLocks noGrp="1"/>
          </p:cNvSpPr>
          <p:nvPr>
            <p:ph sz="quarter" idx="4" hasCustomPrompt="1"/>
          </p:nvPr>
        </p:nvSpPr>
        <p:spPr>
          <a:xfrm>
            <a:off x="5595349" y="1902610"/>
            <a:ext cx="5022243" cy="1861869"/>
          </a:xfrm>
          <a:ln w="19050">
            <a:solidFill>
              <a:schemeClr val="accent2"/>
            </a:solidFill>
          </a:ln>
        </p:spPr>
        <p:style>
          <a:lnRef idx="2">
            <a:schemeClr val="accent1"/>
          </a:lnRef>
          <a:fillRef idx="1">
            <a:schemeClr val="lt1"/>
          </a:fillRef>
          <a:effectRef idx="0">
            <a:schemeClr val="accent1"/>
          </a:effectRef>
          <a:fontRef idx="none"/>
        </p:style>
        <p:txBody>
          <a:bodyPr lIns="91440"/>
          <a:lstStyle>
            <a:lvl1pPr>
              <a:defRPr sz="1200"/>
            </a:lvl1pPr>
            <a:lvl2pPr>
              <a:defRPr sz="1200"/>
            </a:lvl2pPr>
            <a:lvl3pPr>
              <a:defRPr sz="1200"/>
            </a:lvl3pPr>
            <a:lvl4pPr>
              <a:defRPr sz="12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7" name="Text Placeholder 2"/>
          <p:cNvSpPr>
            <a:spLocks noGrp="1"/>
          </p:cNvSpPr>
          <p:nvPr>
            <p:ph type="body" idx="12" hasCustomPrompt="1"/>
          </p:nvPr>
        </p:nvSpPr>
        <p:spPr>
          <a:xfrm>
            <a:off x="351692" y="3894138"/>
            <a:ext cx="5057664" cy="444882"/>
          </a:xfrm>
          <a:solidFill>
            <a:schemeClr val="accent2"/>
          </a:solidFill>
          <a:ln w="19050">
            <a:solidFill>
              <a:schemeClr val="accent2"/>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400" b="1" kern="1200" dirty="0" smtClean="0">
                <a:solidFill>
                  <a:schemeClr val="bg1"/>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8" name="Content Placeholder 3"/>
          <p:cNvSpPr>
            <a:spLocks noGrp="1"/>
          </p:cNvSpPr>
          <p:nvPr>
            <p:ph sz="half" idx="13" hasCustomPrompt="1"/>
          </p:nvPr>
        </p:nvSpPr>
        <p:spPr>
          <a:xfrm>
            <a:off x="351692" y="4286585"/>
            <a:ext cx="5057664" cy="1990391"/>
          </a:xfrm>
          <a:ln w="19050">
            <a:solidFill>
              <a:schemeClr val="accent2"/>
            </a:solidFill>
          </a:ln>
        </p:spPr>
        <p:style>
          <a:lnRef idx="2">
            <a:schemeClr val="accent1"/>
          </a:lnRef>
          <a:fillRef idx="1">
            <a:schemeClr val="lt1"/>
          </a:fillRef>
          <a:effectRef idx="0">
            <a:schemeClr val="accent1"/>
          </a:effectRef>
          <a:fontRef idx="none"/>
        </p:style>
        <p:txBody>
          <a:bodyPr lIns="91440"/>
          <a:lstStyle>
            <a:lvl1pPr>
              <a:defRPr sz="1200"/>
            </a:lvl1pPr>
            <a:lvl2pPr>
              <a:defRPr sz="1200"/>
            </a:lvl2pPr>
            <a:lvl3pPr>
              <a:defRPr sz="1200"/>
            </a:lvl3pPr>
            <a:lvl4pPr>
              <a:defRPr sz="12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9" name="Text Placeholder 4"/>
          <p:cNvSpPr>
            <a:spLocks noGrp="1"/>
          </p:cNvSpPr>
          <p:nvPr>
            <p:ph type="body" sz="quarter" idx="14" hasCustomPrompt="1"/>
          </p:nvPr>
        </p:nvSpPr>
        <p:spPr>
          <a:xfrm>
            <a:off x="5595349" y="3894138"/>
            <a:ext cx="5022243" cy="444882"/>
          </a:xfrm>
          <a:solidFill>
            <a:schemeClr val="accent2"/>
          </a:solidFill>
          <a:ln w="19050">
            <a:solidFill>
              <a:schemeClr val="accent2"/>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400" b="1" kern="1200" dirty="0" smtClean="0">
                <a:solidFill>
                  <a:schemeClr val="bg1"/>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10" name="Content Placeholder 5"/>
          <p:cNvSpPr>
            <a:spLocks noGrp="1"/>
          </p:cNvSpPr>
          <p:nvPr>
            <p:ph sz="quarter" idx="15" hasCustomPrompt="1"/>
          </p:nvPr>
        </p:nvSpPr>
        <p:spPr>
          <a:xfrm>
            <a:off x="5595349" y="4286585"/>
            <a:ext cx="5022243" cy="1990391"/>
          </a:xfrm>
          <a:ln w="19050">
            <a:solidFill>
              <a:schemeClr val="accent2"/>
            </a:solidFill>
          </a:ln>
        </p:spPr>
        <p:style>
          <a:lnRef idx="2">
            <a:schemeClr val="accent1"/>
          </a:lnRef>
          <a:fillRef idx="1">
            <a:schemeClr val="lt1"/>
          </a:fillRef>
          <a:effectRef idx="0">
            <a:schemeClr val="accent1"/>
          </a:effectRef>
          <a:fontRef idx="none"/>
        </p:style>
        <p:txBody>
          <a:bodyPr lIns="91440"/>
          <a:lstStyle>
            <a:lvl1pPr>
              <a:defRPr sz="1200"/>
            </a:lvl1pPr>
            <a:lvl2pPr>
              <a:defRPr sz="1200"/>
            </a:lvl2pPr>
            <a:lvl3pPr>
              <a:defRPr sz="1200"/>
            </a:lvl3pPr>
            <a:lvl4pPr>
              <a:defRPr sz="12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nvGraphicFramePr>
        <p:xfrm>
          <a:off x="1" y="1"/>
          <a:ext cx="162898" cy="143985"/>
        </p:xfrm>
        <a:graphic>
          <a:graphicData uri="http://schemas.openxmlformats.org/presentationml/2006/ole">
            <p:oleObj spid="_x0000_s267266" name="think-cell Slide" r:id="rId3" imgW="360" imgH="360" progId="">
              <p:embed/>
            </p:oleObj>
          </a:graphicData>
        </a:graphic>
      </p:graphicFrame>
    </p:spTree>
  </p:cSld>
  <p:clrMapOvr>
    <a:masterClrMapping/>
  </p:clrMapOvr>
  <p:timing>
    <p:tnLst>
      <p:par>
        <p:cT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nvGraphicFramePr>
        <p:xfrm>
          <a:off x="0" y="0"/>
          <a:ext cx="175846" cy="158750"/>
        </p:xfrm>
        <a:graphic>
          <a:graphicData uri="http://schemas.openxmlformats.org/presentationml/2006/ole">
            <p:oleObj spid="_x0000_s408578" name="think-cell Slide" r:id="rId4" imgW="360" imgH="360" progId="">
              <p:embed/>
            </p:oleObj>
          </a:graphicData>
        </a:graphic>
      </p:graphicFrame>
      <p:sp>
        <p:nvSpPr>
          <p:cNvPr id="2" name="Titre 1"/>
          <p:cNvSpPr>
            <a:spLocks noGrp="1"/>
          </p:cNvSpPr>
          <p:nvPr>
            <p:ph type="title" hasCustomPrompt="1"/>
            <p:custDataLst>
              <p:tags r:id="rId2"/>
            </p:custDataLst>
          </p:nvPr>
        </p:nvSpPr>
        <p:spPr/>
        <p:txBody>
          <a:bodyPr/>
          <a:lstStyle>
            <a:lvl1pPr>
              <a:defRPr/>
            </a:lvl1pPr>
          </a:lstStyle>
          <a:p>
            <a:pPr lvl="0"/>
            <a:r>
              <a:rPr lang="en-US" noProof="0" dirty="0" smtClean="0"/>
              <a:t>Click to edit Master title style</a:t>
            </a:r>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tags" Target="../tags/tag4.xml"/><Relationship Id="rId13" Type="http://schemas.openxmlformats.org/officeDocument/2006/relationships/tags" Target="../tags/tag9.xml"/><Relationship Id="rId3" Type="http://schemas.openxmlformats.org/officeDocument/2006/relationships/slideLayout" Target="../slideLayouts/slideLayout3.xml"/><Relationship Id="rId7" Type="http://schemas.openxmlformats.org/officeDocument/2006/relationships/tags" Target="../tags/tag3.xml"/><Relationship Id="rId12" Type="http://schemas.openxmlformats.org/officeDocument/2006/relationships/tags" Target="../tags/tag8.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11" Type="http://schemas.openxmlformats.org/officeDocument/2006/relationships/tags" Target="../tags/tag7.xml"/><Relationship Id="rId5" Type="http://schemas.openxmlformats.org/officeDocument/2006/relationships/vmlDrawing" Target="../drawings/vmlDrawing1.vml"/><Relationship Id="rId15" Type="http://schemas.openxmlformats.org/officeDocument/2006/relationships/image" Target="../media/image2.png"/><Relationship Id="rId10" Type="http://schemas.openxmlformats.org/officeDocument/2006/relationships/tags" Target="../tags/tag6.xml"/><Relationship Id="rId4" Type="http://schemas.openxmlformats.org/officeDocument/2006/relationships/theme" Target="../theme/theme1.xml"/><Relationship Id="rId9" Type="http://schemas.openxmlformats.org/officeDocument/2006/relationships/tags" Target="../tags/tag5.xml"/><Relationship Id="rId14"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8" Type="http://schemas.openxmlformats.org/officeDocument/2006/relationships/tags" Target="../tags/tag19.xml"/><Relationship Id="rId13" Type="http://schemas.openxmlformats.org/officeDocument/2006/relationships/tags" Target="../tags/tag24.xml"/><Relationship Id="rId18" Type="http://schemas.openxmlformats.org/officeDocument/2006/relationships/image" Target="../media/image4.emf"/><Relationship Id="rId26" Type="http://schemas.openxmlformats.org/officeDocument/2006/relationships/image" Target="../media/image10.png"/><Relationship Id="rId3" Type="http://schemas.openxmlformats.org/officeDocument/2006/relationships/slideLayout" Target="../slideLayouts/slideLayout6.xml"/><Relationship Id="rId21" Type="http://schemas.openxmlformats.org/officeDocument/2006/relationships/hyperlink" Target="http://www.linkedin.com/company/capgemini" TargetMode="External"/><Relationship Id="rId7" Type="http://schemas.openxmlformats.org/officeDocument/2006/relationships/tags" Target="../tags/tag18.xml"/><Relationship Id="rId12" Type="http://schemas.openxmlformats.org/officeDocument/2006/relationships/tags" Target="../tags/tag23.xml"/><Relationship Id="rId17" Type="http://schemas.openxmlformats.org/officeDocument/2006/relationships/image" Target="../media/image6.tiff"/><Relationship Id="rId25" Type="http://schemas.openxmlformats.org/officeDocument/2006/relationships/hyperlink" Target="http://www.youtube.com/capgemini" TargetMode="External"/><Relationship Id="rId2" Type="http://schemas.openxmlformats.org/officeDocument/2006/relationships/slideLayout" Target="../slideLayouts/slideLayout5.xml"/><Relationship Id="rId16" Type="http://schemas.openxmlformats.org/officeDocument/2006/relationships/oleObject" Target="../embeddings/oleObject5.bin"/><Relationship Id="rId20" Type="http://schemas.openxmlformats.org/officeDocument/2006/relationships/image" Target="../media/image7.png"/><Relationship Id="rId1" Type="http://schemas.openxmlformats.org/officeDocument/2006/relationships/slideLayout" Target="../slideLayouts/slideLayout4.xml"/><Relationship Id="rId6" Type="http://schemas.openxmlformats.org/officeDocument/2006/relationships/tags" Target="../tags/tag17.xml"/><Relationship Id="rId11" Type="http://schemas.openxmlformats.org/officeDocument/2006/relationships/tags" Target="../tags/tag22.xml"/><Relationship Id="rId24" Type="http://schemas.openxmlformats.org/officeDocument/2006/relationships/image" Target="../media/image9.png"/><Relationship Id="rId5" Type="http://schemas.openxmlformats.org/officeDocument/2006/relationships/vmlDrawing" Target="../drawings/vmlDrawing5.vml"/><Relationship Id="rId15" Type="http://schemas.openxmlformats.org/officeDocument/2006/relationships/tags" Target="../tags/tag26.xml"/><Relationship Id="rId23" Type="http://schemas.openxmlformats.org/officeDocument/2006/relationships/hyperlink" Target="http://www.twitter.com/capgemini" TargetMode="External"/><Relationship Id="rId28" Type="http://schemas.openxmlformats.org/officeDocument/2006/relationships/image" Target="../media/image11.gif"/><Relationship Id="rId10" Type="http://schemas.openxmlformats.org/officeDocument/2006/relationships/tags" Target="../tags/tag21.xml"/><Relationship Id="rId19" Type="http://schemas.openxmlformats.org/officeDocument/2006/relationships/hyperlink" Target="http://www.facebook.com/Capgemini" TargetMode="External"/><Relationship Id="rId4" Type="http://schemas.openxmlformats.org/officeDocument/2006/relationships/theme" Target="../theme/theme2.xml"/><Relationship Id="rId9" Type="http://schemas.openxmlformats.org/officeDocument/2006/relationships/tags" Target="../tags/tag20.xml"/><Relationship Id="rId14" Type="http://schemas.openxmlformats.org/officeDocument/2006/relationships/tags" Target="../tags/tag25.xml"/><Relationship Id="rId22" Type="http://schemas.openxmlformats.org/officeDocument/2006/relationships/image" Target="../media/image8.png"/><Relationship Id="rId27" Type="http://schemas.openxmlformats.org/officeDocument/2006/relationships/hyperlink" Target="http://www.slideshare.net/capgemini" TargetMode="Externa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8.xml"/><Relationship Id="rId1" Type="http://schemas.openxmlformats.org/officeDocument/2006/relationships/slideLayout" Target="../slideLayouts/slideLayout7.xml"/><Relationship Id="rId5" Type="http://schemas.openxmlformats.org/officeDocument/2006/relationships/oleObject" Target="../embeddings/oleObject9.bin"/><Relationship Id="rId4" Type="http://schemas.openxmlformats.org/officeDocument/2006/relationships/vmlDrawing" Target="../drawings/vmlDrawing9.v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theme" Target="../theme/theme4.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theme" Target="../theme/theme5.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39.xml"/><Relationship Id="rId13" Type="http://schemas.openxmlformats.org/officeDocument/2006/relationships/tags" Target="../tags/tag36.xml"/><Relationship Id="rId18" Type="http://schemas.openxmlformats.org/officeDocument/2006/relationships/tags" Target="../tags/tag41.xml"/><Relationship Id="rId3" Type="http://schemas.openxmlformats.org/officeDocument/2006/relationships/slideLayout" Target="../slideLayouts/slideLayout34.xml"/><Relationship Id="rId21" Type="http://schemas.openxmlformats.org/officeDocument/2006/relationships/oleObject" Target="../embeddings/oleObject12.bin"/><Relationship Id="rId7" Type="http://schemas.openxmlformats.org/officeDocument/2006/relationships/slideLayout" Target="../slideLayouts/slideLayout38.xml"/><Relationship Id="rId12" Type="http://schemas.openxmlformats.org/officeDocument/2006/relationships/vmlDrawing" Target="../drawings/vmlDrawing12.vml"/><Relationship Id="rId17" Type="http://schemas.openxmlformats.org/officeDocument/2006/relationships/tags" Target="../tags/tag40.xml"/><Relationship Id="rId2" Type="http://schemas.openxmlformats.org/officeDocument/2006/relationships/slideLayout" Target="../slideLayouts/slideLayout33.xml"/><Relationship Id="rId16" Type="http://schemas.openxmlformats.org/officeDocument/2006/relationships/tags" Target="../tags/tag39.xml"/><Relationship Id="rId20" Type="http://schemas.openxmlformats.org/officeDocument/2006/relationships/tags" Target="../tags/tag43.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theme" Target="../theme/theme6.xml"/><Relationship Id="rId5" Type="http://schemas.openxmlformats.org/officeDocument/2006/relationships/slideLayout" Target="../slideLayouts/slideLayout36.xml"/><Relationship Id="rId15" Type="http://schemas.openxmlformats.org/officeDocument/2006/relationships/tags" Target="../tags/tag38.xml"/><Relationship Id="rId10" Type="http://schemas.openxmlformats.org/officeDocument/2006/relationships/slideLayout" Target="../slideLayouts/slideLayout41.xml"/><Relationship Id="rId19" Type="http://schemas.openxmlformats.org/officeDocument/2006/relationships/tags" Target="../tags/tag42.xml"/><Relationship Id="rId4" Type="http://schemas.openxmlformats.org/officeDocument/2006/relationships/slideLayout" Target="../slideLayouts/slideLayout35.xml"/><Relationship Id="rId9" Type="http://schemas.openxmlformats.org/officeDocument/2006/relationships/slideLayout" Target="../slideLayouts/slideLayout40.xml"/><Relationship Id="rId14" Type="http://schemas.openxmlformats.org/officeDocument/2006/relationships/tags" Target="../tags/tag37.xml"/><Relationship Id="rId22"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nvGraphicFramePr>
        <p:xfrm>
          <a:off x="1" y="0"/>
          <a:ext cx="175846" cy="158750"/>
        </p:xfrm>
        <a:graphic>
          <a:graphicData uri="http://schemas.openxmlformats.org/presentationml/2006/ole">
            <p:oleObj spid="_x0000_s2243" name="think-cell Slide" r:id="rId14" imgW="360" imgH="360" progId="">
              <p:embed/>
            </p:oleObj>
          </a:graphicData>
        </a:graphic>
      </p:graphicFrame>
      <p:sp>
        <p:nvSpPr>
          <p:cNvPr id="2" name="Title Placeholder 1"/>
          <p:cNvSpPr>
            <a:spLocks noGrp="1"/>
          </p:cNvSpPr>
          <p:nvPr>
            <p:ph type="title"/>
            <p:custDataLst>
              <p:tags r:id="rId6"/>
            </p:custDataLst>
          </p:nvPr>
        </p:nvSpPr>
        <p:spPr>
          <a:xfrm>
            <a:off x="2" y="1"/>
            <a:ext cx="10972799" cy="1002135"/>
          </a:xfrm>
          <a:prstGeom prst="rect">
            <a:avLst/>
          </a:prstGeom>
        </p:spPr>
        <p:txBody>
          <a:bodyPr vert="horz" lIns="297529" tIns="33059" rIns="165294" bIns="33059" rtlCol="0" anchor="ctr">
            <a:noAutofit/>
          </a:bodyPr>
          <a:lstStyle/>
          <a:p>
            <a:r>
              <a:rPr lang="en-US" noProof="0" smtClean="0"/>
              <a:t>Click to edit Master title style</a:t>
            </a:r>
            <a:endParaRPr lang="en-US" noProof="0" dirty="0"/>
          </a:p>
        </p:txBody>
      </p:sp>
      <p:sp>
        <p:nvSpPr>
          <p:cNvPr id="3" name="Text Placeholder 2"/>
          <p:cNvSpPr>
            <a:spLocks noGrp="1"/>
          </p:cNvSpPr>
          <p:nvPr>
            <p:ph type="body" idx="1"/>
            <p:custDataLst>
              <p:tags r:id="rId7"/>
            </p:custDataLst>
          </p:nvPr>
        </p:nvSpPr>
        <p:spPr>
          <a:xfrm>
            <a:off x="358219" y="1501977"/>
            <a:ext cx="10259372" cy="4774998"/>
          </a:xfrm>
          <a:prstGeom prst="rect">
            <a:avLst/>
          </a:prstGeom>
        </p:spPr>
        <p:txBody>
          <a:bodyPr vert="horz" lIns="0" tIns="72000" rIns="72000" bIns="72000" rtlCol="0">
            <a:noAutofit/>
          </a:body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11" name="TextBox 10"/>
          <p:cNvSpPr txBox="1"/>
          <p:nvPr>
            <p:custDataLst>
              <p:tags r:id="rId8"/>
            </p:custDataLst>
          </p:nvPr>
        </p:nvSpPr>
        <p:spPr>
          <a:xfrm>
            <a:off x="10603790" y="6661691"/>
            <a:ext cx="110608" cy="107722"/>
          </a:xfrm>
          <a:prstGeom prst="rect">
            <a:avLst/>
          </a:prstGeom>
          <a:noFill/>
        </p:spPr>
        <p:txBody>
          <a:bodyPr wrap="none" lIns="0" tIns="0" rIns="0" bIns="0" rtlCol="0" anchor="ctr">
            <a:spAutoFit/>
          </a:bodyPr>
          <a:lstStyle/>
          <a:p>
            <a:pPr algn="ctr"/>
            <a:fld id="{6A895693-0027-4F28-9367-92E39A51F51C}" type="slidenum">
              <a:rPr lang="en-US" sz="700" smtClean="0">
                <a:solidFill>
                  <a:schemeClr val="tx2"/>
                </a:solidFill>
                <a:latin typeface="+mn-lt"/>
              </a:rPr>
              <a:pPr algn="ctr"/>
              <a:t>‹#›</a:t>
            </a:fld>
            <a:endParaRPr lang="en-US" sz="700" dirty="0">
              <a:solidFill>
                <a:schemeClr val="tx2"/>
              </a:solidFill>
              <a:latin typeface="+mn-lt"/>
            </a:endParaRPr>
          </a:p>
        </p:txBody>
      </p:sp>
      <p:sp>
        <p:nvSpPr>
          <p:cNvPr id="9" name="Freeform 4"/>
          <p:cNvSpPr>
            <a:spLocks/>
          </p:cNvSpPr>
          <p:nvPr>
            <p:custDataLst>
              <p:tags r:id="rId9"/>
            </p:custDataLst>
          </p:nvPr>
        </p:nvSpPr>
        <p:spPr bwMode="auto">
          <a:xfrm>
            <a:off x="3" y="676402"/>
            <a:ext cx="10972799" cy="72812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vert="horz" wrap="square" lIns="99563" tIns="49782" rIns="99563" bIns="49782" numCol="1" anchor="t" anchorCtr="0" compatLnSpc="1">
            <a:prstTxWarp prst="textNoShape">
              <a:avLst/>
            </a:prstTxWarp>
          </a:bodyPr>
          <a:lstStyle/>
          <a:p>
            <a:endParaRPr lang="fr-FR" dirty="0"/>
          </a:p>
        </p:txBody>
      </p:sp>
      <p:sp>
        <p:nvSpPr>
          <p:cNvPr id="12" name="Rectangle 11"/>
          <p:cNvSpPr>
            <a:spLocks noChangeArrowheads="1"/>
          </p:cNvSpPr>
          <p:nvPr>
            <p:custDataLst>
              <p:tags r:id="rId10"/>
            </p:custDataLst>
          </p:nvPr>
        </p:nvSpPr>
        <p:spPr bwMode="auto">
          <a:xfrm>
            <a:off x="7467873" y="6623404"/>
            <a:ext cx="2947175" cy="183503"/>
          </a:xfrm>
          <a:prstGeom prst="rect">
            <a:avLst/>
          </a:prstGeom>
          <a:noFill/>
          <a:ln w="19050">
            <a:noFill/>
            <a:miter lim="800000"/>
            <a:headEnd/>
            <a:tailEnd/>
          </a:ln>
          <a:effectLst/>
        </p:spPr>
        <p:txBody>
          <a:bodyPr wrap="square" lIns="35997" tIns="35997" rIns="35997" bIns="35997" anchor="b" anchorCtr="0">
            <a:noAutofit/>
          </a:bodyPr>
          <a:lstStyle/>
          <a:p>
            <a:pPr marL="0" marR="0" lvl="0" indent="0" algn="r" defTabSz="995445" rtl="0" eaLnBrk="0" fontAlgn="auto" latinLnBrk="0" hangingPunct="0">
              <a:lnSpc>
                <a:spcPct val="90000"/>
              </a:lnSpc>
              <a:spcBef>
                <a:spcPct val="10000"/>
              </a:spcBef>
              <a:spcAft>
                <a:spcPts val="0"/>
              </a:spcAft>
              <a:buClrTx/>
              <a:buSzTx/>
              <a:buFontTx/>
              <a:buNone/>
              <a:tabLst/>
              <a:defRPr/>
            </a:pPr>
            <a:r>
              <a:rPr lang="en-US" altLang="en-US" sz="700" b="0" i="0" noProof="0" dirty="0" smtClean="0">
                <a:solidFill>
                  <a:schemeClr val="tx2"/>
                </a:solidFill>
                <a:latin typeface="+mn-lt"/>
                <a:cs typeface="Helvetica Light"/>
              </a:rPr>
              <a:t>Copyright © Capgemini 2015. All Rights Reserved</a:t>
            </a:r>
          </a:p>
        </p:txBody>
      </p:sp>
      <p:sp>
        <p:nvSpPr>
          <p:cNvPr id="13" name="Rectangle 12"/>
          <p:cNvSpPr/>
          <p:nvPr>
            <p:custDataLst>
              <p:tags r:id="rId11"/>
            </p:custDataLst>
          </p:nvPr>
        </p:nvSpPr>
        <p:spPr>
          <a:xfrm>
            <a:off x="3411415" y="6427223"/>
            <a:ext cx="7003633" cy="195814"/>
          </a:xfrm>
          <a:prstGeom prst="rect">
            <a:avLst/>
          </a:prstGeom>
        </p:spPr>
        <p:txBody>
          <a:bodyPr wrap="none" lIns="35997" tIns="35997" rIns="35997" bIns="35997" anchor="b" anchorCtr="0">
            <a:noAutofit/>
          </a:bodyPr>
          <a:lstStyle/>
          <a:p>
            <a:pPr algn="r"/>
            <a:r>
              <a:rPr lang="en-US" sz="700" dirty="0" smtClean="0">
                <a:solidFill>
                  <a:schemeClr val="tx2"/>
                </a:solidFill>
                <a:latin typeface="+mn-lt"/>
              </a:rPr>
              <a:t>Cloud Foundation</a:t>
            </a:r>
            <a:r>
              <a:rPr lang="en-US" sz="700" baseline="0" dirty="0" smtClean="0">
                <a:solidFill>
                  <a:schemeClr val="tx2"/>
                </a:solidFill>
                <a:latin typeface="+mn-lt"/>
              </a:rPr>
              <a:t> Services</a:t>
            </a:r>
            <a:r>
              <a:rPr lang="en-US" sz="700" kern="1200" dirty="0" smtClean="0">
                <a:solidFill>
                  <a:schemeClr val="tx2"/>
                </a:solidFill>
                <a:latin typeface="+mn-lt"/>
                <a:ea typeface="+mn-ea"/>
                <a:cs typeface="+mn-cs"/>
              </a:rPr>
              <a:t>| </a:t>
            </a:r>
            <a:r>
              <a:rPr lang="en-US" sz="700" dirty="0" smtClean="0">
                <a:solidFill>
                  <a:schemeClr val="tx2"/>
                </a:solidFill>
                <a:latin typeface="+mn-lt"/>
              </a:rPr>
              <a:t>Financial Services</a:t>
            </a:r>
            <a:endParaRPr lang="en-US" sz="700" dirty="0">
              <a:solidFill>
                <a:schemeClr val="tx2"/>
              </a:solidFill>
              <a:latin typeface="+mn-lt"/>
            </a:endParaRPr>
          </a:p>
        </p:txBody>
      </p:sp>
      <p:pic>
        <p:nvPicPr>
          <p:cNvPr id="14" name="Picture 103" descr="C:\Users\UserSim\Desktop\Capgemini\Capgemini_logo_cmyk.png"/>
          <p:cNvPicPr>
            <a:picLocks noChangeAspect="1" noChangeArrowheads="1"/>
          </p:cNvPicPr>
          <p:nvPr>
            <p:custDataLst>
              <p:tags r:id="rId12"/>
            </p:custDataLst>
          </p:nvPr>
        </p:nvPicPr>
        <p:blipFill>
          <a:blip r:embed="rId15" cstate="email"/>
          <a:srcRect/>
          <a:stretch>
            <a:fillRect/>
          </a:stretch>
        </p:blipFill>
        <p:spPr bwMode="auto">
          <a:xfrm>
            <a:off x="176089" y="6443187"/>
            <a:ext cx="1451758" cy="320682"/>
          </a:xfrm>
          <a:prstGeom prst="rect">
            <a:avLst/>
          </a:prstGeom>
          <a:noFill/>
        </p:spPr>
      </p:pic>
      <p:cxnSp>
        <p:nvCxnSpPr>
          <p:cNvPr id="15" name="Straight Connector 5"/>
          <p:cNvCxnSpPr/>
          <p:nvPr>
            <p:custDataLst>
              <p:tags r:id="rId13"/>
            </p:custDataLst>
          </p:nvPr>
        </p:nvCxnSpPr>
        <p:spPr>
          <a:xfrm flipH="1">
            <a:off x="3" y="6362700"/>
            <a:ext cx="10972799"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928" r:id="rId1"/>
    <p:sldLayoutId id="2147483934" r:id="rId2"/>
    <p:sldLayoutId id="2147483971" r:id="rId3"/>
  </p:sldLayoutIdLst>
  <p:timing>
    <p:tnLst>
      <p:par>
        <p:cTn id="1" dur="indefinite" restart="never" nodeType="tmRoot"/>
      </p:par>
    </p:tnLst>
  </p:timing>
  <p:txStyles>
    <p:titleStyle>
      <a:lvl1pPr algn="l" defTabSz="914342" rtl="0" eaLnBrk="1" latinLnBrk="0" hangingPunct="1">
        <a:lnSpc>
          <a:spcPct val="100000"/>
        </a:lnSpc>
        <a:spcBef>
          <a:spcPct val="0"/>
        </a:spcBef>
        <a:buNone/>
        <a:defRPr sz="2600" b="0" kern="1200">
          <a:solidFill>
            <a:schemeClr val="tx1"/>
          </a:solidFill>
          <a:latin typeface="+mj-lt"/>
          <a:ea typeface="+mj-ea"/>
          <a:cs typeface="+mj-cs"/>
        </a:defRPr>
      </a:lvl1pPr>
    </p:titleStyle>
    <p:bodyStyle>
      <a:lvl1pPr marL="228600" indent="-228600" algn="l" defTabSz="914342" rtl="0" eaLnBrk="1" latinLnBrk="0" hangingPunct="1">
        <a:lnSpc>
          <a:spcPct val="100000"/>
        </a:lnSpc>
        <a:spcBef>
          <a:spcPts val="0"/>
        </a:spcBef>
        <a:spcAft>
          <a:spcPts val="600"/>
        </a:spcAft>
        <a:buClr>
          <a:schemeClr val="accent5"/>
        </a:buClr>
        <a:buFont typeface="Wingdings" pitchFamily="2" charset="2"/>
        <a:buChar char="§"/>
        <a:defRPr sz="1400" b="0" kern="1200">
          <a:solidFill>
            <a:schemeClr val="tx2">
              <a:lumMod val="50000"/>
            </a:schemeClr>
          </a:solidFill>
          <a:latin typeface="+mn-lt"/>
          <a:ea typeface="+mn-ea"/>
          <a:cs typeface="+mn-cs"/>
        </a:defRPr>
      </a:lvl1pPr>
      <a:lvl2pPr marL="457200" indent="-228600" algn="l" defTabSz="914342" rtl="0" eaLnBrk="1" latinLnBrk="0" hangingPunct="1">
        <a:lnSpc>
          <a:spcPct val="100000"/>
        </a:lnSpc>
        <a:spcBef>
          <a:spcPts val="0"/>
        </a:spcBef>
        <a:spcAft>
          <a:spcPts val="600"/>
        </a:spcAft>
        <a:buClr>
          <a:schemeClr val="accent3"/>
        </a:buClr>
        <a:buFont typeface="Wingdings" pitchFamily="2" charset="2"/>
        <a:buChar char="§"/>
        <a:defRPr sz="1400" kern="1200">
          <a:solidFill>
            <a:schemeClr val="tx2">
              <a:lumMod val="50000"/>
            </a:schemeClr>
          </a:solidFill>
          <a:latin typeface="+mn-lt"/>
          <a:ea typeface="+mn-ea"/>
          <a:cs typeface="+mn-cs"/>
        </a:defRPr>
      </a:lvl2pPr>
      <a:lvl3pPr marL="685800" indent="-228600" algn="l" defTabSz="914342" rtl="0" eaLnBrk="1" latinLnBrk="0" hangingPunct="1">
        <a:lnSpc>
          <a:spcPct val="100000"/>
        </a:lnSpc>
        <a:spcBef>
          <a:spcPts val="0"/>
        </a:spcBef>
        <a:spcAft>
          <a:spcPts val="600"/>
        </a:spcAft>
        <a:buClr>
          <a:schemeClr val="accent2"/>
        </a:buClr>
        <a:buFont typeface="Arial" pitchFamily="34" charset="0"/>
        <a:buChar char="•"/>
        <a:defRPr sz="1400" kern="1200">
          <a:solidFill>
            <a:schemeClr val="tx2">
              <a:lumMod val="50000"/>
            </a:schemeClr>
          </a:solidFill>
          <a:latin typeface="+mn-lt"/>
          <a:ea typeface="+mn-ea"/>
          <a:cs typeface="+mn-cs"/>
        </a:defRPr>
      </a:lvl3pPr>
      <a:lvl4pPr marL="914400" indent="-228600" algn="l" defTabSz="914342" rtl="0" eaLnBrk="1" latinLnBrk="0" hangingPunct="1">
        <a:lnSpc>
          <a:spcPct val="100000"/>
        </a:lnSpc>
        <a:spcBef>
          <a:spcPts val="0"/>
        </a:spcBef>
        <a:spcAft>
          <a:spcPts val="600"/>
        </a:spcAft>
        <a:buClr>
          <a:schemeClr val="bg2"/>
        </a:buClr>
        <a:buFont typeface="Arial" pitchFamily="34" charset="0"/>
        <a:buChar char="–"/>
        <a:defRPr sz="1400" kern="1200">
          <a:solidFill>
            <a:schemeClr val="tx2">
              <a:lumMod val="50000"/>
            </a:schemeClr>
          </a:solidFill>
          <a:latin typeface="+mn-lt"/>
          <a:ea typeface="+mn-ea"/>
          <a:cs typeface="+mn-cs"/>
        </a:defRPr>
      </a:lvl4pPr>
      <a:lvl5pPr marL="1609624" indent="-193663" algn="l" defTabSz="914342" rtl="0" eaLnBrk="1" latinLnBrk="0" hangingPunct="1">
        <a:spcBef>
          <a:spcPts val="0"/>
        </a:spcBef>
        <a:buClr>
          <a:srgbClr val="B1B1B1"/>
        </a:buClr>
        <a:buFont typeface="Arial" pitchFamily="34" charset="0"/>
        <a:buChar char="–"/>
        <a:defRPr sz="1700" kern="1200">
          <a:solidFill>
            <a:srgbClr val="494949"/>
          </a:solidFill>
          <a:latin typeface="+mn-lt"/>
          <a:ea typeface="+mn-ea"/>
          <a:cs typeface="+mn-cs"/>
        </a:defRPr>
      </a:lvl5pPr>
      <a:lvl6pPr marL="2514441"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12"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83"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54"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3" algn="l" defTabSz="914342" rtl="0" eaLnBrk="1" latinLnBrk="0" hangingPunct="1">
        <a:defRPr sz="1800" kern="1200">
          <a:solidFill>
            <a:schemeClr val="tx1"/>
          </a:solidFill>
          <a:latin typeface="+mn-lt"/>
          <a:ea typeface="+mn-ea"/>
          <a:cs typeface="+mn-cs"/>
        </a:defRPr>
      </a:lvl4pPr>
      <a:lvl5pPr marL="1828684" algn="l" defTabSz="914342" rtl="0" eaLnBrk="1" latinLnBrk="0" hangingPunct="1">
        <a:defRPr sz="1800" kern="1200">
          <a:solidFill>
            <a:schemeClr val="tx1"/>
          </a:solidFill>
          <a:latin typeface="+mn-lt"/>
          <a:ea typeface="+mn-ea"/>
          <a:cs typeface="+mn-cs"/>
        </a:defRPr>
      </a:lvl5pPr>
      <a:lvl6pPr marL="2285855" algn="l" defTabSz="914342" rtl="0" eaLnBrk="1" latinLnBrk="0" hangingPunct="1">
        <a:defRPr sz="1800" kern="1200">
          <a:solidFill>
            <a:schemeClr val="tx1"/>
          </a:solidFill>
          <a:latin typeface="+mn-lt"/>
          <a:ea typeface="+mn-ea"/>
          <a:cs typeface="+mn-cs"/>
        </a:defRPr>
      </a:lvl6pPr>
      <a:lvl7pPr marL="2743026" algn="l" defTabSz="914342" rtl="0" eaLnBrk="1" latinLnBrk="0" hangingPunct="1">
        <a:defRPr sz="1800" kern="1200">
          <a:solidFill>
            <a:schemeClr val="tx1"/>
          </a:solidFill>
          <a:latin typeface="+mn-lt"/>
          <a:ea typeface="+mn-ea"/>
          <a:cs typeface="+mn-cs"/>
        </a:defRPr>
      </a:lvl7pPr>
      <a:lvl8pPr marL="3200198" algn="l" defTabSz="914342" rtl="0" eaLnBrk="1" latinLnBrk="0" hangingPunct="1">
        <a:defRPr sz="1800" kern="1200">
          <a:solidFill>
            <a:schemeClr val="tx1"/>
          </a:solidFill>
          <a:latin typeface="+mn-lt"/>
          <a:ea typeface="+mn-ea"/>
          <a:cs typeface="+mn-cs"/>
        </a:defRPr>
      </a:lvl8pPr>
      <a:lvl9pPr marL="3657369" algn="l" defTabSz="914342"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p:nvGraphicFramePr>
        <p:xfrm>
          <a:off x="0" y="0"/>
          <a:ext cx="175846" cy="158750"/>
        </p:xfrm>
        <a:graphic>
          <a:graphicData uri="http://schemas.openxmlformats.org/presentationml/2006/ole">
            <p:oleObj spid="_x0000_s133314" name="think-cell Slide" r:id="rId16" imgW="360" imgH="360" progId="">
              <p:embed/>
            </p:oleObj>
          </a:graphicData>
        </a:graphic>
      </p:graphicFrame>
      <p:sp>
        <p:nvSpPr>
          <p:cNvPr id="357" name="Rectangle 7"/>
          <p:cNvSpPr/>
          <p:nvPr>
            <p:custDataLst>
              <p:tags r:id="rId6"/>
            </p:custDataLst>
          </p:nvPr>
        </p:nvSpPr>
        <p:spPr bwMode="auto">
          <a:xfrm flipV="1">
            <a:off x="-1835" y="1677994"/>
            <a:ext cx="10974635" cy="5180006"/>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411"/>
              <a:gd name="connsiteY0" fmla="*/ 2791 h 3881172"/>
              <a:gd name="connsiteX1" fmla="*/ 10561655 w 10562411"/>
              <a:gd name="connsiteY1" fmla="*/ 0 h 3881172"/>
              <a:gd name="connsiteX2" fmla="*/ 10561157 w 10562411"/>
              <a:gd name="connsiteY2" fmla="*/ 1476338 h 3881172"/>
              <a:gd name="connsiteX3" fmla="*/ 9288594 w 10562411"/>
              <a:gd name="connsiteY3" fmla="*/ 2153103 h 3881172"/>
              <a:gd name="connsiteX4" fmla="*/ 2317558 w 10562411"/>
              <a:gd name="connsiteY4" fmla="*/ 2159512 h 3881172"/>
              <a:gd name="connsiteX5" fmla="*/ 1180889 w 10562411"/>
              <a:gd name="connsiteY5" fmla="*/ 2958168 h 3881172"/>
              <a:gd name="connsiteX6" fmla="*/ 0 w 10562411"/>
              <a:gd name="connsiteY6" fmla="*/ 2174065 h 3881172"/>
              <a:gd name="connsiteX7" fmla="*/ 1331 w 10562411"/>
              <a:gd name="connsiteY7" fmla="*/ 2791 h 3881172"/>
              <a:gd name="connsiteX0" fmla="*/ 1331 w 10562411"/>
              <a:gd name="connsiteY0" fmla="*/ 2791 h 4143392"/>
              <a:gd name="connsiteX1" fmla="*/ 10561655 w 10562411"/>
              <a:gd name="connsiteY1" fmla="*/ 0 h 4143392"/>
              <a:gd name="connsiteX2" fmla="*/ 10561157 w 10562411"/>
              <a:gd name="connsiteY2" fmla="*/ 1476338 h 4143392"/>
              <a:gd name="connsiteX3" fmla="*/ 9288594 w 10562411"/>
              <a:gd name="connsiteY3" fmla="*/ 2153103 h 4143392"/>
              <a:gd name="connsiteX4" fmla="*/ 2317558 w 10562411"/>
              <a:gd name="connsiteY4" fmla="*/ 2159512 h 4143392"/>
              <a:gd name="connsiteX5" fmla="*/ 1180889 w 10562411"/>
              <a:gd name="connsiteY5" fmla="*/ 2958168 h 4143392"/>
              <a:gd name="connsiteX6" fmla="*/ 0 w 10562411"/>
              <a:gd name="connsiteY6" fmla="*/ 2174065 h 4143392"/>
              <a:gd name="connsiteX7" fmla="*/ 1331 w 10562411"/>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336031 w 10580884"/>
              <a:gd name="connsiteY4" fmla="*/ 2159512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013072 w 10580884"/>
              <a:gd name="connsiteY3" fmla="*/ 3716089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641"/>
              <a:gd name="connsiteY0" fmla="*/ 2791 h 4143392"/>
              <a:gd name="connsiteX1" fmla="*/ 10580128 w 10580641"/>
              <a:gd name="connsiteY1" fmla="*/ 0 h 4143392"/>
              <a:gd name="connsiteX2" fmla="*/ 10559884 w 10580641"/>
              <a:gd name="connsiteY2" fmla="*/ 3400831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625733"/>
              <a:gd name="connsiteX1" fmla="*/ 10580128 w 10580641"/>
              <a:gd name="connsiteY1" fmla="*/ 0 h 4625733"/>
              <a:gd name="connsiteX2" fmla="*/ 10559883 w 10580641"/>
              <a:gd name="connsiteY2" fmla="*/ 3953724 h 4625733"/>
              <a:gd name="connsiteX3" fmla="*/ 9013072 w 10580641"/>
              <a:gd name="connsiteY3" fmla="*/ 3716089 h 4625733"/>
              <a:gd name="connsiteX4" fmla="*/ 2283533 w 10580641"/>
              <a:gd name="connsiteY4" fmla="*/ 3711866 h 4625733"/>
              <a:gd name="connsiteX5" fmla="*/ 1199362 w 10580641"/>
              <a:gd name="connsiteY5" fmla="*/ 2958168 h 4625733"/>
              <a:gd name="connsiteX6" fmla="*/ 0 w 10580641"/>
              <a:gd name="connsiteY6" fmla="*/ 3726419 h 4625733"/>
              <a:gd name="connsiteX7" fmla="*/ 19804 w 10580641"/>
              <a:gd name="connsiteY7" fmla="*/ 2791 h 4625733"/>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37052 h 3953724"/>
              <a:gd name="connsiteX7" fmla="*/ 19804 w 10580641"/>
              <a:gd name="connsiteY7" fmla="*/ 2791 h 3953724"/>
              <a:gd name="connsiteX0" fmla="*/ 0 w 10581837"/>
              <a:gd name="connsiteY0" fmla="*/ 13424 h 3953724"/>
              <a:gd name="connsiteX1" fmla="*/ 10581324 w 10581837"/>
              <a:gd name="connsiteY1" fmla="*/ 0 h 3953724"/>
              <a:gd name="connsiteX2" fmla="*/ 10561079 w 10581837"/>
              <a:gd name="connsiteY2" fmla="*/ 3953724 h 3953724"/>
              <a:gd name="connsiteX3" fmla="*/ 9014268 w 10581837"/>
              <a:gd name="connsiteY3" fmla="*/ 3716089 h 3953724"/>
              <a:gd name="connsiteX4" fmla="*/ 2284729 w 10581837"/>
              <a:gd name="connsiteY4" fmla="*/ 3711866 h 3953724"/>
              <a:gd name="connsiteX5" fmla="*/ 1200558 w 10581837"/>
              <a:gd name="connsiteY5" fmla="*/ 2958168 h 3953724"/>
              <a:gd name="connsiteX6" fmla="*/ 1196 w 10581837"/>
              <a:gd name="connsiteY6" fmla="*/ 3737052 h 3953724"/>
              <a:gd name="connsiteX7" fmla="*/ 0 w 10581837"/>
              <a:gd name="connsiteY7" fmla="*/ 13424 h 3953724"/>
              <a:gd name="connsiteX0" fmla="*/ 0 w 10562333"/>
              <a:gd name="connsiteY0" fmla="*/ 24056 h 3964356"/>
              <a:gd name="connsiteX1" fmla="*/ 10549824 w 10562333"/>
              <a:gd name="connsiteY1" fmla="*/ 0 h 3964356"/>
              <a:gd name="connsiteX2" fmla="*/ 10561079 w 10562333"/>
              <a:gd name="connsiteY2" fmla="*/ 3964356 h 3964356"/>
              <a:gd name="connsiteX3" fmla="*/ 9014268 w 10562333"/>
              <a:gd name="connsiteY3" fmla="*/ 3726721 h 3964356"/>
              <a:gd name="connsiteX4" fmla="*/ 2284729 w 10562333"/>
              <a:gd name="connsiteY4" fmla="*/ 3722498 h 3964356"/>
              <a:gd name="connsiteX5" fmla="*/ 1200558 w 10562333"/>
              <a:gd name="connsiteY5" fmla="*/ 2968800 h 3964356"/>
              <a:gd name="connsiteX6" fmla="*/ 1196 w 10562333"/>
              <a:gd name="connsiteY6" fmla="*/ 3747684 h 3964356"/>
              <a:gd name="connsiteX7" fmla="*/ 0 w 10562333"/>
              <a:gd name="connsiteY7" fmla="*/ 24056 h 3964356"/>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10559884 w 10650182"/>
              <a:gd name="connsiteY0" fmla="*/ 18474 h 3993463"/>
              <a:gd name="connsiteX1" fmla="*/ 10561079 w 10650182"/>
              <a:gd name="connsiteY1" fmla="*/ 3993463 h 3993463"/>
              <a:gd name="connsiteX2" fmla="*/ 9024769 w 10650182"/>
              <a:gd name="connsiteY2" fmla="*/ 3734563 h 3993463"/>
              <a:gd name="connsiteX3" fmla="*/ 2295230 w 10650182"/>
              <a:gd name="connsiteY3" fmla="*/ 3719707 h 3993463"/>
              <a:gd name="connsiteX4" fmla="*/ 1200558 w 10650182"/>
              <a:gd name="connsiteY4" fmla="*/ 2997907 h 3993463"/>
              <a:gd name="connsiteX5" fmla="*/ 0 w 10650182"/>
              <a:gd name="connsiteY5" fmla="*/ 3712996 h 3993463"/>
              <a:gd name="connsiteX6" fmla="*/ 0 w 10650182"/>
              <a:gd name="connsiteY6" fmla="*/ 0 h 3993463"/>
              <a:gd name="connsiteX7" fmla="*/ 10650182 w 10650182"/>
              <a:gd name="connsiteY7" fmla="*/ 109914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10285606 w 10562333"/>
              <a:gd name="connsiteY7" fmla="*/ 418258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9991611 w 10562333"/>
              <a:gd name="connsiteY7" fmla="*/ 56751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0 w 10562846"/>
              <a:gd name="connsiteY5" fmla="*/ 3712996 h 3993463"/>
              <a:gd name="connsiteX6" fmla="*/ 0 w 10562846"/>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2449 w 10562846"/>
              <a:gd name="connsiteY5" fmla="*/ 3734261 h 3993463"/>
              <a:gd name="connsiteX6" fmla="*/ 0 w 10562846"/>
              <a:gd name="connsiteY6" fmla="*/ 0 h 3993463"/>
              <a:gd name="connsiteX0" fmla="*/ 10562334 w 10562847"/>
              <a:gd name="connsiteY0" fmla="*/ 1074357 h 5067820"/>
              <a:gd name="connsiteX1" fmla="*/ 10561080 w 10562847"/>
              <a:gd name="connsiteY1" fmla="*/ 5067820 h 5067820"/>
              <a:gd name="connsiteX2" fmla="*/ 9024770 w 10562847"/>
              <a:gd name="connsiteY2" fmla="*/ 4808920 h 5067820"/>
              <a:gd name="connsiteX3" fmla="*/ 2295231 w 10562847"/>
              <a:gd name="connsiteY3" fmla="*/ 4794064 h 5067820"/>
              <a:gd name="connsiteX4" fmla="*/ 1200559 w 10562847"/>
              <a:gd name="connsiteY4" fmla="*/ 4072264 h 5067820"/>
              <a:gd name="connsiteX5" fmla="*/ 2450 w 10562847"/>
              <a:gd name="connsiteY5" fmla="*/ 4808618 h 5067820"/>
              <a:gd name="connsiteX6" fmla="*/ 0 w 10562847"/>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2450 w 10563360"/>
              <a:gd name="connsiteY5" fmla="*/ 4808618 h 5067820"/>
              <a:gd name="connsiteX6" fmla="*/ 0 w 10563360"/>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514 w 10563360"/>
              <a:gd name="connsiteY5" fmla="*/ 4819150 h 5067820"/>
              <a:gd name="connsiteX6" fmla="*/ 0 w 10563360"/>
              <a:gd name="connsiteY6" fmla="*/ 0 h 5067820"/>
              <a:gd name="connsiteX0" fmla="*/ 10562847 w 10564614"/>
              <a:gd name="connsiteY0" fmla="*/ 0 h 5152083"/>
              <a:gd name="connsiteX1" fmla="*/ 10563360 w 10564614"/>
              <a:gd name="connsiteY1" fmla="*/ 5152083 h 5152083"/>
              <a:gd name="connsiteX2" fmla="*/ 9024770 w 10564614"/>
              <a:gd name="connsiteY2" fmla="*/ 4808920 h 5152083"/>
              <a:gd name="connsiteX3" fmla="*/ 2295231 w 10564614"/>
              <a:gd name="connsiteY3" fmla="*/ 4794064 h 5152083"/>
              <a:gd name="connsiteX4" fmla="*/ 1200559 w 10564614"/>
              <a:gd name="connsiteY4" fmla="*/ 4072264 h 5152083"/>
              <a:gd name="connsiteX5" fmla="*/ 514 w 10564614"/>
              <a:gd name="connsiteY5" fmla="*/ 4819150 h 5152083"/>
              <a:gd name="connsiteX6" fmla="*/ 0 w 10564614"/>
              <a:gd name="connsiteY6" fmla="*/ 0 h 5152083"/>
              <a:gd name="connsiteX0" fmla="*/ 10562847 w 10564614"/>
              <a:gd name="connsiteY0" fmla="*/ 0 h 5183681"/>
              <a:gd name="connsiteX1" fmla="*/ 10563360 w 10564614"/>
              <a:gd name="connsiteY1" fmla="*/ 5183681 h 5183681"/>
              <a:gd name="connsiteX2" fmla="*/ 9024770 w 10564614"/>
              <a:gd name="connsiteY2" fmla="*/ 4808920 h 5183681"/>
              <a:gd name="connsiteX3" fmla="*/ 2295231 w 10564614"/>
              <a:gd name="connsiteY3" fmla="*/ 4794064 h 5183681"/>
              <a:gd name="connsiteX4" fmla="*/ 1200559 w 10564614"/>
              <a:gd name="connsiteY4" fmla="*/ 4072264 h 5183681"/>
              <a:gd name="connsiteX5" fmla="*/ 514 w 10564614"/>
              <a:gd name="connsiteY5" fmla="*/ 4819150 h 5183681"/>
              <a:gd name="connsiteX6" fmla="*/ 0 w 10564614"/>
              <a:gd name="connsiteY6" fmla="*/ 0 h 518368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87552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64614" h="5657661">
                <a:moveTo>
                  <a:pt x="10562847" y="0"/>
                </a:moveTo>
                <a:cubicBezTo>
                  <a:pt x="10563360" y="67600"/>
                  <a:pt x="10564614" y="5614246"/>
                  <a:pt x="10563360" y="5657661"/>
                </a:cubicBezTo>
                <a:cubicBezTo>
                  <a:pt x="10190941" y="4920324"/>
                  <a:pt x="9462356" y="4792975"/>
                  <a:pt x="9024770" y="4808920"/>
                </a:cubicBezTo>
                <a:lnTo>
                  <a:pt x="2295231" y="4794064"/>
                </a:lnTo>
                <a:cubicBezTo>
                  <a:pt x="1854598" y="4794612"/>
                  <a:pt x="1423669" y="4544310"/>
                  <a:pt x="1200559" y="4072264"/>
                </a:cubicBezTo>
                <a:cubicBezTo>
                  <a:pt x="965203" y="4750718"/>
                  <a:pt x="279154" y="4797207"/>
                  <a:pt x="514" y="4798085"/>
                </a:cubicBezTo>
                <a:cubicBezTo>
                  <a:pt x="2581" y="4762572"/>
                  <a:pt x="1272" y="95582"/>
                  <a:pt x="0" y="0"/>
                </a:cubicBezTo>
              </a:path>
            </a:pathLst>
          </a:custGeom>
          <a:gradFill flip="none" rotWithShape="1">
            <a:gsLst>
              <a:gs pos="0">
                <a:srgbClr val="005B7C"/>
              </a:gs>
              <a:gs pos="50000">
                <a:srgbClr val="0085B3"/>
              </a:gs>
              <a:gs pos="100000">
                <a:srgbClr val="00A0D6"/>
              </a:gs>
            </a:gsLst>
            <a:lin ang="18900000" scaled="1"/>
            <a:tileRect/>
          </a:gradFill>
          <a:ln w="12700" cmpd="sng" algn="ctr">
            <a:noFill/>
            <a:miter lim="800000"/>
            <a:headEnd/>
            <a:tailEnd/>
          </a:ln>
          <a:effectLst>
            <a:outerShdw blurRad="41275" dist="38100" dir="5400000" algn="t" rotWithShape="0">
              <a:schemeClr val="bg1">
                <a:lumMod val="65000"/>
                <a:alpha val="25000"/>
              </a:schemeClr>
            </a:outerShdw>
          </a:effectLst>
        </p:spPr>
        <p:txBody>
          <a:bodyPr wrap="square" lIns="33059" tIns="42976" rIns="33059" bIns="42976" rtlCol="0" anchor="ctr"/>
          <a:lstStyle/>
          <a:p>
            <a:pPr algn="ctr" fontAlgn="auto">
              <a:spcBef>
                <a:spcPts val="0"/>
              </a:spcBef>
              <a:spcAft>
                <a:spcPts val="0"/>
              </a:spcAft>
            </a:pPr>
            <a:endParaRPr lang="en-US" sz="1000" dirty="0" smtClean="0">
              <a:solidFill>
                <a:schemeClr val="bg1"/>
              </a:solidFill>
              <a:latin typeface="Arial"/>
              <a:cs typeface="Arial"/>
            </a:endParaRPr>
          </a:p>
        </p:txBody>
      </p:sp>
      <p:pic>
        <p:nvPicPr>
          <p:cNvPr id="8" name="Image 10" descr="Capgemini_logo_lr.tif"/>
          <p:cNvPicPr>
            <a:picLocks noChangeAspect="1"/>
          </p:cNvPicPr>
          <p:nvPr>
            <p:custDataLst>
              <p:tags r:id="rId7"/>
            </p:custDataLst>
          </p:nvPr>
        </p:nvPicPr>
        <p:blipFill>
          <a:blip r:embed="rId17" cstate="email"/>
          <a:stretch>
            <a:fillRect/>
          </a:stretch>
        </p:blipFill>
        <p:spPr>
          <a:xfrm>
            <a:off x="764938" y="930776"/>
            <a:ext cx="3494509" cy="776000"/>
          </a:xfrm>
          <a:prstGeom prst="rect">
            <a:avLst/>
          </a:prstGeom>
        </p:spPr>
      </p:pic>
      <p:pic>
        <p:nvPicPr>
          <p:cNvPr id="9" name="Picture 104" descr="C:\Users\UserSim\Desktop\Capgemini\moto.emf"/>
          <p:cNvPicPr>
            <a:picLocks noChangeAspect="1" noChangeArrowheads="1"/>
          </p:cNvPicPr>
          <p:nvPr>
            <p:custDataLst>
              <p:tags r:id="rId8"/>
            </p:custDataLst>
          </p:nvPr>
        </p:nvPicPr>
        <p:blipFill>
          <a:blip r:embed="rId18" cstate="email"/>
          <a:srcRect/>
          <a:stretch>
            <a:fillRect/>
          </a:stretch>
        </p:blipFill>
        <p:spPr bwMode="auto">
          <a:xfrm>
            <a:off x="6083038" y="1173628"/>
            <a:ext cx="4037863" cy="290298"/>
          </a:xfrm>
          <a:prstGeom prst="rect">
            <a:avLst/>
          </a:prstGeom>
          <a:noFill/>
        </p:spPr>
      </p:pic>
      <p:sp>
        <p:nvSpPr>
          <p:cNvPr id="13" name="Rectangle 12"/>
          <p:cNvSpPr/>
          <p:nvPr>
            <p:custDataLst>
              <p:tags r:id="rId9"/>
            </p:custDataLst>
          </p:nvPr>
        </p:nvSpPr>
        <p:spPr>
          <a:xfrm>
            <a:off x="6118801" y="6379669"/>
            <a:ext cx="4854000" cy="282207"/>
          </a:xfrm>
          <a:prstGeom prst="rect">
            <a:avLst/>
          </a:prstGeom>
        </p:spPr>
        <p:txBody>
          <a:bodyPr wrap="square" lIns="33059" tIns="33059" rIns="330588" bIns="33059" anchor="b" anchorCtr="0">
            <a:spAutoFit/>
          </a:bodyPr>
          <a:lstStyle/>
          <a:p>
            <a:pPr algn="r"/>
            <a:r>
              <a:rPr lang="en-US" sz="700" dirty="0">
                <a:solidFill>
                  <a:schemeClr val="bg1"/>
                </a:solidFill>
                <a:latin typeface="Arial"/>
                <a:cs typeface="Arial"/>
              </a:rPr>
              <a:t>The information contained in this presentation is </a:t>
            </a:r>
            <a:r>
              <a:rPr lang="en-US" sz="700" dirty="0" smtClean="0">
                <a:solidFill>
                  <a:schemeClr val="bg1"/>
                </a:solidFill>
                <a:latin typeface="Arial"/>
                <a:cs typeface="Arial"/>
              </a:rPr>
              <a:t>proprietary.</a:t>
            </a:r>
          </a:p>
          <a:p>
            <a:pPr algn="r"/>
            <a:r>
              <a:rPr lang="en-US" sz="700" dirty="0" smtClean="0">
                <a:solidFill>
                  <a:schemeClr val="bg1"/>
                </a:solidFill>
                <a:latin typeface="Arial"/>
                <a:cs typeface="Arial"/>
              </a:rPr>
              <a:t>© 2013 </a:t>
            </a:r>
            <a:r>
              <a:rPr lang="en-US" sz="700" dirty="0">
                <a:solidFill>
                  <a:schemeClr val="bg1"/>
                </a:solidFill>
                <a:latin typeface="Arial"/>
                <a:cs typeface="Arial"/>
              </a:rPr>
              <a:t>Capgemini. All rights </a:t>
            </a:r>
            <a:r>
              <a:rPr lang="en-US" sz="700" dirty="0" smtClean="0">
                <a:solidFill>
                  <a:schemeClr val="bg1"/>
                </a:solidFill>
                <a:latin typeface="Arial"/>
                <a:cs typeface="Arial"/>
              </a:rPr>
              <a:t>reserved.</a:t>
            </a:r>
            <a:endParaRPr lang="en-US" sz="700" dirty="0">
              <a:solidFill>
                <a:schemeClr val="bg1"/>
              </a:solidFill>
              <a:latin typeface="Arial"/>
              <a:cs typeface="Arial"/>
            </a:endParaRPr>
          </a:p>
        </p:txBody>
      </p:sp>
      <p:sp>
        <p:nvSpPr>
          <p:cNvPr id="15" name="Rectangle 14"/>
          <p:cNvSpPr/>
          <p:nvPr>
            <p:custDataLst>
              <p:tags r:id="rId10"/>
            </p:custDataLst>
          </p:nvPr>
        </p:nvSpPr>
        <p:spPr>
          <a:xfrm>
            <a:off x="8049678" y="5457935"/>
            <a:ext cx="2923122" cy="380480"/>
          </a:xfrm>
          <a:prstGeom prst="rect">
            <a:avLst/>
          </a:prstGeom>
        </p:spPr>
        <p:txBody>
          <a:bodyPr wrap="none" lIns="36000" tIns="36000" rIns="360000" bIns="36000" anchor="b" anchorCtr="0">
            <a:spAutoFit/>
          </a:bodyPr>
          <a:lstStyle/>
          <a:p>
            <a:pPr algn="r"/>
            <a:r>
              <a:rPr lang="en-US" sz="2000" b="1" dirty="0">
                <a:solidFill>
                  <a:schemeClr val="bg1"/>
                </a:solidFill>
                <a:latin typeface="Arial" pitchFamily="34" charset="0"/>
                <a:cs typeface="Arial" pitchFamily="34" charset="0"/>
              </a:rPr>
              <a:t>www.capgemini.com</a:t>
            </a:r>
          </a:p>
        </p:txBody>
      </p:sp>
      <p:pic>
        <p:nvPicPr>
          <p:cNvPr id="16" name="Picture 3" descr="C:\Users\UserSim\Desktop\DS_icons\128x128 shadows\facebook.png">
            <a:hlinkClick r:id="rId19"/>
          </p:cNvPr>
          <p:cNvPicPr>
            <a:picLocks noChangeAspect="1" noChangeArrowheads="1"/>
          </p:cNvPicPr>
          <p:nvPr>
            <p:custDataLst>
              <p:tags r:id="rId11"/>
            </p:custDataLst>
          </p:nvPr>
        </p:nvPicPr>
        <p:blipFill>
          <a:blip r:embed="rId20" cstate="email"/>
          <a:srcRect/>
          <a:stretch>
            <a:fillRect/>
          </a:stretch>
        </p:blipFill>
        <p:spPr bwMode="auto">
          <a:xfrm>
            <a:off x="8794249" y="5932547"/>
            <a:ext cx="308185" cy="263770"/>
          </a:xfrm>
          <a:prstGeom prst="rect">
            <a:avLst/>
          </a:prstGeom>
          <a:noFill/>
        </p:spPr>
      </p:pic>
      <p:pic>
        <p:nvPicPr>
          <p:cNvPr id="17" name="Picture 4" descr="C:\Users\UserSim\Desktop\DS_icons\128x128 shadows\linkedin.png">
            <a:hlinkClick r:id="rId21"/>
          </p:cNvPr>
          <p:cNvPicPr>
            <a:picLocks noChangeAspect="1" noChangeArrowheads="1"/>
          </p:cNvPicPr>
          <p:nvPr>
            <p:custDataLst>
              <p:tags r:id="rId12"/>
            </p:custDataLst>
          </p:nvPr>
        </p:nvPicPr>
        <p:blipFill>
          <a:blip r:embed="rId22" cstate="email"/>
          <a:srcRect/>
          <a:stretch>
            <a:fillRect/>
          </a:stretch>
        </p:blipFill>
        <p:spPr bwMode="auto">
          <a:xfrm>
            <a:off x="9165783" y="5932547"/>
            <a:ext cx="311608" cy="266700"/>
          </a:xfrm>
          <a:prstGeom prst="rect">
            <a:avLst/>
          </a:prstGeom>
          <a:noFill/>
        </p:spPr>
      </p:pic>
      <p:pic>
        <p:nvPicPr>
          <p:cNvPr id="18" name="Picture 5" descr="C:\Users\UserSim\Desktop\DS_icons\128x128 shadows\twitter.png">
            <a:hlinkClick r:id="rId23"/>
          </p:cNvPr>
          <p:cNvPicPr>
            <a:picLocks noChangeAspect="1" noChangeArrowheads="1"/>
          </p:cNvPicPr>
          <p:nvPr>
            <p:custDataLst>
              <p:tags r:id="rId13"/>
            </p:custDataLst>
          </p:nvPr>
        </p:nvPicPr>
        <p:blipFill>
          <a:blip r:embed="rId24" cstate="email"/>
          <a:srcRect/>
          <a:stretch>
            <a:fillRect/>
          </a:stretch>
        </p:blipFill>
        <p:spPr bwMode="auto">
          <a:xfrm>
            <a:off x="9862583" y="5932547"/>
            <a:ext cx="311608" cy="266700"/>
          </a:xfrm>
          <a:prstGeom prst="rect">
            <a:avLst/>
          </a:prstGeom>
          <a:noFill/>
        </p:spPr>
      </p:pic>
      <p:pic>
        <p:nvPicPr>
          <p:cNvPr id="19" name="Picture 6" descr="C:\Users\UserSim\Desktop\DS_icons\128x128 shadows\youtube.png">
            <a:hlinkClick r:id="rId25"/>
          </p:cNvPr>
          <p:cNvPicPr>
            <a:picLocks noChangeAspect="1" noChangeArrowheads="1"/>
          </p:cNvPicPr>
          <p:nvPr>
            <p:custDataLst>
              <p:tags r:id="rId14"/>
            </p:custDataLst>
          </p:nvPr>
        </p:nvPicPr>
        <p:blipFill>
          <a:blip r:embed="rId26" cstate="email"/>
          <a:srcRect/>
          <a:stretch>
            <a:fillRect/>
          </a:stretch>
        </p:blipFill>
        <p:spPr bwMode="auto">
          <a:xfrm>
            <a:off x="10237540" y="5932547"/>
            <a:ext cx="311608" cy="266700"/>
          </a:xfrm>
          <a:prstGeom prst="rect">
            <a:avLst/>
          </a:prstGeom>
          <a:noFill/>
        </p:spPr>
      </p:pic>
      <p:pic>
        <p:nvPicPr>
          <p:cNvPr id="20" name="Image 22" descr="Picto_Slideshare.gif">
            <a:hlinkClick r:id="rId27"/>
          </p:cNvPr>
          <p:cNvPicPr preferRelativeResize="0">
            <a:picLocks/>
          </p:cNvPicPr>
          <p:nvPr>
            <p:custDataLst>
              <p:tags r:id="rId15"/>
            </p:custDataLst>
          </p:nvPr>
        </p:nvPicPr>
        <p:blipFill>
          <a:blip r:embed="rId28" cstate="email"/>
          <a:srcRect l="4793" t="6316" r="5718" b="7969"/>
          <a:stretch>
            <a:fillRect/>
          </a:stretch>
        </p:blipFill>
        <p:spPr>
          <a:xfrm>
            <a:off x="9540740" y="5932548"/>
            <a:ext cx="258493" cy="238125"/>
          </a:xfrm>
          <a:prstGeom prst="roundRect">
            <a:avLst/>
          </a:prstGeom>
          <a:effectLst>
            <a:outerShdw blurRad="38100" dist="25400" dir="5400000" sx="98000" sy="98000" algn="t" rotWithShape="0">
              <a:schemeClr val="tx2">
                <a:alpha val="51000"/>
              </a:schemeClr>
            </a:outerShdw>
          </a:effectLst>
        </p:spPr>
      </p:pic>
    </p:spTree>
  </p:cSld>
  <p:clrMap bg1="lt1" tx1="dk1" bg2="lt2" tx2="dk2" accent1="accent1" accent2="accent2" accent3="accent3" accent4="accent4" accent5="accent5" accent6="accent6" hlink="hlink" folHlink="folHlink"/>
  <p:sldLayoutIdLst>
    <p:sldLayoutId id="2147483940" r:id="rId1"/>
    <p:sldLayoutId id="2147483945" r:id="rId2"/>
    <p:sldLayoutId id="2147483961" r:id="rId3"/>
  </p:sldLayoutIdLst>
  <p:timing>
    <p:tnLst>
      <p:par>
        <p:cTn id="1" dur="indefinite" restart="never" nodeType="tmRoot"/>
      </p:par>
    </p:tnLst>
  </p:timing>
  <p:txStyles>
    <p:titleStyle>
      <a:lvl1pPr algn="ctr" defTabSz="839694" rtl="0" eaLnBrk="1" latinLnBrk="0" hangingPunct="1">
        <a:spcBef>
          <a:spcPct val="0"/>
        </a:spcBef>
        <a:buNone/>
        <a:defRPr sz="4000" kern="1200">
          <a:solidFill>
            <a:schemeClr val="tx1"/>
          </a:solidFill>
          <a:latin typeface="+mj-lt"/>
          <a:ea typeface="+mj-ea"/>
          <a:cs typeface="+mj-cs"/>
        </a:defRPr>
      </a:lvl1pPr>
    </p:titleStyle>
    <p:bodyStyle>
      <a:lvl1pPr marL="314885" indent="-314885" algn="l" defTabSz="839694" rtl="0" eaLnBrk="1" latinLnBrk="0" hangingPunct="1">
        <a:spcBef>
          <a:spcPct val="20000"/>
        </a:spcBef>
        <a:buFont typeface="Arial" pitchFamily="34" charset="0"/>
        <a:buChar char="•"/>
        <a:defRPr sz="2900" kern="1200">
          <a:solidFill>
            <a:schemeClr val="tx1"/>
          </a:solidFill>
          <a:latin typeface="+mn-lt"/>
          <a:ea typeface="+mn-ea"/>
          <a:cs typeface="+mn-cs"/>
        </a:defRPr>
      </a:lvl1pPr>
      <a:lvl2pPr marL="682251" indent="-262404" algn="l" defTabSz="839694" rtl="0" eaLnBrk="1" latinLnBrk="0" hangingPunct="1">
        <a:spcBef>
          <a:spcPct val="20000"/>
        </a:spcBef>
        <a:buFont typeface="Arial" pitchFamily="34" charset="0"/>
        <a:buChar char="–"/>
        <a:defRPr sz="2600" kern="1200">
          <a:solidFill>
            <a:schemeClr val="tx1"/>
          </a:solidFill>
          <a:latin typeface="+mn-lt"/>
          <a:ea typeface="+mn-ea"/>
          <a:cs typeface="+mn-cs"/>
        </a:defRPr>
      </a:lvl2pPr>
      <a:lvl3pPr marL="1049617" indent="-209923" algn="l" defTabSz="839694" rtl="0" eaLnBrk="1" latinLnBrk="0" hangingPunct="1">
        <a:spcBef>
          <a:spcPct val="20000"/>
        </a:spcBef>
        <a:buFont typeface="Arial" pitchFamily="34" charset="0"/>
        <a:buChar char="•"/>
        <a:defRPr sz="2200" kern="1200">
          <a:solidFill>
            <a:schemeClr val="tx1"/>
          </a:solidFill>
          <a:latin typeface="+mn-lt"/>
          <a:ea typeface="+mn-ea"/>
          <a:cs typeface="+mn-cs"/>
        </a:defRPr>
      </a:lvl3pPr>
      <a:lvl4pPr marL="1469464"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1889310"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309157"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729004"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148851"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568697"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fr-FR"/>
      </a:defPPr>
      <a:lvl1pPr marL="0" algn="l" defTabSz="839694" rtl="0" eaLnBrk="1" latinLnBrk="0" hangingPunct="1">
        <a:defRPr sz="1700" kern="1200">
          <a:solidFill>
            <a:schemeClr val="tx1"/>
          </a:solidFill>
          <a:latin typeface="+mn-lt"/>
          <a:ea typeface="+mn-ea"/>
          <a:cs typeface="+mn-cs"/>
        </a:defRPr>
      </a:lvl1pPr>
      <a:lvl2pPr marL="419847" algn="l" defTabSz="839694" rtl="0" eaLnBrk="1" latinLnBrk="0" hangingPunct="1">
        <a:defRPr sz="1700" kern="1200">
          <a:solidFill>
            <a:schemeClr val="tx1"/>
          </a:solidFill>
          <a:latin typeface="+mn-lt"/>
          <a:ea typeface="+mn-ea"/>
          <a:cs typeface="+mn-cs"/>
        </a:defRPr>
      </a:lvl2pPr>
      <a:lvl3pPr marL="839694" algn="l" defTabSz="839694" rtl="0" eaLnBrk="1" latinLnBrk="0" hangingPunct="1">
        <a:defRPr sz="1700" kern="1200">
          <a:solidFill>
            <a:schemeClr val="tx1"/>
          </a:solidFill>
          <a:latin typeface="+mn-lt"/>
          <a:ea typeface="+mn-ea"/>
          <a:cs typeface="+mn-cs"/>
        </a:defRPr>
      </a:lvl3pPr>
      <a:lvl4pPr marL="1259540" algn="l" defTabSz="839694" rtl="0" eaLnBrk="1" latinLnBrk="0" hangingPunct="1">
        <a:defRPr sz="1700" kern="1200">
          <a:solidFill>
            <a:schemeClr val="tx1"/>
          </a:solidFill>
          <a:latin typeface="+mn-lt"/>
          <a:ea typeface="+mn-ea"/>
          <a:cs typeface="+mn-cs"/>
        </a:defRPr>
      </a:lvl4pPr>
      <a:lvl5pPr marL="1679387" algn="l" defTabSz="839694" rtl="0" eaLnBrk="1" latinLnBrk="0" hangingPunct="1">
        <a:defRPr sz="1700" kern="1200">
          <a:solidFill>
            <a:schemeClr val="tx1"/>
          </a:solidFill>
          <a:latin typeface="+mn-lt"/>
          <a:ea typeface="+mn-ea"/>
          <a:cs typeface="+mn-cs"/>
        </a:defRPr>
      </a:lvl5pPr>
      <a:lvl6pPr marL="2099234" algn="l" defTabSz="839694" rtl="0" eaLnBrk="1" latinLnBrk="0" hangingPunct="1">
        <a:defRPr sz="1700" kern="1200">
          <a:solidFill>
            <a:schemeClr val="tx1"/>
          </a:solidFill>
          <a:latin typeface="+mn-lt"/>
          <a:ea typeface="+mn-ea"/>
          <a:cs typeface="+mn-cs"/>
        </a:defRPr>
      </a:lvl6pPr>
      <a:lvl7pPr marL="2519081" algn="l" defTabSz="839694" rtl="0" eaLnBrk="1" latinLnBrk="0" hangingPunct="1">
        <a:defRPr sz="1700" kern="1200">
          <a:solidFill>
            <a:schemeClr val="tx1"/>
          </a:solidFill>
          <a:latin typeface="+mn-lt"/>
          <a:ea typeface="+mn-ea"/>
          <a:cs typeface="+mn-cs"/>
        </a:defRPr>
      </a:lvl7pPr>
      <a:lvl8pPr marL="2938927" algn="l" defTabSz="839694" rtl="0" eaLnBrk="1" latinLnBrk="0" hangingPunct="1">
        <a:defRPr sz="1700" kern="1200">
          <a:solidFill>
            <a:schemeClr val="tx1"/>
          </a:solidFill>
          <a:latin typeface="+mn-lt"/>
          <a:ea typeface="+mn-ea"/>
          <a:cs typeface="+mn-cs"/>
        </a:defRPr>
      </a:lvl8pPr>
      <a:lvl9pPr marL="3358774" algn="l" defTabSz="839694" rtl="0" eaLnBrk="1" latinLnBrk="0" hangingPunct="1">
        <a:defRPr sz="17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nvGraphicFramePr>
        <p:xfrm>
          <a:off x="0" y="0"/>
          <a:ext cx="175846" cy="158750"/>
        </p:xfrm>
        <a:graphic>
          <a:graphicData uri="http://schemas.openxmlformats.org/presentationml/2006/ole">
            <p:oleObj spid="_x0000_s129219" name="think-cell Slide" r:id="rId5" imgW="360" imgH="360" progId="">
              <p:embed/>
            </p:oleObj>
          </a:graphicData>
        </a:graphic>
      </p:graphicFrame>
    </p:spTree>
  </p:cSld>
  <p:clrMap bg1="lt1" tx1="dk1" bg2="lt2" tx2="dk2" accent1="accent1" accent2="accent2" accent3="accent3" accent4="accent4" accent5="accent5" accent6="accent6" hlink="hlink" folHlink="folHlink"/>
  <p:sldLayoutIdLst>
    <p:sldLayoutId id="2147483969" r:id="rId1"/>
    <p:sldLayoutId id="2147483957" r:id="rId2"/>
  </p:sldLayoutIdLst>
  <p:timing>
    <p:tnLst>
      <p:par>
        <p:cTn id="1" dur="indefinite" restart="never" nodeType="tmRoot"/>
      </p:par>
    </p:tnLst>
  </p:timing>
  <p:txStyles>
    <p:titleStyle>
      <a:lvl1pPr algn="ctr" defTabSz="839694" rtl="0" eaLnBrk="1" latinLnBrk="0" hangingPunct="1">
        <a:spcBef>
          <a:spcPct val="0"/>
        </a:spcBef>
        <a:buNone/>
        <a:defRPr sz="4000" kern="1200">
          <a:solidFill>
            <a:schemeClr val="tx1"/>
          </a:solidFill>
          <a:latin typeface="+mj-lt"/>
          <a:ea typeface="+mj-ea"/>
          <a:cs typeface="+mj-cs"/>
        </a:defRPr>
      </a:lvl1pPr>
    </p:titleStyle>
    <p:bodyStyle>
      <a:lvl1pPr marL="314885" indent="-314885" algn="l" defTabSz="839694" rtl="0" eaLnBrk="1" latinLnBrk="0" hangingPunct="1">
        <a:spcBef>
          <a:spcPct val="20000"/>
        </a:spcBef>
        <a:buFont typeface="Arial" pitchFamily="34" charset="0"/>
        <a:buChar char="•"/>
        <a:defRPr sz="2900" kern="1200">
          <a:solidFill>
            <a:schemeClr val="tx1"/>
          </a:solidFill>
          <a:latin typeface="+mn-lt"/>
          <a:ea typeface="+mn-ea"/>
          <a:cs typeface="+mn-cs"/>
        </a:defRPr>
      </a:lvl1pPr>
      <a:lvl2pPr marL="682251" indent="-262404" algn="l" defTabSz="839694" rtl="0" eaLnBrk="1" latinLnBrk="0" hangingPunct="1">
        <a:spcBef>
          <a:spcPct val="20000"/>
        </a:spcBef>
        <a:buFont typeface="Arial" pitchFamily="34" charset="0"/>
        <a:buChar char="–"/>
        <a:defRPr sz="2600" kern="1200">
          <a:solidFill>
            <a:schemeClr val="tx1"/>
          </a:solidFill>
          <a:latin typeface="+mn-lt"/>
          <a:ea typeface="+mn-ea"/>
          <a:cs typeface="+mn-cs"/>
        </a:defRPr>
      </a:lvl2pPr>
      <a:lvl3pPr marL="1049617" indent="-209923" algn="l" defTabSz="839694" rtl="0" eaLnBrk="1" latinLnBrk="0" hangingPunct="1">
        <a:spcBef>
          <a:spcPct val="20000"/>
        </a:spcBef>
        <a:buFont typeface="Arial" pitchFamily="34" charset="0"/>
        <a:buChar char="•"/>
        <a:defRPr sz="2200" kern="1200">
          <a:solidFill>
            <a:schemeClr val="tx1"/>
          </a:solidFill>
          <a:latin typeface="+mn-lt"/>
          <a:ea typeface="+mn-ea"/>
          <a:cs typeface="+mn-cs"/>
        </a:defRPr>
      </a:lvl3pPr>
      <a:lvl4pPr marL="1469464"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1889310"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309157"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729004"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148851"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568697"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fr-FR"/>
      </a:defPPr>
      <a:lvl1pPr marL="0" algn="l" defTabSz="839694" rtl="0" eaLnBrk="1" latinLnBrk="0" hangingPunct="1">
        <a:defRPr sz="1700" kern="1200">
          <a:solidFill>
            <a:schemeClr val="tx1"/>
          </a:solidFill>
          <a:latin typeface="+mn-lt"/>
          <a:ea typeface="+mn-ea"/>
          <a:cs typeface="+mn-cs"/>
        </a:defRPr>
      </a:lvl1pPr>
      <a:lvl2pPr marL="419847" algn="l" defTabSz="839694" rtl="0" eaLnBrk="1" latinLnBrk="0" hangingPunct="1">
        <a:defRPr sz="1700" kern="1200">
          <a:solidFill>
            <a:schemeClr val="tx1"/>
          </a:solidFill>
          <a:latin typeface="+mn-lt"/>
          <a:ea typeface="+mn-ea"/>
          <a:cs typeface="+mn-cs"/>
        </a:defRPr>
      </a:lvl2pPr>
      <a:lvl3pPr marL="839694" algn="l" defTabSz="839694" rtl="0" eaLnBrk="1" latinLnBrk="0" hangingPunct="1">
        <a:defRPr sz="1700" kern="1200">
          <a:solidFill>
            <a:schemeClr val="tx1"/>
          </a:solidFill>
          <a:latin typeface="+mn-lt"/>
          <a:ea typeface="+mn-ea"/>
          <a:cs typeface="+mn-cs"/>
        </a:defRPr>
      </a:lvl3pPr>
      <a:lvl4pPr marL="1259540" algn="l" defTabSz="839694" rtl="0" eaLnBrk="1" latinLnBrk="0" hangingPunct="1">
        <a:defRPr sz="1700" kern="1200">
          <a:solidFill>
            <a:schemeClr val="tx1"/>
          </a:solidFill>
          <a:latin typeface="+mn-lt"/>
          <a:ea typeface="+mn-ea"/>
          <a:cs typeface="+mn-cs"/>
        </a:defRPr>
      </a:lvl4pPr>
      <a:lvl5pPr marL="1679387" algn="l" defTabSz="839694" rtl="0" eaLnBrk="1" latinLnBrk="0" hangingPunct="1">
        <a:defRPr sz="1700" kern="1200">
          <a:solidFill>
            <a:schemeClr val="tx1"/>
          </a:solidFill>
          <a:latin typeface="+mn-lt"/>
          <a:ea typeface="+mn-ea"/>
          <a:cs typeface="+mn-cs"/>
        </a:defRPr>
      </a:lvl5pPr>
      <a:lvl6pPr marL="2099234" algn="l" defTabSz="839694" rtl="0" eaLnBrk="1" latinLnBrk="0" hangingPunct="1">
        <a:defRPr sz="1700" kern="1200">
          <a:solidFill>
            <a:schemeClr val="tx1"/>
          </a:solidFill>
          <a:latin typeface="+mn-lt"/>
          <a:ea typeface="+mn-ea"/>
          <a:cs typeface="+mn-cs"/>
        </a:defRPr>
      </a:lvl6pPr>
      <a:lvl7pPr marL="2519081" algn="l" defTabSz="839694" rtl="0" eaLnBrk="1" latinLnBrk="0" hangingPunct="1">
        <a:defRPr sz="1700" kern="1200">
          <a:solidFill>
            <a:schemeClr val="tx1"/>
          </a:solidFill>
          <a:latin typeface="+mn-lt"/>
          <a:ea typeface="+mn-ea"/>
          <a:cs typeface="+mn-cs"/>
        </a:defRPr>
      </a:lvl7pPr>
      <a:lvl8pPr marL="2938927" algn="l" defTabSz="839694" rtl="0" eaLnBrk="1" latinLnBrk="0" hangingPunct="1">
        <a:defRPr sz="1700" kern="1200">
          <a:solidFill>
            <a:schemeClr val="tx1"/>
          </a:solidFill>
          <a:latin typeface="+mn-lt"/>
          <a:ea typeface="+mn-ea"/>
          <a:cs typeface="+mn-cs"/>
        </a:defRPr>
      </a:lvl8pPr>
      <a:lvl9pPr marL="3358774" algn="l" defTabSz="839694" rtl="0" eaLnBrk="1" latinLnBrk="0" hangingPunct="1">
        <a:defRPr sz="17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9275" y="274638"/>
            <a:ext cx="987425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549275" y="1600200"/>
            <a:ext cx="987425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549275" y="6356350"/>
            <a:ext cx="25590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E9845D0-71EC-4FAB-9362-88C8DE3E0EEE}" type="datetimeFigureOut">
              <a:rPr lang="en-US" smtClean="0"/>
              <a:pPr/>
              <a:t>5/8/2017</a:t>
            </a:fld>
            <a:endParaRPr lang="en-US"/>
          </a:p>
        </p:txBody>
      </p:sp>
      <p:sp>
        <p:nvSpPr>
          <p:cNvPr id="5" name="Footer Placeholder 4"/>
          <p:cNvSpPr>
            <a:spLocks noGrp="1"/>
          </p:cNvSpPr>
          <p:nvPr>
            <p:ph type="ftr" sz="quarter" idx="3"/>
          </p:nvPr>
        </p:nvSpPr>
        <p:spPr>
          <a:xfrm>
            <a:off x="3749675" y="6356350"/>
            <a:ext cx="347345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864475" y="6356350"/>
            <a:ext cx="25590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47DC82-1A69-45FE-AFFF-96143EB8F803}" type="slidenum">
              <a:rPr lang="en-US" smtClean="0"/>
              <a:pPr/>
              <a:t>‹#›</a:t>
            </a:fld>
            <a:endParaRPr lang="en-US"/>
          </a:p>
        </p:txBody>
      </p:sp>
    </p:spTree>
    <p:extLst>
      <p:ext uri="{BB962C8B-B14F-4D97-AF65-F5344CB8AC3E}">
        <p14:creationId xmlns="" xmlns:p14="http://schemas.microsoft.com/office/powerpoint/2010/main" val="1549416607"/>
      </p:ext>
    </p:extLst>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8640" y="274638"/>
            <a:ext cx="987552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548640" y="1600201"/>
            <a:ext cx="987552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548640" y="6356351"/>
            <a:ext cx="256032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defTabSz="914400"/>
            <a:fld id="{48D40B07-F82E-42C7-BFF5-C4AA3E6934CD}" type="datetimeFigureOut">
              <a:rPr lang="en-US" smtClean="0">
                <a:solidFill>
                  <a:prstClr val="black">
                    <a:tint val="75000"/>
                  </a:prstClr>
                </a:solidFill>
              </a:rPr>
              <a:pPr defTabSz="914400"/>
              <a:t>5/8/2017</a:t>
            </a:fld>
            <a:endParaRPr lang="en-US">
              <a:solidFill>
                <a:prstClr val="black">
                  <a:tint val="75000"/>
                </a:prstClr>
              </a:solidFill>
            </a:endParaRPr>
          </a:p>
        </p:txBody>
      </p:sp>
      <p:sp>
        <p:nvSpPr>
          <p:cNvPr id="5" name="Footer Placeholder 4"/>
          <p:cNvSpPr>
            <a:spLocks noGrp="1"/>
          </p:cNvSpPr>
          <p:nvPr>
            <p:ph type="ftr" sz="quarter" idx="3"/>
          </p:nvPr>
        </p:nvSpPr>
        <p:spPr>
          <a:xfrm>
            <a:off x="3749040" y="6356351"/>
            <a:ext cx="347472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914400"/>
            <a:endParaRPr lang="en-US">
              <a:solidFill>
                <a:prstClr val="black">
                  <a:tint val="75000"/>
                </a:prstClr>
              </a:solidFill>
            </a:endParaRPr>
          </a:p>
        </p:txBody>
      </p:sp>
      <p:sp>
        <p:nvSpPr>
          <p:cNvPr id="6" name="Slide Number Placeholder 5"/>
          <p:cNvSpPr>
            <a:spLocks noGrp="1"/>
          </p:cNvSpPr>
          <p:nvPr>
            <p:ph type="sldNum" sz="quarter" idx="4"/>
          </p:nvPr>
        </p:nvSpPr>
        <p:spPr>
          <a:xfrm>
            <a:off x="7863840" y="6356351"/>
            <a:ext cx="256032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defTabSz="914400"/>
            <a:fld id="{A03A5D3A-F9E5-4E8D-BAE1-2FD747E2935A}" type="slidenum">
              <a:rPr lang="en-US" smtClean="0">
                <a:solidFill>
                  <a:prstClr val="black">
                    <a:tint val="75000"/>
                  </a:prstClr>
                </a:solidFill>
              </a:rPr>
              <a:pPr defTabSz="914400"/>
              <a:t>‹#›</a:t>
            </a:fld>
            <a:endParaRPr lang="en-US">
              <a:solidFill>
                <a:prstClr val="black">
                  <a:tint val="75000"/>
                </a:prstClr>
              </a:solidFill>
            </a:endParaRPr>
          </a:p>
        </p:txBody>
      </p:sp>
    </p:spTree>
    <p:extLst>
      <p:ext uri="{BB962C8B-B14F-4D97-AF65-F5344CB8AC3E}">
        <p14:creationId xmlns="" xmlns:p14="http://schemas.microsoft.com/office/powerpoint/2010/main" val="1630294735"/>
      </p:ext>
    </p:extLst>
  </p:cSld>
  <p:clrMap bg1="lt1" tx1="dk1" bg2="lt2" tx2="dk2" accent1="accent1" accent2="accent2" accent3="accent3" accent4="accent4" accent5="accent5" accent6="accent6" hlink="hlink" folHlink="folHlink"/>
  <p:sldLayoutIdLst>
    <p:sldLayoutId id="2147483985" r:id="rId1"/>
    <p:sldLayoutId id="2147483986" r:id="rId2"/>
    <p:sldLayoutId id="2147483987" r:id="rId3"/>
    <p:sldLayoutId id="2147483988" r:id="rId4"/>
    <p:sldLayoutId id="2147483989" r:id="rId5"/>
    <p:sldLayoutId id="2147483990" r:id="rId6"/>
    <p:sldLayoutId id="2147483991" r:id="rId7"/>
    <p:sldLayoutId id="2147483992" r:id="rId8"/>
    <p:sldLayoutId id="2147483993" r:id="rId9"/>
    <p:sldLayoutId id="2147483994" r:id="rId10"/>
    <p:sldLayoutId id="2147483995" r:id="rId11"/>
    <p:sldLayoutId id="2147483996"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nvGraphicFramePr>
        <p:xfrm>
          <a:off x="1" y="0"/>
          <a:ext cx="175846" cy="158750"/>
        </p:xfrm>
        <a:graphic>
          <a:graphicData uri="http://schemas.openxmlformats.org/presentationml/2006/ole">
            <p:oleObj spid="_x0000_s259074" name="think-cell Slide" r:id="rId21" imgW="360" imgH="360" progId="">
              <p:embed/>
            </p:oleObj>
          </a:graphicData>
        </a:graphic>
      </p:graphicFrame>
      <p:sp>
        <p:nvSpPr>
          <p:cNvPr id="2" name="Title Placeholder 1"/>
          <p:cNvSpPr>
            <a:spLocks noGrp="1"/>
          </p:cNvSpPr>
          <p:nvPr>
            <p:ph type="title"/>
            <p:custDataLst>
              <p:tags r:id="rId13"/>
            </p:custDataLst>
          </p:nvPr>
        </p:nvSpPr>
        <p:spPr>
          <a:xfrm>
            <a:off x="2" y="1"/>
            <a:ext cx="10972799" cy="1002135"/>
          </a:xfrm>
          <a:prstGeom prst="rect">
            <a:avLst/>
          </a:prstGeom>
        </p:spPr>
        <p:txBody>
          <a:bodyPr vert="horz" lIns="297529" tIns="33059" rIns="165294" bIns="33059" rtlCol="0" anchor="ctr">
            <a:noAutofit/>
          </a:bodyPr>
          <a:lstStyle/>
          <a:p>
            <a:r>
              <a:rPr lang="en-US" noProof="0" smtClean="0"/>
              <a:t>Click to edit Master title style</a:t>
            </a:r>
            <a:endParaRPr lang="en-US" noProof="0" dirty="0"/>
          </a:p>
        </p:txBody>
      </p:sp>
      <p:sp>
        <p:nvSpPr>
          <p:cNvPr id="3" name="Text Placeholder 2"/>
          <p:cNvSpPr>
            <a:spLocks noGrp="1"/>
          </p:cNvSpPr>
          <p:nvPr>
            <p:ph type="body" idx="1"/>
            <p:custDataLst>
              <p:tags r:id="rId14"/>
            </p:custDataLst>
          </p:nvPr>
        </p:nvSpPr>
        <p:spPr>
          <a:xfrm>
            <a:off x="358219" y="1501977"/>
            <a:ext cx="10259372" cy="4774998"/>
          </a:xfrm>
          <a:prstGeom prst="rect">
            <a:avLst/>
          </a:prstGeom>
        </p:spPr>
        <p:txBody>
          <a:bodyPr vert="horz" lIns="0" tIns="72000" rIns="72000" bIns="72000" rtlCol="0">
            <a:noAutofit/>
          </a:body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11" name="TextBox 10"/>
          <p:cNvSpPr txBox="1"/>
          <p:nvPr>
            <p:custDataLst>
              <p:tags r:id="rId15"/>
            </p:custDataLst>
          </p:nvPr>
        </p:nvSpPr>
        <p:spPr>
          <a:xfrm>
            <a:off x="10603790" y="6661691"/>
            <a:ext cx="110608" cy="107722"/>
          </a:xfrm>
          <a:prstGeom prst="rect">
            <a:avLst/>
          </a:prstGeom>
          <a:noFill/>
        </p:spPr>
        <p:txBody>
          <a:bodyPr wrap="none" lIns="0" tIns="0" rIns="0" bIns="0" rtlCol="0" anchor="ctr">
            <a:spAutoFit/>
          </a:bodyPr>
          <a:lstStyle/>
          <a:p>
            <a:pPr algn="ctr"/>
            <a:fld id="{6A895693-0027-4F28-9367-92E39A51F51C}" type="slidenum">
              <a:rPr lang="en-US" sz="700" smtClean="0">
                <a:solidFill>
                  <a:srgbClr val="998C85"/>
                </a:solidFill>
              </a:rPr>
              <a:pPr algn="ctr"/>
              <a:t>‹#›</a:t>
            </a:fld>
            <a:endParaRPr lang="en-US" sz="700" dirty="0">
              <a:solidFill>
                <a:srgbClr val="998C85"/>
              </a:solidFill>
            </a:endParaRPr>
          </a:p>
        </p:txBody>
      </p:sp>
      <p:sp>
        <p:nvSpPr>
          <p:cNvPr id="9" name="Freeform 4"/>
          <p:cNvSpPr>
            <a:spLocks/>
          </p:cNvSpPr>
          <p:nvPr>
            <p:custDataLst>
              <p:tags r:id="rId16"/>
            </p:custDataLst>
          </p:nvPr>
        </p:nvSpPr>
        <p:spPr bwMode="auto">
          <a:xfrm>
            <a:off x="3" y="676402"/>
            <a:ext cx="10972799" cy="72812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vert="horz" wrap="square" lIns="99563" tIns="49782" rIns="99563" bIns="49782" numCol="1" anchor="t" anchorCtr="0" compatLnSpc="1">
            <a:prstTxWarp prst="textNoShape">
              <a:avLst/>
            </a:prstTxWarp>
          </a:bodyPr>
          <a:lstStyle/>
          <a:p>
            <a:endParaRPr lang="fr-FR" dirty="0">
              <a:solidFill>
                <a:srgbClr val="263147"/>
              </a:solidFill>
            </a:endParaRPr>
          </a:p>
        </p:txBody>
      </p:sp>
      <p:sp>
        <p:nvSpPr>
          <p:cNvPr id="12" name="Rectangle 11"/>
          <p:cNvSpPr>
            <a:spLocks noChangeArrowheads="1"/>
          </p:cNvSpPr>
          <p:nvPr>
            <p:custDataLst>
              <p:tags r:id="rId17"/>
            </p:custDataLst>
          </p:nvPr>
        </p:nvSpPr>
        <p:spPr bwMode="auto">
          <a:xfrm>
            <a:off x="7467873" y="6623404"/>
            <a:ext cx="2947175" cy="183503"/>
          </a:xfrm>
          <a:prstGeom prst="rect">
            <a:avLst/>
          </a:prstGeom>
          <a:noFill/>
          <a:ln w="19050">
            <a:noFill/>
            <a:miter lim="800000"/>
            <a:headEnd/>
            <a:tailEnd/>
          </a:ln>
          <a:effectLst/>
        </p:spPr>
        <p:txBody>
          <a:bodyPr wrap="square" lIns="35997" tIns="35997" rIns="35997" bIns="35997" anchor="b" anchorCtr="0">
            <a:noAutofit/>
          </a:bodyPr>
          <a:lstStyle/>
          <a:p>
            <a:pPr algn="r" defTabSz="995445" eaLnBrk="0" hangingPunct="0">
              <a:lnSpc>
                <a:spcPct val="90000"/>
              </a:lnSpc>
              <a:spcBef>
                <a:spcPct val="10000"/>
              </a:spcBef>
              <a:defRPr/>
            </a:pPr>
            <a:r>
              <a:rPr lang="en-US" altLang="en-US" sz="700" dirty="0" smtClean="0">
                <a:solidFill>
                  <a:srgbClr val="998C85"/>
                </a:solidFill>
                <a:cs typeface="Helvetica Light"/>
              </a:rPr>
              <a:t>Copyright © </a:t>
            </a:r>
            <a:r>
              <a:rPr lang="en-US" altLang="en-US" sz="700" dirty="0" err="1" smtClean="0">
                <a:solidFill>
                  <a:srgbClr val="998C85"/>
                </a:solidFill>
                <a:cs typeface="Helvetica Light"/>
              </a:rPr>
              <a:t>Capgemini</a:t>
            </a:r>
            <a:r>
              <a:rPr lang="en-US" altLang="en-US" sz="700" dirty="0" smtClean="0">
                <a:solidFill>
                  <a:srgbClr val="998C85"/>
                </a:solidFill>
                <a:cs typeface="Helvetica Light"/>
              </a:rPr>
              <a:t> 2016. All Rights Reserved</a:t>
            </a:r>
          </a:p>
        </p:txBody>
      </p:sp>
      <p:sp>
        <p:nvSpPr>
          <p:cNvPr id="13" name="Rectangle 12"/>
          <p:cNvSpPr/>
          <p:nvPr>
            <p:custDataLst>
              <p:tags r:id="rId18"/>
            </p:custDataLst>
          </p:nvPr>
        </p:nvSpPr>
        <p:spPr>
          <a:xfrm>
            <a:off x="7716050" y="6439771"/>
            <a:ext cx="2596573" cy="183633"/>
          </a:xfrm>
          <a:prstGeom prst="rect">
            <a:avLst/>
          </a:prstGeom>
        </p:spPr>
        <p:txBody>
          <a:bodyPr wrap="none" lIns="35997" tIns="35997" rIns="35997" bIns="35997" anchor="b" anchorCtr="0">
            <a:noAutofit/>
          </a:bodyPr>
          <a:lstStyle/>
          <a:p>
            <a:pPr algn="r"/>
            <a:r>
              <a:rPr lang="en-US" sz="700" dirty="0" smtClean="0">
                <a:solidFill>
                  <a:srgbClr val="998C85"/>
                </a:solidFill>
              </a:rPr>
              <a:t>Cloud Foundry Training| Oct 2016 | Financial Services</a:t>
            </a:r>
            <a:endParaRPr lang="en-US" sz="700" dirty="0">
              <a:solidFill>
                <a:srgbClr val="998C85"/>
              </a:solidFill>
            </a:endParaRPr>
          </a:p>
        </p:txBody>
      </p:sp>
      <p:pic>
        <p:nvPicPr>
          <p:cNvPr id="14" name="Picture 103" descr="C:\Users\UserSim\Desktop\Capgemini\Capgemini_logo_cmyk.png"/>
          <p:cNvPicPr>
            <a:picLocks noChangeAspect="1" noChangeArrowheads="1"/>
          </p:cNvPicPr>
          <p:nvPr>
            <p:custDataLst>
              <p:tags r:id="rId19"/>
            </p:custDataLst>
          </p:nvPr>
        </p:nvPicPr>
        <p:blipFill>
          <a:blip r:embed="rId22" cstate="email"/>
          <a:srcRect/>
          <a:stretch>
            <a:fillRect/>
          </a:stretch>
        </p:blipFill>
        <p:spPr bwMode="auto">
          <a:xfrm>
            <a:off x="176089" y="6443187"/>
            <a:ext cx="1451758" cy="320682"/>
          </a:xfrm>
          <a:prstGeom prst="rect">
            <a:avLst/>
          </a:prstGeom>
          <a:noFill/>
        </p:spPr>
      </p:pic>
      <p:cxnSp>
        <p:nvCxnSpPr>
          <p:cNvPr id="15" name="Straight Connector 5"/>
          <p:cNvCxnSpPr/>
          <p:nvPr>
            <p:custDataLst>
              <p:tags r:id="rId20"/>
            </p:custDataLst>
          </p:nvPr>
        </p:nvCxnSpPr>
        <p:spPr>
          <a:xfrm flipH="1">
            <a:off x="3" y="6362700"/>
            <a:ext cx="10972799"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998" r:id="rId1"/>
    <p:sldLayoutId id="2147483999" r:id="rId2"/>
    <p:sldLayoutId id="2147484000" r:id="rId3"/>
    <p:sldLayoutId id="2147484001" r:id="rId4"/>
    <p:sldLayoutId id="2147484002" r:id="rId5"/>
    <p:sldLayoutId id="2147484003" r:id="rId6"/>
    <p:sldLayoutId id="2147484004" r:id="rId7"/>
    <p:sldLayoutId id="2147484005" r:id="rId8"/>
    <p:sldLayoutId id="2147484006" r:id="rId9"/>
    <p:sldLayoutId id="2147484008" r:id="rId10"/>
  </p:sldLayoutIdLst>
  <p:timing>
    <p:tnLst>
      <p:par>
        <p:cTn id="1" dur="indefinite" restart="never" nodeType="tmRoot"/>
      </p:par>
    </p:tnLst>
  </p:timing>
  <p:txStyles>
    <p:titleStyle>
      <a:lvl1pPr algn="l" defTabSz="914342" rtl="0" eaLnBrk="1" latinLnBrk="0" hangingPunct="1">
        <a:lnSpc>
          <a:spcPct val="100000"/>
        </a:lnSpc>
        <a:spcBef>
          <a:spcPct val="0"/>
        </a:spcBef>
        <a:buNone/>
        <a:defRPr sz="2600" b="0" kern="1200">
          <a:solidFill>
            <a:schemeClr val="tx1"/>
          </a:solidFill>
          <a:latin typeface="+mj-lt"/>
          <a:ea typeface="+mj-ea"/>
          <a:cs typeface="+mj-cs"/>
        </a:defRPr>
      </a:lvl1pPr>
    </p:titleStyle>
    <p:bodyStyle>
      <a:lvl1pPr marL="228600" indent="-228600" algn="l" defTabSz="914342" rtl="0" eaLnBrk="1" latinLnBrk="0" hangingPunct="1">
        <a:lnSpc>
          <a:spcPct val="100000"/>
        </a:lnSpc>
        <a:spcBef>
          <a:spcPts val="0"/>
        </a:spcBef>
        <a:spcAft>
          <a:spcPts val="600"/>
        </a:spcAft>
        <a:buClr>
          <a:schemeClr val="accent5"/>
        </a:buClr>
        <a:buFont typeface="Wingdings" pitchFamily="2" charset="2"/>
        <a:buChar char="§"/>
        <a:defRPr sz="1400" b="0" kern="1200">
          <a:solidFill>
            <a:schemeClr val="tx2">
              <a:lumMod val="50000"/>
            </a:schemeClr>
          </a:solidFill>
          <a:latin typeface="+mn-lt"/>
          <a:ea typeface="+mn-ea"/>
          <a:cs typeface="+mn-cs"/>
        </a:defRPr>
      </a:lvl1pPr>
      <a:lvl2pPr marL="457200" indent="-228600" algn="l" defTabSz="914342" rtl="0" eaLnBrk="1" latinLnBrk="0" hangingPunct="1">
        <a:lnSpc>
          <a:spcPct val="100000"/>
        </a:lnSpc>
        <a:spcBef>
          <a:spcPts val="0"/>
        </a:spcBef>
        <a:spcAft>
          <a:spcPts val="600"/>
        </a:spcAft>
        <a:buClr>
          <a:schemeClr val="accent3"/>
        </a:buClr>
        <a:buFont typeface="Wingdings" pitchFamily="2" charset="2"/>
        <a:buChar char="§"/>
        <a:defRPr sz="1400" kern="1200">
          <a:solidFill>
            <a:schemeClr val="tx2">
              <a:lumMod val="50000"/>
            </a:schemeClr>
          </a:solidFill>
          <a:latin typeface="+mn-lt"/>
          <a:ea typeface="+mn-ea"/>
          <a:cs typeface="+mn-cs"/>
        </a:defRPr>
      </a:lvl2pPr>
      <a:lvl3pPr marL="685800" indent="-228600" algn="l" defTabSz="914342" rtl="0" eaLnBrk="1" latinLnBrk="0" hangingPunct="1">
        <a:lnSpc>
          <a:spcPct val="100000"/>
        </a:lnSpc>
        <a:spcBef>
          <a:spcPts val="0"/>
        </a:spcBef>
        <a:spcAft>
          <a:spcPts val="600"/>
        </a:spcAft>
        <a:buClr>
          <a:schemeClr val="accent2"/>
        </a:buClr>
        <a:buFont typeface="Arial" pitchFamily="34" charset="0"/>
        <a:buChar char="•"/>
        <a:defRPr sz="1400" kern="1200">
          <a:solidFill>
            <a:schemeClr val="tx2">
              <a:lumMod val="50000"/>
            </a:schemeClr>
          </a:solidFill>
          <a:latin typeface="+mn-lt"/>
          <a:ea typeface="+mn-ea"/>
          <a:cs typeface="+mn-cs"/>
        </a:defRPr>
      </a:lvl3pPr>
      <a:lvl4pPr marL="914400" indent="-228600" algn="l" defTabSz="914342" rtl="0" eaLnBrk="1" latinLnBrk="0" hangingPunct="1">
        <a:lnSpc>
          <a:spcPct val="100000"/>
        </a:lnSpc>
        <a:spcBef>
          <a:spcPts val="0"/>
        </a:spcBef>
        <a:spcAft>
          <a:spcPts val="600"/>
        </a:spcAft>
        <a:buClr>
          <a:schemeClr val="bg2"/>
        </a:buClr>
        <a:buFont typeface="Arial" pitchFamily="34" charset="0"/>
        <a:buChar char="–"/>
        <a:defRPr sz="1400" kern="1200">
          <a:solidFill>
            <a:schemeClr val="tx2">
              <a:lumMod val="50000"/>
            </a:schemeClr>
          </a:solidFill>
          <a:latin typeface="+mn-lt"/>
          <a:ea typeface="+mn-ea"/>
          <a:cs typeface="+mn-cs"/>
        </a:defRPr>
      </a:lvl4pPr>
      <a:lvl5pPr marL="1609624" indent="-193663" algn="l" defTabSz="914342" rtl="0" eaLnBrk="1" latinLnBrk="0" hangingPunct="1">
        <a:spcBef>
          <a:spcPts val="0"/>
        </a:spcBef>
        <a:buClr>
          <a:srgbClr val="B1B1B1"/>
        </a:buClr>
        <a:buFont typeface="Arial" pitchFamily="34" charset="0"/>
        <a:buChar char="–"/>
        <a:defRPr sz="1700" kern="1200">
          <a:solidFill>
            <a:srgbClr val="494949"/>
          </a:solidFill>
          <a:latin typeface="+mn-lt"/>
          <a:ea typeface="+mn-ea"/>
          <a:cs typeface="+mn-cs"/>
        </a:defRPr>
      </a:lvl5pPr>
      <a:lvl6pPr marL="2514441"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12"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83"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54"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3" algn="l" defTabSz="914342" rtl="0" eaLnBrk="1" latinLnBrk="0" hangingPunct="1">
        <a:defRPr sz="1800" kern="1200">
          <a:solidFill>
            <a:schemeClr val="tx1"/>
          </a:solidFill>
          <a:latin typeface="+mn-lt"/>
          <a:ea typeface="+mn-ea"/>
          <a:cs typeface="+mn-cs"/>
        </a:defRPr>
      </a:lvl4pPr>
      <a:lvl5pPr marL="1828684" algn="l" defTabSz="914342" rtl="0" eaLnBrk="1" latinLnBrk="0" hangingPunct="1">
        <a:defRPr sz="1800" kern="1200">
          <a:solidFill>
            <a:schemeClr val="tx1"/>
          </a:solidFill>
          <a:latin typeface="+mn-lt"/>
          <a:ea typeface="+mn-ea"/>
          <a:cs typeface="+mn-cs"/>
        </a:defRPr>
      </a:lvl5pPr>
      <a:lvl6pPr marL="2285855" algn="l" defTabSz="914342" rtl="0" eaLnBrk="1" latinLnBrk="0" hangingPunct="1">
        <a:defRPr sz="1800" kern="1200">
          <a:solidFill>
            <a:schemeClr val="tx1"/>
          </a:solidFill>
          <a:latin typeface="+mn-lt"/>
          <a:ea typeface="+mn-ea"/>
          <a:cs typeface="+mn-cs"/>
        </a:defRPr>
      </a:lvl6pPr>
      <a:lvl7pPr marL="2743026" algn="l" defTabSz="914342" rtl="0" eaLnBrk="1" latinLnBrk="0" hangingPunct="1">
        <a:defRPr sz="1800" kern="1200">
          <a:solidFill>
            <a:schemeClr val="tx1"/>
          </a:solidFill>
          <a:latin typeface="+mn-lt"/>
          <a:ea typeface="+mn-ea"/>
          <a:cs typeface="+mn-cs"/>
        </a:defRPr>
      </a:lvl7pPr>
      <a:lvl8pPr marL="3200198" algn="l" defTabSz="914342" rtl="0" eaLnBrk="1" latinLnBrk="0" hangingPunct="1">
        <a:defRPr sz="1800" kern="1200">
          <a:solidFill>
            <a:schemeClr val="tx1"/>
          </a:solidFill>
          <a:latin typeface="+mn-lt"/>
          <a:ea typeface="+mn-ea"/>
          <a:cs typeface="+mn-cs"/>
        </a:defRPr>
      </a:lvl8pPr>
      <a:lvl9pPr marL="3657369" algn="l" defTabSz="91434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vmlDrawing" Target="../drawings/vmlDrawing22.vml"/><Relationship Id="rId6" Type="http://schemas.openxmlformats.org/officeDocument/2006/relationships/oleObject" Target="../embeddings/oleObject22.bin"/><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image" Target="../media/image17.jpeg"/><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xml.rels><?xml version="1.0" encoding="UTF-8" standalone="yes"?>
<Relationships xmlns="http://schemas.openxmlformats.org/package/2006/relationships"><Relationship Id="rId8" Type="http://schemas.openxmlformats.org/officeDocument/2006/relationships/diagramData" Target="../diagrams/data5.xml"/><Relationship Id="rId3" Type="http://schemas.openxmlformats.org/officeDocument/2006/relationships/diagramData" Target="../diagrams/data4.xml"/><Relationship Id="rId7" Type="http://schemas.microsoft.com/office/2007/relationships/diagramDrawing" Target="../diagrams/drawing4.xml"/><Relationship Id="rId12" Type="http://schemas.microsoft.com/office/2007/relationships/diagramDrawing" Target="../diagrams/drawing5.xm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diagramColors" Target="../diagrams/colors4.xml"/><Relationship Id="rId11" Type="http://schemas.openxmlformats.org/officeDocument/2006/relationships/diagramColors" Target="../diagrams/colors5.xml"/><Relationship Id="rId5" Type="http://schemas.openxmlformats.org/officeDocument/2006/relationships/diagramQuickStyle" Target="../diagrams/quickStyle4.xml"/><Relationship Id="rId10" Type="http://schemas.openxmlformats.org/officeDocument/2006/relationships/diagramQuickStyle" Target="../diagrams/quickStyle5.xml"/><Relationship Id="rId4" Type="http://schemas.openxmlformats.org/officeDocument/2006/relationships/diagramLayout" Target="../diagrams/layout4.xml"/><Relationship Id="rId9" Type="http://schemas.openxmlformats.org/officeDocument/2006/relationships/diagramLayout" Target="../diagrams/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3.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1.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5.xml"/><Relationship Id="rId1" Type="http://schemas.openxmlformats.org/officeDocument/2006/relationships/vmlDrawing" Target="../drawings/vmlDrawing23.vml"/><Relationship Id="rId4" Type="http://schemas.openxmlformats.org/officeDocument/2006/relationships/oleObject" Target="../embeddings/oleObject23.bin"/></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5.xml"/><Relationship Id="rId1" Type="http://schemas.openxmlformats.org/officeDocument/2006/relationships/vmlDrawing" Target="../drawings/vmlDrawing24.vml"/><Relationship Id="rId4" Type="http://schemas.openxmlformats.org/officeDocument/2006/relationships/oleObject" Target="../embeddings/oleObject24.bin"/></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5.xml"/><Relationship Id="rId1" Type="http://schemas.openxmlformats.org/officeDocument/2006/relationships/vmlDrawing" Target="../drawings/vmlDrawing25.vml"/><Relationship Id="rId4" Type="http://schemas.openxmlformats.org/officeDocument/2006/relationships/oleObject" Target="../embeddings/oleObject25.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5.xml"/><Relationship Id="rId1" Type="http://schemas.openxmlformats.org/officeDocument/2006/relationships/vmlDrawing" Target="../drawings/vmlDrawing26.vml"/><Relationship Id="rId4" Type="http://schemas.openxmlformats.org/officeDocument/2006/relationships/oleObject" Target="../embeddings/oleObject26.bin"/></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5.xml"/><Relationship Id="rId1" Type="http://schemas.openxmlformats.org/officeDocument/2006/relationships/vmlDrawing" Target="../drawings/vmlDrawing27.vml"/><Relationship Id="rId4" Type="http://schemas.openxmlformats.org/officeDocument/2006/relationships/oleObject" Target="../embeddings/oleObject27.bin"/></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5.xml"/><Relationship Id="rId1" Type="http://schemas.openxmlformats.org/officeDocument/2006/relationships/vmlDrawing" Target="../drawings/vmlDrawing28.vml"/><Relationship Id="rId4" Type="http://schemas.openxmlformats.org/officeDocument/2006/relationships/oleObject" Target="../embeddings/oleObject28.bin"/></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5.xml"/><Relationship Id="rId1" Type="http://schemas.openxmlformats.org/officeDocument/2006/relationships/vmlDrawing" Target="../drawings/vmlDrawing29.vml"/><Relationship Id="rId4" Type="http://schemas.openxmlformats.org/officeDocument/2006/relationships/oleObject" Target="../embeddings/oleObject29.bin"/></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5.xml"/><Relationship Id="rId1" Type="http://schemas.openxmlformats.org/officeDocument/2006/relationships/vmlDrawing" Target="../drawings/vmlDrawing30.vml"/><Relationship Id="rId4" Type="http://schemas.openxmlformats.org/officeDocument/2006/relationships/oleObject" Target="../embeddings/oleObject30.bin"/></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5.xml"/><Relationship Id="rId1" Type="http://schemas.openxmlformats.org/officeDocument/2006/relationships/vmlDrawing" Target="../drawings/vmlDrawing31.vml"/><Relationship Id="rId4" Type="http://schemas.openxmlformats.org/officeDocument/2006/relationships/oleObject" Target="../embeddings/oleObject31.bin"/></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5.xml"/><Relationship Id="rId1" Type="http://schemas.openxmlformats.org/officeDocument/2006/relationships/vmlDrawing" Target="../drawings/vmlDrawing32.vml"/><Relationship Id="rId4" Type="http://schemas.openxmlformats.org/officeDocument/2006/relationships/oleObject" Target="../embeddings/oleObject32.bin"/></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5.xml"/><Relationship Id="rId1" Type="http://schemas.openxmlformats.org/officeDocument/2006/relationships/vmlDrawing" Target="../drawings/vmlDrawing33.vml"/><Relationship Id="rId5" Type="http://schemas.openxmlformats.org/officeDocument/2006/relationships/hyperlink" Target="http://192.163.123.45/" TargetMode="External"/><Relationship Id="rId4" Type="http://schemas.openxmlformats.org/officeDocument/2006/relationships/oleObject" Target="../embeddings/oleObject33.bin"/></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5.xml"/><Relationship Id="rId1" Type="http://schemas.openxmlformats.org/officeDocument/2006/relationships/vmlDrawing" Target="../drawings/vmlDrawing34.vml"/><Relationship Id="rId4" Type="http://schemas.openxmlformats.org/officeDocument/2006/relationships/oleObject" Target="../embeddings/oleObject34.bin"/></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5.xml"/><Relationship Id="rId1" Type="http://schemas.openxmlformats.org/officeDocument/2006/relationships/vmlDrawing" Target="../drawings/vmlDrawing35.vml"/><Relationship Id="rId4" Type="http://schemas.openxmlformats.org/officeDocument/2006/relationships/oleObject" Target="../embeddings/oleObject35.bin"/></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5.xml"/><Relationship Id="rId1" Type="http://schemas.openxmlformats.org/officeDocument/2006/relationships/vmlDrawing" Target="../drawings/vmlDrawing36.vml"/><Relationship Id="rId4" Type="http://schemas.openxmlformats.org/officeDocument/2006/relationships/oleObject" Target="../embeddings/oleObject36.bin"/></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35.xml"/><Relationship Id="rId1" Type="http://schemas.openxmlformats.org/officeDocument/2006/relationships/vmlDrawing" Target="../drawings/vmlDrawing37.vml"/><Relationship Id="rId4" Type="http://schemas.openxmlformats.org/officeDocument/2006/relationships/oleObject" Target="../embeddings/oleObject37.bin"/></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35.xml"/><Relationship Id="rId1" Type="http://schemas.openxmlformats.org/officeDocument/2006/relationships/vmlDrawing" Target="../drawings/vmlDrawing38.vml"/><Relationship Id="rId4" Type="http://schemas.openxmlformats.org/officeDocument/2006/relationships/oleObject" Target="../embeddings/oleObject38.bin"/></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5.xml"/><Relationship Id="rId1" Type="http://schemas.openxmlformats.org/officeDocument/2006/relationships/vmlDrawing" Target="../drawings/vmlDrawing39.vml"/><Relationship Id="rId4" Type="http://schemas.openxmlformats.org/officeDocument/2006/relationships/oleObject" Target="../embeddings/oleObject39.bin"/></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35.xml"/><Relationship Id="rId1" Type="http://schemas.openxmlformats.org/officeDocument/2006/relationships/vmlDrawing" Target="../drawings/vmlDrawing40.vml"/><Relationship Id="rId4" Type="http://schemas.openxmlformats.org/officeDocument/2006/relationships/oleObject" Target="../embeddings/oleObject40.bin"/></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35.xml"/><Relationship Id="rId1" Type="http://schemas.openxmlformats.org/officeDocument/2006/relationships/vmlDrawing" Target="../drawings/vmlDrawing41.vml"/><Relationship Id="rId4" Type="http://schemas.openxmlformats.org/officeDocument/2006/relationships/oleObject" Target="../embeddings/oleObject41.bin"/></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41.xml"/><Relationship Id="rId6" Type="http://schemas.openxmlformats.org/officeDocument/2006/relationships/image" Target="../media/image26.jpeg"/><Relationship Id="rId5" Type="http://schemas.openxmlformats.org/officeDocument/2006/relationships/image" Target="../media/image25.jpeg"/><Relationship Id="rId4" Type="http://schemas.openxmlformats.org/officeDocument/2006/relationships/image" Target="../media/image24.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35.xml"/><Relationship Id="rId1" Type="http://schemas.openxmlformats.org/officeDocument/2006/relationships/vmlDrawing" Target="../drawings/vmlDrawing42.vml"/><Relationship Id="rId4" Type="http://schemas.openxmlformats.org/officeDocument/2006/relationships/oleObject" Target="../embeddings/oleObject42.bin"/></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6.xml.rels><?xml version="1.0" encoding="UTF-8" standalone="yes"?>
<Relationships xmlns="http://schemas.openxmlformats.org/package/2006/relationships"><Relationship Id="rId3" Type="http://schemas.openxmlformats.org/officeDocument/2006/relationships/image" Target="../media/image27.jpeg"/><Relationship Id="rId7" Type="http://schemas.openxmlformats.org/officeDocument/2006/relationships/image" Target="../media/image31.jpeg"/><Relationship Id="rId2" Type="http://schemas.openxmlformats.org/officeDocument/2006/relationships/notesSlide" Target="../notesSlides/notesSlide27.xml"/><Relationship Id="rId1" Type="http://schemas.openxmlformats.org/officeDocument/2006/relationships/slideLayout" Target="../slideLayouts/slideLayout3.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image" Target="../media/image28.png"/></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3.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38.xml.rels><?xml version="1.0" encoding="UTF-8" standalone="yes"?>
<Relationships xmlns="http://schemas.openxmlformats.org/package/2006/relationships"><Relationship Id="rId3" Type="http://schemas.openxmlformats.org/officeDocument/2006/relationships/image" Target="../media/image32.jpeg"/><Relationship Id="rId7" Type="http://schemas.openxmlformats.org/officeDocument/2006/relationships/image" Target="../media/image36.png"/><Relationship Id="rId2" Type="http://schemas.openxmlformats.org/officeDocument/2006/relationships/notesSlide" Target="../notesSlides/notesSlide28.xml"/><Relationship Id="rId1" Type="http://schemas.openxmlformats.org/officeDocument/2006/relationships/slideLayout" Target="../slideLayouts/slideLayout3.xml"/><Relationship Id="rId6" Type="http://schemas.openxmlformats.org/officeDocument/2006/relationships/image" Target="../media/image35.jpeg"/><Relationship Id="rId5" Type="http://schemas.openxmlformats.org/officeDocument/2006/relationships/image" Target="../media/image34.jpeg"/><Relationship Id="rId4" Type="http://schemas.openxmlformats.org/officeDocument/2006/relationships/image" Target="../media/image33.jpeg"/></Relationships>
</file>

<file path=ppt/slides/_rels/slide39.xml.rels><?xml version="1.0" encoding="UTF-8" standalone="yes"?>
<Relationships xmlns="http://schemas.openxmlformats.org/package/2006/relationships"><Relationship Id="rId3" Type="http://schemas.openxmlformats.org/officeDocument/2006/relationships/image" Target="../media/image37.jpeg"/><Relationship Id="rId7" Type="http://schemas.openxmlformats.org/officeDocument/2006/relationships/image" Target="../media/image41.jpeg"/><Relationship Id="rId2" Type="http://schemas.openxmlformats.org/officeDocument/2006/relationships/notesSlide" Target="../notesSlides/notesSlide29.xml"/><Relationship Id="rId1" Type="http://schemas.openxmlformats.org/officeDocument/2006/relationships/slideLayout" Target="../slideLayouts/slideLayout3.xml"/><Relationship Id="rId6" Type="http://schemas.openxmlformats.org/officeDocument/2006/relationships/image" Target="../media/image40.png"/><Relationship Id="rId5" Type="http://schemas.openxmlformats.org/officeDocument/2006/relationships/image" Target="../media/image39.jpeg"/><Relationship Id="rId4" Type="http://schemas.openxmlformats.org/officeDocument/2006/relationships/image" Target="../media/image38.jpeg"/></Relationships>
</file>

<file path=ppt/slides/_rels/slide40.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2.xml"/><Relationship Id="rId1" Type="http://schemas.openxmlformats.org/officeDocument/2006/relationships/slideLayout" Target="../slideLayouts/slideLayout3.xml"/><Relationship Id="rId4" Type="http://schemas.openxmlformats.org/officeDocument/2006/relationships/image" Target="../media/image45.png"/></Relationships>
</file>

<file path=ppt/slides/_rels/slide4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47.jpeg"/></Relationships>
</file>

<file path=ppt/slides/_rels/slide4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35.xml"/><Relationship Id="rId1" Type="http://schemas.openxmlformats.org/officeDocument/2006/relationships/slideLayout" Target="../slideLayouts/slideLayout3.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48.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3.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3.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5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hyperlink" Target="http://www.netflix.com/" TargetMode="External"/><Relationship Id="rId2" Type="http://schemas.openxmlformats.org/officeDocument/2006/relationships/hyperlink" Target="http://www.coreos.com/" TargetMode="Externa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4.xml"/><Relationship Id="rId1" Type="http://schemas.openxmlformats.org/officeDocument/2006/relationships/vmlDrawing" Target="../drawings/vmlDrawing43.vml"/><Relationship Id="rId4" Type="http://schemas.openxmlformats.org/officeDocument/2006/relationships/oleObject" Target="../embeddings/oleObject43.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p:nvGraphicFramePr>
        <p:xfrm>
          <a:off x="1" y="0"/>
          <a:ext cx="175846" cy="158750"/>
        </p:xfrm>
        <a:graphic>
          <a:graphicData uri="http://schemas.openxmlformats.org/presentationml/2006/ole">
            <p:oleObj spid="_x0000_s75972" name="think-cell Slide" r:id="rId6" imgW="360" imgH="360" progId="">
              <p:embed/>
            </p:oleObj>
          </a:graphicData>
        </a:graphic>
      </p:graphicFrame>
      <p:sp>
        <p:nvSpPr>
          <p:cNvPr id="10" name="Title 9"/>
          <p:cNvSpPr>
            <a:spLocks noGrp="1"/>
          </p:cNvSpPr>
          <p:nvPr>
            <p:ph type="ctrTitle"/>
            <p:custDataLst>
              <p:tags r:id="rId2"/>
            </p:custDataLst>
          </p:nvPr>
        </p:nvSpPr>
        <p:spPr>
          <a:xfrm>
            <a:off x="-1" y="2256615"/>
            <a:ext cx="8022606" cy="2227075"/>
          </a:xfrm>
        </p:spPr>
        <p:txBody>
          <a:bodyPr/>
          <a:lstStyle/>
          <a:p>
            <a:r>
              <a:rPr lang="en-US" dirty="0" smtClean="0"/>
              <a:t>Cloud Native Development</a:t>
            </a:r>
            <a:br>
              <a:rPr lang="en-US" dirty="0" smtClean="0"/>
            </a:br>
            <a:endParaRPr lang="en-US" dirty="0"/>
          </a:p>
        </p:txBody>
      </p:sp>
      <p:sp>
        <p:nvSpPr>
          <p:cNvPr id="13" name="Subtitle 12"/>
          <p:cNvSpPr>
            <a:spLocks noGrp="1"/>
          </p:cNvSpPr>
          <p:nvPr>
            <p:ph type="subTitle" idx="1"/>
            <p:custDataLst>
              <p:tags r:id="rId3"/>
            </p:custDataLst>
          </p:nvPr>
        </p:nvSpPr>
        <p:spPr>
          <a:xfrm>
            <a:off x="1" y="4534519"/>
            <a:ext cx="5030286" cy="947750"/>
          </a:xfrm>
        </p:spPr>
        <p:txBody>
          <a:bodyPr/>
          <a:lstStyle/>
          <a:p>
            <a:r>
              <a:rPr lang="en-US" dirty="0" smtClean="0"/>
              <a:t>Dec 2016</a:t>
            </a:r>
            <a:endParaRPr lang="en-US" dirty="0"/>
          </a:p>
        </p:txBody>
      </p:sp>
    </p:spTree>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1"/>
          <p:cNvSpPr>
            <a:spLocks noGrp="1"/>
          </p:cNvSpPr>
          <p:nvPr>
            <p:ph type="title"/>
          </p:nvPr>
        </p:nvSpPr>
        <p:spPr/>
        <p:txBody>
          <a:bodyPr/>
          <a:lstStyle/>
          <a:p>
            <a:r>
              <a:rPr lang="fr-FR" sz="2800" dirty="0" smtClean="0">
                <a:solidFill>
                  <a:srgbClr val="000000"/>
                </a:solidFill>
              </a:rPr>
              <a:t>What Is Cloud?</a:t>
            </a:r>
            <a:endParaRPr lang="fr-FR" sz="2800" dirty="0">
              <a:solidFill>
                <a:srgbClr val="000000"/>
              </a:solidFill>
            </a:endParaRPr>
          </a:p>
        </p:txBody>
      </p:sp>
      <p:graphicFrame>
        <p:nvGraphicFramePr>
          <p:cNvPr id="8" name="Diagram 7"/>
          <p:cNvGraphicFramePr/>
          <p:nvPr/>
        </p:nvGraphicFramePr>
        <p:xfrm>
          <a:off x="5381011" y="1447963"/>
          <a:ext cx="4872251" cy="435363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9" name="Diagram 8"/>
          <p:cNvGraphicFramePr/>
          <p:nvPr/>
        </p:nvGraphicFramePr>
        <p:xfrm>
          <a:off x="573206" y="4136432"/>
          <a:ext cx="4057385" cy="107721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305154" name="AutoShape 2" descr="Image result for docker imag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305156" name="AutoShape 4" descr="Image result for docker imag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pic>
        <p:nvPicPr>
          <p:cNvPr id="294916" name="Picture 4" descr="Image result for cloud images"/>
          <p:cNvPicPr>
            <a:picLocks noChangeAspect="1" noChangeArrowheads="1"/>
          </p:cNvPicPr>
          <p:nvPr/>
        </p:nvPicPr>
        <p:blipFill>
          <a:blip r:embed="rId13" cstate="print"/>
          <a:srcRect/>
          <a:stretch>
            <a:fillRect/>
          </a:stretch>
        </p:blipFill>
        <p:spPr bwMode="auto">
          <a:xfrm>
            <a:off x="520995" y="1376953"/>
            <a:ext cx="3742290" cy="2660535"/>
          </a:xfrm>
          <a:prstGeom prst="rect">
            <a:avLst/>
          </a:prstGeom>
          <a:noFill/>
        </p:spPr>
      </p:pic>
    </p:spTree>
    <p:extLst>
      <p:ext uri="{BB962C8B-B14F-4D97-AF65-F5344CB8AC3E}">
        <p14:creationId xmlns="" xmlns:p14="http://schemas.microsoft.com/office/powerpoint/2010/main" val="19482950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1"/>
          <p:cNvSpPr>
            <a:spLocks noGrp="1"/>
          </p:cNvSpPr>
          <p:nvPr>
            <p:ph type="title"/>
          </p:nvPr>
        </p:nvSpPr>
        <p:spPr/>
        <p:txBody>
          <a:bodyPr/>
          <a:lstStyle/>
          <a:p>
            <a:r>
              <a:rPr lang="fr-FR" sz="2800" dirty="0" smtClean="0">
                <a:solidFill>
                  <a:srgbClr val="000000"/>
                </a:solidFill>
              </a:rPr>
              <a:t>Why Cloud?</a:t>
            </a:r>
            <a:endParaRPr lang="fr-FR" sz="2800" dirty="0">
              <a:solidFill>
                <a:srgbClr val="000000"/>
              </a:solidFill>
            </a:endParaRPr>
          </a:p>
        </p:txBody>
      </p:sp>
      <p:sp>
        <p:nvSpPr>
          <p:cNvPr id="305154" name="AutoShape 2" descr="Image result for docker imag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305156" name="AutoShape 4" descr="Image result for docker imag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graphicFrame>
        <p:nvGraphicFramePr>
          <p:cNvPr id="7" name="Diagram 6"/>
          <p:cNvGraphicFramePr/>
          <p:nvPr/>
        </p:nvGraphicFramePr>
        <p:xfrm>
          <a:off x="1616125" y="1573619"/>
          <a:ext cx="7123838" cy="45401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 xmlns:p14="http://schemas.microsoft.com/office/powerpoint/2010/main" val="194829505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t>Cloud Offerings</a:t>
            </a:r>
            <a:endParaRPr lang="en-US" sz="2400" dirty="0"/>
          </a:p>
        </p:txBody>
      </p:sp>
      <p:graphicFrame>
        <p:nvGraphicFramePr>
          <p:cNvPr id="9" name="Diagram 8"/>
          <p:cNvGraphicFramePr/>
          <p:nvPr/>
        </p:nvGraphicFramePr>
        <p:xfrm>
          <a:off x="467811" y="988793"/>
          <a:ext cx="6943060" cy="22009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0" name="Diagram 9"/>
          <p:cNvGraphicFramePr/>
          <p:nvPr/>
        </p:nvGraphicFramePr>
        <p:xfrm>
          <a:off x="2980737" y="3576150"/>
          <a:ext cx="6943060" cy="220094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 xmlns:p14="http://schemas.microsoft.com/office/powerpoint/2010/main" val="218939933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32482" name="Picture 2" descr="Image result for cloud foundry Images"/>
          <p:cNvPicPr>
            <a:picLocks noChangeAspect="1" noChangeArrowheads="1"/>
          </p:cNvPicPr>
          <p:nvPr/>
        </p:nvPicPr>
        <p:blipFill>
          <a:blip r:embed="rId2" cstate="print"/>
          <a:srcRect/>
          <a:stretch>
            <a:fillRect/>
          </a:stretch>
        </p:blipFill>
        <p:spPr bwMode="auto">
          <a:xfrm>
            <a:off x="1031358" y="1477001"/>
            <a:ext cx="8217050" cy="4568617"/>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1"/>
          <p:cNvSpPr>
            <a:spLocks noGrp="1"/>
          </p:cNvSpPr>
          <p:nvPr>
            <p:ph type="title"/>
          </p:nvPr>
        </p:nvSpPr>
        <p:spPr/>
        <p:txBody>
          <a:bodyPr/>
          <a:lstStyle/>
          <a:p>
            <a:r>
              <a:rPr lang="fr-FR" sz="2800" dirty="0" smtClean="0">
                <a:solidFill>
                  <a:srgbClr val="000000"/>
                </a:solidFill>
              </a:rPr>
              <a:t>What Is Cloud Native?</a:t>
            </a:r>
            <a:endParaRPr lang="fr-FR" sz="2800" dirty="0">
              <a:solidFill>
                <a:srgbClr val="000000"/>
              </a:solidFill>
            </a:endParaRPr>
          </a:p>
        </p:txBody>
      </p:sp>
      <p:sp>
        <p:nvSpPr>
          <p:cNvPr id="305154" name="AutoShape 2" descr="Image result for docker imag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305156" name="AutoShape 4" descr="Image result for docker imag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8" name="Rectangle 7"/>
          <p:cNvSpPr/>
          <p:nvPr/>
        </p:nvSpPr>
        <p:spPr>
          <a:xfrm>
            <a:off x="744279" y="1539503"/>
            <a:ext cx="9601200" cy="1015663"/>
          </a:xfrm>
          <a:prstGeom prst="rect">
            <a:avLst/>
          </a:prstGeom>
        </p:spPr>
        <p:txBody>
          <a:bodyPr wrap="square">
            <a:spAutoFit/>
          </a:bodyPr>
          <a:lstStyle/>
          <a:p>
            <a:r>
              <a:rPr lang="en-US" sz="1200" dirty="0" smtClean="0"/>
              <a:t>Cloud Native is a style of application development that encourages easy adoption of best practices in the areas of continuous delivery and value-driven development.</a:t>
            </a:r>
          </a:p>
          <a:p>
            <a:r>
              <a:rPr lang="en-US" sz="1200" dirty="0" smtClean="0"/>
              <a:t>A cloud-native application is an application that has been designed and implemented to run on a Platform-as-a-Service installation</a:t>
            </a:r>
          </a:p>
          <a:p>
            <a:r>
              <a:rPr lang="en-US" sz="1200" dirty="0" smtClean="0"/>
              <a:t>and to embrace horizontal elastic scaling.</a:t>
            </a:r>
          </a:p>
          <a:p>
            <a:endParaRPr lang="en-US" sz="1200" dirty="0" smtClean="0"/>
          </a:p>
        </p:txBody>
      </p:sp>
      <p:sp>
        <p:nvSpPr>
          <p:cNvPr id="399362" name="AutoShape 2" descr="Image result for thinking image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99364" name="AutoShape 4" descr="Image result for thinking image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399367" name="Picture 7" descr="Image result for thinking images"/>
          <p:cNvPicPr>
            <a:picLocks noChangeAspect="1" noChangeArrowheads="1"/>
          </p:cNvPicPr>
          <p:nvPr/>
        </p:nvPicPr>
        <p:blipFill>
          <a:blip r:embed="rId3" cstate="print"/>
          <a:srcRect/>
          <a:stretch>
            <a:fillRect/>
          </a:stretch>
        </p:blipFill>
        <p:spPr bwMode="auto">
          <a:xfrm>
            <a:off x="716689" y="2870790"/>
            <a:ext cx="3429639" cy="3349257"/>
          </a:xfrm>
          <a:prstGeom prst="rect">
            <a:avLst/>
          </a:prstGeom>
          <a:noFill/>
        </p:spPr>
      </p:pic>
      <p:sp>
        <p:nvSpPr>
          <p:cNvPr id="11" name="Cloud 10"/>
          <p:cNvSpPr/>
          <p:nvPr/>
        </p:nvSpPr>
        <p:spPr>
          <a:xfrm>
            <a:off x="1775638" y="2179675"/>
            <a:ext cx="8112642" cy="2870790"/>
          </a:xfrm>
          <a:prstGeom prst="cloud">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dirty="0" smtClean="0">
                <a:solidFill>
                  <a:schemeClr val="tx2">
                    <a:lumMod val="50000"/>
                  </a:schemeClr>
                </a:solidFill>
              </a:rPr>
              <a:t>Develop native apps that  run on cloud with minimal effort !!!</a:t>
            </a:r>
          </a:p>
          <a:p>
            <a:pPr algn="ctr"/>
            <a:endParaRPr lang="en-US" sz="2400" dirty="0" smtClean="0">
              <a:solidFill>
                <a:schemeClr val="tx2">
                  <a:lumMod val="50000"/>
                </a:schemeClr>
              </a:solidFill>
            </a:endParaRPr>
          </a:p>
          <a:p>
            <a:pPr algn="ctr"/>
            <a:r>
              <a:rPr lang="en-US" sz="2400" dirty="0" smtClean="0">
                <a:solidFill>
                  <a:schemeClr val="tx2">
                    <a:lumMod val="50000"/>
                  </a:schemeClr>
                </a:solidFill>
              </a:rPr>
              <a:t>How?</a:t>
            </a:r>
          </a:p>
        </p:txBody>
      </p:sp>
    </p:spTree>
    <p:extLst>
      <p:ext uri="{BB962C8B-B14F-4D97-AF65-F5344CB8AC3E}">
        <p14:creationId xmlns="" xmlns:p14="http://schemas.microsoft.com/office/powerpoint/2010/main" val="194829505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a:t>
            </a:r>
            <a:endParaRPr lang="en-US" dirty="0"/>
          </a:p>
        </p:txBody>
      </p:sp>
      <p:sp>
        <p:nvSpPr>
          <p:cNvPr id="407554" name="AutoShape 2" descr="Image result for thinking image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07556" name="AutoShape 4" descr="Image result for thinking image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07558" name="AutoShape 6" descr="Image result for thinking image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407559" name="Picture 7"/>
          <p:cNvPicPr>
            <a:picLocks noChangeAspect="1" noChangeArrowheads="1"/>
          </p:cNvPicPr>
          <p:nvPr/>
        </p:nvPicPr>
        <p:blipFill>
          <a:blip r:embed="rId2" cstate="print"/>
          <a:srcRect/>
          <a:stretch>
            <a:fillRect/>
          </a:stretch>
        </p:blipFill>
        <p:spPr bwMode="auto">
          <a:xfrm>
            <a:off x="642716" y="3458239"/>
            <a:ext cx="1819275" cy="2514600"/>
          </a:xfrm>
          <a:prstGeom prst="rect">
            <a:avLst/>
          </a:prstGeom>
          <a:noFill/>
          <a:ln w="9525">
            <a:noFill/>
            <a:miter lim="800000"/>
            <a:headEnd/>
            <a:tailEnd/>
          </a:ln>
        </p:spPr>
      </p:pic>
      <p:sp>
        <p:nvSpPr>
          <p:cNvPr id="12" name="Cloud 11"/>
          <p:cNvSpPr/>
          <p:nvPr/>
        </p:nvSpPr>
        <p:spPr>
          <a:xfrm>
            <a:off x="1318419" y="1775621"/>
            <a:ext cx="8112642" cy="2870790"/>
          </a:xfrm>
          <a:prstGeom prst="cloud">
            <a:avLst/>
          </a:prstGeom>
          <a:ln/>
        </p:spPr>
        <p:style>
          <a:lnRef idx="1">
            <a:schemeClr val="accent1"/>
          </a:lnRef>
          <a:fillRef idx="2">
            <a:schemeClr val="accent1"/>
          </a:fillRef>
          <a:effectRef idx="1">
            <a:schemeClr val="accent1"/>
          </a:effectRef>
          <a:fontRef idx="minor">
            <a:schemeClr val="dk1"/>
          </a:fontRef>
        </p:style>
        <p:txBody>
          <a:bodyPr rtlCol="0" anchor="ctr"/>
          <a:lstStyle/>
          <a:p>
            <a:pPr marL="1300656" lvl="2" indent="-342900">
              <a:buFont typeface="Wingdings" pitchFamily="2" charset="2"/>
              <a:buChar char="Ø"/>
            </a:pPr>
            <a:r>
              <a:rPr lang="en-US" sz="1600" b="1" dirty="0" smtClean="0">
                <a:solidFill>
                  <a:schemeClr val="tx2">
                    <a:lumMod val="50000"/>
                  </a:schemeClr>
                </a:solidFill>
              </a:rPr>
              <a:t>12 Factor Apps</a:t>
            </a:r>
          </a:p>
          <a:p>
            <a:pPr marL="1300656" lvl="2" indent="-342900">
              <a:buFont typeface="Wingdings" pitchFamily="2" charset="2"/>
              <a:buChar char="Ø"/>
            </a:pPr>
            <a:r>
              <a:rPr lang="en-US" sz="1600" b="1" dirty="0" smtClean="0">
                <a:solidFill>
                  <a:schemeClr val="tx2">
                    <a:lumMod val="50000"/>
                  </a:schemeClr>
                </a:solidFill>
              </a:rPr>
              <a:t>Micro-services</a:t>
            </a:r>
          </a:p>
          <a:p>
            <a:pPr marL="1300656" lvl="2" indent="-342900">
              <a:buFont typeface="Wingdings" pitchFamily="2" charset="2"/>
              <a:buChar char="Ø"/>
            </a:pPr>
            <a:r>
              <a:rPr lang="en-US" sz="1600" b="1" dirty="0" smtClean="0">
                <a:solidFill>
                  <a:schemeClr val="tx2">
                    <a:lumMod val="50000"/>
                  </a:schemeClr>
                </a:solidFill>
              </a:rPr>
              <a:t>API based collaboration</a:t>
            </a:r>
          </a:p>
          <a:p>
            <a:pPr marL="1300656" lvl="2" indent="-342900">
              <a:buFont typeface="Wingdings" pitchFamily="2" charset="2"/>
              <a:buChar char="Ø"/>
            </a:pPr>
            <a:r>
              <a:rPr lang="en-US" sz="1600" b="1" dirty="0" smtClean="0">
                <a:solidFill>
                  <a:schemeClr val="tx2">
                    <a:lumMod val="50000"/>
                  </a:schemeClr>
                </a:solidFill>
              </a:rPr>
              <a:t>Anti fragility</a:t>
            </a:r>
          </a:p>
          <a:p>
            <a:pPr algn="ctr"/>
            <a:endParaRPr lang="en-US" sz="2400" b="1" dirty="0" smtClean="0">
              <a:solidFill>
                <a:schemeClr val="tx2">
                  <a:lumMod val="50000"/>
                </a:schemeClr>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sz="2800" dirty="0" smtClean="0"/>
              <a:t>12 Factor Design Principles</a:t>
            </a:r>
            <a:br>
              <a:rPr lang="en-US" sz="2800" dirty="0" smtClean="0"/>
            </a:br>
            <a:endParaRPr lang="en-US" dirty="0"/>
          </a:p>
        </p:txBody>
      </p:sp>
      <p:graphicFrame>
        <p:nvGraphicFramePr>
          <p:cNvPr id="7" name="Diagram 6"/>
          <p:cNvGraphicFramePr/>
          <p:nvPr/>
        </p:nvGraphicFramePr>
        <p:xfrm>
          <a:off x="382772" y="1392871"/>
          <a:ext cx="10132827" cy="48484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 xmlns:p14="http://schemas.microsoft.com/office/powerpoint/2010/main" val="574549683"/>
              </p:ext>
            </p:extLst>
          </p:nvPr>
        </p:nvGraphicFramePr>
        <p:xfrm>
          <a:off x="506110" y="552896"/>
          <a:ext cx="9875520" cy="5668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 xmlns:p14="http://schemas.microsoft.com/office/powerpoint/2010/main" val="269797165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nvGraphicFramePr>
        <p:xfrm>
          <a:off x="0" y="0"/>
          <a:ext cx="175846" cy="158750"/>
        </p:xfrm>
        <a:graphic>
          <a:graphicData uri="http://schemas.openxmlformats.org/presentationml/2006/ole">
            <p:oleObj spid="_x0000_s268290" name="think-cell Slide" r:id="rId4" imgW="360" imgH="360" progId="">
              <p:embed/>
            </p:oleObj>
          </a:graphicData>
        </a:graphic>
      </p:graphicFrame>
      <p:sp>
        <p:nvSpPr>
          <p:cNvPr id="21" name="Title 20"/>
          <p:cNvSpPr>
            <a:spLocks noGrp="1"/>
          </p:cNvSpPr>
          <p:nvPr>
            <p:ph type="title"/>
          </p:nvPr>
        </p:nvSpPr>
        <p:spPr/>
        <p:txBody>
          <a:bodyPr/>
          <a:lstStyle/>
          <a:p>
            <a:r>
              <a:rPr lang="en-US" sz="2800" dirty="0" smtClean="0"/>
              <a:t>Factor 1 - Codebase</a:t>
            </a:r>
            <a:endParaRPr lang="en-US" sz="2800" dirty="0"/>
          </a:p>
        </p:txBody>
      </p:sp>
      <p:sp>
        <p:nvSpPr>
          <p:cNvPr id="23" name="Content Placeholder 2"/>
          <p:cNvSpPr>
            <a:spLocks noGrp="1"/>
          </p:cNvSpPr>
          <p:nvPr>
            <p:ph sz="quarter" idx="4294967295"/>
          </p:nvPr>
        </p:nvSpPr>
        <p:spPr>
          <a:xfrm>
            <a:off x="506437" y="1219203"/>
            <a:ext cx="9610793" cy="4937125"/>
          </a:xfrm>
          <a:prstGeom prst="rect">
            <a:avLst/>
          </a:prstGeom>
        </p:spPr>
        <p:txBody>
          <a:bodyPr/>
          <a:lstStyle/>
          <a:p>
            <a:r>
              <a:rPr lang="en-US" sz="2800" dirty="0" smtClean="0"/>
              <a:t>One codebase tracked in SCM, many deploys</a:t>
            </a:r>
          </a:p>
          <a:p>
            <a:r>
              <a:rPr lang="en-US" sz="2800" dirty="0" smtClean="0"/>
              <a:t>An application has a single code base</a:t>
            </a:r>
          </a:p>
          <a:p>
            <a:pPr lvl="1"/>
            <a:r>
              <a:rPr lang="en-US" sz="2800" dirty="0" smtClean="0"/>
              <a:t>Multiple codebase = distributed system (not an app)</a:t>
            </a:r>
          </a:p>
          <a:p>
            <a:r>
              <a:rPr lang="en-US" sz="2800" dirty="0" smtClean="0"/>
              <a:t>Tracked in version control like </a:t>
            </a:r>
            <a:r>
              <a:rPr lang="en-US" sz="2800" dirty="0" err="1" smtClean="0"/>
              <a:t>Git</a:t>
            </a:r>
            <a:r>
              <a:rPr lang="en-US" sz="2800" dirty="0" smtClean="0"/>
              <a:t>, Subversion, </a:t>
            </a:r>
            <a:r>
              <a:rPr lang="en-US" sz="2800" dirty="0" err="1" smtClean="0"/>
              <a:t>etc</a:t>
            </a:r>
            <a:endParaRPr lang="en-US" sz="2800" dirty="0" smtClean="0"/>
          </a:p>
          <a:p>
            <a:r>
              <a:rPr lang="en-US" sz="2800" dirty="0" smtClean="0"/>
              <a:t>Multiple Deployments</a:t>
            </a:r>
          </a:p>
          <a:p>
            <a:pPr lvl="1"/>
            <a:r>
              <a:rPr lang="en-US" sz="2800" dirty="0" smtClean="0"/>
              <a:t>i.e. development, testing, staging, production </a:t>
            </a:r>
            <a:r>
              <a:rPr lang="en-US" sz="2800" dirty="0" err="1" smtClean="0"/>
              <a:t>etc</a:t>
            </a:r>
            <a:endParaRPr lang="en-US" sz="2800" dirty="0" smtClean="0"/>
          </a:p>
        </p:txBody>
      </p:sp>
    </p:spTree>
    <p:extLst>
      <p:ext uri="{BB962C8B-B14F-4D97-AF65-F5344CB8AC3E}">
        <p14:creationId xmlns="" xmlns:p14="http://schemas.microsoft.com/office/powerpoint/2010/main" val="84455269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nvGraphicFramePr>
        <p:xfrm>
          <a:off x="0" y="0"/>
          <a:ext cx="175846" cy="158750"/>
        </p:xfrm>
        <a:graphic>
          <a:graphicData uri="http://schemas.openxmlformats.org/presentationml/2006/ole">
            <p:oleObj spid="_x0000_s269314" name="think-cell Slide" r:id="rId4" imgW="360" imgH="360" progId="">
              <p:embed/>
            </p:oleObj>
          </a:graphicData>
        </a:graphic>
      </p:graphicFrame>
      <p:sp>
        <p:nvSpPr>
          <p:cNvPr id="21" name="Title 20"/>
          <p:cNvSpPr>
            <a:spLocks noGrp="1"/>
          </p:cNvSpPr>
          <p:nvPr>
            <p:ph type="title"/>
          </p:nvPr>
        </p:nvSpPr>
        <p:spPr/>
        <p:txBody>
          <a:bodyPr/>
          <a:lstStyle/>
          <a:p>
            <a:r>
              <a:rPr lang="en-US" sz="2800" dirty="0" smtClean="0"/>
              <a:t>Factor 2 - Dependencies</a:t>
            </a:r>
            <a:endParaRPr lang="en-US" sz="2800" dirty="0"/>
          </a:p>
        </p:txBody>
      </p:sp>
      <p:sp>
        <p:nvSpPr>
          <p:cNvPr id="23" name="Content Placeholder 2"/>
          <p:cNvSpPr>
            <a:spLocks noGrp="1"/>
          </p:cNvSpPr>
          <p:nvPr>
            <p:ph sz="quarter" idx="4294967295"/>
          </p:nvPr>
        </p:nvSpPr>
        <p:spPr>
          <a:xfrm>
            <a:off x="506437" y="1219203"/>
            <a:ext cx="9610793" cy="4937125"/>
          </a:xfrm>
          <a:prstGeom prst="rect">
            <a:avLst/>
          </a:prstGeom>
        </p:spPr>
        <p:txBody>
          <a:bodyPr/>
          <a:lstStyle/>
          <a:p>
            <a:r>
              <a:rPr lang="en-US" sz="2800" dirty="0" smtClean="0"/>
              <a:t>Dependencies packaged as jars (Java)</a:t>
            </a:r>
          </a:p>
          <a:p>
            <a:r>
              <a:rPr lang="en-US" sz="2800" dirty="0" smtClean="0"/>
              <a:t>Declare dependencies in a manifest</a:t>
            </a:r>
          </a:p>
          <a:p>
            <a:pPr lvl="1"/>
            <a:r>
              <a:rPr lang="en-US" sz="2800" dirty="0" smtClean="0"/>
              <a:t>Maven POM </a:t>
            </a:r>
            <a:r>
              <a:rPr lang="en-US" sz="2800" dirty="0" err="1" smtClean="0"/>
              <a:t>etc</a:t>
            </a:r>
            <a:endParaRPr lang="en-US" sz="2800" dirty="0" smtClean="0"/>
          </a:p>
          <a:p>
            <a:r>
              <a:rPr lang="en-US" sz="2800" dirty="0" smtClean="0"/>
              <a:t>No reliance on specific system tools</a:t>
            </a:r>
          </a:p>
          <a:p>
            <a:pPr lvl="1"/>
            <a:r>
              <a:rPr lang="en-US" sz="2800" dirty="0" smtClean="0"/>
              <a:t>i.e. Linux tool not available on Windows</a:t>
            </a:r>
          </a:p>
          <a:p>
            <a:r>
              <a:rPr lang="en-US" sz="2800" dirty="0"/>
              <a:t>Dependencies tracking should contain version numbers of  dependencies</a:t>
            </a:r>
          </a:p>
          <a:p>
            <a:endParaRPr lang="en-US" sz="2800" dirty="0" smtClean="0"/>
          </a:p>
        </p:txBody>
      </p:sp>
    </p:spTree>
    <p:extLst>
      <p:ext uri="{BB962C8B-B14F-4D97-AF65-F5344CB8AC3E}">
        <p14:creationId xmlns="" xmlns:p14="http://schemas.microsoft.com/office/powerpoint/2010/main" val="150765443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nvGraphicFramePr>
        <p:xfrm>
          <a:off x="0" y="0"/>
          <a:ext cx="175846" cy="158750"/>
        </p:xfrm>
        <a:graphic>
          <a:graphicData uri="http://schemas.openxmlformats.org/presentationml/2006/ole">
            <p:oleObj spid="_x0000_s270338" name="think-cell Slide" r:id="rId4" imgW="360" imgH="360" progId="">
              <p:embed/>
            </p:oleObj>
          </a:graphicData>
        </a:graphic>
      </p:graphicFrame>
      <p:sp>
        <p:nvSpPr>
          <p:cNvPr id="21" name="Title 20"/>
          <p:cNvSpPr>
            <a:spLocks noGrp="1"/>
          </p:cNvSpPr>
          <p:nvPr>
            <p:ph type="title"/>
          </p:nvPr>
        </p:nvSpPr>
        <p:spPr/>
        <p:txBody>
          <a:bodyPr/>
          <a:lstStyle/>
          <a:p>
            <a:r>
              <a:rPr lang="en-US" sz="2800" dirty="0" smtClean="0"/>
              <a:t>Factor 2 - Dependencies</a:t>
            </a:r>
            <a:endParaRPr lang="en-US" sz="2800" dirty="0"/>
          </a:p>
        </p:txBody>
      </p:sp>
      <p:sp>
        <p:nvSpPr>
          <p:cNvPr id="5" name="object 2"/>
          <p:cNvSpPr txBox="1"/>
          <p:nvPr/>
        </p:nvSpPr>
        <p:spPr>
          <a:xfrm>
            <a:off x="1339495" y="1446025"/>
            <a:ext cx="7488936" cy="3189605"/>
          </a:xfrm>
          <a:prstGeom prst="rect">
            <a:avLst/>
          </a:prstGeom>
        </p:spPr>
        <p:txBody>
          <a:bodyPr vert="horz" wrap="square" lIns="0" tIns="0" rIns="0" bIns="0" rtlCol="0">
            <a:spAutoFit/>
          </a:bodyPr>
          <a:lstStyle/>
          <a:p>
            <a:pPr marL="394335" marR="387350" algn="ctr">
              <a:lnSpc>
                <a:spcPct val="120000"/>
              </a:lnSpc>
            </a:pPr>
            <a:r>
              <a:rPr sz="3600" spc="-25" dirty="0">
                <a:solidFill>
                  <a:srgbClr val="333333"/>
                </a:solidFill>
                <a:cs typeface="Arial"/>
              </a:rPr>
              <a:t>Remember, </a:t>
            </a:r>
            <a:r>
              <a:rPr sz="3600" spc="-5" dirty="0">
                <a:solidFill>
                  <a:srgbClr val="333333"/>
                </a:solidFill>
                <a:cs typeface="Arial"/>
              </a:rPr>
              <a:t>its </a:t>
            </a:r>
            <a:r>
              <a:rPr sz="3600" dirty="0">
                <a:solidFill>
                  <a:srgbClr val="333333"/>
                </a:solidFill>
                <a:cs typeface="Arial"/>
              </a:rPr>
              <a:t>about  </a:t>
            </a:r>
            <a:r>
              <a:rPr sz="3600" b="1" spc="-5" dirty="0">
                <a:solidFill>
                  <a:srgbClr val="0070C0"/>
                </a:solidFill>
                <a:cs typeface="Arial"/>
              </a:rPr>
              <a:t>Repeatable Deployments  </a:t>
            </a:r>
            <a:r>
              <a:rPr sz="3600" dirty="0">
                <a:solidFill>
                  <a:srgbClr val="333333"/>
                </a:solidFill>
                <a:cs typeface="Arial"/>
              </a:rPr>
              <a:t>so </a:t>
            </a:r>
            <a:r>
              <a:rPr sz="3600" b="1" spc="-5" dirty="0">
                <a:solidFill>
                  <a:srgbClr val="FF0000"/>
                </a:solidFill>
                <a:cs typeface="Arial"/>
              </a:rPr>
              <a:t>nothing</a:t>
            </a:r>
            <a:r>
              <a:rPr sz="3600" b="1" spc="-5" dirty="0">
                <a:solidFill>
                  <a:srgbClr val="008881"/>
                </a:solidFill>
                <a:cs typeface="Arial"/>
              </a:rPr>
              <a:t> </a:t>
            </a:r>
            <a:r>
              <a:rPr sz="3600" dirty="0">
                <a:solidFill>
                  <a:srgbClr val="333333"/>
                </a:solidFill>
                <a:cs typeface="Arial"/>
              </a:rPr>
              <a:t>about </a:t>
            </a:r>
            <a:r>
              <a:rPr sz="3600" spc="-5" dirty="0">
                <a:solidFill>
                  <a:srgbClr val="333333"/>
                </a:solidFill>
                <a:cs typeface="Arial"/>
              </a:rPr>
              <a:t>the</a:t>
            </a:r>
            <a:r>
              <a:rPr sz="3600" spc="-50" dirty="0">
                <a:solidFill>
                  <a:srgbClr val="333333"/>
                </a:solidFill>
                <a:cs typeface="Arial"/>
              </a:rPr>
              <a:t> </a:t>
            </a:r>
            <a:r>
              <a:rPr sz="3600" spc="-5" dirty="0">
                <a:solidFill>
                  <a:srgbClr val="333333"/>
                </a:solidFill>
                <a:cs typeface="Arial"/>
              </a:rPr>
              <a:t>runtime</a:t>
            </a:r>
            <a:endParaRPr sz="3600" dirty="0">
              <a:solidFill>
                <a:srgbClr val="263147"/>
              </a:solidFill>
              <a:cs typeface="Arial"/>
            </a:endParaRPr>
          </a:p>
          <a:p>
            <a:pPr algn="ctr">
              <a:lnSpc>
                <a:spcPts val="4235"/>
              </a:lnSpc>
            </a:pPr>
            <a:r>
              <a:rPr sz="3600" dirty="0">
                <a:solidFill>
                  <a:srgbClr val="333333"/>
                </a:solidFill>
                <a:cs typeface="Arial"/>
              </a:rPr>
              <a:t>environment should be</a:t>
            </a:r>
            <a:r>
              <a:rPr sz="3600" spc="-105" dirty="0">
                <a:solidFill>
                  <a:srgbClr val="333333"/>
                </a:solidFill>
                <a:cs typeface="Arial"/>
              </a:rPr>
              <a:t> </a:t>
            </a:r>
            <a:r>
              <a:rPr sz="3600" dirty="0">
                <a:solidFill>
                  <a:srgbClr val="333333"/>
                </a:solidFill>
                <a:cs typeface="Arial"/>
              </a:rPr>
              <a:t>assumed.</a:t>
            </a:r>
            <a:endParaRPr sz="3600" dirty="0">
              <a:solidFill>
                <a:srgbClr val="263147"/>
              </a:solidFill>
              <a:cs typeface="Arial"/>
            </a:endParaRPr>
          </a:p>
          <a:p>
            <a:pPr algn="ctr">
              <a:spcBef>
                <a:spcPts val="940"/>
              </a:spcBef>
            </a:pPr>
            <a:r>
              <a:rPr sz="3600" spc="-5" dirty="0">
                <a:solidFill>
                  <a:srgbClr val="0070C0"/>
                </a:solidFill>
                <a:cs typeface="Arial"/>
              </a:rPr>
              <a:t>Explicitly </a:t>
            </a:r>
            <a:r>
              <a:rPr sz="3600" dirty="0">
                <a:solidFill>
                  <a:srgbClr val="0070C0"/>
                </a:solidFill>
                <a:cs typeface="Arial"/>
              </a:rPr>
              <a:t>declare</a:t>
            </a:r>
            <a:r>
              <a:rPr sz="3600" spc="-55" dirty="0">
                <a:solidFill>
                  <a:srgbClr val="0070C0"/>
                </a:solidFill>
                <a:cs typeface="Arial"/>
              </a:rPr>
              <a:t> </a:t>
            </a:r>
            <a:r>
              <a:rPr sz="3600" dirty="0">
                <a:solidFill>
                  <a:srgbClr val="0070C0"/>
                </a:solidFill>
                <a:cs typeface="Arial"/>
              </a:rPr>
              <a:t>dependencies!</a:t>
            </a:r>
          </a:p>
        </p:txBody>
      </p:sp>
    </p:spTree>
    <p:extLst>
      <p:ext uri="{BB962C8B-B14F-4D97-AF65-F5344CB8AC3E}">
        <p14:creationId xmlns="" xmlns:p14="http://schemas.microsoft.com/office/powerpoint/2010/main" val="300816335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t>Factor 2 - Dependencies</a:t>
            </a:r>
            <a:endParaRPr lang="en-US" dirty="0"/>
          </a:p>
        </p:txBody>
      </p:sp>
      <p:sp>
        <p:nvSpPr>
          <p:cNvPr id="4" name="Rectangle 3"/>
          <p:cNvSpPr/>
          <p:nvPr/>
        </p:nvSpPr>
        <p:spPr>
          <a:xfrm>
            <a:off x="466928" y="1546697"/>
            <a:ext cx="9737387" cy="4377447"/>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buNone/>
            </a:pPr>
            <a:r>
              <a:rPr lang="en-US" sz="1600" dirty="0" smtClean="0">
                <a:solidFill>
                  <a:schemeClr val="tx1"/>
                </a:solidFill>
              </a:rPr>
              <a:t>Most contemporary programming languages have some facility for managing application dependencies.</a:t>
            </a:r>
          </a:p>
          <a:p>
            <a:pPr>
              <a:buFont typeface="Wingdings" pitchFamily="2" charset="2"/>
              <a:buChar char="ü"/>
            </a:pPr>
            <a:endParaRPr lang="en-US" sz="1600" dirty="0" smtClean="0">
              <a:solidFill>
                <a:schemeClr val="tx1"/>
              </a:solidFill>
            </a:endParaRPr>
          </a:p>
          <a:p>
            <a:pPr>
              <a:buFont typeface="Wingdings" pitchFamily="2" charset="2"/>
              <a:buChar char="ü"/>
            </a:pPr>
            <a:r>
              <a:rPr lang="en-US" sz="1600" dirty="0" smtClean="0">
                <a:solidFill>
                  <a:schemeClr val="tx1"/>
                </a:solidFill>
              </a:rPr>
              <a:t>Java – </a:t>
            </a:r>
            <a:r>
              <a:rPr lang="en-US" sz="1600" dirty="0" err="1" smtClean="0">
                <a:solidFill>
                  <a:schemeClr val="tx1"/>
                </a:solidFill>
              </a:rPr>
              <a:t>Maven,Gradle</a:t>
            </a:r>
            <a:endParaRPr lang="en-US" sz="1600" dirty="0" smtClean="0">
              <a:solidFill>
                <a:schemeClr val="tx1"/>
              </a:solidFill>
            </a:endParaRPr>
          </a:p>
          <a:p>
            <a:pPr>
              <a:buFont typeface="Wingdings" pitchFamily="2" charset="2"/>
              <a:buChar char="ü"/>
            </a:pPr>
            <a:r>
              <a:rPr lang="en-US" sz="1600" dirty="0" smtClean="0">
                <a:solidFill>
                  <a:schemeClr val="tx1"/>
                </a:solidFill>
              </a:rPr>
              <a:t>.NET- </a:t>
            </a:r>
            <a:r>
              <a:rPr lang="en-US" sz="1600" dirty="0" err="1" smtClean="0">
                <a:solidFill>
                  <a:schemeClr val="tx1"/>
                </a:solidFill>
              </a:rPr>
              <a:t>NuGet</a:t>
            </a:r>
            <a:endParaRPr lang="en-US" sz="1600" dirty="0" smtClean="0">
              <a:solidFill>
                <a:schemeClr val="tx1"/>
              </a:solidFill>
            </a:endParaRPr>
          </a:p>
          <a:p>
            <a:pPr>
              <a:buFont typeface="Wingdings" pitchFamily="2" charset="2"/>
              <a:buChar char="ü"/>
            </a:pPr>
            <a:r>
              <a:rPr lang="en-US" sz="1600" dirty="0" smtClean="0">
                <a:solidFill>
                  <a:schemeClr val="tx1"/>
                </a:solidFill>
              </a:rPr>
              <a:t>Ruby- Bundler</a:t>
            </a:r>
          </a:p>
          <a:p>
            <a:pPr>
              <a:buFont typeface="Wingdings" pitchFamily="2" charset="2"/>
              <a:buChar char="ü"/>
            </a:pPr>
            <a:r>
              <a:rPr lang="en-US" sz="1600" dirty="0" smtClean="0">
                <a:solidFill>
                  <a:schemeClr val="tx1"/>
                </a:solidFill>
              </a:rPr>
              <a:t>Go-</a:t>
            </a:r>
            <a:r>
              <a:rPr lang="en-US" sz="1600" dirty="0" err="1" smtClean="0">
                <a:solidFill>
                  <a:schemeClr val="tx1"/>
                </a:solidFill>
              </a:rPr>
              <a:t>godeps</a:t>
            </a:r>
            <a:endParaRPr lang="en-US" sz="1600" dirty="0" smtClean="0">
              <a:solidFill>
                <a:schemeClr val="tx1"/>
              </a:solidFill>
            </a:endParaRPr>
          </a:p>
          <a:p>
            <a:endParaRPr lang="en-US" sz="1600" dirty="0" smtClean="0">
              <a:solidFill>
                <a:schemeClr val="tx1"/>
              </a:solidFill>
            </a:endParaRPr>
          </a:p>
          <a:p>
            <a:pPr>
              <a:buNone/>
            </a:pPr>
            <a:r>
              <a:rPr lang="en-US" sz="1600" dirty="0" smtClean="0">
                <a:solidFill>
                  <a:schemeClr val="tx1"/>
                </a:solidFill>
              </a:rPr>
              <a:t>Regardless of the tool, these utilities all provide one set of common functionality: they allow developers to declare dependencies and let the tool be responsible for ensuring that those dependencies are satisfied.</a:t>
            </a:r>
          </a:p>
          <a:p>
            <a:endParaRPr lang="en-US" sz="1600" dirty="0" smtClean="0">
              <a:solidFill>
                <a:schemeClr val="tx1"/>
              </a:solidFill>
            </a:endParaRPr>
          </a:p>
          <a:p>
            <a:pPr>
              <a:buNone/>
            </a:pPr>
            <a:r>
              <a:rPr lang="en-US" sz="1600" dirty="0" smtClean="0">
                <a:solidFill>
                  <a:schemeClr val="tx1"/>
                </a:solidFill>
              </a:rPr>
              <a:t>A cloud-native application never relies on implicit existence of system-wide packages. For Java, this means that your applications cannot assume that a container will be managing the </a:t>
            </a:r>
            <a:r>
              <a:rPr lang="en-US" sz="1600" dirty="0" err="1" smtClean="0">
                <a:solidFill>
                  <a:schemeClr val="tx1"/>
                </a:solidFill>
              </a:rPr>
              <a:t>classpath</a:t>
            </a:r>
            <a:r>
              <a:rPr lang="en-US" sz="1600" dirty="0" smtClean="0">
                <a:solidFill>
                  <a:schemeClr val="tx1"/>
                </a:solidFill>
              </a:rPr>
              <a:t> on the server. For .NET, this means that your application cannot rely on facilities like the Global Assembly Cache. Ruby developers cannot rely on gems existing in a central location. Regardless of language, your code cannot rely on the pre-existence of dependencies on a deployment target.</a:t>
            </a:r>
            <a:endParaRPr lang="en-US" sz="1600" dirty="0">
              <a:solidFill>
                <a:schemeClr val="tx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nvGraphicFramePr>
        <p:xfrm>
          <a:off x="0" y="0"/>
          <a:ext cx="175846" cy="158750"/>
        </p:xfrm>
        <a:graphic>
          <a:graphicData uri="http://schemas.openxmlformats.org/presentationml/2006/ole">
            <p:oleObj spid="_x0000_s271362" name="think-cell Slide" r:id="rId4" imgW="360" imgH="360" progId="">
              <p:embed/>
            </p:oleObj>
          </a:graphicData>
        </a:graphic>
      </p:graphicFrame>
      <p:sp>
        <p:nvSpPr>
          <p:cNvPr id="21" name="Title 20"/>
          <p:cNvSpPr>
            <a:spLocks noGrp="1"/>
          </p:cNvSpPr>
          <p:nvPr>
            <p:ph type="title"/>
          </p:nvPr>
        </p:nvSpPr>
        <p:spPr/>
        <p:txBody>
          <a:bodyPr/>
          <a:lstStyle/>
          <a:p>
            <a:r>
              <a:rPr lang="en-US" sz="2800" dirty="0" smtClean="0"/>
              <a:t>Factor 3 - Configuration</a:t>
            </a:r>
            <a:endParaRPr lang="en-US" sz="2800" dirty="0"/>
          </a:p>
        </p:txBody>
      </p:sp>
      <p:sp>
        <p:nvSpPr>
          <p:cNvPr id="23" name="Content Placeholder 2"/>
          <p:cNvSpPr>
            <a:spLocks noGrp="1"/>
          </p:cNvSpPr>
          <p:nvPr>
            <p:ph sz="quarter" idx="4294967295"/>
          </p:nvPr>
        </p:nvSpPr>
        <p:spPr>
          <a:xfrm>
            <a:off x="506437" y="1219203"/>
            <a:ext cx="9610793" cy="4937125"/>
          </a:xfrm>
          <a:prstGeom prst="rect">
            <a:avLst/>
          </a:prstGeom>
        </p:spPr>
        <p:txBody>
          <a:bodyPr/>
          <a:lstStyle/>
          <a:p>
            <a:r>
              <a:rPr lang="en-US" sz="2800" dirty="0" smtClean="0"/>
              <a:t>Store the </a:t>
            </a:r>
            <a:r>
              <a:rPr lang="en-US" sz="2800" dirty="0" err="1" smtClean="0"/>
              <a:t>Config</a:t>
            </a:r>
            <a:r>
              <a:rPr lang="en-US" sz="2800" dirty="0" smtClean="0"/>
              <a:t> in environment</a:t>
            </a:r>
          </a:p>
          <a:p>
            <a:r>
              <a:rPr lang="en-US" sz="2800" spc="-5" dirty="0">
                <a:solidFill>
                  <a:srgbClr val="535353"/>
                </a:solidFill>
              </a:rPr>
              <a:t>Where </a:t>
            </a:r>
            <a:r>
              <a:rPr lang="en-US" sz="2800" dirty="0">
                <a:solidFill>
                  <a:srgbClr val="535353"/>
                </a:solidFill>
              </a:rPr>
              <a:t>NOT to store</a:t>
            </a:r>
            <a:r>
              <a:rPr lang="en-US" sz="2800" spc="-120" dirty="0">
                <a:solidFill>
                  <a:srgbClr val="535353"/>
                </a:solidFill>
              </a:rPr>
              <a:t> </a:t>
            </a:r>
            <a:r>
              <a:rPr lang="en-US" sz="2800" dirty="0" smtClean="0">
                <a:solidFill>
                  <a:srgbClr val="535353"/>
                </a:solidFill>
              </a:rPr>
              <a:t>it</a:t>
            </a:r>
          </a:p>
          <a:p>
            <a:pPr lvl="1"/>
            <a:r>
              <a:rPr lang="en-US" sz="2800" dirty="0" smtClean="0">
                <a:solidFill>
                  <a:srgbClr val="535353"/>
                </a:solidFill>
              </a:rPr>
              <a:t>In the Code</a:t>
            </a:r>
          </a:p>
          <a:p>
            <a:pPr lvl="1"/>
            <a:r>
              <a:rPr lang="en-US" sz="2800" dirty="0" smtClean="0">
                <a:solidFill>
                  <a:srgbClr val="535353"/>
                </a:solidFill>
              </a:rPr>
              <a:t>In the Properties file (that’s Code)</a:t>
            </a:r>
          </a:p>
          <a:p>
            <a:pPr lvl="1"/>
            <a:r>
              <a:rPr lang="en-US" sz="2800" dirty="0" smtClean="0">
                <a:solidFill>
                  <a:srgbClr val="535353"/>
                </a:solidFill>
              </a:rPr>
              <a:t>In the App Server (e.g. JNDI </a:t>
            </a:r>
            <a:r>
              <a:rPr lang="en-US" sz="2800" dirty="0" err="1" smtClean="0">
                <a:solidFill>
                  <a:srgbClr val="535353"/>
                </a:solidFill>
              </a:rPr>
              <a:t>datasources</a:t>
            </a:r>
            <a:r>
              <a:rPr lang="en-US" sz="2800" dirty="0" smtClean="0">
                <a:solidFill>
                  <a:srgbClr val="535353"/>
                </a:solidFill>
              </a:rPr>
              <a:t> </a:t>
            </a:r>
            <a:r>
              <a:rPr lang="en-US" sz="2800" dirty="0" err="1" smtClean="0">
                <a:solidFill>
                  <a:srgbClr val="535353"/>
                </a:solidFill>
              </a:rPr>
              <a:t>etc</a:t>
            </a:r>
            <a:r>
              <a:rPr lang="en-US" sz="2800" dirty="0" smtClean="0">
                <a:solidFill>
                  <a:srgbClr val="535353"/>
                </a:solidFill>
              </a:rPr>
              <a:t>)</a:t>
            </a:r>
          </a:p>
          <a:p>
            <a:pPr lvl="1"/>
            <a:r>
              <a:rPr lang="en-US" sz="2800" dirty="0" smtClean="0">
                <a:solidFill>
                  <a:srgbClr val="535353"/>
                </a:solidFill>
              </a:rPr>
              <a:t>In the Build (ONE build, </a:t>
            </a:r>
            <a:r>
              <a:rPr lang="en-US" sz="2800" dirty="0" err="1" smtClean="0">
                <a:solidFill>
                  <a:srgbClr val="535353"/>
                </a:solidFill>
              </a:rPr>
              <a:t>MANYdeploys</a:t>
            </a:r>
            <a:r>
              <a:rPr lang="en-US" sz="2800" dirty="0" smtClean="0">
                <a:solidFill>
                  <a:srgbClr val="535353"/>
                </a:solidFill>
              </a:rPr>
              <a:t>)</a:t>
            </a:r>
          </a:p>
          <a:p>
            <a:r>
              <a:rPr lang="en-US" sz="2800" dirty="0" smtClean="0">
                <a:solidFill>
                  <a:srgbClr val="535353"/>
                </a:solidFill>
              </a:rPr>
              <a:t>Environment variables recommended</a:t>
            </a:r>
          </a:p>
          <a:p>
            <a:r>
              <a:rPr lang="en-US" sz="2800" dirty="0" err="1" smtClean="0">
                <a:solidFill>
                  <a:srgbClr val="535353"/>
                </a:solidFill>
              </a:rPr>
              <a:t>Config</a:t>
            </a:r>
            <a:r>
              <a:rPr lang="en-US" sz="2800" dirty="0" smtClean="0">
                <a:solidFill>
                  <a:srgbClr val="535353"/>
                </a:solidFill>
              </a:rPr>
              <a:t> mainly includes database credentials, hostnames, passwords </a:t>
            </a:r>
            <a:r>
              <a:rPr lang="en-US" sz="2800" dirty="0" err="1" smtClean="0">
                <a:solidFill>
                  <a:srgbClr val="535353"/>
                </a:solidFill>
              </a:rPr>
              <a:t>etc</a:t>
            </a:r>
            <a:endParaRPr lang="en-US" sz="2800" dirty="0" smtClean="0"/>
          </a:p>
        </p:txBody>
      </p:sp>
    </p:spTree>
    <p:extLst>
      <p:ext uri="{BB962C8B-B14F-4D97-AF65-F5344CB8AC3E}">
        <p14:creationId xmlns="" xmlns:p14="http://schemas.microsoft.com/office/powerpoint/2010/main" val="401491022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nvGraphicFramePr>
        <p:xfrm>
          <a:off x="0" y="0"/>
          <a:ext cx="175846" cy="158750"/>
        </p:xfrm>
        <a:graphic>
          <a:graphicData uri="http://schemas.openxmlformats.org/presentationml/2006/ole">
            <p:oleObj spid="_x0000_s272386" name="think-cell Slide" r:id="rId4" imgW="360" imgH="360" progId="">
              <p:embed/>
            </p:oleObj>
          </a:graphicData>
        </a:graphic>
      </p:graphicFrame>
      <p:sp>
        <p:nvSpPr>
          <p:cNvPr id="21" name="Title 20"/>
          <p:cNvSpPr>
            <a:spLocks noGrp="1"/>
          </p:cNvSpPr>
          <p:nvPr>
            <p:ph type="title"/>
          </p:nvPr>
        </p:nvSpPr>
        <p:spPr/>
        <p:txBody>
          <a:bodyPr/>
          <a:lstStyle/>
          <a:p>
            <a:r>
              <a:rPr lang="en-US" sz="2800" dirty="0" smtClean="0"/>
              <a:t>Factor 3 - Configuration</a:t>
            </a:r>
            <a:endParaRPr lang="en-US" sz="2800" dirty="0"/>
          </a:p>
        </p:txBody>
      </p:sp>
      <p:sp>
        <p:nvSpPr>
          <p:cNvPr id="5" name="object 5"/>
          <p:cNvSpPr txBox="1"/>
          <p:nvPr/>
        </p:nvSpPr>
        <p:spPr>
          <a:xfrm>
            <a:off x="3577653" y="1637029"/>
            <a:ext cx="3012596" cy="548640"/>
          </a:xfrm>
          <a:prstGeom prst="rect">
            <a:avLst/>
          </a:prstGeom>
        </p:spPr>
        <p:txBody>
          <a:bodyPr vert="horz" wrap="square" lIns="0" tIns="0" rIns="0" bIns="0" rtlCol="0">
            <a:spAutoFit/>
          </a:bodyPr>
          <a:lstStyle/>
          <a:p>
            <a:pPr marL="12700"/>
            <a:r>
              <a:rPr sz="3600" spc="-5" dirty="0">
                <a:solidFill>
                  <a:srgbClr val="333333"/>
                </a:solidFill>
                <a:cs typeface="Arial"/>
              </a:rPr>
              <a:t>Store </a:t>
            </a:r>
            <a:r>
              <a:rPr sz="3600" dirty="0">
                <a:solidFill>
                  <a:srgbClr val="333333"/>
                </a:solidFill>
                <a:cs typeface="Arial"/>
              </a:rPr>
              <a:t>it in</a:t>
            </a:r>
            <a:r>
              <a:rPr sz="3600" spc="-70" dirty="0">
                <a:solidFill>
                  <a:srgbClr val="333333"/>
                </a:solidFill>
                <a:cs typeface="Arial"/>
              </a:rPr>
              <a:t> </a:t>
            </a:r>
            <a:r>
              <a:rPr sz="3600" spc="-5" dirty="0">
                <a:solidFill>
                  <a:srgbClr val="333333"/>
                </a:solidFill>
                <a:cs typeface="Arial"/>
              </a:rPr>
              <a:t>the</a:t>
            </a:r>
            <a:endParaRPr sz="3600" dirty="0">
              <a:solidFill>
                <a:srgbClr val="263147"/>
              </a:solidFill>
              <a:cs typeface="Arial"/>
            </a:endParaRPr>
          </a:p>
        </p:txBody>
      </p:sp>
      <p:sp>
        <p:nvSpPr>
          <p:cNvPr id="6" name="object 6"/>
          <p:cNvSpPr txBox="1">
            <a:spLocks/>
          </p:cNvSpPr>
          <p:nvPr/>
        </p:nvSpPr>
        <p:spPr>
          <a:xfrm>
            <a:off x="2630953" y="2780029"/>
            <a:ext cx="5187462" cy="914400"/>
          </a:xfrm>
          <a:prstGeom prst="rect">
            <a:avLst/>
          </a:prstGeom>
        </p:spPr>
        <p:txBody>
          <a:bodyPr vert="horz" wrap="square" lIns="0" tIns="0" rIns="0" bIns="0" rtlCol="0" anchor="ctr">
            <a:spAutoFit/>
          </a:bodyPr>
          <a:lstStyle>
            <a:lvl1pPr algn="l" defTabSz="914342" rtl="0" eaLnBrk="1" latinLnBrk="0" hangingPunct="1">
              <a:lnSpc>
                <a:spcPct val="100000"/>
              </a:lnSpc>
              <a:spcBef>
                <a:spcPct val="0"/>
              </a:spcBef>
              <a:buNone/>
              <a:defRPr sz="2600" b="0" kern="1200">
                <a:solidFill>
                  <a:schemeClr val="tx1"/>
                </a:solidFill>
                <a:latin typeface="+mj-lt"/>
                <a:ea typeface="+mj-ea"/>
                <a:cs typeface="+mj-cs"/>
              </a:defRPr>
            </a:lvl1pPr>
          </a:lstStyle>
          <a:p>
            <a:pPr marL="12700"/>
            <a:r>
              <a:rPr lang="en-US" sz="6000" spc="-5" dirty="0" smtClean="0">
                <a:solidFill>
                  <a:srgbClr val="0070C0"/>
                </a:solidFill>
              </a:rPr>
              <a:t>Environment</a:t>
            </a:r>
            <a:endParaRPr lang="en-US" sz="6000" dirty="0">
              <a:solidFill>
                <a:srgbClr val="0070C0"/>
              </a:solidFill>
            </a:endParaRPr>
          </a:p>
        </p:txBody>
      </p:sp>
      <p:sp>
        <p:nvSpPr>
          <p:cNvPr id="7" name="object 7"/>
          <p:cNvSpPr txBox="1"/>
          <p:nvPr/>
        </p:nvSpPr>
        <p:spPr>
          <a:xfrm>
            <a:off x="2920623" y="4502661"/>
            <a:ext cx="4326519" cy="556895"/>
          </a:xfrm>
          <a:prstGeom prst="rect">
            <a:avLst/>
          </a:prstGeom>
        </p:spPr>
        <p:txBody>
          <a:bodyPr vert="horz" wrap="square" lIns="0" tIns="0" rIns="0" bIns="0" rtlCol="0">
            <a:spAutoFit/>
          </a:bodyPr>
          <a:lstStyle/>
          <a:p>
            <a:pPr marL="12700"/>
            <a:r>
              <a:rPr sz="3600" spc="-15" dirty="0">
                <a:solidFill>
                  <a:srgbClr val="333333"/>
                </a:solidFill>
                <a:cs typeface="Arial"/>
              </a:rPr>
              <a:t>Let’s </a:t>
            </a:r>
            <a:r>
              <a:rPr sz="3600" dirty="0">
                <a:solidFill>
                  <a:srgbClr val="333333"/>
                </a:solidFill>
                <a:cs typeface="Arial"/>
              </a:rPr>
              <a:t>have a</a:t>
            </a:r>
            <a:r>
              <a:rPr sz="3600" spc="-85" dirty="0">
                <a:solidFill>
                  <a:srgbClr val="333333"/>
                </a:solidFill>
                <a:cs typeface="Arial"/>
              </a:rPr>
              <a:t> </a:t>
            </a:r>
            <a:r>
              <a:rPr sz="3600" dirty="0">
                <a:solidFill>
                  <a:srgbClr val="333333"/>
                </a:solidFill>
                <a:cs typeface="Arial"/>
              </a:rPr>
              <a:t>look…</a:t>
            </a:r>
            <a:endParaRPr sz="3600" dirty="0">
              <a:solidFill>
                <a:srgbClr val="263147"/>
              </a:solidFill>
              <a:cs typeface="Arial"/>
            </a:endParaRPr>
          </a:p>
        </p:txBody>
      </p:sp>
    </p:spTree>
    <p:extLst>
      <p:ext uri="{BB962C8B-B14F-4D97-AF65-F5344CB8AC3E}">
        <p14:creationId xmlns="" xmlns:p14="http://schemas.microsoft.com/office/powerpoint/2010/main" val="14067289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nvGraphicFramePr>
        <p:xfrm>
          <a:off x="0" y="0"/>
          <a:ext cx="175846" cy="158750"/>
        </p:xfrm>
        <a:graphic>
          <a:graphicData uri="http://schemas.openxmlformats.org/presentationml/2006/ole">
            <p:oleObj spid="_x0000_s273410" name="think-cell Slide" r:id="rId4" imgW="360" imgH="360" progId="">
              <p:embed/>
            </p:oleObj>
          </a:graphicData>
        </a:graphic>
      </p:graphicFrame>
      <p:sp>
        <p:nvSpPr>
          <p:cNvPr id="21" name="Title 20"/>
          <p:cNvSpPr>
            <a:spLocks noGrp="1"/>
          </p:cNvSpPr>
          <p:nvPr>
            <p:ph type="title"/>
          </p:nvPr>
        </p:nvSpPr>
        <p:spPr/>
        <p:txBody>
          <a:bodyPr/>
          <a:lstStyle/>
          <a:p>
            <a:r>
              <a:rPr lang="en-US" sz="2800" dirty="0" smtClean="0"/>
              <a:t>Factor 3 - Configuration</a:t>
            </a:r>
            <a:endParaRPr lang="en-US" sz="2800" dirty="0"/>
          </a:p>
        </p:txBody>
      </p:sp>
      <p:sp>
        <p:nvSpPr>
          <p:cNvPr id="8" name="object 5"/>
          <p:cNvSpPr txBox="1"/>
          <p:nvPr/>
        </p:nvSpPr>
        <p:spPr>
          <a:xfrm>
            <a:off x="678063" y="1753870"/>
            <a:ext cx="7929958" cy="1394460"/>
          </a:xfrm>
          <a:prstGeom prst="rect">
            <a:avLst/>
          </a:prstGeom>
        </p:spPr>
        <p:txBody>
          <a:bodyPr vert="horz" wrap="square" lIns="0" tIns="0" rIns="0" bIns="0" rtlCol="0">
            <a:spAutoFit/>
          </a:bodyPr>
          <a:lstStyle/>
          <a:p>
            <a:pPr marL="12700">
              <a:lnSpc>
                <a:spcPts val="2130"/>
              </a:lnSpc>
            </a:pPr>
            <a:r>
              <a:rPr sz="1800" spc="-5" dirty="0">
                <a:solidFill>
                  <a:srgbClr val="535353"/>
                </a:solidFill>
                <a:latin typeface="Courier New"/>
                <a:cs typeface="Courier New"/>
              </a:rPr>
              <a:t>...</a:t>
            </a:r>
            <a:endParaRPr sz="1800" dirty="0">
              <a:solidFill>
                <a:srgbClr val="263147"/>
              </a:solidFill>
              <a:latin typeface="Courier New"/>
              <a:cs typeface="Courier New"/>
            </a:endParaRPr>
          </a:p>
          <a:p>
            <a:pPr marL="12700" marR="5080">
              <a:lnSpc>
                <a:spcPts val="2200"/>
              </a:lnSpc>
              <a:spcBef>
                <a:spcPts val="10"/>
              </a:spcBef>
            </a:pPr>
            <a:r>
              <a:rPr sz="1800" spc="-5" dirty="0">
                <a:solidFill>
                  <a:srgbClr val="535353"/>
                </a:solidFill>
                <a:latin typeface="Courier New"/>
                <a:cs typeface="Courier New"/>
              </a:rPr>
              <a:t>import org.springframework.context.EnvironmentAware;  import</a:t>
            </a:r>
            <a:r>
              <a:rPr sz="1800" spc="105" dirty="0">
                <a:solidFill>
                  <a:srgbClr val="535353"/>
                </a:solidFill>
                <a:latin typeface="Courier New"/>
                <a:cs typeface="Courier New"/>
              </a:rPr>
              <a:t> </a:t>
            </a:r>
            <a:r>
              <a:rPr sz="1800" spc="-5" dirty="0">
                <a:solidFill>
                  <a:srgbClr val="535353"/>
                </a:solidFill>
                <a:latin typeface="Courier New"/>
                <a:cs typeface="Courier New"/>
              </a:rPr>
              <a:t>org.springframework.core.env.Environment;</a:t>
            </a:r>
            <a:endParaRPr sz="1800" dirty="0">
              <a:solidFill>
                <a:srgbClr val="263147"/>
              </a:solidFill>
              <a:latin typeface="Courier New"/>
              <a:cs typeface="Courier New"/>
            </a:endParaRPr>
          </a:p>
          <a:p>
            <a:pPr>
              <a:spcBef>
                <a:spcPts val="47"/>
              </a:spcBef>
            </a:pPr>
            <a:endParaRPr sz="1750" dirty="0">
              <a:solidFill>
                <a:srgbClr val="263147"/>
              </a:solidFill>
              <a:latin typeface="Times New Roman"/>
              <a:cs typeface="Times New Roman"/>
            </a:endParaRPr>
          </a:p>
          <a:p>
            <a:pPr marL="12700"/>
            <a:r>
              <a:rPr sz="1800" dirty="0">
                <a:solidFill>
                  <a:srgbClr val="535353"/>
                </a:solidFill>
                <a:latin typeface="Courier New"/>
                <a:cs typeface="Courier New"/>
              </a:rPr>
              <a:t>@RestController</a:t>
            </a:r>
            <a:endParaRPr sz="1800" dirty="0">
              <a:solidFill>
                <a:srgbClr val="263147"/>
              </a:solidFill>
              <a:latin typeface="Courier New"/>
              <a:cs typeface="Courier New"/>
            </a:endParaRPr>
          </a:p>
        </p:txBody>
      </p:sp>
      <p:sp>
        <p:nvSpPr>
          <p:cNvPr id="9" name="object 8"/>
          <p:cNvSpPr txBox="1"/>
          <p:nvPr/>
        </p:nvSpPr>
        <p:spPr>
          <a:xfrm>
            <a:off x="256032" y="3290571"/>
            <a:ext cx="9094763" cy="1941557"/>
          </a:xfrm>
          <a:prstGeom prst="rect">
            <a:avLst/>
          </a:prstGeom>
        </p:spPr>
        <p:txBody>
          <a:bodyPr vert="horz" wrap="square" lIns="0" tIns="0" rIns="0" bIns="0" rtlCol="0">
            <a:spAutoFit/>
          </a:bodyPr>
          <a:lstStyle/>
          <a:p>
            <a:pPr marL="927100"/>
            <a:r>
              <a:rPr sz="1800" spc="-5" dirty="0">
                <a:solidFill>
                  <a:srgbClr val="535353"/>
                </a:solidFill>
                <a:latin typeface="Courier New"/>
                <a:cs typeface="Courier New"/>
              </a:rPr>
              <a:t>private String</a:t>
            </a:r>
            <a:r>
              <a:rPr sz="1800" spc="-85" dirty="0">
                <a:solidFill>
                  <a:srgbClr val="535353"/>
                </a:solidFill>
                <a:latin typeface="Courier New"/>
                <a:cs typeface="Courier New"/>
              </a:rPr>
              <a:t> </a:t>
            </a:r>
            <a:r>
              <a:rPr sz="1800" spc="-5" dirty="0">
                <a:solidFill>
                  <a:srgbClr val="535353"/>
                </a:solidFill>
                <a:latin typeface="Courier New"/>
                <a:cs typeface="Courier New"/>
              </a:rPr>
              <a:t>name;</a:t>
            </a:r>
            <a:endParaRPr sz="1800" dirty="0">
              <a:solidFill>
                <a:srgbClr val="263147"/>
              </a:solidFill>
              <a:latin typeface="Courier New"/>
              <a:cs typeface="Courier New"/>
            </a:endParaRPr>
          </a:p>
          <a:p>
            <a:pPr>
              <a:spcBef>
                <a:spcPts val="12"/>
              </a:spcBef>
            </a:pPr>
            <a:endParaRPr sz="1850" dirty="0">
              <a:solidFill>
                <a:srgbClr val="263147"/>
              </a:solidFill>
              <a:latin typeface="Times New Roman"/>
              <a:cs typeface="Times New Roman"/>
            </a:endParaRPr>
          </a:p>
          <a:p>
            <a:pPr marL="927100"/>
            <a:r>
              <a:rPr sz="1800" spc="-5" dirty="0">
                <a:solidFill>
                  <a:srgbClr val="535353"/>
                </a:solidFill>
                <a:latin typeface="Courier New"/>
                <a:cs typeface="Courier New"/>
              </a:rPr>
              <a:t>@Override</a:t>
            </a:r>
            <a:endParaRPr sz="1800" dirty="0">
              <a:solidFill>
                <a:srgbClr val="263147"/>
              </a:solidFill>
              <a:latin typeface="Courier New"/>
              <a:cs typeface="Courier New"/>
            </a:endParaRPr>
          </a:p>
          <a:p>
            <a:pPr marL="1841500" marR="5080" indent="-914400">
              <a:lnSpc>
                <a:spcPts val="2100"/>
              </a:lnSpc>
              <a:spcBef>
                <a:spcPts val="160"/>
              </a:spcBef>
              <a:tabLst>
                <a:tab pos="3213100" algn="l"/>
                <a:tab pos="3487420" algn="l"/>
              </a:tabLst>
            </a:pPr>
            <a:r>
              <a:rPr sz="1800" spc="-5" dirty="0">
                <a:solidFill>
                  <a:srgbClr val="535353"/>
                </a:solidFill>
                <a:latin typeface="Courier New"/>
                <a:cs typeface="Courier New"/>
              </a:rPr>
              <a:t>public void setEnvironment(Environment environment) </a:t>
            </a:r>
            <a:r>
              <a:rPr sz="1800" dirty="0">
                <a:solidFill>
                  <a:srgbClr val="535353"/>
                </a:solidFill>
                <a:latin typeface="Courier New"/>
                <a:cs typeface="Courier New"/>
              </a:rPr>
              <a:t>{  this.name	=	</a:t>
            </a:r>
            <a:r>
              <a:rPr sz="1800" b="1" spc="-5" dirty="0" err="1">
                <a:solidFill>
                  <a:srgbClr val="535353"/>
                </a:solidFill>
                <a:latin typeface="Courier New"/>
                <a:cs typeface="Courier New"/>
              </a:rPr>
              <a:t>environment.getProperty</a:t>
            </a:r>
            <a:r>
              <a:rPr sz="1800" b="1" spc="-5" dirty="0" smtClean="0">
                <a:solidFill>
                  <a:srgbClr val="535353"/>
                </a:solidFill>
                <a:latin typeface="Courier New"/>
                <a:cs typeface="Courier New"/>
              </a:rPr>
              <a:t>("</a:t>
            </a:r>
            <a:r>
              <a:rPr lang="en-US" sz="1800" b="1" spc="-5" dirty="0" smtClean="0">
                <a:solidFill>
                  <a:srgbClr val="535353"/>
                </a:solidFill>
                <a:latin typeface="Courier New"/>
                <a:cs typeface="Courier New"/>
              </a:rPr>
              <a:t>hostname</a:t>
            </a:r>
            <a:r>
              <a:rPr sz="1800" b="1" spc="-5" dirty="0" smtClean="0">
                <a:solidFill>
                  <a:srgbClr val="535353"/>
                </a:solidFill>
                <a:latin typeface="Courier New"/>
                <a:cs typeface="Courier New"/>
              </a:rPr>
              <a:t>");</a:t>
            </a:r>
            <a:endParaRPr sz="1800" b="1" dirty="0">
              <a:solidFill>
                <a:srgbClr val="263147"/>
              </a:solidFill>
              <a:latin typeface="Courier New"/>
              <a:cs typeface="Courier New"/>
            </a:endParaRPr>
          </a:p>
          <a:p>
            <a:pPr marL="927100">
              <a:lnSpc>
                <a:spcPts val="2110"/>
              </a:lnSpc>
            </a:pPr>
            <a:r>
              <a:rPr sz="1800" dirty="0">
                <a:solidFill>
                  <a:srgbClr val="535353"/>
                </a:solidFill>
                <a:latin typeface="Courier New"/>
                <a:cs typeface="Courier New"/>
              </a:rPr>
              <a:t>}</a:t>
            </a:r>
            <a:endParaRPr sz="1800" dirty="0">
              <a:solidFill>
                <a:srgbClr val="263147"/>
              </a:solidFill>
              <a:latin typeface="Courier New"/>
              <a:cs typeface="Courier New"/>
            </a:endParaRPr>
          </a:p>
          <a:p>
            <a:pPr marL="12700">
              <a:lnSpc>
                <a:spcPts val="2130"/>
              </a:lnSpc>
            </a:pPr>
            <a:r>
              <a:rPr lang="en-US" sz="1800" spc="-5" dirty="0" smtClean="0">
                <a:solidFill>
                  <a:srgbClr val="535353"/>
                </a:solidFill>
                <a:latin typeface="Courier New"/>
                <a:cs typeface="Courier New"/>
              </a:rPr>
              <a:t>   </a:t>
            </a:r>
            <a:r>
              <a:rPr sz="1800" spc="-5" dirty="0" smtClean="0">
                <a:solidFill>
                  <a:srgbClr val="535353"/>
                </a:solidFill>
                <a:latin typeface="Courier New"/>
                <a:cs typeface="Courier New"/>
              </a:rPr>
              <a:t>...</a:t>
            </a:r>
            <a:endParaRPr sz="1800" dirty="0">
              <a:solidFill>
                <a:srgbClr val="263147"/>
              </a:solidFill>
              <a:latin typeface="Courier New"/>
              <a:cs typeface="Courier New"/>
            </a:endParaRPr>
          </a:p>
        </p:txBody>
      </p:sp>
      <p:sp>
        <p:nvSpPr>
          <p:cNvPr id="10" name="Content Placeholder 2"/>
          <p:cNvSpPr>
            <a:spLocks noGrp="1"/>
          </p:cNvSpPr>
          <p:nvPr>
            <p:ph sz="quarter" idx="4294967295"/>
          </p:nvPr>
        </p:nvSpPr>
        <p:spPr>
          <a:xfrm>
            <a:off x="506437" y="1219204"/>
            <a:ext cx="9610793" cy="651163"/>
          </a:xfrm>
          <a:prstGeom prst="rect">
            <a:avLst/>
          </a:prstGeom>
        </p:spPr>
        <p:txBody>
          <a:bodyPr/>
          <a:lstStyle/>
          <a:p>
            <a:r>
              <a:rPr lang="en-US" sz="2800" dirty="0" smtClean="0"/>
              <a:t>Picking up the environment variable in Spring </a:t>
            </a:r>
          </a:p>
        </p:txBody>
      </p:sp>
    </p:spTree>
    <p:extLst>
      <p:ext uri="{BB962C8B-B14F-4D97-AF65-F5344CB8AC3E}">
        <p14:creationId xmlns="" xmlns:p14="http://schemas.microsoft.com/office/powerpoint/2010/main" val="295258802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nvGraphicFramePr>
        <p:xfrm>
          <a:off x="0" y="0"/>
          <a:ext cx="175846" cy="158750"/>
        </p:xfrm>
        <a:graphic>
          <a:graphicData uri="http://schemas.openxmlformats.org/presentationml/2006/ole">
            <p:oleObj spid="_x0000_s274434" name="think-cell Slide" r:id="rId4" imgW="360" imgH="360" progId="">
              <p:embed/>
            </p:oleObj>
          </a:graphicData>
        </a:graphic>
      </p:graphicFrame>
      <p:sp>
        <p:nvSpPr>
          <p:cNvPr id="21" name="Title 20"/>
          <p:cNvSpPr>
            <a:spLocks noGrp="1"/>
          </p:cNvSpPr>
          <p:nvPr>
            <p:ph type="title"/>
          </p:nvPr>
        </p:nvSpPr>
        <p:spPr/>
        <p:txBody>
          <a:bodyPr/>
          <a:lstStyle/>
          <a:p>
            <a:r>
              <a:rPr lang="en-US" sz="2800" dirty="0" smtClean="0"/>
              <a:t>Factor 4 – Backing Services</a:t>
            </a:r>
            <a:endParaRPr lang="en-US" sz="2800" dirty="0"/>
          </a:p>
        </p:txBody>
      </p:sp>
      <p:sp>
        <p:nvSpPr>
          <p:cNvPr id="23" name="Content Placeholder 2"/>
          <p:cNvSpPr>
            <a:spLocks noGrp="1"/>
          </p:cNvSpPr>
          <p:nvPr>
            <p:ph sz="quarter" idx="4294967295"/>
          </p:nvPr>
        </p:nvSpPr>
        <p:spPr>
          <a:xfrm>
            <a:off x="506437" y="1219203"/>
            <a:ext cx="9610793" cy="4937125"/>
          </a:xfrm>
          <a:prstGeom prst="rect">
            <a:avLst/>
          </a:prstGeom>
        </p:spPr>
        <p:txBody>
          <a:bodyPr/>
          <a:lstStyle/>
          <a:p>
            <a:r>
              <a:rPr lang="en-US" sz="2800" dirty="0" smtClean="0"/>
              <a:t>Backing services are  services consumed by app as part of normal operations</a:t>
            </a:r>
          </a:p>
          <a:p>
            <a:pPr lvl="1"/>
            <a:r>
              <a:rPr lang="en-US" sz="2800" dirty="0" smtClean="0"/>
              <a:t>DB, Message Queues, SMTP servers </a:t>
            </a:r>
            <a:r>
              <a:rPr lang="en-US" sz="2800" dirty="0" err="1" smtClean="0"/>
              <a:t>etc</a:t>
            </a:r>
            <a:endParaRPr lang="en-US" sz="2800" dirty="0" smtClean="0"/>
          </a:p>
          <a:p>
            <a:pPr lvl="1"/>
            <a:r>
              <a:rPr lang="en-US" sz="2800" dirty="0" smtClean="0"/>
              <a:t>May be locally managed or third-part managed</a:t>
            </a:r>
          </a:p>
          <a:p>
            <a:r>
              <a:rPr lang="en-US" sz="2800" spc="-5" dirty="0" smtClean="0">
                <a:solidFill>
                  <a:srgbClr val="535353"/>
                </a:solidFill>
              </a:rPr>
              <a:t>Services should be treated as resources</a:t>
            </a:r>
          </a:p>
          <a:p>
            <a:pPr lvl="1"/>
            <a:r>
              <a:rPr lang="en-US" sz="2800" spc="-5" dirty="0" smtClean="0">
                <a:solidFill>
                  <a:srgbClr val="535353"/>
                </a:solidFill>
              </a:rPr>
              <a:t>Connected to via URL/configuration</a:t>
            </a:r>
          </a:p>
          <a:p>
            <a:pPr lvl="1"/>
            <a:r>
              <a:rPr lang="en-US" sz="2800" spc="-5" dirty="0" smtClean="0">
                <a:solidFill>
                  <a:srgbClr val="535353"/>
                </a:solidFill>
              </a:rPr>
              <a:t>Swappable (change in-memory DB for MySQL)</a:t>
            </a:r>
            <a:endParaRPr lang="en-US" sz="2800" dirty="0" smtClean="0"/>
          </a:p>
        </p:txBody>
      </p:sp>
    </p:spTree>
    <p:extLst>
      <p:ext uri="{BB962C8B-B14F-4D97-AF65-F5344CB8AC3E}">
        <p14:creationId xmlns="" xmlns:p14="http://schemas.microsoft.com/office/powerpoint/2010/main" val="367996685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nvGraphicFramePr>
        <p:xfrm>
          <a:off x="0" y="0"/>
          <a:ext cx="175846" cy="158750"/>
        </p:xfrm>
        <a:graphic>
          <a:graphicData uri="http://schemas.openxmlformats.org/presentationml/2006/ole">
            <p:oleObj spid="_x0000_s277506" name="think-cell Slide" r:id="rId4" imgW="360" imgH="360" progId="">
              <p:embed/>
            </p:oleObj>
          </a:graphicData>
        </a:graphic>
      </p:graphicFrame>
      <p:sp>
        <p:nvSpPr>
          <p:cNvPr id="21" name="Title 20"/>
          <p:cNvSpPr>
            <a:spLocks noGrp="1"/>
          </p:cNvSpPr>
          <p:nvPr>
            <p:ph type="title"/>
          </p:nvPr>
        </p:nvSpPr>
        <p:spPr/>
        <p:txBody>
          <a:bodyPr/>
          <a:lstStyle/>
          <a:p>
            <a:r>
              <a:rPr lang="en-US" sz="2800" dirty="0" smtClean="0"/>
              <a:t>Factor 5 – Build, Release, Run</a:t>
            </a:r>
            <a:endParaRPr lang="en-US" sz="2800" dirty="0"/>
          </a:p>
        </p:txBody>
      </p:sp>
      <p:sp>
        <p:nvSpPr>
          <p:cNvPr id="23" name="Content Placeholder 2"/>
          <p:cNvSpPr>
            <a:spLocks noGrp="1"/>
          </p:cNvSpPr>
          <p:nvPr>
            <p:ph sz="quarter" idx="4294967295"/>
          </p:nvPr>
        </p:nvSpPr>
        <p:spPr>
          <a:xfrm>
            <a:off x="506437" y="1219203"/>
            <a:ext cx="9610793" cy="4937125"/>
          </a:xfrm>
          <a:prstGeom prst="rect">
            <a:avLst/>
          </a:prstGeom>
        </p:spPr>
        <p:txBody>
          <a:bodyPr/>
          <a:lstStyle/>
          <a:p>
            <a:r>
              <a:rPr lang="en-US" sz="2800" dirty="0" smtClean="0"/>
              <a:t>Strictly separate build, release and run stages</a:t>
            </a:r>
          </a:p>
          <a:p>
            <a:r>
              <a:rPr lang="en-US" sz="2800" dirty="0" smtClean="0"/>
              <a:t>Build Stage – Converts codebase into build(version)</a:t>
            </a:r>
          </a:p>
          <a:p>
            <a:pPr lvl="1"/>
            <a:r>
              <a:rPr lang="en-US" sz="2800" dirty="0" smtClean="0"/>
              <a:t>Includes managed dependencies</a:t>
            </a:r>
          </a:p>
          <a:p>
            <a:r>
              <a:rPr lang="en-US" sz="2800" dirty="0" smtClean="0"/>
              <a:t>Release stage – build + </a:t>
            </a:r>
            <a:r>
              <a:rPr lang="en-US" sz="2800" dirty="0" err="1" smtClean="0"/>
              <a:t>config</a:t>
            </a:r>
            <a:r>
              <a:rPr lang="en-US" sz="2800" dirty="0" smtClean="0"/>
              <a:t> = release</a:t>
            </a:r>
          </a:p>
          <a:p>
            <a:pPr lvl="1"/>
            <a:r>
              <a:rPr lang="en-US" sz="2800" dirty="0" smtClean="0"/>
              <a:t>Ready to run</a:t>
            </a:r>
          </a:p>
          <a:p>
            <a:r>
              <a:rPr lang="en-US" sz="2800" dirty="0"/>
              <a:t>Run </a:t>
            </a:r>
            <a:r>
              <a:rPr lang="en-US" sz="2800" dirty="0" smtClean="0"/>
              <a:t>– Runs app in execution environment</a:t>
            </a:r>
          </a:p>
        </p:txBody>
      </p:sp>
    </p:spTree>
    <p:extLst>
      <p:ext uri="{BB962C8B-B14F-4D97-AF65-F5344CB8AC3E}">
        <p14:creationId xmlns="" xmlns:p14="http://schemas.microsoft.com/office/powerpoint/2010/main" val="34577201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t>Factor 5 – Build, Release, Run</a:t>
            </a:r>
            <a:endParaRPr lang="en-US" dirty="0"/>
          </a:p>
        </p:txBody>
      </p:sp>
      <p:pic>
        <p:nvPicPr>
          <p:cNvPr id="524290" name="Picture 2"/>
          <p:cNvPicPr>
            <a:picLocks noGrp="1" noChangeAspect="1" noChangeArrowheads="1"/>
          </p:cNvPicPr>
          <p:nvPr>
            <p:ph sz="quarter" idx="10"/>
          </p:nvPr>
        </p:nvPicPr>
        <p:blipFill>
          <a:blip r:embed="rId2" cstate="print"/>
          <a:srcRect/>
          <a:stretch>
            <a:fillRect/>
          </a:stretch>
        </p:blipFill>
        <p:spPr bwMode="auto">
          <a:xfrm>
            <a:off x="2743199" y="1548589"/>
            <a:ext cx="4763479" cy="1747661"/>
          </a:xfrm>
          <a:prstGeom prst="rect">
            <a:avLst/>
          </a:prstGeom>
          <a:noFill/>
          <a:ln w="9525">
            <a:noFill/>
            <a:miter lim="800000"/>
            <a:headEnd/>
            <a:tailEnd/>
          </a:ln>
        </p:spPr>
      </p:pic>
      <p:sp>
        <p:nvSpPr>
          <p:cNvPr id="5" name="Rectangle 4"/>
          <p:cNvSpPr/>
          <p:nvPr/>
        </p:nvSpPr>
        <p:spPr>
          <a:xfrm>
            <a:off x="807396" y="4075889"/>
            <a:ext cx="9289915" cy="1546698"/>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r>
              <a:rPr lang="en-US" sz="1600" dirty="0" smtClean="0">
                <a:solidFill>
                  <a:schemeClr val="tx1"/>
                </a:solidFill>
              </a:rPr>
              <a:t>A single codebase is taken through the build process to produce a compiled artifact. This artifact is then merged with configuration information that is external to the application to produce an immutable release. The immutable release is then delivered to a cloud environment (development, QA, production, etc.) and run.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nvGraphicFramePr>
        <p:xfrm>
          <a:off x="0" y="0"/>
          <a:ext cx="175846" cy="158750"/>
        </p:xfrm>
        <a:graphic>
          <a:graphicData uri="http://schemas.openxmlformats.org/presentationml/2006/ole">
            <p:oleObj spid="_x0000_s278530" name="think-cell Slide" r:id="rId4" imgW="360" imgH="360" progId="">
              <p:embed/>
            </p:oleObj>
          </a:graphicData>
        </a:graphic>
      </p:graphicFrame>
      <p:sp>
        <p:nvSpPr>
          <p:cNvPr id="21" name="Title 20"/>
          <p:cNvSpPr>
            <a:spLocks noGrp="1"/>
          </p:cNvSpPr>
          <p:nvPr>
            <p:ph type="title"/>
          </p:nvPr>
        </p:nvSpPr>
        <p:spPr/>
        <p:txBody>
          <a:bodyPr/>
          <a:lstStyle/>
          <a:p>
            <a:r>
              <a:rPr lang="en-US" sz="2800" dirty="0" smtClean="0"/>
              <a:t>Factor 6 – Processes</a:t>
            </a:r>
            <a:endParaRPr lang="en-US" sz="2800" dirty="0"/>
          </a:p>
        </p:txBody>
      </p:sp>
      <p:sp>
        <p:nvSpPr>
          <p:cNvPr id="23" name="Content Placeholder 2"/>
          <p:cNvSpPr>
            <a:spLocks noGrp="1"/>
          </p:cNvSpPr>
          <p:nvPr>
            <p:ph sz="quarter" idx="4294967295"/>
          </p:nvPr>
        </p:nvSpPr>
        <p:spPr>
          <a:xfrm>
            <a:off x="506437" y="1219203"/>
            <a:ext cx="9610793" cy="4937125"/>
          </a:xfrm>
          <a:prstGeom prst="rect">
            <a:avLst/>
          </a:prstGeom>
        </p:spPr>
        <p:txBody>
          <a:bodyPr/>
          <a:lstStyle/>
          <a:p>
            <a:r>
              <a:rPr lang="en-US" sz="2800" dirty="0" smtClean="0"/>
              <a:t>Execute app as one or more stateless processes</a:t>
            </a:r>
          </a:p>
          <a:p>
            <a:r>
              <a:rPr lang="en-US" sz="2800" dirty="0" smtClean="0"/>
              <a:t>Processes</a:t>
            </a:r>
          </a:p>
          <a:p>
            <a:pPr lvl="1"/>
            <a:r>
              <a:rPr lang="en-US" sz="2800" dirty="0" smtClean="0"/>
              <a:t>One or more discrete running processes</a:t>
            </a:r>
          </a:p>
          <a:p>
            <a:pPr lvl="1"/>
            <a:r>
              <a:rPr lang="en-US" sz="2800" dirty="0" smtClean="0"/>
              <a:t>Stateless – Process should not store internal state (HTTP Sessions)</a:t>
            </a:r>
          </a:p>
          <a:p>
            <a:pPr lvl="1"/>
            <a:r>
              <a:rPr lang="en-US" sz="2800" dirty="0" smtClean="0"/>
              <a:t>Shared Nothing </a:t>
            </a:r>
            <a:r>
              <a:rPr lang="en-US" sz="2800" dirty="0"/>
              <a:t>– </a:t>
            </a:r>
            <a:r>
              <a:rPr lang="en-US" sz="2800" dirty="0" smtClean="0"/>
              <a:t>Data needing to be shared should be persisted</a:t>
            </a:r>
          </a:p>
          <a:p>
            <a:pPr lvl="1"/>
            <a:r>
              <a:rPr lang="en-US" sz="2800" dirty="0" smtClean="0"/>
              <a:t>Memory/Local </a:t>
            </a:r>
            <a:r>
              <a:rPr lang="en-US" sz="2800" dirty="0" err="1" smtClean="0"/>
              <a:t>tmp</a:t>
            </a:r>
            <a:r>
              <a:rPr lang="en-US" sz="2800" dirty="0" smtClean="0"/>
              <a:t> storage considered volatile</a:t>
            </a:r>
          </a:p>
          <a:p>
            <a:pPr lvl="1"/>
            <a:r>
              <a:rPr lang="en-US" sz="2800" dirty="0" smtClean="0"/>
              <a:t>Processes may  intercommunicate via messaging/persistent storage</a:t>
            </a:r>
          </a:p>
        </p:txBody>
      </p:sp>
    </p:spTree>
    <p:extLst>
      <p:ext uri="{BB962C8B-B14F-4D97-AF65-F5344CB8AC3E}">
        <p14:creationId xmlns="" xmlns:p14="http://schemas.microsoft.com/office/powerpoint/2010/main" val="33256462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nvGraphicFramePr>
        <p:xfrm>
          <a:off x="0" y="0"/>
          <a:ext cx="175846" cy="158750"/>
        </p:xfrm>
        <a:graphic>
          <a:graphicData uri="http://schemas.openxmlformats.org/presentationml/2006/ole">
            <p:oleObj spid="_x0000_s279554" name="think-cell Slide" r:id="rId4" imgW="360" imgH="360" progId="">
              <p:embed/>
            </p:oleObj>
          </a:graphicData>
        </a:graphic>
      </p:graphicFrame>
      <p:sp>
        <p:nvSpPr>
          <p:cNvPr id="21" name="Title 20"/>
          <p:cNvSpPr>
            <a:spLocks noGrp="1"/>
          </p:cNvSpPr>
          <p:nvPr>
            <p:ph type="title"/>
          </p:nvPr>
        </p:nvSpPr>
        <p:spPr/>
        <p:txBody>
          <a:bodyPr/>
          <a:lstStyle/>
          <a:p>
            <a:r>
              <a:rPr lang="en-US" sz="2800" dirty="0" smtClean="0"/>
              <a:t>Factor 7 – Port Binding</a:t>
            </a:r>
            <a:endParaRPr lang="en-US" sz="2800" dirty="0"/>
          </a:p>
        </p:txBody>
      </p:sp>
      <p:sp>
        <p:nvSpPr>
          <p:cNvPr id="23" name="Content Placeholder 2"/>
          <p:cNvSpPr>
            <a:spLocks noGrp="1"/>
          </p:cNvSpPr>
          <p:nvPr>
            <p:ph sz="quarter" idx="4294967295"/>
          </p:nvPr>
        </p:nvSpPr>
        <p:spPr>
          <a:xfrm>
            <a:off x="506437" y="1219203"/>
            <a:ext cx="9610793" cy="4937125"/>
          </a:xfrm>
          <a:prstGeom prst="rect">
            <a:avLst/>
          </a:prstGeom>
        </p:spPr>
        <p:txBody>
          <a:bodyPr/>
          <a:lstStyle/>
          <a:p>
            <a:r>
              <a:rPr lang="en-US" sz="2800" dirty="0" smtClean="0"/>
              <a:t>Export services via port binding</a:t>
            </a:r>
          </a:p>
          <a:p>
            <a:r>
              <a:rPr lang="en-US" sz="2800" dirty="0" smtClean="0"/>
              <a:t>App should not need a “container”</a:t>
            </a:r>
          </a:p>
          <a:p>
            <a:pPr lvl="1"/>
            <a:r>
              <a:rPr lang="en-US" sz="2800" dirty="0" smtClean="0"/>
              <a:t>Java App Server, Apache HTTPD for PHP </a:t>
            </a:r>
            <a:r>
              <a:rPr lang="en-US" sz="2800" dirty="0" err="1" smtClean="0"/>
              <a:t>etc</a:t>
            </a:r>
            <a:endParaRPr lang="en-US" sz="2800" dirty="0" smtClean="0"/>
          </a:p>
          <a:p>
            <a:pPr lvl="1"/>
            <a:r>
              <a:rPr lang="en-US" sz="2800" dirty="0" smtClean="0"/>
              <a:t>PAAS now takes that role</a:t>
            </a:r>
          </a:p>
          <a:p>
            <a:r>
              <a:rPr lang="en-US" sz="2800" dirty="0" smtClean="0"/>
              <a:t>App should export HTTP as service</a:t>
            </a:r>
          </a:p>
          <a:p>
            <a:pPr lvl="1"/>
            <a:r>
              <a:rPr lang="en-US" sz="2800" dirty="0" smtClean="0"/>
              <a:t>Define as dependency </a:t>
            </a:r>
            <a:r>
              <a:rPr lang="en-US" sz="2800" dirty="0" err="1" smtClean="0"/>
              <a:t>e,g</a:t>
            </a:r>
            <a:r>
              <a:rPr lang="en-US" sz="2800" dirty="0" smtClean="0"/>
              <a:t> embedded Jetty/Tomcat</a:t>
            </a:r>
          </a:p>
          <a:p>
            <a:pPr lvl="1"/>
            <a:r>
              <a:rPr lang="en-US" sz="2800" dirty="0" smtClean="0"/>
              <a:t>Execute at runtime</a:t>
            </a:r>
          </a:p>
          <a:p>
            <a:r>
              <a:rPr lang="en-US" sz="2800" dirty="0" smtClean="0"/>
              <a:t>One app could be another App’s service</a:t>
            </a:r>
          </a:p>
        </p:txBody>
      </p:sp>
    </p:spTree>
    <p:extLst>
      <p:ext uri="{BB962C8B-B14F-4D97-AF65-F5344CB8AC3E}">
        <p14:creationId xmlns="" xmlns:p14="http://schemas.microsoft.com/office/powerpoint/2010/main" val="372678201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nvGraphicFramePr>
        <p:xfrm>
          <a:off x="0" y="0"/>
          <a:ext cx="175846" cy="158750"/>
        </p:xfrm>
        <a:graphic>
          <a:graphicData uri="http://schemas.openxmlformats.org/presentationml/2006/ole">
            <p:oleObj spid="_x0000_s280578" name="think-cell Slide" r:id="rId4" imgW="360" imgH="360" progId="">
              <p:embed/>
            </p:oleObj>
          </a:graphicData>
        </a:graphic>
      </p:graphicFrame>
      <p:sp>
        <p:nvSpPr>
          <p:cNvPr id="21" name="Title 20"/>
          <p:cNvSpPr>
            <a:spLocks noGrp="1"/>
          </p:cNvSpPr>
          <p:nvPr>
            <p:ph type="title"/>
          </p:nvPr>
        </p:nvSpPr>
        <p:spPr/>
        <p:txBody>
          <a:bodyPr/>
          <a:lstStyle/>
          <a:p>
            <a:r>
              <a:rPr lang="en-US" sz="2800" dirty="0" smtClean="0"/>
              <a:t>Factor 7 – Port Binding</a:t>
            </a:r>
            <a:endParaRPr lang="en-US" sz="2800" dirty="0"/>
          </a:p>
        </p:txBody>
      </p:sp>
      <p:sp>
        <p:nvSpPr>
          <p:cNvPr id="5" name="object 2"/>
          <p:cNvSpPr/>
          <p:nvPr/>
        </p:nvSpPr>
        <p:spPr>
          <a:xfrm>
            <a:off x="5175208" y="4309211"/>
            <a:ext cx="3352331" cy="1796414"/>
          </a:xfrm>
          <a:custGeom>
            <a:avLst/>
            <a:gdLst/>
            <a:ahLst/>
            <a:cxnLst/>
            <a:rect l="l" t="t" r="r" b="b"/>
            <a:pathLst>
              <a:path w="3026409" h="1796414">
                <a:moveTo>
                  <a:pt x="0" y="1795858"/>
                </a:moveTo>
                <a:lnTo>
                  <a:pt x="3026232" y="1795858"/>
                </a:lnTo>
                <a:lnTo>
                  <a:pt x="3026232" y="0"/>
                </a:lnTo>
                <a:lnTo>
                  <a:pt x="0" y="0"/>
                </a:lnTo>
                <a:lnTo>
                  <a:pt x="0" y="1795858"/>
                </a:lnTo>
                <a:close/>
              </a:path>
            </a:pathLst>
          </a:custGeom>
          <a:solidFill>
            <a:srgbClr val="3DA29C"/>
          </a:solidFill>
        </p:spPr>
        <p:txBody>
          <a:bodyPr wrap="square" lIns="0" tIns="0" rIns="0" bIns="0" rtlCol="0"/>
          <a:lstStyle/>
          <a:p>
            <a:endParaRPr>
              <a:solidFill>
                <a:srgbClr val="263147"/>
              </a:solidFill>
            </a:endParaRPr>
          </a:p>
        </p:txBody>
      </p:sp>
      <p:sp>
        <p:nvSpPr>
          <p:cNvPr id="6" name="object 3"/>
          <p:cNvSpPr/>
          <p:nvPr/>
        </p:nvSpPr>
        <p:spPr>
          <a:xfrm>
            <a:off x="5175207" y="3894851"/>
            <a:ext cx="3352331" cy="2210435"/>
          </a:xfrm>
          <a:custGeom>
            <a:avLst/>
            <a:gdLst/>
            <a:ahLst/>
            <a:cxnLst/>
            <a:rect l="l" t="t" r="r" b="b"/>
            <a:pathLst>
              <a:path w="3026409" h="2210435">
                <a:moveTo>
                  <a:pt x="0" y="0"/>
                </a:moveTo>
                <a:lnTo>
                  <a:pt x="3026228" y="0"/>
                </a:lnTo>
                <a:lnTo>
                  <a:pt x="3026228" y="2210218"/>
                </a:lnTo>
                <a:lnTo>
                  <a:pt x="0" y="2210218"/>
                </a:lnTo>
                <a:lnTo>
                  <a:pt x="0" y="0"/>
                </a:lnTo>
                <a:close/>
              </a:path>
            </a:pathLst>
          </a:custGeom>
          <a:ln w="12699">
            <a:solidFill>
              <a:srgbClr val="000000"/>
            </a:solidFill>
          </a:ln>
        </p:spPr>
        <p:txBody>
          <a:bodyPr wrap="square" lIns="0" tIns="0" rIns="0" bIns="0" rtlCol="0"/>
          <a:lstStyle/>
          <a:p>
            <a:endParaRPr>
              <a:solidFill>
                <a:srgbClr val="263147"/>
              </a:solidFill>
            </a:endParaRPr>
          </a:p>
        </p:txBody>
      </p:sp>
      <p:sp>
        <p:nvSpPr>
          <p:cNvPr id="7" name="object 4"/>
          <p:cNvSpPr/>
          <p:nvPr/>
        </p:nvSpPr>
        <p:spPr>
          <a:xfrm>
            <a:off x="5175208" y="3894850"/>
            <a:ext cx="3352331" cy="414655"/>
          </a:xfrm>
          <a:custGeom>
            <a:avLst/>
            <a:gdLst/>
            <a:ahLst/>
            <a:cxnLst/>
            <a:rect l="l" t="t" r="r" b="b"/>
            <a:pathLst>
              <a:path w="3026409" h="414655">
                <a:moveTo>
                  <a:pt x="0" y="0"/>
                </a:moveTo>
                <a:lnTo>
                  <a:pt x="3026232" y="0"/>
                </a:lnTo>
                <a:lnTo>
                  <a:pt x="3026232" y="414362"/>
                </a:lnTo>
                <a:lnTo>
                  <a:pt x="0" y="414362"/>
                </a:lnTo>
                <a:lnTo>
                  <a:pt x="0" y="0"/>
                </a:lnTo>
                <a:close/>
              </a:path>
            </a:pathLst>
          </a:custGeom>
          <a:solidFill>
            <a:srgbClr val="3DA29C"/>
          </a:solidFill>
        </p:spPr>
        <p:txBody>
          <a:bodyPr wrap="square" lIns="0" tIns="0" rIns="0" bIns="0" rtlCol="0"/>
          <a:lstStyle/>
          <a:p>
            <a:endParaRPr>
              <a:solidFill>
                <a:srgbClr val="263147"/>
              </a:solidFill>
            </a:endParaRPr>
          </a:p>
        </p:txBody>
      </p:sp>
      <p:sp>
        <p:nvSpPr>
          <p:cNvPr id="8" name="object 5"/>
          <p:cNvSpPr/>
          <p:nvPr/>
        </p:nvSpPr>
        <p:spPr>
          <a:xfrm>
            <a:off x="5175207" y="3894850"/>
            <a:ext cx="3352331" cy="414655"/>
          </a:xfrm>
          <a:custGeom>
            <a:avLst/>
            <a:gdLst/>
            <a:ahLst/>
            <a:cxnLst/>
            <a:rect l="l" t="t" r="r" b="b"/>
            <a:pathLst>
              <a:path w="3026409" h="414655">
                <a:moveTo>
                  <a:pt x="0" y="0"/>
                </a:moveTo>
                <a:lnTo>
                  <a:pt x="3026228" y="0"/>
                </a:lnTo>
                <a:lnTo>
                  <a:pt x="3026228" y="414362"/>
                </a:lnTo>
                <a:lnTo>
                  <a:pt x="0" y="414362"/>
                </a:lnTo>
                <a:lnTo>
                  <a:pt x="0" y="0"/>
                </a:lnTo>
                <a:close/>
              </a:path>
            </a:pathLst>
          </a:custGeom>
          <a:ln w="12699">
            <a:solidFill>
              <a:srgbClr val="000000"/>
            </a:solidFill>
          </a:ln>
        </p:spPr>
        <p:txBody>
          <a:bodyPr wrap="square" lIns="0" tIns="0" rIns="0" bIns="0" rtlCol="0"/>
          <a:lstStyle/>
          <a:p>
            <a:endParaRPr>
              <a:solidFill>
                <a:srgbClr val="263147"/>
              </a:solidFill>
            </a:endParaRPr>
          </a:p>
        </p:txBody>
      </p:sp>
      <p:sp>
        <p:nvSpPr>
          <p:cNvPr id="9" name="object 6"/>
          <p:cNvSpPr txBox="1"/>
          <p:nvPr/>
        </p:nvSpPr>
        <p:spPr>
          <a:xfrm>
            <a:off x="6587429" y="3964879"/>
            <a:ext cx="534572" cy="285115"/>
          </a:xfrm>
          <a:prstGeom prst="rect">
            <a:avLst/>
          </a:prstGeom>
        </p:spPr>
        <p:txBody>
          <a:bodyPr vert="horz" wrap="square" lIns="0" tIns="0" rIns="0" bIns="0" rtlCol="0">
            <a:spAutoFit/>
          </a:bodyPr>
          <a:lstStyle/>
          <a:p>
            <a:pPr marL="12700"/>
            <a:r>
              <a:rPr sz="1800" dirty="0">
                <a:solidFill>
                  <a:srgbClr val="FFFFFF"/>
                </a:solidFill>
                <a:cs typeface="Arial"/>
              </a:rPr>
              <a:t>NAT</a:t>
            </a:r>
            <a:endParaRPr sz="1800">
              <a:solidFill>
                <a:srgbClr val="263147"/>
              </a:solidFill>
              <a:cs typeface="Arial"/>
            </a:endParaRPr>
          </a:p>
        </p:txBody>
      </p:sp>
      <p:sp>
        <p:nvSpPr>
          <p:cNvPr id="10" name="object 7"/>
          <p:cNvSpPr/>
          <p:nvPr/>
        </p:nvSpPr>
        <p:spPr>
          <a:xfrm>
            <a:off x="5794735" y="5210012"/>
            <a:ext cx="838434" cy="531495"/>
          </a:xfrm>
          <a:custGeom>
            <a:avLst/>
            <a:gdLst/>
            <a:ahLst/>
            <a:cxnLst/>
            <a:rect l="l" t="t" r="r" b="b"/>
            <a:pathLst>
              <a:path w="756920" h="531495">
                <a:moveTo>
                  <a:pt x="0" y="0"/>
                </a:moveTo>
                <a:lnTo>
                  <a:pt x="756564" y="0"/>
                </a:lnTo>
                <a:lnTo>
                  <a:pt x="756564" y="531458"/>
                </a:lnTo>
                <a:lnTo>
                  <a:pt x="0" y="531458"/>
                </a:lnTo>
                <a:lnTo>
                  <a:pt x="0" y="0"/>
                </a:lnTo>
                <a:close/>
              </a:path>
            </a:pathLst>
          </a:custGeom>
          <a:solidFill>
            <a:srgbClr val="3DA29C"/>
          </a:solidFill>
        </p:spPr>
        <p:txBody>
          <a:bodyPr wrap="square" lIns="0" tIns="0" rIns="0" bIns="0" rtlCol="0"/>
          <a:lstStyle/>
          <a:p>
            <a:endParaRPr>
              <a:solidFill>
                <a:srgbClr val="263147"/>
              </a:solidFill>
            </a:endParaRPr>
          </a:p>
        </p:txBody>
      </p:sp>
      <p:sp>
        <p:nvSpPr>
          <p:cNvPr id="11" name="object 8"/>
          <p:cNvSpPr/>
          <p:nvPr/>
        </p:nvSpPr>
        <p:spPr>
          <a:xfrm>
            <a:off x="5794735" y="5210012"/>
            <a:ext cx="838434" cy="531495"/>
          </a:xfrm>
          <a:custGeom>
            <a:avLst/>
            <a:gdLst/>
            <a:ahLst/>
            <a:cxnLst/>
            <a:rect l="l" t="t" r="r" b="b"/>
            <a:pathLst>
              <a:path w="756920" h="531495">
                <a:moveTo>
                  <a:pt x="0" y="0"/>
                </a:moveTo>
                <a:lnTo>
                  <a:pt x="756557" y="0"/>
                </a:lnTo>
                <a:lnTo>
                  <a:pt x="756557" y="531464"/>
                </a:lnTo>
                <a:lnTo>
                  <a:pt x="0" y="531464"/>
                </a:lnTo>
                <a:lnTo>
                  <a:pt x="0" y="0"/>
                </a:lnTo>
                <a:close/>
              </a:path>
            </a:pathLst>
          </a:custGeom>
          <a:ln w="57149">
            <a:solidFill>
              <a:srgbClr val="FFFFFF"/>
            </a:solidFill>
          </a:ln>
        </p:spPr>
        <p:txBody>
          <a:bodyPr wrap="square" lIns="0" tIns="0" rIns="0" bIns="0" rtlCol="0"/>
          <a:lstStyle/>
          <a:p>
            <a:endParaRPr>
              <a:solidFill>
                <a:srgbClr val="263147"/>
              </a:solidFill>
            </a:endParaRPr>
          </a:p>
        </p:txBody>
      </p:sp>
      <p:sp>
        <p:nvSpPr>
          <p:cNvPr id="12" name="object 9"/>
          <p:cNvSpPr/>
          <p:nvPr/>
        </p:nvSpPr>
        <p:spPr>
          <a:xfrm>
            <a:off x="6851275" y="5210012"/>
            <a:ext cx="838434" cy="531495"/>
          </a:xfrm>
          <a:custGeom>
            <a:avLst/>
            <a:gdLst/>
            <a:ahLst/>
            <a:cxnLst/>
            <a:rect l="l" t="t" r="r" b="b"/>
            <a:pathLst>
              <a:path w="756920" h="531495">
                <a:moveTo>
                  <a:pt x="0" y="0"/>
                </a:moveTo>
                <a:lnTo>
                  <a:pt x="756564" y="0"/>
                </a:lnTo>
                <a:lnTo>
                  <a:pt x="756564" y="531458"/>
                </a:lnTo>
                <a:lnTo>
                  <a:pt x="0" y="531458"/>
                </a:lnTo>
                <a:lnTo>
                  <a:pt x="0" y="0"/>
                </a:lnTo>
                <a:close/>
              </a:path>
            </a:pathLst>
          </a:custGeom>
          <a:solidFill>
            <a:srgbClr val="3DA29C"/>
          </a:solidFill>
        </p:spPr>
        <p:txBody>
          <a:bodyPr wrap="square" lIns="0" tIns="0" rIns="0" bIns="0" rtlCol="0"/>
          <a:lstStyle/>
          <a:p>
            <a:endParaRPr>
              <a:solidFill>
                <a:srgbClr val="263147"/>
              </a:solidFill>
            </a:endParaRPr>
          </a:p>
        </p:txBody>
      </p:sp>
      <p:sp>
        <p:nvSpPr>
          <p:cNvPr id="13" name="object 10"/>
          <p:cNvSpPr/>
          <p:nvPr/>
        </p:nvSpPr>
        <p:spPr>
          <a:xfrm>
            <a:off x="6851275" y="5210012"/>
            <a:ext cx="838434" cy="531495"/>
          </a:xfrm>
          <a:custGeom>
            <a:avLst/>
            <a:gdLst/>
            <a:ahLst/>
            <a:cxnLst/>
            <a:rect l="l" t="t" r="r" b="b"/>
            <a:pathLst>
              <a:path w="756920" h="531495">
                <a:moveTo>
                  <a:pt x="0" y="0"/>
                </a:moveTo>
                <a:lnTo>
                  <a:pt x="756557" y="0"/>
                </a:lnTo>
                <a:lnTo>
                  <a:pt x="756557" y="531464"/>
                </a:lnTo>
                <a:lnTo>
                  <a:pt x="0" y="531464"/>
                </a:lnTo>
                <a:lnTo>
                  <a:pt x="0" y="0"/>
                </a:lnTo>
                <a:close/>
              </a:path>
            </a:pathLst>
          </a:custGeom>
          <a:ln w="28574">
            <a:solidFill>
              <a:srgbClr val="FFFFFF"/>
            </a:solidFill>
          </a:ln>
        </p:spPr>
        <p:txBody>
          <a:bodyPr wrap="square" lIns="0" tIns="0" rIns="0" bIns="0" rtlCol="0"/>
          <a:lstStyle/>
          <a:p>
            <a:endParaRPr>
              <a:solidFill>
                <a:srgbClr val="263147"/>
              </a:solidFill>
            </a:endParaRPr>
          </a:p>
        </p:txBody>
      </p:sp>
      <p:sp>
        <p:nvSpPr>
          <p:cNvPr id="14" name="object 11"/>
          <p:cNvSpPr/>
          <p:nvPr/>
        </p:nvSpPr>
        <p:spPr>
          <a:xfrm>
            <a:off x="6228786" y="4309211"/>
            <a:ext cx="622495" cy="880110"/>
          </a:xfrm>
          <a:custGeom>
            <a:avLst/>
            <a:gdLst/>
            <a:ahLst/>
            <a:cxnLst/>
            <a:rect l="l" t="t" r="r" b="b"/>
            <a:pathLst>
              <a:path w="561975" h="880110">
                <a:moveTo>
                  <a:pt x="561970" y="0"/>
                </a:moveTo>
                <a:lnTo>
                  <a:pt x="0" y="879547"/>
                </a:lnTo>
              </a:path>
            </a:pathLst>
          </a:custGeom>
          <a:ln w="19049">
            <a:solidFill>
              <a:srgbClr val="FFFFFF"/>
            </a:solidFill>
          </a:ln>
        </p:spPr>
        <p:txBody>
          <a:bodyPr wrap="square" lIns="0" tIns="0" rIns="0" bIns="0" rtlCol="0"/>
          <a:lstStyle/>
          <a:p>
            <a:endParaRPr>
              <a:solidFill>
                <a:srgbClr val="263147"/>
              </a:solidFill>
            </a:endParaRPr>
          </a:p>
        </p:txBody>
      </p:sp>
      <p:sp>
        <p:nvSpPr>
          <p:cNvPr id="15" name="object 12"/>
          <p:cNvSpPr/>
          <p:nvPr/>
        </p:nvSpPr>
        <p:spPr>
          <a:xfrm>
            <a:off x="6213756" y="5087648"/>
            <a:ext cx="118169" cy="122555"/>
          </a:xfrm>
          <a:custGeom>
            <a:avLst/>
            <a:gdLst/>
            <a:ahLst/>
            <a:cxnLst/>
            <a:rect l="l" t="t" r="r" b="b"/>
            <a:pathLst>
              <a:path w="106679" h="122554">
                <a:moveTo>
                  <a:pt x="10642" y="0"/>
                </a:moveTo>
                <a:lnTo>
                  <a:pt x="4737" y="5448"/>
                </a:lnTo>
                <a:lnTo>
                  <a:pt x="0" y="122364"/>
                </a:lnTo>
                <a:lnTo>
                  <a:pt x="82761" y="79883"/>
                </a:lnTo>
                <a:lnTo>
                  <a:pt x="27139" y="79883"/>
                </a:lnTo>
                <a:lnTo>
                  <a:pt x="30111" y="6477"/>
                </a:lnTo>
                <a:lnTo>
                  <a:pt x="24663" y="571"/>
                </a:lnTo>
                <a:lnTo>
                  <a:pt x="10642" y="0"/>
                </a:lnTo>
                <a:close/>
              </a:path>
              <a:path w="106679" h="122554">
                <a:moveTo>
                  <a:pt x="92494" y="46342"/>
                </a:moveTo>
                <a:lnTo>
                  <a:pt x="27139" y="79883"/>
                </a:lnTo>
                <a:lnTo>
                  <a:pt x="82761" y="79883"/>
                </a:lnTo>
                <a:lnTo>
                  <a:pt x="104089" y="68935"/>
                </a:lnTo>
                <a:lnTo>
                  <a:pt x="106552" y="61277"/>
                </a:lnTo>
                <a:lnTo>
                  <a:pt x="100152" y="48806"/>
                </a:lnTo>
                <a:lnTo>
                  <a:pt x="92494" y="46342"/>
                </a:lnTo>
                <a:close/>
              </a:path>
            </a:pathLst>
          </a:custGeom>
          <a:solidFill>
            <a:srgbClr val="FFFFFF"/>
          </a:solidFill>
        </p:spPr>
        <p:txBody>
          <a:bodyPr wrap="square" lIns="0" tIns="0" rIns="0" bIns="0" rtlCol="0"/>
          <a:lstStyle/>
          <a:p>
            <a:endParaRPr>
              <a:solidFill>
                <a:srgbClr val="263147"/>
              </a:solidFill>
            </a:endParaRPr>
          </a:p>
        </p:txBody>
      </p:sp>
      <p:sp>
        <p:nvSpPr>
          <p:cNvPr id="16" name="object 13"/>
          <p:cNvSpPr/>
          <p:nvPr/>
        </p:nvSpPr>
        <p:spPr>
          <a:xfrm>
            <a:off x="6851277" y="4309214"/>
            <a:ext cx="408666" cy="878205"/>
          </a:xfrm>
          <a:custGeom>
            <a:avLst/>
            <a:gdLst/>
            <a:ahLst/>
            <a:cxnLst/>
            <a:rect l="l" t="t" r="r" b="b"/>
            <a:pathLst>
              <a:path w="368934" h="878204">
                <a:moveTo>
                  <a:pt x="0" y="0"/>
                </a:moveTo>
                <a:lnTo>
                  <a:pt x="368852" y="877669"/>
                </a:lnTo>
              </a:path>
            </a:pathLst>
          </a:custGeom>
          <a:ln w="19049">
            <a:solidFill>
              <a:srgbClr val="FFFFFF"/>
            </a:solidFill>
          </a:ln>
        </p:spPr>
        <p:txBody>
          <a:bodyPr wrap="square" lIns="0" tIns="0" rIns="0" bIns="0" rtlCol="0"/>
          <a:lstStyle/>
          <a:p>
            <a:endParaRPr>
              <a:solidFill>
                <a:srgbClr val="263147"/>
              </a:solidFill>
            </a:endParaRPr>
          </a:p>
        </p:txBody>
      </p:sp>
      <p:sp>
        <p:nvSpPr>
          <p:cNvPr id="17" name="object 14"/>
          <p:cNvSpPr/>
          <p:nvPr/>
        </p:nvSpPr>
        <p:spPr>
          <a:xfrm>
            <a:off x="7165845" y="5085918"/>
            <a:ext cx="121686" cy="124460"/>
          </a:xfrm>
          <a:custGeom>
            <a:avLst/>
            <a:gdLst/>
            <a:ahLst/>
            <a:cxnLst/>
            <a:rect l="l" t="t" r="r" b="b"/>
            <a:pathLst>
              <a:path w="109854" h="124460">
                <a:moveTo>
                  <a:pt x="16395" y="33578"/>
                </a:moveTo>
                <a:lnTo>
                  <a:pt x="8432" y="34696"/>
                </a:lnTo>
                <a:lnTo>
                  <a:pt x="0" y="45910"/>
                </a:lnTo>
                <a:lnTo>
                  <a:pt x="1130" y="53873"/>
                </a:lnTo>
                <a:lnTo>
                  <a:pt x="94640" y="124206"/>
                </a:lnTo>
                <a:lnTo>
                  <a:pt x="100724" y="77736"/>
                </a:lnTo>
                <a:lnTo>
                  <a:pt x="75107" y="77736"/>
                </a:lnTo>
                <a:lnTo>
                  <a:pt x="16395" y="33578"/>
                </a:lnTo>
                <a:close/>
              </a:path>
              <a:path w="109854" h="124460">
                <a:moveTo>
                  <a:pt x="91020" y="0"/>
                </a:moveTo>
                <a:lnTo>
                  <a:pt x="84645" y="4889"/>
                </a:lnTo>
                <a:lnTo>
                  <a:pt x="75107" y="77736"/>
                </a:lnTo>
                <a:lnTo>
                  <a:pt x="100724" y="77736"/>
                </a:lnTo>
                <a:lnTo>
                  <a:pt x="109829" y="8191"/>
                </a:lnTo>
                <a:lnTo>
                  <a:pt x="104927" y="1816"/>
                </a:lnTo>
                <a:lnTo>
                  <a:pt x="91020" y="0"/>
                </a:lnTo>
                <a:close/>
              </a:path>
            </a:pathLst>
          </a:custGeom>
          <a:solidFill>
            <a:srgbClr val="FFFFFF"/>
          </a:solidFill>
        </p:spPr>
        <p:txBody>
          <a:bodyPr wrap="square" lIns="0" tIns="0" rIns="0" bIns="0" rtlCol="0"/>
          <a:lstStyle/>
          <a:p>
            <a:endParaRPr>
              <a:solidFill>
                <a:srgbClr val="263147"/>
              </a:solidFill>
            </a:endParaRPr>
          </a:p>
        </p:txBody>
      </p:sp>
      <p:sp>
        <p:nvSpPr>
          <p:cNvPr id="18" name="object 15"/>
          <p:cNvSpPr/>
          <p:nvPr/>
        </p:nvSpPr>
        <p:spPr>
          <a:xfrm>
            <a:off x="3362109" y="2633754"/>
            <a:ext cx="3412119" cy="586105"/>
          </a:xfrm>
          <a:custGeom>
            <a:avLst/>
            <a:gdLst/>
            <a:ahLst/>
            <a:cxnLst/>
            <a:rect l="l" t="t" r="r" b="b"/>
            <a:pathLst>
              <a:path w="3080385" h="586105">
                <a:moveTo>
                  <a:pt x="0" y="0"/>
                </a:moveTo>
                <a:lnTo>
                  <a:pt x="3080270" y="0"/>
                </a:lnTo>
                <a:lnTo>
                  <a:pt x="3080270" y="585508"/>
                </a:lnTo>
                <a:lnTo>
                  <a:pt x="0" y="585508"/>
                </a:lnTo>
                <a:lnTo>
                  <a:pt x="0" y="0"/>
                </a:lnTo>
                <a:close/>
              </a:path>
            </a:pathLst>
          </a:custGeom>
          <a:solidFill>
            <a:srgbClr val="3DA29C"/>
          </a:solidFill>
        </p:spPr>
        <p:txBody>
          <a:bodyPr wrap="square" lIns="0" tIns="0" rIns="0" bIns="0" rtlCol="0"/>
          <a:lstStyle/>
          <a:p>
            <a:endParaRPr>
              <a:solidFill>
                <a:srgbClr val="263147"/>
              </a:solidFill>
            </a:endParaRPr>
          </a:p>
        </p:txBody>
      </p:sp>
      <p:sp>
        <p:nvSpPr>
          <p:cNvPr id="19" name="object 16"/>
          <p:cNvSpPr/>
          <p:nvPr/>
        </p:nvSpPr>
        <p:spPr>
          <a:xfrm>
            <a:off x="3362109" y="2633754"/>
            <a:ext cx="3412119" cy="586105"/>
          </a:xfrm>
          <a:custGeom>
            <a:avLst/>
            <a:gdLst/>
            <a:ahLst/>
            <a:cxnLst/>
            <a:rect l="l" t="t" r="r" b="b"/>
            <a:pathLst>
              <a:path w="3080385" h="586105">
                <a:moveTo>
                  <a:pt x="0" y="0"/>
                </a:moveTo>
                <a:lnTo>
                  <a:pt x="3080267" y="0"/>
                </a:lnTo>
                <a:lnTo>
                  <a:pt x="3080267" y="585511"/>
                </a:lnTo>
                <a:lnTo>
                  <a:pt x="0" y="585511"/>
                </a:lnTo>
                <a:lnTo>
                  <a:pt x="0" y="0"/>
                </a:lnTo>
                <a:close/>
              </a:path>
            </a:pathLst>
          </a:custGeom>
          <a:ln w="12699">
            <a:solidFill>
              <a:srgbClr val="000000"/>
            </a:solidFill>
          </a:ln>
        </p:spPr>
        <p:txBody>
          <a:bodyPr wrap="square" lIns="0" tIns="0" rIns="0" bIns="0" rtlCol="0"/>
          <a:lstStyle/>
          <a:p>
            <a:endParaRPr>
              <a:solidFill>
                <a:srgbClr val="263147"/>
              </a:solidFill>
            </a:endParaRPr>
          </a:p>
        </p:txBody>
      </p:sp>
      <p:sp>
        <p:nvSpPr>
          <p:cNvPr id="20" name="object 17"/>
          <p:cNvSpPr txBox="1">
            <a:spLocks/>
          </p:cNvSpPr>
          <p:nvPr/>
        </p:nvSpPr>
        <p:spPr>
          <a:xfrm>
            <a:off x="4677427" y="2789354"/>
            <a:ext cx="788494" cy="285115"/>
          </a:xfrm>
          <a:prstGeom prst="rect">
            <a:avLst/>
          </a:prstGeom>
        </p:spPr>
        <p:txBody>
          <a:bodyPr vert="horz" wrap="square" lIns="0" tIns="0" rIns="0" bIns="0" rtlCol="0" anchor="ctr">
            <a:spAutoFit/>
          </a:bodyPr>
          <a:lstStyle>
            <a:lvl1pPr algn="l" defTabSz="914342" rtl="0" eaLnBrk="1" latinLnBrk="0" hangingPunct="1">
              <a:lnSpc>
                <a:spcPct val="100000"/>
              </a:lnSpc>
              <a:spcBef>
                <a:spcPct val="0"/>
              </a:spcBef>
              <a:buNone/>
              <a:defRPr sz="2600" b="0" kern="1200">
                <a:solidFill>
                  <a:schemeClr val="tx1"/>
                </a:solidFill>
                <a:latin typeface="+mj-lt"/>
                <a:ea typeface="+mj-ea"/>
                <a:cs typeface="+mj-cs"/>
              </a:defRPr>
            </a:lvl1pPr>
          </a:lstStyle>
          <a:p>
            <a:pPr marL="12700"/>
            <a:r>
              <a:rPr lang="en-US" sz="1800" smtClean="0">
                <a:solidFill>
                  <a:srgbClr val="FFFFFF"/>
                </a:solidFill>
                <a:cs typeface="Arial"/>
              </a:rPr>
              <a:t>Router</a:t>
            </a:r>
            <a:endParaRPr lang="en-US" sz="1800">
              <a:solidFill>
                <a:srgbClr val="263147"/>
              </a:solidFill>
              <a:cs typeface="Arial"/>
            </a:endParaRPr>
          </a:p>
        </p:txBody>
      </p:sp>
      <p:sp>
        <p:nvSpPr>
          <p:cNvPr id="22" name="object 18"/>
          <p:cNvSpPr/>
          <p:nvPr/>
        </p:nvSpPr>
        <p:spPr>
          <a:xfrm>
            <a:off x="1476532" y="4309211"/>
            <a:ext cx="3352331" cy="1796414"/>
          </a:xfrm>
          <a:custGeom>
            <a:avLst/>
            <a:gdLst/>
            <a:ahLst/>
            <a:cxnLst/>
            <a:rect l="l" t="t" r="r" b="b"/>
            <a:pathLst>
              <a:path w="3026410" h="1796414">
                <a:moveTo>
                  <a:pt x="0" y="1795858"/>
                </a:moveTo>
                <a:lnTo>
                  <a:pt x="3026232" y="1795858"/>
                </a:lnTo>
                <a:lnTo>
                  <a:pt x="3026232" y="0"/>
                </a:lnTo>
                <a:lnTo>
                  <a:pt x="0" y="0"/>
                </a:lnTo>
                <a:lnTo>
                  <a:pt x="0" y="1795858"/>
                </a:lnTo>
                <a:close/>
              </a:path>
            </a:pathLst>
          </a:custGeom>
          <a:solidFill>
            <a:srgbClr val="3DA29C"/>
          </a:solidFill>
        </p:spPr>
        <p:txBody>
          <a:bodyPr wrap="square" lIns="0" tIns="0" rIns="0" bIns="0" rtlCol="0"/>
          <a:lstStyle/>
          <a:p>
            <a:endParaRPr>
              <a:solidFill>
                <a:srgbClr val="263147"/>
              </a:solidFill>
            </a:endParaRPr>
          </a:p>
        </p:txBody>
      </p:sp>
      <p:sp>
        <p:nvSpPr>
          <p:cNvPr id="24" name="object 19"/>
          <p:cNvSpPr/>
          <p:nvPr/>
        </p:nvSpPr>
        <p:spPr>
          <a:xfrm>
            <a:off x="1476532" y="3894851"/>
            <a:ext cx="3352331" cy="2210435"/>
          </a:xfrm>
          <a:custGeom>
            <a:avLst/>
            <a:gdLst/>
            <a:ahLst/>
            <a:cxnLst/>
            <a:rect l="l" t="t" r="r" b="b"/>
            <a:pathLst>
              <a:path w="3026410" h="2210435">
                <a:moveTo>
                  <a:pt x="0" y="0"/>
                </a:moveTo>
                <a:lnTo>
                  <a:pt x="3026227" y="0"/>
                </a:lnTo>
                <a:lnTo>
                  <a:pt x="3026227" y="2210218"/>
                </a:lnTo>
                <a:lnTo>
                  <a:pt x="0" y="2210218"/>
                </a:lnTo>
                <a:lnTo>
                  <a:pt x="0" y="0"/>
                </a:lnTo>
                <a:close/>
              </a:path>
            </a:pathLst>
          </a:custGeom>
          <a:ln w="12699">
            <a:solidFill>
              <a:srgbClr val="000000"/>
            </a:solidFill>
          </a:ln>
        </p:spPr>
        <p:txBody>
          <a:bodyPr wrap="square" lIns="0" tIns="0" rIns="0" bIns="0" rtlCol="0"/>
          <a:lstStyle/>
          <a:p>
            <a:endParaRPr>
              <a:solidFill>
                <a:srgbClr val="263147"/>
              </a:solidFill>
            </a:endParaRPr>
          </a:p>
        </p:txBody>
      </p:sp>
      <p:sp>
        <p:nvSpPr>
          <p:cNvPr id="25" name="object 20"/>
          <p:cNvSpPr/>
          <p:nvPr/>
        </p:nvSpPr>
        <p:spPr>
          <a:xfrm>
            <a:off x="1476532" y="3894850"/>
            <a:ext cx="3352331" cy="414655"/>
          </a:xfrm>
          <a:custGeom>
            <a:avLst/>
            <a:gdLst/>
            <a:ahLst/>
            <a:cxnLst/>
            <a:rect l="l" t="t" r="r" b="b"/>
            <a:pathLst>
              <a:path w="3026410" h="414655">
                <a:moveTo>
                  <a:pt x="0" y="0"/>
                </a:moveTo>
                <a:lnTo>
                  <a:pt x="3026232" y="0"/>
                </a:lnTo>
                <a:lnTo>
                  <a:pt x="3026232" y="414362"/>
                </a:lnTo>
                <a:lnTo>
                  <a:pt x="0" y="414362"/>
                </a:lnTo>
                <a:lnTo>
                  <a:pt x="0" y="0"/>
                </a:lnTo>
                <a:close/>
              </a:path>
            </a:pathLst>
          </a:custGeom>
          <a:solidFill>
            <a:srgbClr val="3DA29C"/>
          </a:solidFill>
        </p:spPr>
        <p:txBody>
          <a:bodyPr wrap="square" lIns="0" tIns="0" rIns="0" bIns="0" rtlCol="0"/>
          <a:lstStyle/>
          <a:p>
            <a:endParaRPr>
              <a:solidFill>
                <a:srgbClr val="263147"/>
              </a:solidFill>
            </a:endParaRPr>
          </a:p>
        </p:txBody>
      </p:sp>
      <p:sp>
        <p:nvSpPr>
          <p:cNvPr id="26" name="object 21"/>
          <p:cNvSpPr/>
          <p:nvPr/>
        </p:nvSpPr>
        <p:spPr>
          <a:xfrm>
            <a:off x="1476532" y="3894850"/>
            <a:ext cx="3352331" cy="414655"/>
          </a:xfrm>
          <a:custGeom>
            <a:avLst/>
            <a:gdLst/>
            <a:ahLst/>
            <a:cxnLst/>
            <a:rect l="l" t="t" r="r" b="b"/>
            <a:pathLst>
              <a:path w="3026410" h="414655">
                <a:moveTo>
                  <a:pt x="0" y="0"/>
                </a:moveTo>
                <a:lnTo>
                  <a:pt x="3026227" y="0"/>
                </a:lnTo>
                <a:lnTo>
                  <a:pt x="3026227" y="414362"/>
                </a:lnTo>
                <a:lnTo>
                  <a:pt x="0" y="414362"/>
                </a:lnTo>
                <a:lnTo>
                  <a:pt x="0" y="0"/>
                </a:lnTo>
                <a:close/>
              </a:path>
            </a:pathLst>
          </a:custGeom>
          <a:ln w="12699">
            <a:solidFill>
              <a:srgbClr val="000000"/>
            </a:solidFill>
          </a:ln>
        </p:spPr>
        <p:txBody>
          <a:bodyPr wrap="square" lIns="0" tIns="0" rIns="0" bIns="0" rtlCol="0"/>
          <a:lstStyle/>
          <a:p>
            <a:endParaRPr>
              <a:solidFill>
                <a:srgbClr val="263147"/>
              </a:solidFill>
            </a:endParaRPr>
          </a:p>
        </p:txBody>
      </p:sp>
      <p:sp>
        <p:nvSpPr>
          <p:cNvPr id="27" name="object 22"/>
          <p:cNvSpPr txBox="1"/>
          <p:nvPr/>
        </p:nvSpPr>
        <p:spPr>
          <a:xfrm>
            <a:off x="2888751" y="3964879"/>
            <a:ext cx="534572" cy="285115"/>
          </a:xfrm>
          <a:prstGeom prst="rect">
            <a:avLst/>
          </a:prstGeom>
        </p:spPr>
        <p:txBody>
          <a:bodyPr vert="horz" wrap="square" lIns="0" tIns="0" rIns="0" bIns="0" rtlCol="0">
            <a:spAutoFit/>
          </a:bodyPr>
          <a:lstStyle/>
          <a:p>
            <a:pPr marL="12700"/>
            <a:r>
              <a:rPr sz="1800" dirty="0">
                <a:solidFill>
                  <a:srgbClr val="FFFFFF"/>
                </a:solidFill>
                <a:cs typeface="Arial"/>
              </a:rPr>
              <a:t>NAT</a:t>
            </a:r>
            <a:endParaRPr sz="1800">
              <a:solidFill>
                <a:srgbClr val="263147"/>
              </a:solidFill>
              <a:cs typeface="Arial"/>
            </a:endParaRPr>
          </a:p>
        </p:txBody>
      </p:sp>
      <p:sp>
        <p:nvSpPr>
          <p:cNvPr id="28" name="object 23"/>
          <p:cNvSpPr/>
          <p:nvPr/>
        </p:nvSpPr>
        <p:spPr>
          <a:xfrm>
            <a:off x="2096058" y="5210012"/>
            <a:ext cx="838434" cy="531495"/>
          </a:xfrm>
          <a:custGeom>
            <a:avLst/>
            <a:gdLst/>
            <a:ahLst/>
            <a:cxnLst/>
            <a:rect l="l" t="t" r="r" b="b"/>
            <a:pathLst>
              <a:path w="756919" h="531495">
                <a:moveTo>
                  <a:pt x="0" y="0"/>
                </a:moveTo>
                <a:lnTo>
                  <a:pt x="756564" y="0"/>
                </a:lnTo>
                <a:lnTo>
                  <a:pt x="756564" y="531458"/>
                </a:lnTo>
                <a:lnTo>
                  <a:pt x="0" y="531458"/>
                </a:lnTo>
                <a:lnTo>
                  <a:pt x="0" y="0"/>
                </a:lnTo>
                <a:close/>
              </a:path>
            </a:pathLst>
          </a:custGeom>
          <a:solidFill>
            <a:srgbClr val="3DA29C"/>
          </a:solidFill>
        </p:spPr>
        <p:txBody>
          <a:bodyPr wrap="square" lIns="0" tIns="0" rIns="0" bIns="0" rtlCol="0"/>
          <a:lstStyle/>
          <a:p>
            <a:endParaRPr>
              <a:solidFill>
                <a:srgbClr val="263147"/>
              </a:solidFill>
            </a:endParaRPr>
          </a:p>
        </p:txBody>
      </p:sp>
      <p:sp>
        <p:nvSpPr>
          <p:cNvPr id="29" name="object 24"/>
          <p:cNvSpPr/>
          <p:nvPr/>
        </p:nvSpPr>
        <p:spPr>
          <a:xfrm>
            <a:off x="2096058" y="5210012"/>
            <a:ext cx="838434" cy="531495"/>
          </a:xfrm>
          <a:custGeom>
            <a:avLst/>
            <a:gdLst/>
            <a:ahLst/>
            <a:cxnLst/>
            <a:rect l="l" t="t" r="r" b="b"/>
            <a:pathLst>
              <a:path w="756919" h="531495">
                <a:moveTo>
                  <a:pt x="0" y="0"/>
                </a:moveTo>
                <a:lnTo>
                  <a:pt x="756557" y="0"/>
                </a:lnTo>
                <a:lnTo>
                  <a:pt x="756557" y="531464"/>
                </a:lnTo>
                <a:lnTo>
                  <a:pt x="0" y="531464"/>
                </a:lnTo>
                <a:lnTo>
                  <a:pt x="0" y="0"/>
                </a:lnTo>
                <a:close/>
              </a:path>
            </a:pathLst>
          </a:custGeom>
          <a:ln w="57149">
            <a:solidFill>
              <a:srgbClr val="FFFFFF"/>
            </a:solidFill>
          </a:ln>
        </p:spPr>
        <p:txBody>
          <a:bodyPr wrap="square" lIns="0" tIns="0" rIns="0" bIns="0" rtlCol="0"/>
          <a:lstStyle/>
          <a:p>
            <a:endParaRPr>
              <a:solidFill>
                <a:srgbClr val="263147"/>
              </a:solidFill>
            </a:endParaRPr>
          </a:p>
        </p:txBody>
      </p:sp>
      <p:sp>
        <p:nvSpPr>
          <p:cNvPr id="30" name="object 25"/>
          <p:cNvSpPr/>
          <p:nvPr/>
        </p:nvSpPr>
        <p:spPr>
          <a:xfrm>
            <a:off x="3152598" y="5210012"/>
            <a:ext cx="838434" cy="531495"/>
          </a:xfrm>
          <a:custGeom>
            <a:avLst/>
            <a:gdLst/>
            <a:ahLst/>
            <a:cxnLst/>
            <a:rect l="l" t="t" r="r" b="b"/>
            <a:pathLst>
              <a:path w="756920" h="531495">
                <a:moveTo>
                  <a:pt x="0" y="0"/>
                </a:moveTo>
                <a:lnTo>
                  <a:pt x="756564" y="0"/>
                </a:lnTo>
                <a:lnTo>
                  <a:pt x="756564" y="531458"/>
                </a:lnTo>
                <a:lnTo>
                  <a:pt x="0" y="531458"/>
                </a:lnTo>
                <a:lnTo>
                  <a:pt x="0" y="0"/>
                </a:lnTo>
                <a:close/>
              </a:path>
            </a:pathLst>
          </a:custGeom>
          <a:solidFill>
            <a:srgbClr val="3DA29C"/>
          </a:solidFill>
        </p:spPr>
        <p:txBody>
          <a:bodyPr wrap="square" lIns="0" tIns="0" rIns="0" bIns="0" rtlCol="0"/>
          <a:lstStyle/>
          <a:p>
            <a:endParaRPr>
              <a:solidFill>
                <a:srgbClr val="263147"/>
              </a:solidFill>
            </a:endParaRPr>
          </a:p>
        </p:txBody>
      </p:sp>
      <p:sp>
        <p:nvSpPr>
          <p:cNvPr id="31" name="object 26"/>
          <p:cNvSpPr/>
          <p:nvPr/>
        </p:nvSpPr>
        <p:spPr>
          <a:xfrm>
            <a:off x="3152598" y="5210012"/>
            <a:ext cx="838434" cy="531495"/>
          </a:xfrm>
          <a:custGeom>
            <a:avLst/>
            <a:gdLst/>
            <a:ahLst/>
            <a:cxnLst/>
            <a:rect l="l" t="t" r="r" b="b"/>
            <a:pathLst>
              <a:path w="756920" h="531495">
                <a:moveTo>
                  <a:pt x="0" y="0"/>
                </a:moveTo>
                <a:lnTo>
                  <a:pt x="756557" y="0"/>
                </a:lnTo>
                <a:lnTo>
                  <a:pt x="756557" y="531464"/>
                </a:lnTo>
                <a:lnTo>
                  <a:pt x="0" y="531464"/>
                </a:lnTo>
                <a:lnTo>
                  <a:pt x="0" y="0"/>
                </a:lnTo>
                <a:close/>
              </a:path>
            </a:pathLst>
          </a:custGeom>
          <a:ln w="28574">
            <a:solidFill>
              <a:srgbClr val="FFFFFF"/>
            </a:solidFill>
          </a:ln>
        </p:spPr>
        <p:txBody>
          <a:bodyPr wrap="square" lIns="0" tIns="0" rIns="0" bIns="0" rtlCol="0"/>
          <a:lstStyle/>
          <a:p>
            <a:endParaRPr>
              <a:solidFill>
                <a:srgbClr val="263147"/>
              </a:solidFill>
            </a:endParaRPr>
          </a:p>
        </p:txBody>
      </p:sp>
      <p:sp>
        <p:nvSpPr>
          <p:cNvPr id="32" name="object 27"/>
          <p:cNvSpPr/>
          <p:nvPr/>
        </p:nvSpPr>
        <p:spPr>
          <a:xfrm>
            <a:off x="2530108" y="4309211"/>
            <a:ext cx="622495" cy="880110"/>
          </a:xfrm>
          <a:custGeom>
            <a:avLst/>
            <a:gdLst/>
            <a:ahLst/>
            <a:cxnLst/>
            <a:rect l="l" t="t" r="r" b="b"/>
            <a:pathLst>
              <a:path w="561975" h="880110">
                <a:moveTo>
                  <a:pt x="561970" y="0"/>
                </a:moveTo>
                <a:lnTo>
                  <a:pt x="0" y="879547"/>
                </a:lnTo>
              </a:path>
            </a:pathLst>
          </a:custGeom>
          <a:ln w="19049">
            <a:solidFill>
              <a:srgbClr val="FFFFFF"/>
            </a:solidFill>
          </a:ln>
        </p:spPr>
        <p:txBody>
          <a:bodyPr wrap="square" lIns="0" tIns="0" rIns="0" bIns="0" rtlCol="0"/>
          <a:lstStyle/>
          <a:p>
            <a:endParaRPr>
              <a:solidFill>
                <a:srgbClr val="263147"/>
              </a:solidFill>
            </a:endParaRPr>
          </a:p>
        </p:txBody>
      </p:sp>
      <p:sp>
        <p:nvSpPr>
          <p:cNvPr id="33" name="object 28"/>
          <p:cNvSpPr/>
          <p:nvPr/>
        </p:nvSpPr>
        <p:spPr>
          <a:xfrm>
            <a:off x="2515077" y="5087648"/>
            <a:ext cx="118169" cy="122555"/>
          </a:xfrm>
          <a:custGeom>
            <a:avLst/>
            <a:gdLst/>
            <a:ahLst/>
            <a:cxnLst/>
            <a:rect l="l" t="t" r="r" b="b"/>
            <a:pathLst>
              <a:path w="106680" h="122554">
                <a:moveTo>
                  <a:pt x="10642" y="0"/>
                </a:moveTo>
                <a:lnTo>
                  <a:pt x="4737" y="5448"/>
                </a:lnTo>
                <a:lnTo>
                  <a:pt x="0" y="122364"/>
                </a:lnTo>
                <a:lnTo>
                  <a:pt x="82771" y="79883"/>
                </a:lnTo>
                <a:lnTo>
                  <a:pt x="27139" y="79883"/>
                </a:lnTo>
                <a:lnTo>
                  <a:pt x="30111" y="6477"/>
                </a:lnTo>
                <a:lnTo>
                  <a:pt x="24663" y="571"/>
                </a:lnTo>
                <a:lnTo>
                  <a:pt x="10642" y="0"/>
                </a:lnTo>
                <a:close/>
              </a:path>
              <a:path w="106680" h="122554">
                <a:moveTo>
                  <a:pt x="92494" y="46342"/>
                </a:moveTo>
                <a:lnTo>
                  <a:pt x="27139" y="79883"/>
                </a:lnTo>
                <a:lnTo>
                  <a:pt x="82771" y="79883"/>
                </a:lnTo>
                <a:lnTo>
                  <a:pt x="104101" y="68935"/>
                </a:lnTo>
                <a:lnTo>
                  <a:pt x="106553" y="61277"/>
                </a:lnTo>
                <a:lnTo>
                  <a:pt x="100152" y="48806"/>
                </a:lnTo>
                <a:lnTo>
                  <a:pt x="92494" y="46342"/>
                </a:lnTo>
                <a:close/>
              </a:path>
            </a:pathLst>
          </a:custGeom>
          <a:solidFill>
            <a:srgbClr val="FFFFFF"/>
          </a:solidFill>
        </p:spPr>
        <p:txBody>
          <a:bodyPr wrap="square" lIns="0" tIns="0" rIns="0" bIns="0" rtlCol="0"/>
          <a:lstStyle/>
          <a:p>
            <a:endParaRPr>
              <a:solidFill>
                <a:srgbClr val="263147"/>
              </a:solidFill>
            </a:endParaRPr>
          </a:p>
        </p:txBody>
      </p:sp>
      <p:sp>
        <p:nvSpPr>
          <p:cNvPr id="34" name="object 29"/>
          <p:cNvSpPr/>
          <p:nvPr/>
        </p:nvSpPr>
        <p:spPr>
          <a:xfrm>
            <a:off x="3152598" y="4309214"/>
            <a:ext cx="408666" cy="878205"/>
          </a:xfrm>
          <a:custGeom>
            <a:avLst/>
            <a:gdLst/>
            <a:ahLst/>
            <a:cxnLst/>
            <a:rect l="l" t="t" r="r" b="b"/>
            <a:pathLst>
              <a:path w="368935" h="878204">
                <a:moveTo>
                  <a:pt x="0" y="0"/>
                </a:moveTo>
                <a:lnTo>
                  <a:pt x="368852" y="877669"/>
                </a:lnTo>
              </a:path>
            </a:pathLst>
          </a:custGeom>
          <a:ln w="19049">
            <a:solidFill>
              <a:srgbClr val="FFFFFF"/>
            </a:solidFill>
          </a:ln>
        </p:spPr>
        <p:txBody>
          <a:bodyPr wrap="square" lIns="0" tIns="0" rIns="0" bIns="0" rtlCol="0"/>
          <a:lstStyle/>
          <a:p>
            <a:endParaRPr>
              <a:solidFill>
                <a:srgbClr val="263147"/>
              </a:solidFill>
            </a:endParaRPr>
          </a:p>
        </p:txBody>
      </p:sp>
      <p:sp>
        <p:nvSpPr>
          <p:cNvPr id="35" name="object 30"/>
          <p:cNvSpPr/>
          <p:nvPr/>
        </p:nvSpPr>
        <p:spPr>
          <a:xfrm>
            <a:off x="3467179" y="5085918"/>
            <a:ext cx="121686" cy="124460"/>
          </a:xfrm>
          <a:custGeom>
            <a:avLst/>
            <a:gdLst/>
            <a:ahLst/>
            <a:cxnLst/>
            <a:rect l="l" t="t" r="r" b="b"/>
            <a:pathLst>
              <a:path w="109855" h="124460">
                <a:moveTo>
                  <a:pt x="16382" y="33578"/>
                </a:moveTo>
                <a:lnTo>
                  <a:pt x="8420" y="34696"/>
                </a:lnTo>
                <a:lnTo>
                  <a:pt x="0" y="45910"/>
                </a:lnTo>
                <a:lnTo>
                  <a:pt x="1117" y="53873"/>
                </a:lnTo>
                <a:lnTo>
                  <a:pt x="94627" y="124206"/>
                </a:lnTo>
                <a:lnTo>
                  <a:pt x="100711" y="77736"/>
                </a:lnTo>
                <a:lnTo>
                  <a:pt x="75095" y="77736"/>
                </a:lnTo>
                <a:lnTo>
                  <a:pt x="16382" y="33578"/>
                </a:lnTo>
                <a:close/>
              </a:path>
              <a:path w="109855" h="124460">
                <a:moveTo>
                  <a:pt x="91008" y="0"/>
                </a:moveTo>
                <a:lnTo>
                  <a:pt x="84632" y="4889"/>
                </a:lnTo>
                <a:lnTo>
                  <a:pt x="75095" y="77736"/>
                </a:lnTo>
                <a:lnTo>
                  <a:pt x="100711" y="77736"/>
                </a:lnTo>
                <a:lnTo>
                  <a:pt x="109816" y="8191"/>
                </a:lnTo>
                <a:lnTo>
                  <a:pt x="104914" y="1816"/>
                </a:lnTo>
                <a:lnTo>
                  <a:pt x="91008" y="0"/>
                </a:lnTo>
                <a:close/>
              </a:path>
            </a:pathLst>
          </a:custGeom>
          <a:solidFill>
            <a:srgbClr val="FFFFFF"/>
          </a:solidFill>
        </p:spPr>
        <p:txBody>
          <a:bodyPr wrap="square" lIns="0" tIns="0" rIns="0" bIns="0" rtlCol="0"/>
          <a:lstStyle/>
          <a:p>
            <a:endParaRPr>
              <a:solidFill>
                <a:srgbClr val="263147"/>
              </a:solidFill>
            </a:endParaRPr>
          </a:p>
        </p:txBody>
      </p:sp>
      <p:sp>
        <p:nvSpPr>
          <p:cNvPr id="36" name="object 31"/>
          <p:cNvSpPr txBox="1"/>
          <p:nvPr/>
        </p:nvSpPr>
        <p:spPr>
          <a:xfrm>
            <a:off x="5262428" y="2337168"/>
            <a:ext cx="863756" cy="184666"/>
          </a:xfrm>
          <a:prstGeom prst="rect">
            <a:avLst/>
          </a:prstGeom>
        </p:spPr>
        <p:txBody>
          <a:bodyPr vert="horz" wrap="square" lIns="0" tIns="0" rIns="0" bIns="0" rtlCol="0">
            <a:spAutoFit/>
          </a:bodyPr>
          <a:lstStyle/>
          <a:p>
            <a:pPr marL="12700"/>
            <a:r>
              <a:rPr sz="1200" dirty="0">
                <a:solidFill>
                  <a:srgbClr val="263147"/>
                </a:solidFill>
                <a:cs typeface="Arial"/>
              </a:rPr>
              <a:t>foo.com:80</a:t>
            </a:r>
            <a:endParaRPr sz="1200">
              <a:solidFill>
                <a:srgbClr val="263147"/>
              </a:solidFill>
              <a:cs typeface="Arial"/>
            </a:endParaRPr>
          </a:p>
        </p:txBody>
      </p:sp>
      <p:sp>
        <p:nvSpPr>
          <p:cNvPr id="37" name="object 32"/>
          <p:cNvSpPr txBox="1"/>
          <p:nvPr/>
        </p:nvSpPr>
        <p:spPr>
          <a:xfrm>
            <a:off x="2245330" y="3516464"/>
            <a:ext cx="1436311" cy="153888"/>
          </a:xfrm>
          <a:prstGeom prst="rect">
            <a:avLst/>
          </a:prstGeom>
        </p:spPr>
        <p:txBody>
          <a:bodyPr vert="horz" wrap="square" lIns="0" tIns="0" rIns="0" bIns="0" rtlCol="0">
            <a:spAutoFit/>
          </a:bodyPr>
          <a:lstStyle/>
          <a:p>
            <a:pPr marL="12700"/>
            <a:r>
              <a:rPr sz="1000" spc="-5" dirty="0" smtClean="0">
                <a:solidFill>
                  <a:srgbClr val="263147"/>
                </a:solidFill>
                <a:cs typeface="Arial"/>
              </a:rPr>
              <a:t>192.16</a:t>
            </a:r>
            <a:r>
              <a:rPr lang="en-US" sz="1000" spc="-5" dirty="0" smtClean="0">
                <a:solidFill>
                  <a:srgbClr val="263147"/>
                </a:solidFill>
                <a:cs typeface="Arial"/>
              </a:rPr>
              <a:t>3</a:t>
            </a:r>
            <a:r>
              <a:rPr sz="1000" spc="-5" dirty="0" smtClean="0">
                <a:solidFill>
                  <a:srgbClr val="263147"/>
                </a:solidFill>
                <a:cs typeface="Arial"/>
              </a:rPr>
              <a:t>.</a:t>
            </a:r>
            <a:r>
              <a:rPr lang="en-US" sz="1000" spc="-5" dirty="0" smtClean="0">
                <a:solidFill>
                  <a:srgbClr val="263147"/>
                </a:solidFill>
                <a:cs typeface="Arial"/>
              </a:rPr>
              <a:t>123</a:t>
            </a:r>
            <a:r>
              <a:rPr sz="1000" spc="-5" dirty="0" smtClean="0">
                <a:solidFill>
                  <a:srgbClr val="263147"/>
                </a:solidFill>
                <a:cs typeface="Arial"/>
              </a:rPr>
              <a:t>.</a:t>
            </a:r>
            <a:r>
              <a:rPr lang="en-US" sz="1000" spc="-5" dirty="0" smtClean="0">
                <a:solidFill>
                  <a:srgbClr val="263147"/>
                </a:solidFill>
                <a:cs typeface="Arial"/>
              </a:rPr>
              <a:t>45</a:t>
            </a:r>
            <a:r>
              <a:rPr sz="1000" spc="-5" dirty="0" smtClean="0">
                <a:solidFill>
                  <a:srgbClr val="263147"/>
                </a:solidFill>
                <a:cs typeface="Arial"/>
              </a:rPr>
              <a:t>:61021</a:t>
            </a:r>
            <a:endParaRPr sz="1000" dirty="0">
              <a:solidFill>
                <a:srgbClr val="263147"/>
              </a:solidFill>
              <a:cs typeface="Arial"/>
            </a:endParaRPr>
          </a:p>
        </p:txBody>
      </p:sp>
      <p:sp>
        <p:nvSpPr>
          <p:cNvPr id="38" name="object 33"/>
          <p:cNvSpPr txBox="1"/>
          <p:nvPr/>
        </p:nvSpPr>
        <p:spPr>
          <a:xfrm>
            <a:off x="6315044" y="3515474"/>
            <a:ext cx="1436311" cy="153888"/>
          </a:xfrm>
          <a:prstGeom prst="rect">
            <a:avLst/>
          </a:prstGeom>
        </p:spPr>
        <p:txBody>
          <a:bodyPr vert="horz" wrap="square" lIns="0" tIns="0" rIns="0" bIns="0" rtlCol="0">
            <a:spAutoFit/>
          </a:bodyPr>
          <a:lstStyle/>
          <a:p>
            <a:pPr marL="12700"/>
            <a:r>
              <a:rPr lang="en-US" sz="1000" spc="-5" dirty="0">
                <a:solidFill>
                  <a:srgbClr val="263147"/>
                </a:solidFill>
                <a:cs typeface="Arial"/>
              </a:rPr>
              <a:t>192.163.123.45:61021</a:t>
            </a:r>
            <a:endParaRPr lang="en-US" sz="1000" dirty="0">
              <a:solidFill>
                <a:srgbClr val="263147"/>
              </a:solidFill>
              <a:cs typeface="Arial"/>
            </a:endParaRPr>
          </a:p>
        </p:txBody>
      </p:sp>
      <p:sp>
        <p:nvSpPr>
          <p:cNvPr id="39" name="object 34"/>
          <p:cNvSpPr txBox="1"/>
          <p:nvPr/>
        </p:nvSpPr>
        <p:spPr>
          <a:xfrm>
            <a:off x="1631880" y="4595837"/>
            <a:ext cx="1201381" cy="153888"/>
          </a:xfrm>
          <a:prstGeom prst="rect">
            <a:avLst/>
          </a:prstGeom>
        </p:spPr>
        <p:txBody>
          <a:bodyPr vert="horz" wrap="square" lIns="0" tIns="0" rIns="0" bIns="0" rtlCol="0">
            <a:spAutoFit/>
          </a:bodyPr>
          <a:lstStyle/>
          <a:p>
            <a:pPr marL="12700"/>
            <a:r>
              <a:rPr sz="1000" spc="-5" dirty="0">
                <a:solidFill>
                  <a:srgbClr val="263147"/>
                </a:solidFill>
                <a:cs typeface="Arial"/>
              </a:rPr>
              <a:t>10.254.0.71:61021</a:t>
            </a:r>
            <a:endParaRPr sz="1000" dirty="0">
              <a:solidFill>
                <a:srgbClr val="263147"/>
              </a:solidFill>
              <a:cs typeface="Arial"/>
            </a:endParaRPr>
          </a:p>
        </p:txBody>
      </p:sp>
      <p:sp>
        <p:nvSpPr>
          <p:cNvPr id="40" name="object 35"/>
          <p:cNvSpPr txBox="1"/>
          <p:nvPr/>
        </p:nvSpPr>
        <p:spPr>
          <a:xfrm>
            <a:off x="3526447" y="4625124"/>
            <a:ext cx="1201381" cy="153888"/>
          </a:xfrm>
          <a:prstGeom prst="rect">
            <a:avLst/>
          </a:prstGeom>
        </p:spPr>
        <p:txBody>
          <a:bodyPr vert="horz" wrap="square" lIns="0" tIns="0" rIns="0" bIns="0" rtlCol="0">
            <a:spAutoFit/>
          </a:bodyPr>
          <a:lstStyle/>
          <a:p>
            <a:pPr marL="12700"/>
            <a:r>
              <a:rPr sz="1000" spc="-5" dirty="0">
                <a:solidFill>
                  <a:srgbClr val="263147"/>
                </a:solidFill>
                <a:cs typeface="Arial"/>
              </a:rPr>
              <a:t>10.254.0.76:61001</a:t>
            </a:r>
            <a:endParaRPr sz="1000">
              <a:solidFill>
                <a:srgbClr val="263147"/>
              </a:solidFill>
              <a:cs typeface="Arial"/>
            </a:endParaRPr>
          </a:p>
        </p:txBody>
      </p:sp>
      <p:sp>
        <p:nvSpPr>
          <p:cNvPr id="41" name="object 36"/>
          <p:cNvSpPr txBox="1"/>
          <p:nvPr/>
        </p:nvSpPr>
        <p:spPr>
          <a:xfrm>
            <a:off x="5262429" y="4654410"/>
            <a:ext cx="1201381" cy="153888"/>
          </a:xfrm>
          <a:prstGeom prst="rect">
            <a:avLst/>
          </a:prstGeom>
        </p:spPr>
        <p:txBody>
          <a:bodyPr vert="horz" wrap="square" lIns="0" tIns="0" rIns="0" bIns="0" rtlCol="0">
            <a:spAutoFit/>
          </a:bodyPr>
          <a:lstStyle/>
          <a:p>
            <a:pPr marL="12700"/>
            <a:r>
              <a:rPr sz="1000" spc="-5" dirty="0">
                <a:solidFill>
                  <a:srgbClr val="263147"/>
                </a:solidFill>
                <a:cs typeface="Arial"/>
              </a:rPr>
              <a:t>10.254.0.89:61021</a:t>
            </a:r>
            <a:endParaRPr sz="1000">
              <a:solidFill>
                <a:srgbClr val="263147"/>
              </a:solidFill>
              <a:cs typeface="Arial"/>
            </a:endParaRPr>
          </a:p>
        </p:txBody>
      </p:sp>
      <p:sp>
        <p:nvSpPr>
          <p:cNvPr id="42" name="object 37"/>
          <p:cNvSpPr txBox="1"/>
          <p:nvPr/>
        </p:nvSpPr>
        <p:spPr>
          <a:xfrm>
            <a:off x="7135838" y="4625124"/>
            <a:ext cx="1201381" cy="153888"/>
          </a:xfrm>
          <a:prstGeom prst="rect">
            <a:avLst/>
          </a:prstGeom>
        </p:spPr>
        <p:txBody>
          <a:bodyPr vert="horz" wrap="square" lIns="0" tIns="0" rIns="0" bIns="0" rtlCol="0">
            <a:spAutoFit/>
          </a:bodyPr>
          <a:lstStyle/>
          <a:p>
            <a:pPr marL="12700"/>
            <a:r>
              <a:rPr sz="1000" spc="-5" dirty="0">
                <a:solidFill>
                  <a:srgbClr val="263147"/>
                </a:solidFill>
                <a:cs typeface="Arial"/>
              </a:rPr>
              <a:t>10.254.0.93:61018</a:t>
            </a:r>
            <a:endParaRPr sz="1000">
              <a:solidFill>
                <a:srgbClr val="263147"/>
              </a:solidFill>
              <a:cs typeface="Arial"/>
            </a:endParaRPr>
          </a:p>
        </p:txBody>
      </p:sp>
      <p:sp>
        <p:nvSpPr>
          <p:cNvPr id="43" name="object 38"/>
          <p:cNvSpPr/>
          <p:nvPr/>
        </p:nvSpPr>
        <p:spPr>
          <a:xfrm>
            <a:off x="3178611" y="3219259"/>
            <a:ext cx="1889994" cy="666750"/>
          </a:xfrm>
          <a:custGeom>
            <a:avLst/>
            <a:gdLst/>
            <a:ahLst/>
            <a:cxnLst/>
            <a:rect l="l" t="t" r="r" b="b"/>
            <a:pathLst>
              <a:path w="1706245" h="666750">
                <a:moveTo>
                  <a:pt x="1705798" y="0"/>
                </a:moveTo>
                <a:lnTo>
                  <a:pt x="0" y="666418"/>
                </a:lnTo>
              </a:path>
            </a:pathLst>
          </a:custGeom>
          <a:ln w="19049">
            <a:solidFill>
              <a:srgbClr val="000000"/>
            </a:solidFill>
          </a:ln>
        </p:spPr>
        <p:txBody>
          <a:bodyPr wrap="square" lIns="0" tIns="0" rIns="0" bIns="0" rtlCol="0"/>
          <a:lstStyle/>
          <a:p>
            <a:endParaRPr>
              <a:solidFill>
                <a:srgbClr val="263147"/>
              </a:solidFill>
            </a:endParaRPr>
          </a:p>
        </p:txBody>
      </p:sp>
      <p:sp>
        <p:nvSpPr>
          <p:cNvPr id="44" name="object 39"/>
          <p:cNvSpPr/>
          <p:nvPr/>
        </p:nvSpPr>
        <p:spPr>
          <a:xfrm>
            <a:off x="3152599" y="3802243"/>
            <a:ext cx="137863" cy="111125"/>
          </a:xfrm>
          <a:custGeom>
            <a:avLst/>
            <a:gdLst/>
            <a:ahLst/>
            <a:cxnLst/>
            <a:rect l="l" t="t" r="r" b="b"/>
            <a:pathLst>
              <a:path w="124460" h="111125">
                <a:moveTo>
                  <a:pt x="80670" y="0"/>
                </a:moveTo>
                <a:lnTo>
                  <a:pt x="72682" y="927"/>
                </a:lnTo>
                <a:lnTo>
                  <a:pt x="0" y="92608"/>
                </a:lnTo>
                <a:lnTo>
                  <a:pt x="115595" y="110743"/>
                </a:lnTo>
                <a:lnTo>
                  <a:pt x="122097" y="106006"/>
                </a:lnTo>
                <a:lnTo>
                  <a:pt x="124269" y="92151"/>
                </a:lnTo>
                <a:lnTo>
                  <a:pt x="119532" y="85661"/>
                </a:lnTo>
                <a:lnTo>
                  <a:pt x="46964" y="74269"/>
                </a:lnTo>
                <a:lnTo>
                  <a:pt x="92595" y="16700"/>
                </a:lnTo>
                <a:lnTo>
                  <a:pt x="91668" y="8712"/>
                </a:lnTo>
                <a:lnTo>
                  <a:pt x="80670" y="0"/>
                </a:lnTo>
                <a:close/>
              </a:path>
            </a:pathLst>
          </a:custGeom>
          <a:solidFill>
            <a:srgbClr val="000000"/>
          </a:solidFill>
        </p:spPr>
        <p:txBody>
          <a:bodyPr wrap="square" lIns="0" tIns="0" rIns="0" bIns="0" rtlCol="0"/>
          <a:lstStyle/>
          <a:p>
            <a:endParaRPr>
              <a:solidFill>
                <a:srgbClr val="263147"/>
              </a:solidFill>
            </a:endParaRPr>
          </a:p>
        </p:txBody>
      </p:sp>
      <p:sp>
        <p:nvSpPr>
          <p:cNvPr id="45" name="object 40"/>
          <p:cNvSpPr/>
          <p:nvPr/>
        </p:nvSpPr>
        <p:spPr>
          <a:xfrm>
            <a:off x="5068113" y="3219262"/>
            <a:ext cx="1757758" cy="666115"/>
          </a:xfrm>
          <a:custGeom>
            <a:avLst/>
            <a:gdLst/>
            <a:ahLst/>
            <a:cxnLst/>
            <a:rect l="l" t="t" r="r" b="b"/>
            <a:pathLst>
              <a:path w="1586864" h="666114">
                <a:moveTo>
                  <a:pt x="0" y="0"/>
                </a:moveTo>
                <a:lnTo>
                  <a:pt x="1586478" y="665728"/>
                </a:lnTo>
              </a:path>
            </a:pathLst>
          </a:custGeom>
          <a:ln w="19049">
            <a:solidFill>
              <a:srgbClr val="000000"/>
            </a:solidFill>
          </a:ln>
        </p:spPr>
        <p:txBody>
          <a:bodyPr wrap="square" lIns="0" tIns="0" rIns="0" bIns="0" rtlCol="0"/>
          <a:lstStyle/>
          <a:p>
            <a:endParaRPr>
              <a:solidFill>
                <a:srgbClr val="263147"/>
              </a:solidFill>
            </a:endParaRPr>
          </a:p>
        </p:txBody>
      </p:sp>
      <p:sp>
        <p:nvSpPr>
          <p:cNvPr id="46" name="object 41"/>
          <p:cNvSpPr/>
          <p:nvPr/>
        </p:nvSpPr>
        <p:spPr>
          <a:xfrm>
            <a:off x="6713596" y="3800160"/>
            <a:ext cx="137863" cy="109855"/>
          </a:xfrm>
          <a:custGeom>
            <a:avLst/>
            <a:gdLst/>
            <a:ahLst/>
            <a:cxnLst/>
            <a:rect l="l" t="t" r="r" b="b"/>
            <a:pathLst>
              <a:path w="124460" h="109855">
                <a:moveTo>
                  <a:pt x="45872" y="0"/>
                </a:moveTo>
                <a:lnTo>
                  <a:pt x="34670" y="8432"/>
                </a:lnTo>
                <a:lnTo>
                  <a:pt x="33540" y="16395"/>
                </a:lnTo>
                <a:lnTo>
                  <a:pt x="77736" y="75082"/>
                </a:lnTo>
                <a:lnTo>
                  <a:pt x="4902" y="84658"/>
                </a:lnTo>
                <a:lnTo>
                  <a:pt x="0" y="91033"/>
                </a:lnTo>
                <a:lnTo>
                  <a:pt x="1828" y="104940"/>
                </a:lnTo>
                <a:lnTo>
                  <a:pt x="8216" y="109842"/>
                </a:lnTo>
                <a:lnTo>
                  <a:pt x="124218" y="94589"/>
                </a:lnTo>
                <a:lnTo>
                  <a:pt x="53835" y="1117"/>
                </a:lnTo>
                <a:lnTo>
                  <a:pt x="45872" y="0"/>
                </a:lnTo>
                <a:close/>
              </a:path>
            </a:pathLst>
          </a:custGeom>
          <a:solidFill>
            <a:srgbClr val="000000"/>
          </a:solidFill>
        </p:spPr>
        <p:txBody>
          <a:bodyPr wrap="square" lIns="0" tIns="0" rIns="0" bIns="0" rtlCol="0"/>
          <a:lstStyle/>
          <a:p>
            <a:endParaRPr>
              <a:solidFill>
                <a:srgbClr val="263147"/>
              </a:solidFill>
            </a:endParaRPr>
          </a:p>
        </p:txBody>
      </p:sp>
      <p:sp>
        <p:nvSpPr>
          <p:cNvPr id="47" name="object 42"/>
          <p:cNvSpPr/>
          <p:nvPr/>
        </p:nvSpPr>
        <p:spPr>
          <a:xfrm>
            <a:off x="5068111" y="2213673"/>
            <a:ext cx="0" cy="394970"/>
          </a:xfrm>
          <a:custGeom>
            <a:avLst/>
            <a:gdLst/>
            <a:ahLst/>
            <a:cxnLst/>
            <a:rect l="l" t="t" r="r" b="b"/>
            <a:pathLst>
              <a:path h="394969">
                <a:moveTo>
                  <a:pt x="0" y="0"/>
                </a:moveTo>
                <a:lnTo>
                  <a:pt x="0" y="394688"/>
                </a:lnTo>
              </a:path>
            </a:pathLst>
          </a:custGeom>
          <a:ln w="19049">
            <a:solidFill>
              <a:srgbClr val="000000"/>
            </a:solidFill>
          </a:ln>
        </p:spPr>
        <p:txBody>
          <a:bodyPr wrap="square" lIns="0" tIns="0" rIns="0" bIns="0" rtlCol="0"/>
          <a:lstStyle/>
          <a:p>
            <a:endParaRPr>
              <a:solidFill>
                <a:srgbClr val="263147"/>
              </a:solidFill>
            </a:endParaRPr>
          </a:p>
        </p:txBody>
      </p:sp>
      <p:sp>
        <p:nvSpPr>
          <p:cNvPr id="48" name="object 43"/>
          <p:cNvSpPr/>
          <p:nvPr/>
        </p:nvSpPr>
        <p:spPr>
          <a:xfrm>
            <a:off x="5002808" y="2517663"/>
            <a:ext cx="130830" cy="116205"/>
          </a:xfrm>
          <a:custGeom>
            <a:avLst/>
            <a:gdLst/>
            <a:ahLst/>
            <a:cxnLst/>
            <a:rect l="l" t="t" r="r" b="b"/>
            <a:pathLst>
              <a:path w="118110" h="116205">
                <a:moveTo>
                  <a:pt x="14160" y="0"/>
                </a:moveTo>
                <a:lnTo>
                  <a:pt x="2044" y="7061"/>
                </a:lnTo>
                <a:lnTo>
                  <a:pt x="0" y="14846"/>
                </a:lnTo>
                <a:lnTo>
                  <a:pt x="58953" y="115912"/>
                </a:lnTo>
                <a:lnTo>
                  <a:pt x="88363" y="65493"/>
                </a:lnTo>
                <a:lnTo>
                  <a:pt x="58953" y="65493"/>
                </a:lnTo>
                <a:lnTo>
                  <a:pt x="21932" y="2044"/>
                </a:lnTo>
                <a:lnTo>
                  <a:pt x="14160" y="0"/>
                </a:lnTo>
                <a:close/>
              </a:path>
              <a:path w="118110" h="116205">
                <a:moveTo>
                  <a:pt x="103746" y="0"/>
                </a:moveTo>
                <a:lnTo>
                  <a:pt x="95961" y="2044"/>
                </a:lnTo>
                <a:lnTo>
                  <a:pt x="58953" y="65493"/>
                </a:lnTo>
                <a:lnTo>
                  <a:pt x="88363" y="65493"/>
                </a:lnTo>
                <a:lnTo>
                  <a:pt x="117906" y="14846"/>
                </a:lnTo>
                <a:lnTo>
                  <a:pt x="115862" y="7061"/>
                </a:lnTo>
                <a:lnTo>
                  <a:pt x="103746" y="0"/>
                </a:lnTo>
                <a:close/>
              </a:path>
            </a:pathLst>
          </a:custGeom>
          <a:solidFill>
            <a:srgbClr val="000000"/>
          </a:solidFill>
        </p:spPr>
        <p:txBody>
          <a:bodyPr wrap="square" lIns="0" tIns="0" rIns="0" bIns="0" rtlCol="0"/>
          <a:lstStyle/>
          <a:p>
            <a:endParaRPr>
              <a:solidFill>
                <a:srgbClr val="263147"/>
              </a:solidFill>
            </a:endParaRPr>
          </a:p>
        </p:txBody>
      </p:sp>
      <p:sp>
        <p:nvSpPr>
          <p:cNvPr id="49" name="object 44"/>
          <p:cNvSpPr txBox="1"/>
          <p:nvPr/>
        </p:nvSpPr>
        <p:spPr>
          <a:xfrm>
            <a:off x="3889690" y="5325140"/>
            <a:ext cx="858833" cy="744855"/>
          </a:xfrm>
          <a:prstGeom prst="rect">
            <a:avLst/>
          </a:prstGeom>
        </p:spPr>
        <p:txBody>
          <a:bodyPr vert="horz" wrap="square" lIns="0" tIns="0" rIns="0" bIns="0" rtlCol="0">
            <a:spAutoFit/>
          </a:bodyPr>
          <a:lstStyle/>
          <a:p>
            <a:pPr marL="12700" marR="5080" indent="270510">
              <a:lnSpc>
                <a:spcPct val="133800"/>
              </a:lnSpc>
            </a:pPr>
            <a:r>
              <a:rPr sz="1800" dirty="0">
                <a:solidFill>
                  <a:srgbClr val="FFFFFF"/>
                </a:solidFill>
                <a:cs typeface="Arial"/>
              </a:rPr>
              <a:t>…  Runner</a:t>
            </a:r>
            <a:endParaRPr sz="1800">
              <a:solidFill>
                <a:srgbClr val="263147"/>
              </a:solidFill>
              <a:cs typeface="Arial"/>
            </a:endParaRPr>
          </a:p>
        </p:txBody>
      </p:sp>
      <p:sp>
        <p:nvSpPr>
          <p:cNvPr id="50" name="object 45"/>
          <p:cNvSpPr txBox="1"/>
          <p:nvPr/>
        </p:nvSpPr>
        <p:spPr>
          <a:xfrm>
            <a:off x="7588367" y="5361416"/>
            <a:ext cx="858833" cy="708660"/>
          </a:xfrm>
          <a:prstGeom prst="rect">
            <a:avLst/>
          </a:prstGeom>
        </p:spPr>
        <p:txBody>
          <a:bodyPr vert="horz" wrap="square" lIns="0" tIns="0" rIns="0" bIns="0" rtlCol="0">
            <a:spAutoFit/>
          </a:bodyPr>
          <a:lstStyle/>
          <a:p>
            <a:pPr marL="12700" marR="5080" indent="288290">
              <a:lnSpc>
                <a:spcPct val="127200"/>
              </a:lnSpc>
            </a:pPr>
            <a:r>
              <a:rPr sz="1800" dirty="0">
                <a:solidFill>
                  <a:srgbClr val="FFFFFF"/>
                </a:solidFill>
                <a:cs typeface="Arial"/>
              </a:rPr>
              <a:t>…  Runner</a:t>
            </a:r>
            <a:endParaRPr sz="1800">
              <a:solidFill>
                <a:srgbClr val="263147"/>
              </a:solidFill>
              <a:cs typeface="Arial"/>
            </a:endParaRPr>
          </a:p>
        </p:txBody>
      </p:sp>
      <p:sp>
        <p:nvSpPr>
          <p:cNvPr id="51" name="object 3"/>
          <p:cNvSpPr txBox="1"/>
          <p:nvPr/>
        </p:nvSpPr>
        <p:spPr>
          <a:xfrm>
            <a:off x="773725" y="1255064"/>
            <a:ext cx="9331994" cy="1144031"/>
          </a:xfrm>
          <a:prstGeom prst="rect">
            <a:avLst/>
          </a:prstGeom>
        </p:spPr>
        <p:txBody>
          <a:bodyPr vert="horz" wrap="square" lIns="0" tIns="0" rIns="0" bIns="0" rtlCol="0">
            <a:spAutoFit/>
          </a:bodyPr>
          <a:lstStyle/>
          <a:p>
            <a:pPr marL="12700"/>
            <a:r>
              <a:rPr sz="1800" b="1" spc="-25" dirty="0">
                <a:solidFill>
                  <a:srgbClr val="DE9000"/>
                </a:solidFill>
                <a:latin typeface="Trebuchet MS"/>
                <a:cs typeface="Trebuchet MS"/>
                <a:hlinkClick r:id="rId5"/>
              </a:rPr>
              <a:t>http://</a:t>
            </a:r>
            <a:r>
              <a:rPr sz="1800" b="1" spc="-25" dirty="0" smtClean="0">
                <a:solidFill>
                  <a:srgbClr val="DE9000"/>
                </a:solidFill>
                <a:latin typeface="Trebuchet MS"/>
                <a:cs typeface="Trebuchet MS"/>
                <a:hlinkClick r:id="rId5"/>
              </a:rPr>
              <a:t>192.16</a:t>
            </a:r>
            <a:r>
              <a:rPr lang="en-US" sz="1800" b="1" spc="-25" dirty="0" smtClean="0">
                <a:solidFill>
                  <a:srgbClr val="DE9000"/>
                </a:solidFill>
                <a:latin typeface="Trebuchet MS"/>
                <a:cs typeface="Trebuchet MS"/>
                <a:hlinkClick r:id="rId5"/>
              </a:rPr>
              <a:t>3</a:t>
            </a:r>
            <a:r>
              <a:rPr sz="1800" b="1" spc="-25" dirty="0" smtClean="0">
                <a:solidFill>
                  <a:srgbClr val="DE9000"/>
                </a:solidFill>
                <a:latin typeface="Trebuchet MS"/>
                <a:cs typeface="Trebuchet MS"/>
                <a:hlinkClick r:id="rId5"/>
              </a:rPr>
              <a:t>.123.45</a:t>
            </a:r>
            <a:r>
              <a:rPr sz="1800" b="1" spc="-25" dirty="0" smtClean="0">
                <a:solidFill>
                  <a:srgbClr val="DE9000"/>
                </a:solidFill>
                <a:latin typeface="Trebuchet MS"/>
                <a:cs typeface="Trebuchet MS"/>
              </a:rPr>
              <a:t> </a:t>
            </a:r>
            <a:r>
              <a:rPr sz="1800" b="1" spc="-260" dirty="0">
                <a:solidFill>
                  <a:srgbClr val="DE9000"/>
                </a:solidFill>
                <a:latin typeface="Trebuchet MS"/>
                <a:cs typeface="Trebuchet MS"/>
              </a:rPr>
              <a:t>:</a:t>
            </a:r>
            <a:r>
              <a:rPr sz="1800" b="1" spc="-65" dirty="0">
                <a:solidFill>
                  <a:srgbClr val="DE9000"/>
                </a:solidFill>
                <a:latin typeface="Trebuchet MS"/>
                <a:cs typeface="Trebuchet MS"/>
              </a:rPr>
              <a:t> </a:t>
            </a:r>
            <a:r>
              <a:rPr lang="en-US" sz="1800" b="1" spc="20" dirty="0" smtClean="0">
                <a:solidFill>
                  <a:srgbClr val="DE9000"/>
                </a:solidFill>
                <a:latin typeface="Trebuchet MS"/>
                <a:cs typeface="Trebuchet MS"/>
              </a:rPr>
              <a:t>61021 BOOKING SYSTEM</a:t>
            </a:r>
          </a:p>
          <a:p>
            <a:pPr marL="12700"/>
            <a:r>
              <a:rPr lang="en-US" sz="1800" dirty="0" smtClean="0">
                <a:solidFill>
                  <a:srgbClr val="263147"/>
                </a:solidFill>
                <a:latin typeface="Trebuchet MS"/>
                <a:cs typeface="Trebuchet MS"/>
              </a:rPr>
              <a:t>The </a:t>
            </a:r>
            <a:r>
              <a:rPr lang="en-US" sz="1800" dirty="0" smtClean="0">
                <a:solidFill>
                  <a:srgbClr val="0070C0"/>
                </a:solidFill>
                <a:latin typeface="Trebuchet MS"/>
                <a:cs typeface="Trebuchet MS"/>
              </a:rPr>
              <a:t>contract</a:t>
            </a:r>
            <a:r>
              <a:rPr lang="en-US" sz="1800" dirty="0" smtClean="0">
                <a:solidFill>
                  <a:srgbClr val="263147"/>
                </a:solidFill>
                <a:latin typeface="Trebuchet MS"/>
                <a:cs typeface="Trebuchet MS"/>
              </a:rPr>
              <a:t> with the </a:t>
            </a:r>
            <a:r>
              <a:rPr lang="en-US" sz="1800" dirty="0" smtClean="0">
                <a:solidFill>
                  <a:srgbClr val="0070C0"/>
                </a:solidFill>
                <a:latin typeface="Trebuchet MS"/>
                <a:cs typeface="Trebuchet MS"/>
              </a:rPr>
              <a:t>execute environment </a:t>
            </a:r>
            <a:r>
              <a:rPr lang="en-US" sz="1800" dirty="0" smtClean="0">
                <a:solidFill>
                  <a:srgbClr val="263147"/>
                </a:solidFill>
                <a:latin typeface="Trebuchet MS"/>
                <a:cs typeface="Trebuchet MS"/>
              </a:rPr>
              <a:t>is binding to a </a:t>
            </a:r>
            <a:r>
              <a:rPr lang="en-US" sz="1800" dirty="0" smtClean="0">
                <a:solidFill>
                  <a:srgbClr val="0070C0"/>
                </a:solidFill>
                <a:latin typeface="Trebuchet MS"/>
                <a:cs typeface="Trebuchet MS"/>
              </a:rPr>
              <a:t>port</a:t>
            </a:r>
            <a:r>
              <a:rPr lang="en-US" sz="1800" dirty="0" smtClean="0">
                <a:solidFill>
                  <a:srgbClr val="263147"/>
                </a:solidFill>
                <a:latin typeface="Trebuchet MS"/>
                <a:cs typeface="Trebuchet MS"/>
              </a:rPr>
              <a:t> to serve </a:t>
            </a:r>
            <a:r>
              <a:rPr lang="en-US" sz="1800" dirty="0" smtClean="0">
                <a:solidFill>
                  <a:srgbClr val="0070C0"/>
                </a:solidFill>
                <a:latin typeface="Trebuchet MS"/>
                <a:cs typeface="Trebuchet MS"/>
              </a:rPr>
              <a:t>requests</a:t>
            </a:r>
            <a:endParaRPr sz="1800" dirty="0" smtClean="0">
              <a:solidFill>
                <a:srgbClr val="0070C0"/>
              </a:solidFill>
              <a:latin typeface="Trebuchet MS"/>
              <a:cs typeface="Trebuchet MS"/>
            </a:endParaRPr>
          </a:p>
          <a:p>
            <a:pPr>
              <a:spcBef>
                <a:spcPts val="3"/>
              </a:spcBef>
            </a:pPr>
            <a:endParaRPr sz="1800" dirty="0">
              <a:solidFill>
                <a:srgbClr val="263147"/>
              </a:solidFill>
              <a:latin typeface="Times New Roman"/>
              <a:cs typeface="Times New Roman"/>
            </a:endParaRPr>
          </a:p>
          <a:p>
            <a:pPr marL="12700" marR="5080">
              <a:lnSpc>
                <a:spcPct val="113399"/>
              </a:lnSpc>
            </a:pPr>
            <a:r>
              <a:rPr sz="1800" spc="20" dirty="0" smtClean="0">
                <a:solidFill>
                  <a:srgbClr val="FFFFFF"/>
                </a:solidFill>
                <a:latin typeface="Tahoma"/>
                <a:cs typeface="Tahoma"/>
              </a:rPr>
              <a:t>The</a:t>
            </a:r>
            <a:endParaRPr sz="3600" dirty="0">
              <a:solidFill>
                <a:srgbClr val="263147"/>
              </a:solidFill>
              <a:latin typeface="Tahoma"/>
              <a:cs typeface="Tahoma"/>
            </a:endParaRPr>
          </a:p>
        </p:txBody>
      </p:sp>
    </p:spTree>
    <p:extLst>
      <p:ext uri="{BB962C8B-B14F-4D97-AF65-F5344CB8AC3E}">
        <p14:creationId xmlns="" xmlns:p14="http://schemas.microsoft.com/office/powerpoint/2010/main" val="192980428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nvGraphicFramePr>
        <p:xfrm>
          <a:off x="0" y="0"/>
          <a:ext cx="175846" cy="158750"/>
        </p:xfrm>
        <a:graphic>
          <a:graphicData uri="http://schemas.openxmlformats.org/presentationml/2006/ole">
            <p:oleObj spid="_x0000_s281602" name="think-cell Slide" r:id="rId4" imgW="360" imgH="360" progId="">
              <p:embed/>
            </p:oleObj>
          </a:graphicData>
        </a:graphic>
      </p:graphicFrame>
      <p:sp>
        <p:nvSpPr>
          <p:cNvPr id="21" name="Title 20"/>
          <p:cNvSpPr>
            <a:spLocks noGrp="1"/>
          </p:cNvSpPr>
          <p:nvPr>
            <p:ph type="title"/>
          </p:nvPr>
        </p:nvSpPr>
        <p:spPr/>
        <p:txBody>
          <a:bodyPr/>
          <a:lstStyle/>
          <a:p>
            <a:r>
              <a:rPr lang="en-US" sz="2800" dirty="0" smtClean="0"/>
              <a:t>Factor 8 – Concurrency</a:t>
            </a:r>
            <a:endParaRPr lang="en-US" sz="2800" dirty="0"/>
          </a:p>
        </p:txBody>
      </p:sp>
      <p:sp>
        <p:nvSpPr>
          <p:cNvPr id="23" name="Content Placeholder 2"/>
          <p:cNvSpPr>
            <a:spLocks noGrp="1"/>
          </p:cNvSpPr>
          <p:nvPr>
            <p:ph sz="quarter" idx="4294967295"/>
          </p:nvPr>
        </p:nvSpPr>
        <p:spPr>
          <a:xfrm>
            <a:off x="506437" y="1219203"/>
            <a:ext cx="9610793" cy="4937125"/>
          </a:xfrm>
          <a:prstGeom prst="rect">
            <a:avLst/>
          </a:prstGeom>
        </p:spPr>
        <p:txBody>
          <a:bodyPr/>
          <a:lstStyle/>
          <a:p>
            <a:r>
              <a:rPr lang="en-US" sz="2800" dirty="0" smtClean="0"/>
              <a:t>Processes are first class citizens</a:t>
            </a:r>
          </a:p>
          <a:p>
            <a:pPr lvl="1"/>
            <a:r>
              <a:rPr lang="en-US" sz="2800" dirty="0" smtClean="0"/>
              <a:t>Like Unix service daemons</a:t>
            </a:r>
          </a:p>
          <a:p>
            <a:pPr lvl="1"/>
            <a:r>
              <a:rPr lang="en-US" sz="2800" dirty="0" smtClean="0"/>
              <a:t>Unlike java threads</a:t>
            </a:r>
          </a:p>
          <a:p>
            <a:r>
              <a:rPr lang="en-US" sz="2800" dirty="0" smtClean="0"/>
              <a:t>Individual processes are free to multithread</a:t>
            </a:r>
          </a:p>
          <a:p>
            <a:pPr lvl="1"/>
            <a:r>
              <a:rPr lang="en-US" sz="2800" dirty="0" smtClean="0"/>
              <a:t>BUT a VM can only get so large (vertical scaling)</a:t>
            </a:r>
          </a:p>
          <a:p>
            <a:pPr lvl="1"/>
            <a:r>
              <a:rPr lang="en-US" sz="2800" dirty="0" smtClean="0"/>
              <a:t>Must be able to span multiple machines (horizontal scaling)</a:t>
            </a:r>
          </a:p>
        </p:txBody>
      </p:sp>
    </p:spTree>
    <p:extLst>
      <p:ext uri="{BB962C8B-B14F-4D97-AF65-F5344CB8AC3E}">
        <p14:creationId xmlns="" xmlns:p14="http://schemas.microsoft.com/office/powerpoint/2010/main" val="204129501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nvGraphicFramePr>
        <p:xfrm>
          <a:off x="0" y="0"/>
          <a:ext cx="175846" cy="158750"/>
        </p:xfrm>
        <a:graphic>
          <a:graphicData uri="http://schemas.openxmlformats.org/presentationml/2006/ole">
            <p:oleObj spid="_x0000_s282626" name="think-cell Slide" r:id="rId4" imgW="360" imgH="360" progId="">
              <p:embed/>
            </p:oleObj>
          </a:graphicData>
        </a:graphic>
      </p:graphicFrame>
      <p:sp>
        <p:nvSpPr>
          <p:cNvPr id="21" name="Title 20"/>
          <p:cNvSpPr>
            <a:spLocks noGrp="1"/>
          </p:cNvSpPr>
          <p:nvPr>
            <p:ph type="title"/>
          </p:nvPr>
        </p:nvSpPr>
        <p:spPr/>
        <p:txBody>
          <a:bodyPr/>
          <a:lstStyle/>
          <a:p>
            <a:r>
              <a:rPr lang="en-US" sz="2800" dirty="0" smtClean="0"/>
              <a:t>Factor 8 – Concurrency</a:t>
            </a:r>
            <a:endParaRPr lang="en-US" sz="2800" dirty="0"/>
          </a:p>
        </p:txBody>
      </p:sp>
      <p:sp>
        <p:nvSpPr>
          <p:cNvPr id="5" name="object 2"/>
          <p:cNvSpPr/>
          <p:nvPr/>
        </p:nvSpPr>
        <p:spPr>
          <a:xfrm>
            <a:off x="0" y="3"/>
            <a:ext cx="10128738" cy="109855"/>
          </a:xfrm>
          <a:custGeom>
            <a:avLst/>
            <a:gdLst/>
            <a:ahLst/>
            <a:cxnLst/>
            <a:rect l="l" t="t" r="r" b="b"/>
            <a:pathLst>
              <a:path w="9144000" h="109855">
                <a:moveTo>
                  <a:pt x="0" y="0"/>
                </a:moveTo>
                <a:lnTo>
                  <a:pt x="9144000" y="0"/>
                </a:lnTo>
                <a:lnTo>
                  <a:pt x="9144000" y="109727"/>
                </a:lnTo>
                <a:lnTo>
                  <a:pt x="0" y="109727"/>
                </a:lnTo>
                <a:lnTo>
                  <a:pt x="0" y="0"/>
                </a:lnTo>
                <a:close/>
              </a:path>
            </a:pathLst>
          </a:custGeom>
          <a:solidFill>
            <a:srgbClr val="ABD78C"/>
          </a:solidFill>
        </p:spPr>
        <p:txBody>
          <a:bodyPr wrap="square" lIns="0" tIns="0" rIns="0" bIns="0" rtlCol="0"/>
          <a:lstStyle/>
          <a:p>
            <a:endParaRPr>
              <a:solidFill>
                <a:srgbClr val="263147"/>
              </a:solidFill>
            </a:endParaRPr>
          </a:p>
        </p:txBody>
      </p:sp>
      <p:sp>
        <p:nvSpPr>
          <p:cNvPr id="6" name="object 6"/>
          <p:cNvSpPr/>
          <p:nvPr/>
        </p:nvSpPr>
        <p:spPr>
          <a:xfrm>
            <a:off x="965253" y="4162074"/>
            <a:ext cx="8729705" cy="0"/>
          </a:xfrm>
          <a:custGeom>
            <a:avLst/>
            <a:gdLst/>
            <a:ahLst/>
            <a:cxnLst/>
            <a:rect l="l" t="t" r="r" b="b"/>
            <a:pathLst>
              <a:path w="7880984">
                <a:moveTo>
                  <a:pt x="0" y="0"/>
                </a:moveTo>
                <a:lnTo>
                  <a:pt x="7880544" y="0"/>
                </a:lnTo>
              </a:path>
            </a:pathLst>
          </a:custGeom>
          <a:ln w="19049">
            <a:solidFill>
              <a:srgbClr val="666666"/>
            </a:solidFill>
          </a:ln>
        </p:spPr>
        <p:txBody>
          <a:bodyPr wrap="square" lIns="0" tIns="0" rIns="0" bIns="0" rtlCol="0"/>
          <a:lstStyle/>
          <a:p>
            <a:endParaRPr>
              <a:solidFill>
                <a:srgbClr val="263147"/>
              </a:solidFill>
            </a:endParaRPr>
          </a:p>
        </p:txBody>
      </p:sp>
      <p:sp>
        <p:nvSpPr>
          <p:cNvPr id="7" name="object 7"/>
          <p:cNvSpPr/>
          <p:nvPr/>
        </p:nvSpPr>
        <p:spPr>
          <a:xfrm>
            <a:off x="9593999" y="4103119"/>
            <a:ext cx="128719" cy="118110"/>
          </a:xfrm>
          <a:custGeom>
            <a:avLst/>
            <a:gdLst/>
            <a:ahLst/>
            <a:cxnLst/>
            <a:rect l="l" t="t" r="r" b="b"/>
            <a:pathLst>
              <a:path w="116204" h="118110">
                <a:moveTo>
                  <a:pt x="14846" y="0"/>
                </a:moveTo>
                <a:lnTo>
                  <a:pt x="7073" y="2047"/>
                </a:lnTo>
                <a:lnTo>
                  <a:pt x="0" y="14164"/>
                </a:lnTo>
                <a:lnTo>
                  <a:pt x="2044" y="21940"/>
                </a:lnTo>
                <a:lnTo>
                  <a:pt x="65506" y="58954"/>
                </a:lnTo>
                <a:lnTo>
                  <a:pt x="2044" y="95968"/>
                </a:lnTo>
                <a:lnTo>
                  <a:pt x="0" y="103745"/>
                </a:lnTo>
                <a:lnTo>
                  <a:pt x="7073" y="115862"/>
                </a:lnTo>
                <a:lnTo>
                  <a:pt x="14846" y="117908"/>
                </a:lnTo>
                <a:lnTo>
                  <a:pt x="115912" y="58954"/>
                </a:lnTo>
                <a:lnTo>
                  <a:pt x="14846" y="0"/>
                </a:lnTo>
                <a:close/>
              </a:path>
            </a:pathLst>
          </a:custGeom>
          <a:solidFill>
            <a:srgbClr val="666666"/>
          </a:solidFill>
        </p:spPr>
        <p:txBody>
          <a:bodyPr wrap="square" lIns="0" tIns="0" rIns="0" bIns="0" rtlCol="0"/>
          <a:lstStyle/>
          <a:p>
            <a:endParaRPr>
              <a:solidFill>
                <a:srgbClr val="263147"/>
              </a:solidFill>
            </a:endParaRPr>
          </a:p>
        </p:txBody>
      </p:sp>
      <p:sp>
        <p:nvSpPr>
          <p:cNvPr id="8" name="object 8"/>
          <p:cNvSpPr/>
          <p:nvPr/>
        </p:nvSpPr>
        <p:spPr>
          <a:xfrm>
            <a:off x="965253" y="1248817"/>
            <a:ext cx="0" cy="2913380"/>
          </a:xfrm>
          <a:custGeom>
            <a:avLst/>
            <a:gdLst/>
            <a:ahLst/>
            <a:cxnLst/>
            <a:rect l="l" t="t" r="r" b="b"/>
            <a:pathLst>
              <a:path h="2913379">
                <a:moveTo>
                  <a:pt x="0" y="2913257"/>
                </a:moveTo>
                <a:lnTo>
                  <a:pt x="0" y="0"/>
                </a:lnTo>
              </a:path>
            </a:pathLst>
          </a:custGeom>
          <a:ln w="19049">
            <a:solidFill>
              <a:srgbClr val="666666"/>
            </a:solidFill>
          </a:ln>
        </p:spPr>
        <p:txBody>
          <a:bodyPr wrap="square" lIns="0" tIns="0" rIns="0" bIns="0" rtlCol="0"/>
          <a:lstStyle/>
          <a:p>
            <a:endParaRPr>
              <a:solidFill>
                <a:srgbClr val="263147"/>
              </a:solidFill>
            </a:endParaRPr>
          </a:p>
        </p:txBody>
      </p:sp>
      <p:sp>
        <p:nvSpPr>
          <p:cNvPr id="9" name="object 9"/>
          <p:cNvSpPr/>
          <p:nvPr/>
        </p:nvSpPr>
        <p:spPr>
          <a:xfrm>
            <a:off x="899949" y="1223609"/>
            <a:ext cx="130830" cy="116205"/>
          </a:xfrm>
          <a:custGeom>
            <a:avLst/>
            <a:gdLst/>
            <a:ahLst/>
            <a:cxnLst/>
            <a:rect l="l" t="t" r="r" b="b"/>
            <a:pathLst>
              <a:path w="118109" h="116205">
                <a:moveTo>
                  <a:pt x="58954" y="0"/>
                </a:moveTo>
                <a:lnTo>
                  <a:pt x="0" y="101066"/>
                </a:lnTo>
                <a:lnTo>
                  <a:pt x="2047" y="108851"/>
                </a:lnTo>
                <a:lnTo>
                  <a:pt x="14164" y="115912"/>
                </a:lnTo>
                <a:lnTo>
                  <a:pt x="21940" y="113868"/>
                </a:lnTo>
                <a:lnTo>
                  <a:pt x="58954" y="50419"/>
                </a:lnTo>
                <a:lnTo>
                  <a:pt x="88364" y="50419"/>
                </a:lnTo>
                <a:lnTo>
                  <a:pt x="58954" y="0"/>
                </a:lnTo>
                <a:close/>
              </a:path>
              <a:path w="118109" h="116205">
                <a:moveTo>
                  <a:pt x="88364" y="50419"/>
                </a:moveTo>
                <a:lnTo>
                  <a:pt x="58954" y="50419"/>
                </a:lnTo>
                <a:lnTo>
                  <a:pt x="95968" y="113868"/>
                </a:lnTo>
                <a:lnTo>
                  <a:pt x="103745" y="115912"/>
                </a:lnTo>
                <a:lnTo>
                  <a:pt x="115862" y="108851"/>
                </a:lnTo>
                <a:lnTo>
                  <a:pt x="117908" y="101066"/>
                </a:lnTo>
                <a:lnTo>
                  <a:pt x="88364" y="50419"/>
                </a:lnTo>
                <a:close/>
              </a:path>
            </a:pathLst>
          </a:custGeom>
          <a:solidFill>
            <a:srgbClr val="666666"/>
          </a:solidFill>
        </p:spPr>
        <p:txBody>
          <a:bodyPr wrap="square" lIns="0" tIns="0" rIns="0" bIns="0" rtlCol="0"/>
          <a:lstStyle/>
          <a:p>
            <a:endParaRPr>
              <a:solidFill>
                <a:srgbClr val="263147"/>
              </a:solidFill>
            </a:endParaRPr>
          </a:p>
        </p:txBody>
      </p:sp>
      <p:sp>
        <p:nvSpPr>
          <p:cNvPr id="10" name="object 10"/>
          <p:cNvSpPr txBox="1"/>
          <p:nvPr/>
        </p:nvSpPr>
        <p:spPr>
          <a:xfrm>
            <a:off x="495281" y="1795216"/>
            <a:ext cx="243656" cy="1889125"/>
          </a:xfrm>
          <a:prstGeom prst="rect">
            <a:avLst/>
          </a:prstGeom>
        </p:spPr>
        <p:txBody>
          <a:bodyPr vert="vert270" wrap="square" lIns="0" tIns="0" rIns="0" bIns="0" rtlCol="0">
            <a:spAutoFit/>
          </a:bodyPr>
          <a:lstStyle/>
          <a:p>
            <a:pPr marL="12700">
              <a:lnSpc>
                <a:spcPts val="1920"/>
              </a:lnSpc>
            </a:pPr>
            <a:r>
              <a:rPr sz="1800" spc="-35" dirty="0">
                <a:solidFill>
                  <a:srgbClr val="535353"/>
                </a:solidFill>
                <a:cs typeface="Arial"/>
              </a:rPr>
              <a:t>W</a:t>
            </a:r>
            <a:r>
              <a:rPr sz="1800" dirty="0">
                <a:solidFill>
                  <a:srgbClr val="535353"/>
                </a:solidFill>
                <a:cs typeface="Arial"/>
              </a:rPr>
              <a:t>orkload diversity</a:t>
            </a:r>
            <a:endParaRPr sz="1800">
              <a:solidFill>
                <a:srgbClr val="263147"/>
              </a:solidFill>
              <a:cs typeface="Arial"/>
            </a:endParaRPr>
          </a:p>
        </p:txBody>
      </p:sp>
      <p:sp>
        <p:nvSpPr>
          <p:cNvPr id="11" name="object 11"/>
          <p:cNvSpPr txBox="1"/>
          <p:nvPr/>
        </p:nvSpPr>
        <p:spPr>
          <a:xfrm>
            <a:off x="3760453" y="4208143"/>
            <a:ext cx="2970393" cy="285115"/>
          </a:xfrm>
          <a:prstGeom prst="rect">
            <a:avLst/>
          </a:prstGeom>
        </p:spPr>
        <p:txBody>
          <a:bodyPr vert="horz" wrap="square" lIns="0" tIns="0" rIns="0" bIns="0" rtlCol="0">
            <a:spAutoFit/>
          </a:bodyPr>
          <a:lstStyle/>
          <a:p>
            <a:pPr marL="12700"/>
            <a:r>
              <a:rPr sz="1800" dirty="0">
                <a:solidFill>
                  <a:srgbClr val="535353"/>
                </a:solidFill>
                <a:cs typeface="Arial"/>
              </a:rPr>
              <a:t>Scale (running</a:t>
            </a:r>
            <a:r>
              <a:rPr sz="1800" spc="-100" dirty="0">
                <a:solidFill>
                  <a:srgbClr val="535353"/>
                </a:solidFill>
                <a:cs typeface="Arial"/>
              </a:rPr>
              <a:t> </a:t>
            </a:r>
            <a:r>
              <a:rPr sz="1800" dirty="0">
                <a:solidFill>
                  <a:srgbClr val="535353"/>
                </a:solidFill>
                <a:cs typeface="Arial"/>
              </a:rPr>
              <a:t>processes)</a:t>
            </a:r>
            <a:endParaRPr sz="1800" dirty="0">
              <a:solidFill>
                <a:srgbClr val="263147"/>
              </a:solidFill>
              <a:cs typeface="Arial"/>
            </a:endParaRPr>
          </a:p>
        </p:txBody>
      </p:sp>
      <p:sp>
        <p:nvSpPr>
          <p:cNvPr id="12" name="object 12"/>
          <p:cNvSpPr txBox="1"/>
          <p:nvPr/>
        </p:nvSpPr>
        <p:spPr>
          <a:xfrm>
            <a:off x="1098747" y="3503929"/>
            <a:ext cx="1345575" cy="412934"/>
          </a:xfrm>
          <a:prstGeom prst="rect">
            <a:avLst/>
          </a:prstGeom>
          <a:solidFill>
            <a:srgbClr val="009893"/>
          </a:solidFill>
          <a:ln w="12699">
            <a:solidFill>
              <a:srgbClr val="4E94C0"/>
            </a:solidFill>
          </a:ln>
        </p:spPr>
        <p:txBody>
          <a:bodyPr vert="horz" wrap="square" lIns="0" tIns="134620" rIns="0" bIns="0" rtlCol="0">
            <a:spAutoFit/>
          </a:bodyPr>
          <a:lstStyle/>
          <a:p>
            <a:pPr marL="361315">
              <a:spcBef>
                <a:spcPts val="1060"/>
              </a:spcBef>
            </a:pPr>
            <a:r>
              <a:rPr sz="1800" spc="-5" dirty="0">
                <a:solidFill>
                  <a:srgbClr val="FFFFFF"/>
                </a:solidFill>
                <a:cs typeface="Arial"/>
              </a:rPr>
              <a:t>hello</a:t>
            </a:r>
            <a:endParaRPr sz="1800">
              <a:solidFill>
                <a:srgbClr val="263147"/>
              </a:solidFill>
              <a:cs typeface="Arial"/>
            </a:endParaRPr>
          </a:p>
        </p:txBody>
      </p:sp>
      <p:sp>
        <p:nvSpPr>
          <p:cNvPr id="13" name="object 13"/>
          <p:cNvSpPr txBox="1"/>
          <p:nvPr/>
        </p:nvSpPr>
        <p:spPr>
          <a:xfrm>
            <a:off x="2618505" y="3497338"/>
            <a:ext cx="1345575" cy="412934"/>
          </a:xfrm>
          <a:prstGeom prst="rect">
            <a:avLst/>
          </a:prstGeom>
          <a:solidFill>
            <a:srgbClr val="009893"/>
          </a:solidFill>
          <a:ln w="12699">
            <a:solidFill>
              <a:srgbClr val="4E94C0"/>
            </a:solidFill>
          </a:ln>
        </p:spPr>
        <p:txBody>
          <a:bodyPr vert="horz" wrap="square" lIns="0" tIns="134620" rIns="0" bIns="0" rtlCol="0">
            <a:spAutoFit/>
          </a:bodyPr>
          <a:lstStyle/>
          <a:p>
            <a:pPr marL="361315">
              <a:spcBef>
                <a:spcPts val="1060"/>
              </a:spcBef>
            </a:pPr>
            <a:r>
              <a:rPr sz="1800" spc="-5" dirty="0">
                <a:solidFill>
                  <a:srgbClr val="FFFFFF"/>
                </a:solidFill>
                <a:cs typeface="Arial"/>
              </a:rPr>
              <a:t>hello</a:t>
            </a:r>
            <a:endParaRPr sz="1800">
              <a:solidFill>
                <a:srgbClr val="263147"/>
              </a:solidFill>
              <a:cs typeface="Arial"/>
            </a:endParaRPr>
          </a:p>
        </p:txBody>
      </p:sp>
      <p:sp>
        <p:nvSpPr>
          <p:cNvPr id="14" name="object 14"/>
          <p:cNvSpPr txBox="1"/>
          <p:nvPr/>
        </p:nvSpPr>
        <p:spPr>
          <a:xfrm>
            <a:off x="1098747" y="2852864"/>
            <a:ext cx="1345575" cy="412934"/>
          </a:xfrm>
          <a:prstGeom prst="rect">
            <a:avLst/>
          </a:prstGeom>
          <a:solidFill>
            <a:srgbClr val="009893"/>
          </a:solidFill>
          <a:ln w="12699">
            <a:solidFill>
              <a:srgbClr val="4E94C0"/>
            </a:solidFill>
          </a:ln>
        </p:spPr>
        <p:txBody>
          <a:bodyPr vert="horz" wrap="square" lIns="0" tIns="134620" rIns="0" bIns="0" rtlCol="0">
            <a:spAutoFit/>
          </a:bodyPr>
          <a:lstStyle/>
          <a:p>
            <a:pPr marL="304800">
              <a:spcBef>
                <a:spcPts val="1060"/>
              </a:spcBef>
            </a:pPr>
            <a:r>
              <a:rPr lang="en-US" sz="1800" dirty="0" err="1" smtClean="0">
                <a:solidFill>
                  <a:srgbClr val="FFFFFF"/>
                </a:solidFill>
                <a:cs typeface="Arial"/>
              </a:rPr>
              <a:t>e</a:t>
            </a:r>
            <a:r>
              <a:rPr sz="1800" dirty="0" err="1" smtClean="0">
                <a:solidFill>
                  <a:srgbClr val="FFFFFF"/>
                </a:solidFill>
                <a:cs typeface="Arial"/>
              </a:rPr>
              <a:t>trader</a:t>
            </a:r>
            <a:endParaRPr sz="1800" dirty="0">
              <a:solidFill>
                <a:srgbClr val="263147"/>
              </a:solidFill>
              <a:cs typeface="Arial"/>
            </a:endParaRPr>
          </a:p>
        </p:txBody>
      </p:sp>
      <p:sp>
        <p:nvSpPr>
          <p:cNvPr id="15" name="object 15"/>
          <p:cNvSpPr txBox="1"/>
          <p:nvPr/>
        </p:nvSpPr>
        <p:spPr>
          <a:xfrm>
            <a:off x="2618505" y="2852864"/>
            <a:ext cx="1345575" cy="412934"/>
          </a:xfrm>
          <a:prstGeom prst="rect">
            <a:avLst/>
          </a:prstGeom>
          <a:solidFill>
            <a:srgbClr val="009893"/>
          </a:solidFill>
          <a:ln w="12699">
            <a:solidFill>
              <a:srgbClr val="4E94C0"/>
            </a:solidFill>
          </a:ln>
        </p:spPr>
        <p:txBody>
          <a:bodyPr vert="horz" wrap="square" lIns="0" tIns="134620" rIns="0" bIns="0" rtlCol="0">
            <a:spAutoFit/>
          </a:bodyPr>
          <a:lstStyle/>
          <a:p>
            <a:pPr marL="304800">
              <a:spcBef>
                <a:spcPts val="1060"/>
              </a:spcBef>
            </a:pPr>
            <a:r>
              <a:rPr lang="en-US" sz="1800" dirty="0" err="1" smtClean="0">
                <a:solidFill>
                  <a:srgbClr val="FFFFFF"/>
                </a:solidFill>
                <a:cs typeface="Arial"/>
              </a:rPr>
              <a:t>e</a:t>
            </a:r>
            <a:r>
              <a:rPr sz="1800" dirty="0" err="1" smtClean="0">
                <a:solidFill>
                  <a:srgbClr val="FFFFFF"/>
                </a:solidFill>
                <a:cs typeface="Arial"/>
              </a:rPr>
              <a:t>trader</a:t>
            </a:r>
            <a:endParaRPr sz="1800" dirty="0">
              <a:solidFill>
                <a:srgbClr val="263147"/>
              </a:solidFill>
              <a:cs typeface="Arial"/>
            </a:endParaRPr>
          </a:p>
        </p:txBody>
      </p:sp>
      <p:sp>
        <p:nvSpPr>
          <p:cNvPr id="16" name="object 16"/>
          <p:cNvSpPr txBox="1"/>
          <p:nvPr/>
        </p:nvSpPr>
        <p:spPr>
          <a:xfrm>
            <a:off x="4153051" y="2852864"/>
            <a:ext cx="1345575" cy="412934"/>
          </a:xfrm>
          <a:prstGeom prst="rect">
            <a:avLst/>
          </a:prstGeom>
          <a:solidFill>
            <a:srgbClr val="009893"/>
          </a:solidFill>
          <a:ln w="12699">
            <a:solidFill>
              <a:srgbClr val="4E94C0"/>
            </a:solidFill>
          </a:ln>
        </p:spPr>
        <p:txBody>
          <a:bodyPr vert="horz" wrap="square" lIns="0" tIns="134620" rIns="0" bIns="0" rtlCol="0">
            <a:spAutoFit/>
          </a:bodyPr>
          <a:lstStyle/>
          <a:p>
            <a:pPr marL="304800">
              <a:spcBef>
                <a:spcPts val="1060"/>
              </a:spcBef>
            </a:pPr>
            <a:r>
              <a:rPr lang="en-US" sz="1800" dirty="0" err="1" smtClean="0">
                <a:solidFill>
                  <a:srgbClr val="FFFFFF"/>
                </a:solidFill>
                <a:cs typeface="Arial"/>
              </a:rPr>
              <a:t>e</a:t>
            </a:r>
            <a:r>
              <a:rPr sz="1800" dirty="0" err="1" smtClean="0">
                <a:solidFill>
                  <a:srgbClr val="FFFFFF"/>
                </a:solidFill>
                <a:cs typeface="Arial"/>
              </a:rPr>
              <a:t>trader</a:t>
            </a:r>
            <a:endParaRPr sz="1800" dirty="0">
              <a:solidFill>
                <a:srgbClr val="263147"/>
              </a:solidFill>
              <a:cs typeface="Arial"/>
            </a:endParaRPr>
          </a:p>
        </p:txBody>
      </p:sp>
      <p:sp>
        <p:nvSpPr>
          <p:cNvPr id="17" name="object 17"/>
          <p:cNvSpPr txBox="1"/>
          <p:nvPr/>
        </p:nvSpPr>
        <p:spPr>
          <a:xfrm>
            <a:off x="1098747" y="2177745"/>
            <a:ext cx="1345575" cy="412934"/>
          </a:xfrm>
          <a:prstGeom prst="rect">
            <a:avLst/>
          </a:prstGeom>
          <a:solidFill>
            <a:srgbClr val="009893"/>
          </a:solidFill>
          <a:ln w="12699">
            <a:solidFill>
              <a:srgbClr val="4E94C0"/>
            </a:solidFill>
          </a:ln>
        </p:spPr>
        <p:txBody>
          <a:bodyPr vert="horz" wrap="square" lIns="0" tIns="134620" rIns="0" bIns="0" rtlCol="0">
            <a:spAutoFit/>
          </a:bodyPr>
          <a:lstStyle/>
          <a:p>
            <a:pPr marL="158115">
              <a:spcBef>
                <a:spcPts val="1060"/>
              </a:spcBef>
            </a:pPr>
            <a:r>
              <a:rPr sz="1800" dirty="0">
                <a:solidFill>
                  <a:srgbClr val="FFFFFF"/>
                </a:solidFill>
                <a:cs typeface="Arial"/>
              </a:rPr>
              <a:t>enqueue</a:t>
            </a:r>
            <a:endParaRPr sz="1800">
              <a:solidFill>
                <a:srgbClr val="263147"/>
              </a:solidFill>
              <a:cs typeface="Arial"/>
            </a:endParaRPr>
          </a:p>
        </p:txBody>
      </p:sp>
      <p:sp>
        <p:nvSpPr>
          <p:cNvPr id="18" name="object 18"/>
          <p:cNvSpPr txBox="1"/>
          <p:nvPr/>
        </p:nvSpPr>
        <p:spPr>
          <a:xfrm>
            <a:off x="1098747" y="1485823"/>
            <a:ext cx="1345575" cy="412934"/>
          </a:xfrm>
          <a:prstGeom prst="rect">
            <a:avLst/>
          </a:prstGeom>
          <a:solidFill>
            <a:srgbClr val="009893"/>
          </a:solidFill>
          <a:ln w="12699">
            <a:solidFill>
              <a:srgbClr val="4E94C0"/>
            </a:solidFill>
          </a:ln>
        </p:spPr>
        <p:txBody>
          <a:bodyPr vert="horz" wrap="square" lIns="0" tIns="134620" rIns="0" bIns="0" rtlCol="0">
            <a:spAutoFit/>
          </a:bodyPr>
          <a:lstStyle/>
          <a:p>
            <a:pPr marL="234950">
              <a:spcBef>
                <a:spcPts val="1060"/>
              </a:spcBef>
            </a:pPr>
            <a:r>
              <a:rPr sz="1800" dirty="0">
                <a:solidFill>
                  <a:srgbClr val="FFFFFF"/>
                </a:solidFill>
                <a:cs typeface="Arial"/>
              </a:rPr>
              <a:t>file</a:t>
            </a:r>
            <a:r>
              <a:rPr sz="1800" spc="-105" dirty="0">
                <a:solidFill>
                  <a:srgbClr val="FFFFFF"/>
                </a:solidFill>
                <a:cs typeface="Arial"/>
              </a:rPr>
              <a:t> </a:t>
            </a:r>
            <a:r>
              <a:rPr sz="1800" dirty="0">
                <a:solidFill>
                  <a:srgbClr val="FFFFFF"/>
                </a:solidFill>
                <a:cs typeface="Arial"/>
              </a:rPr>
              <a:t>xfer</a:t>
            </a:r>
            <a:endParaRPr sz="1800">
              <a:solidFill>
                <a:srgbClr val="263147"/>
              </a:solidFill>
              <a:cs typeface="Arial"/>
            </a:endParaRPr>
          </a:p>
        </p:txBody>
      </p:sp>
      <p:sp>
        <p:nvSpPr>
          <p:cNvPr id="19" name="object 19"/>
          <p:cNvSpPr txBox="1"/>
          <p:nvPr/>
        </p:nvSpPr>
        <p:spPr>
          <a:xfrm>
            <a:off x="2618505" y="1485823"/>
            <a:ext cx="1345575" cy="412934"/>
          </a:xfrm>
          <a:prstGeom prst="rect">
            <a:avLst/>
          </a:prstGeom>
          <a:solidFill>
            <a:srgbClr val="009893"/>
          </a:solidFill>
          <a:ln w="12699">
            <a:solidFill>
              <a:srgbClr val="4E94C0"/>
            </a:solidFill>
          </a:ln>
        </p:spPr>
        <p:txBody>
          <a:bodyPr vert="horz" wrap="square" lIns="0" tIns="134620" rIns="0" bIns="0" rtlCol="0">
            <a:spAutoFit/>
          </a:bodyPr>
          <a:lstStyle/>
          <a:p>
            <a:pPr marL="234950">
              <a:spcBef>
                <a:spcPts val="1060"/>
              </a:spcBef>
            </a:pPr>
            <a:r>
              <a:rPr sz="1800" dirty="0">
                <a:solidFill>
                  <a:srgbClr val="FFFFFF"/>
                </a:solidFill>
                <a:cs typeface="Arial"/>
              </a:rPr>
              <a:t>file</a:t>
            </a:r>
            <a:r>
              <a:rPr sz="1800" spc="-105" dirty="0">
                <a:solidFill>
                  <a:srgbClr val="FFFFFF"/>
                </a:solidFill>
                <a:cs typeface="Arial"/>
              </a:rPr>
              <a:t> </a:t>
            </a:r>
            <a:r>
              <a:rPr sz="1800" dirty="0">
                <a:solidFill>
                  <a:srgbClr val="FFFFFF"/>
                </a:solidFill>
                <a:cs typeface="Arial"/>
              </a:rPr>
              <a:t>xfer</a:t>
            </a:r>
            <a:endParaRPr sz="1800">
              <a:solidFill>
                <a:srgbClr val="263147"/>
              </a:solidFill>
              <a:cs typeface="Arial"/>
            </a:endParaRPr>
          </a:p>
        </p:txBody>
      </p:sp>
      <p:sp>
        <p:nvSpPr>
          <p:cNvPr id="20" name="object 20"/>
          <p:cNvSpPr txBox="1"/>
          <p:nvPr/>
        </p:nvSpPr>
        <p:spPr>
          <a:xfrm>
            <a:off x="4153051" y="1485823"/>
            <a:ext cx="1345575" cy="412934"/>
          </a:xfrm>
          <a:prstGeom prst="rect">
            <a:avLst/>
          </a:prstGeom>
          <a:solidFill>
            <a:srgbClr val="009893"/>
          </a:solidFill>
          <a:ln w="12699">
            <a:solidFill>
              <a:srgbClr val="4E94C0"/>
            </a:solidFill>
          </a:ln>
        </p:spPr>
        <p:txBody>
          <a:bodyPr vert="horz" wrap="square" lIns="0" tIns="134620" rIns="0" bIns="0" rtlCol="0">
            <a:spAutoFit/>
          </a:bodyPr>
          <a:lstStyle/>
          <a:p>
            <a:pPr marL="234950">
              <a:spcBef>
                <a:spcPts val="1060"/>
              </a:spcBef>
            </a:pPr>
            <a:r>
              <a:rPr sz="1800" dirty="0">
                <a:solidFill>
                  <a:srgbClr val="FFFFFF"/>
                </a:solidFill>
                <a:cs typeface="Arial"/>
              </a:rPr>
              <a:t>file</a:t>
            </a:r>
            <a:r>
              <a:rPr sz="1800" spc="-105" dirty="0">
                <a:solidFill>
                  <a:srgbClr val="FFFFFF"/>
                </a:solidFill>
                <a:cs typeface="Arial"/>
              </a:rPr>
              <a:t> </a:t>
            </a:r>
            <a:r>
              <a:rPr sz="1800" dirty="0">
                <a:solidFill>
                  <a:srgbClr val="FFFFFF"/>
                </a:solidFill>
                <a:cs typeface="Arial"/>
              </a:rPr>
              <a:t>xfer</a:t>
            </a:r>
            <a:endParaRPr sz="1800">
              <a:solidFill>
                <a:srgbClr val="263147"/>
              </a:solidFill>
              <a:cs typeface="Arial"/>
            </a:endParaRPr>
          </a:p>
        </p:txBody>
      </p:sp>
      <p:sp>
        <p:nvSpPr>
          <p:cNvPr id="22" name="object 21"/>
          <p:cNvSpPr txBox="1"/>
          <p:nvPr/>
        </p:nvSpPr>
        <p:spPr>
          <a:xfrm>
            <a:off x="5692099" y="2852864"/>
            <a:ext cx="1345575" cy="412934"/>
          </a:xfrm>
          <a:prstGeom prst="rect">
            <a:avLst/>
          </a:prstGeom>
          <a:solidFill>
            <a:srgbClr val="009893"/>
          </a:solidFill>
          <a:ln w="12699">
            <a:solidFill>
              <a:srgbClr val="4E94C0"/>
            </a:solidFill>
          </a:ln>
        </p:spPr>
        <p:txBody>
          <a:bodyPr vert="horz" wrap="square" lIns="0" tIns="134620" rIns="0" bIns="0" rtlCol="0">
            <a:spAutoFit/>
          </a:bodyPr>
          <a:lstStyle/>
          <a:p>
            <a:pPr marL="304800">
              <a:spcBef>
                <a:spcPts val="1060"/>
              </a:spcBef>
            </a:pPr>
            <a:r>
              <a:rPr lang="en-US" sz="1800" dirty="0" err="1" smtClean="0">
                <a:solidFill>
                  <a:srgbClr val="FFFFFF"/>
                </a:solidFill>
                <a:cs typeface="Arial"/>
              </a:rPr>
              <a:t>e</a:t>
            </a:r>
            <a:r>
              <a:rPr sz="1800" dirty="0" err="1" smtClean="0">
                <a:solidFill>
                  <a:srgbClr val="FFFFFF"/>
                </a:solidFill>
                <a:cs typeface="Arial"/>
              </a:rPr>
              <a:t>trader</a:t>
            </a:r>
            <a:endParaRPr sz="1800" dirty="0">
              <a:solidFill>
                <a:srgbClr val="263147"/>
              </a:solidFill>
              <a:cs typeface="Arial"/>
            </a:endParaRPr>
          </a:p>
        </p:txBody>
      </p:sp>
      <p:sp>
        <p:nvSpPr>
          <p:cNvPr id="24" name="object 22"/>
          <p:cNvSpPr txBox="1"/>
          <p:nvPr/>
        </p:nvSpPr>
        <p:spPr>
          <a:xfrm>
            <a:off x="7232398" y="2852864"/>
            <a:ext cx="1345575" cy="412934"/>
          </a:xfrm>
          <a:prstGeom prst="rect">
            <a:avLst/>
          </a:prstGeom>
          <a:solidFill>
            <a:srgbClr val="009893"/>
          </a:solidFill>
          <a:ln w="12699">
            <a:solidFill>
              <a:srgbClr val="4E94C0"/>
            </a:solidFill>
          </a:ln>
        </p:spPr>
        <p:txBody>
          <a:bodyPr vert="horz" wrap="square" lIns="0" tIns="134620" rIns="0" bIns="0" rtlCol="0">
            <a:spAutoFit/>
          </a:bodyPr>
          <a:lstStyle/>
          <a:p>
            <a:pPr marL="304800">
              <a:spcBef>
                <a:spcPts val="1060"/>
              </a:spcBef>
            </a:pPr>
            <a:r>
              <a:rPr lang="en-US" sz="1800" dirty="0" err="1" smtClean="0">
                <a:solidFill>
                  <a:srgbClr val="FFFFFF"/>
                </a:solidFill>
                <a:cs typeface="Arial"/>
              </a:rPr>
              <a:t>e</a:t>
            </a:r>
            <a:r>
              <a:rPr sz="1800" dirty="0" err="1" smtClean="0">
                <a:solidFill>
                  <a:srgbClr val="FFFFFF"/>
                </a:solidFill>
                <a:cs typeface="Arial"/>
              </a:rPr>
              <a:t>trader</a:t>
            </a:r>
            <a:endParaRPr sz="1800" dirty="0">
              <a:solidFill>
                <a:srgbClr val="263147"/>
              </a:solidFill>
              <a:cs typeface="Arial"/>
            </a:endParaRPr>
          </a:p>
        </p:txBody>
      </p:sp>
      <p:sp>
        <p:nvSpPr>
          <p:cNvPr id="26" name="Content Placeholder 2"/>
          <p:cNvSpPr>
            <a:spLocks noGrp="1"/>
          </p:cNvSpPr>
          <p:nvPr>
            <p:ph sz="quarter" idx="4294967295"/>
          </p:nvPr>
        </p:nvSpPr>
        <p:spPr>
          <a:xfrm>
            <a:off x="506437" y="4837193"/>
            <a:ext cx="9610793" cy="1319132"/>
          </a:xfrm>
          <a:prstGeom prst="rect">
            <a:avLst/>
          </a:prstGeom>
        </p:spPr>
        <p:txBody>
          <a:bodyPr/>
          <a:lstStyle/>
          <a:p>
            <a:r>
              <a:rPr lang="en-US" sz="2800" dirty="0" smtClean="0"/>
              <a:t>Scale out by running multiple processes of different types</a:t>
            </a:r>
          </a:p>
        </p:txBody>
      </p:sp>
    </p:spTree>
    <p:extLst>
      <p:ext uri="{BB962C8B-B14F-4D97-AF65-F5344CB8AC3E}">
        <p14:creationId xmlns="" xmlns:p14="http://schemas.microsoft.com/office/powerpoint/2010/main" val="316001913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nvGraphicFramePr>
        <p:xfrm>
          <a:off x="0" y="0"/>
          <a:ext cx="175846" cy="158750"/>
        </p:xfrm>
        <a:graphic>
          <a:graphicData uri="http://schemas.openxmlformats.org/presentationml/2006/ole">
            <p:oleObj spid="_x0000_s283650" name="think-cell Slide" r:id="rId4" imgW="360" imgH="360" progId="">
              <p:embed/>
            </p:oleObj>
          </a:graphicData>
        </a:graphic>
      </p:graphicFrame>
      <p:sp>
        <p:nvSpPr>
          <p:cNvPr id="21" name="Title 20"/>
          <p:cNvSpPr>
            <a:spLocks noGrp="1"/>
          </p:cNvSpPr>
          <p:nvPr>
            <p:ph type="title"/>
          </p:nvPr>
        </p:nvSpPr>
        <p:spPr/>
        <p:txBody>
          <a:bodyPr/>
          <a:lstStyle/>
          <a:p>
            <a:r>
              <a:rPr lang="en-US" sz="2800" dirty="0" smtClean="0"/>
              <a:t>Factor 9 – Disposability</a:t>
            </a:r>
            <a:endParaRPr lang="en-US" sz="2800" dirty="0"/>
          </a:p>
        </p:txBody>
      </p:sp>
      <p:sp>
        <p:nvSpPr>
          <p:cNvPr id="23" name="Content Placeholder 2"/>
          <p:cNvSpPr>
            <a:spLocks noGrp="1"/>
          </p:cNvSpPr>
          <p:nvPr>
            <p:ph sz="quarter" idx="4294967295"/>
          </p:nvPr>
        </p:nvSpPr>
        <p:spPr>
          <a:xfrm>
            <a:off x="506437" y="1219203"/>
            <a:ext cx="9610793" cy="4937125"/>
          </a:xfrm>
          <a:prstGeom prst="rect">
            <a:avLst/>
          </a:prstGeom>
        </p:spPr>
        <p:txBody>
          <a:bodyPr/>
          <a:lstStyle/>
          <a:p>
            <a:r>
              <a:rPr lang="en-US" sz="2800" dirty="0" smtClean="0"/>
              <a:t>Maximize robustness with fast startup and graceful shutdown</a:t>
            </a:r>
          </a:p>
          <a:p>
            <a:r>
              <a:rPr lang="en-US" sz="2800" dirty="0" smtClean="0"/>
              <a:t>Processes should be disposable</a:t>
            </a:r>
          </a:p>
          <a:p>
            <a:pPr lvl="1"/>
            <a:r>
              <a:rPr lang="en-US" sz="2800" dirty="0" smtClean="0"/>
              <a:t>No loss of state for user, processes are stateless</a:t>
            </a:r>
          </a:p>
          <a:p>
            <a:r>
              <a:rPr lang="en-US" sz="2800" dirty="0" smtClean="0"/>
              <a:t>Processes should be quick to start and stop</a:t>
            </a:r>
          </a:p>
          <a:p>
            <a:pPr lvl="1"/>
            <a:r>
              <a:rPr lang="en-US" sz="2800" dirty="0" smtClean="0"/>
              <a:t>Should exit gracefully/finish current requests</a:t>
            </a:r>
          </a:p>
          <a:p>
            <a:pPr lvl="1"/>
            <a:r>
              <a:rPr lang="en-US" sz="2800" dirty="0" smtClean="0"/>
              <a:t>Or should be idempotent/ reentrant</a:t>
            </a:r>
          </a:p>
          <a:p>
            <a:r>
              <a:rPr lang="en-US" sz="2800" dirty="0" smtClean="0"/>
              <a:t>Losing process should be a normal event</a:t>
            </a:r>
          </a:p>
          <a:p>
            <a:r>
              <a:rPr lang="en-US" sz="2800" dirty="0" smtClean="0"/>
              <a:t>Platform can adapt to errant process and self heal if required</a:t>
            </a:r>
          </a:p>
        </p:txBody>
      </p:sp>
    </p:spTree>
    <p:extLst>
      <p:ext uri="{BB962C8B-B14F-4D97-AF65-F5344CB8AC3E}">
        <p14:creationId xmlns="" xmlns:p14="http://schemas.microsoft.com/office/powerpoint/2010/main" val="385820072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nvGraphicFramePr>
        <p:xfrm>
          <a:off x="0" y="0"/>
          <a:ext cx="175846" cy="158750"/>
        </p:xfrm>
        <a:graphic>
          <a:graphicData uri="http://schemas.openxmlformats.org/presentationml/2006/ole">
            <p:oleObj spid="_x0000_s284674" name="think-cell Slide" r:id="rId4" imgW="360" imgH="360" progId="">
              <p:embed/>
            </p:oleObj>
          </a:graphicData>
        </a:graphic>
      </p:graphicFrame>
      <p:sp>
        <p:nvSpPr>
          <p:cNvPr id="21" name="Title 20"/>
          <p:cNvSpPr>
            <a:spLocks noGrp="1"/>
          </p:cNvSpPr>
          <p:nvPr>
            <p:ph type="title"/>
          </p:nvPr>
        </p:nvSpPr>
        <p:spPr/>
        <p:txBody>
          <a:bodyPr/>
          <a:lstStyle/>
          <a:p>
            <a:r>
              <a:rPr lang="en-US" sz="2800" dirty="0" smtClean="0"/>
              <a:t>Factor 10 – Dev/prod parity</a:t>
            </a:r>
            <a:endParaRPr lang="en-US" sz="2800" dirty="0"/>
          </a:p>
        </p:txBody>
      </p:sp>
      <p:sp>
        <p:nvSpPr>
          <p:cNvPr id="23" name="Content Placeholder 2"/>
          <p:cNvSpPr>
            <a:spLocks noGrp="1"/>
          </p:cNvSpPr>
          <p:nvPr>
            <p:ph sz="quarter" idx="4294967295"/>
          </p:nvPr>
        </p:nvSpPr>
        <p:spPr>
          <a:xfrm>
            <a:off x="506437" y="1219203"/>
            <a:ext cx="9610793" cy="4937125"/>
          </a:xfrm>
          <a:prstGeom prst="rect">
            <a:avLst/>
          </a:prstGeom>
        </p:spPr>
        <p:txBody>
          <a:bodyPr/>
          <a:lstStyle/>
          <a:p>
            <a:r>
              <a:rPr lang="en-US" sz="2800" dirty="0" smtClean="0"/>
              <a:t>Keep </a:t>
            </a:r>
            <a:r>
              <a:rPr lang="en-US" sz="2800" dirty="0" err="1" smtClean="0"/>
              <a:t>dev</a:t>
            </a:r>
            <a:r>
              <a:rPr lang="en-US" sz="2800" dirty="0" smtClean="0"/>
              <a:t>, staging, prod as similar as possible</a:t>
            </a:r>
          </a:p>
          <a:p>
            <a:r>
              <a:rPr lang="en-US" sz="2800" dirty="0" smtClean="0"/>
              <a:t>Dev/Prod environments often are different</a:t>
            </a:r>
          </a:p>
          <a:p>
            <a:pPr lvl="1"/>
            <a:r>
              <a:rPr lang="en-US" sz="2800" dirty="0" smtClean="0"/>
              <a:t>Time gap – (development over weeks/months)</a:t>
            </a:r>
          </a:p>
          <a:p>
            <a:pPr lvl="1"/>
            <a:r>
              <a:rPr lang="en-US" sz="2800" dirty="0" smtClean="0"/>
              <a:t>Personnel gap – developers develop, admins deploy</a:t>
            </a:r>
          </a:p>
          <a:p>
            <a:pPr lvl="1"/>
            <a:r>
              <a:rPr lang="en-US" sz="2800" dirty="0" smtClean="0"/>
              <a:t>Tool gap – </a:t>
            </a:r>
            <a:r>
              <a:rPr lang="en-US" sz="2800" dirty="0" err="1" smtClean="0"/>
              <a:t>dev</a:t>
            </a:r>
            <a:r>
              <a:rPr lang="en-US" sz="2800" dirty="0" smtClean="0"/>
              <a:t> use </a:t>
            </a:r>
            <a:r>
              <a:rPr lang="en-US" sz="2800" dirty="0" err="1" smtClean="0"/>
              <a:t>SQLLite</a:t>
            </a:r>
            <a:r>
              <a:rPr lang="en-US" sz="2800" dirty="0" smtClean="0"/>
              <a:t>/</a:t>
            </a:r>
            <a:r>
              <a:rPr lang="en-US" sz="2800" dirty="0" err="1" smtClean="0"/>
              <a:t>Nginx</a:t>
            </a:r>
            <a:r>
              <a:rPr lang="en-US" sz="2800" dirty="0" smtClean="0"/>
              <a:t>, prod uses Apache/Oracle</a:t>
            </a:r>
          </a:p>
          <a:p>
            <a:r>
              <a:rPr lang="en-US" sz="2800" dirty="0" smtClean="0"/>
              <a:t>Keep differences minor</a:t>
            </a:r>
          </a:p>
          <a:p>
            <a:pPr lvl="1"/>
            <a:r>
              <a:rPr lang="en-US" sz="2800" dirty="0" smtClean="0"/>
              <a:t>Reduce time gap- small changes &amp; continuous deployment</a:t>
            </a:r>
          </a:p>
        </p:txBody>
      </p:sp>
    </p:spTree>
    <p:extLst>
      <p:ext uri="{BB962C8B-B14F-4D97-AF65-F5344CB8AC3E}">
        <p14:creationId xmlns="" xmlns:p14="http://schemas.microsoft.com/office/powerpoint/2010/main" val="388573453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nvGraphicFramePr>
        <p:xfrm>
          <a:off x="0" y="0"/>
          <a:ext cx="175846" cy="158750"/>
        </p:xfrm>
        <a:graphic>
          <a:graphicData uri="http://schemas.openxmlformats.org/presentationml/2006/ole">
            <p:oleObj spid="_x0000_s285698" name="think-cell Slide" r:id="rId4" imgW="360" imgH="360" progId="">
              <p:embed/>
            </p:oleObj>
          </a:graphicData>
        </a:graphic>
      </p:graphicFrame>
      <p:sp>
        <p:nvSpPr>
          <p:cNvPr id="21" name="Title 20"/>
          <p:cNvSpPr>
            <a:spLocks noGrp="1"/>
          </p:cNvSpPr>
          <p:nvPr>
            <p:ph type="title"/>
          </p:nvPr>
        </p:nvSpPr>
        <p:spPr/>
        <p:txBody>
          <a:bodyPr/>
          <a:lstStyle/>
          <a:p>
            <a:r>
              <a:rPr lang="en-US" sz="2800" dirty="0" smtClean="0"/>
              <a:t>Factor 11 – Logs</a:t>
            </a:r>
            <a:endParaRPr lang="en-US" sz="2800" dirty="0"/>
          </a:p>
        </p:txBody>
      </p:sp>
      <p:sp>
        <p:nvSpPr>
          <p:cNvPr id="23" name="Content Placeholder 2"/>
          <p:cNvSpPr>
            <a:spLocks noGrp="1"/>
          </p:cNvSpPr>
          <p:nvPr>
            <p:ph sz="quarter" idx="4294967295"/>
          </p:nvPr>
        </p:nvSpPr>
        <p:spPr>
          <a:xfrm>
            <a:off x="506437" y="1219203"/>
            <a:ext cx="9610793" cy="4937125"/>
          </a:xfrm>
          <a:prstGeom prst="rect">
            <a:avLst/>
          </a:prstGeom>
        </p:spPr>
        <p:txBody>
          <a:bodyPr/>
          <a:lstStyle/>
          <a:p>
            <a:r>
              <a:rPr lang="en-US" sz="2800" dirty="0" smtClean="0"/>
              <a:t>Treat log as event streams</a:t>
            </a:r>
          </a:p>
          <a:p>
            <a:r>
              <a:rPr lang="en-US" sz="2800" dirty="0" smtClean="0"/>
              <a:t>Logs are streams of aggregated, time-ordered </a:t>
            </a:r>
            <a:r>
              <a:rPr lang="en-US" sz="2800" dirty="0" err="1" smtClean="0"/>
              <a:t>evnets</a:t>
            </a:r>
            <a:endParaRPr lang="en-US" sz="2800" dirty="0" smtClean="0"/>
          </a:p>
          <a:p>
            <a:pPr lvl="1"/>
            <a:r>
              <a:rPr lang="en-US" sz="2800" dirty="0" smtClean="0"/>
              <a:t>Separate log manager handle log management – logging as a service</a:t>
            </a:r>
          </a:p>
          <a:p>
            <a:pPr lvl="1"/>
            <a:r>
              <a:rPr lang="en-US" sz="2800" dirty="0" smtClean="0"/>
              <a:t>Apps are not concerned with log management – Just write to </a:t>
            </a:r>
            <a:r>
              <a:rPr lang="en-US" sz="2800" dirty="0" err="1" smtClean="0"/>
              <a:t>sysout</a:t>
            </a:r>
            <a:r>
              <a:rPr lang="en-US" sz="2800" dirty="0" smtClean="0"/>
              <a:t> </a:t>
            </a:r>
          </a:p>
          <a:p>
            <a:r>
              <a:rPr lang="en-US" sz="2800" dirty="0" smtClean="0"/>
              <a:t>Logs can be managed via tool like </a:t>
            </a:r>
            <a:r>
              <a:rPr lang="en-US" sz="2800" dirty="0" err="1" smtClean="0"/>
              <a:t>Splunk</a:t>
            </a:r>
            <a:endParaRPr lang="en-US" sz="2800" dirty="0" smtClean="0"/>
          </a:p>
          <a:p>
            <a:pPr lvl="1"/>
            <a:r>
              <a:rPr lang="en-US" sz="2800" dirty="0" smtClean="0"/>
              <a:t>Log indexing and analysis</a:t>
            </a:r>
          </a:p>
        </p:txBody>
      </p:sp>
    </p:spTree>
    <p:extLst>
      <p:ext uri="{BB962C8B-B14F-4D97-AF65-F5344CB8AC3E}">
        <p14:creationId xmlns="" xmlns:p14="http://schemas.microsoft.com/office/powerpoint/2010/main" val="187550466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nvGraphicFramePr>
        <p:xfrm>
          <a:off x="0" y="0"/>
          <a:ext cx="175846" cy="158750"/>
        </p:xfrm>
        <a:graphic>
          <a:graphicData uri="http://schemas.openxmlformats.org/presentationml/2006/ole">
            <p:oleObj spid="_x0000_s286722" name="think-cell Slide" r:id="rId4" imgW="360" imgH="360" progId="">
              <p:embed/>
            </p:oleObj>
          </a:graphicData>
        </a:graphic>
      </p:graphicFrame>
      <p:sp>
        <p:nvSpPr>
          <p:cNvPr id="21" name="Title 20"/>
          <p:cNvSpPr>
            <a:spLocks noGrp="1"/>
          </p:cNvSpPr>
          <p:nvPr>
            <p:ph type="title"/>
          </p:nvPr>
        </p:nvSpPr>
        <p:spPr/>
        <p:txBody>
          <a:bodyPr/>
          <a:lstStyle/>
          <a:p>
            <a:r>
              <a:rPr lang="en-US" sz="2800" dirty="0" smtClean="0"/>
              <a:t>Factor 11 – Logs</a:t>
            </a:r>
            <a:endParaRPr lang="en-US" sz="2800" dirty="0"/>
          </a:p>
        </p:txBody>
      </p:sp>
      <p:sp>
        <p:nvSpPr>
          <p:cNvPr id="5" name="object 3"/>
          <p:cNvSpPr txBox="1"/>
          <p:nvPr/>
        </p:nvSpPr>
        <p:spPr>
          <a:xfrm>
            <a:off x="438912" y="1626872"/>
            <a:ext cx="9149627" cy="3477875"/>
          </a:xfrm>
          <a:prstGeom prst="rect">
            <a:avLst/>
          </a:prstGeom>
        </p:spPr>
        <p:txBody>
          <a:bodyPr vert="horz" wrap="square" lIns="0" tIns="0" rIns="0" bIns="0" rtlCol="0">
            <a:spAutoFit/>
          </a:bodyPr>
          <a:lstStyle/>
          <a:p>
            <a:pPr marL="381000" indent="-368300"/>
            <a:r>
              <a:rPr sz="1800" dirty="0">
                <a:solidFill>
                  <a:srgbClr val="535353"/>
                </a:solidFill>
                <a:cs typeface="Arial"/>
              </a:rPr>
              <a:t>In</a:t>
            </a:r>
            <a:r>
              <a:rPr sz="1800" spc="-105" dirty="0">
                <a:solidFill>
                  <a:srgbClr val="535353"/>
                </a:solidFill>
                <a:cs typeface="Arial"/>
              </a:rPr>
              <a:t> </a:t>
            </a:r>
            <a:r>
              <a:rPr sz="1800" dirty="0">
                <a:solidFill>
                  <a:srgbClr val="535353"/>
                </a:solidFill>
                <a:cs typeface="Arial"/>
              </a:rPr>
              <a:t>application.yml</a:t>
            </a:r>
            <a:endParaRPr sz="1800" dirty="0">
              <a:solidFill>
                <a:srgbClr val="263147"/>
              </a:solidFill>
              <a:cs typeface="Arial"/>
            </a:endParaRPr>
          </a:p>
          <a:p>
            <a:pPr marL="655320" marR="6773545" indent="-274955">
              <a:lnSpc>
                <a:spcPts val="2100"/>
              </a:lnSpc>
              <a:spcBef>
                <a:spcPts val="960"/>
              </a:spcBef>
            </a:pPr>
            <a:r>
              <a:rPr sz="1800" spc="-5" dirty="0">
                <a:solidFill>
                  <a:srgbClr val="535353"/>
                </a:solidFill>
                <a:latin typeface="Courier New"/>
                <a:cs typeface="Courier New"/>
              </a:rPr>
              <a:t>logging:  level:</a:t>
            </a:r>
            <a:endParaRPr sz="1800" dirty="0">
              <a:solidFill>
                <a:srgbClr val="263147"/>
              </a:solidFill>
              <a:latin typeface="Courier New"/>
              <a:cs typeface="Courier New"/>
            </a:endParaRPr>
          </a:p>
          <a:p>
            <a:pPr marL="929640" marR="1149350">
              <a:lnSpc>
                <a:spcPts val="2100"/>
              </a:lnSpc>
              <a:spcBef>
                <a:spcPts val="100"/>
              </a:spcBef>
              <a:tabLst>
                <a:tab pos="3810000" algn="l"/>
              </a:tabLst>
            </a:pPr>
            <a:r>
              <a:rPr sz="1800" dirty="0">
                <a:solidFill>
                  <a:srgbClr val="535353"/>
                </a:solidFill>
                <a:latin typeface="Courier New"/>
                <a:cs typeface="Courier New"/>
              </a:rPr>
              <a:t>org.springframewor</a:t>
            </a:r>
            <a:r>
              <a:rPr sz="1800" spc="-5" dirty="0">
                <a:solidFill>
                  <a:srgbClr val="535353"/>
                </a:solidFill>
                <a:latin typeface="Courier New"/>
                <a:cs typeface="Courier New"/>
              </a:rPr>
              <a:t>k</a:t>
            </a:r>
            <a:r>
              <a:rPr sz="1800" dirty="0">
                <a:solidFill>
                  <a:srgbClr val="535353"/>
                </a:solidFill>
                <a:latin typeface="Courier New"/>
                <a:cs typeface="Courier New"/>
              </a:rPr>
              <a:t>:	</a:t>
            </a:r>
            <a:r>
              <a:rPr sz="1800" spc="-5" dirty="0">
                <a:solidFill>
                  <a:srgbClr val="535353"/>
                </a:solidFill>
                <a:latin typeface="Courier New"/>
                <a:cs typeface="Courier New"/>
              </a:rPr>
              <a:t>${SPRING_LOG_LEVEL:INFO}  hello:</a:t>
            </a:r>
            <a:r>
              <a:rPr sz="1800" spc="-95" dirty="0">
                <a:solidFill>
                  <a:srgbClr val="535353"/>
                </a:solidFill>
                <a:latin typeface="Courier New"/>
                <a:cs typeface="Courier New"/>
              </a:rPr>
              <a:t> </a:t>
            </a:r>
            <a:r>
              <a:rPr sz="1800" spc="-5" dirty="0">
                <a:solidFill>
                  <a:srgbClr val="535353"/>
                </a:solidFill>
                <a:latin typeface="Courier New"/>
                <a:cs typeface="Courier New"/>
              </a:rPr>
              <a:t>${LOG_LEVEL:INFO}</a:t>
            </a:r>
            <a:endParaRPr sz="1800" dirty="0">
              <a:solidFill>
                <a:srgbClr val="263147"/>
              </a:solidFill>
              <a:latin typeface="Courier New"/>
              <a:cs typeface="Courier New"/>
            </a:endParaRPr>
          </a:p>
          <a:p>
            <a:pPr>
              <a:spcBef>
                <a:spcPts val="52"/>
              </a:spcBef>
            </a:pPr>
            <a:endParaRPr sz="1850" dirty="0">
              <a:solidFill>
                <a:srgbClr val="263147"/>
              </a:solidFill>
              <a:latin typeface="Times New Roman"/>
              <a:cs typeface="Times New Roman"/>
            </a:endParaRPr>
          </a:p>
          <a:p>
            <a:pPr marL="228600">
              <a:lnSpc>
                <a:spcPts val="4310"/>
              </a:lnSpc>
            </a:pPr>
            <a:r>
              <a:rPr sz="3600" dirty="0">
                <a:solidFill>
                  <a:srgbClr val="FF6600"/>
                </a:solidFill>
                <a:cs typeface="Arial"/>
              </a:rPr>
              <a:t>BUT</a:t>
            </a:r>
            <a:endParaRPr sz="3600" dirty="0">
              <a:solidFill>
                <a:srgbClr val="263147"/>
              </a:solidFill>
              <a:cs typeface="Arial"/>
            </a:endParaRPr>
          </a:p>
          <a:p>
            <a:pPr marL="228600">
              <a:lnSpc>
                <a:spcPts val="2870"/>
              </a:lnSpc>
            </a:pPr>
            <a:r>
              <a:rPr sz="2400" dirty="0">
                <a:solidFill>
                  <a:srgbClr val="535353"/>
                </a:solidFill>
                <a:cs typeface="Arial"/>
              </a:rPr>
              <a:t>Use this property file </a:t>
            </a:r>
            <a:r>
              <a:rPr sz="2400" b="1" spc="-60" dirty="0">
                <a:solidFill>
                  <a:srgbClr val="FF6600"/>
                </a:solidFill>
                <a:cs typeface="Arial"/>
              </a:rPr>
              <a:t>ONLY </a:t>
            </a:r>
            <a:r>
              <a:rPr sz="2400" dirty="0">
                <a:solidFill>
                  <a:srgbClr val="535353"/>
                </a:solidFill>
                <a:cs typeface="Arial"/>
              </a:rPr>
              <a:t>as an (hierarchical)</a:t>
            </a:r>
            <a:r>
              <a:rPr sz="2400" spc="-30" dirty="0">
                <a:solidFill>
                  <a:srgbClr val="535353"/>
                </a:solidFill>
                <a:cs typeface="Arial"/>
              </a:rPr>
              <a:t> </a:t>
            </a:r>
            <a:r>
              <a:rPr sz="2400" dirty="0">
                <a:solidFill>
                  <a:srgbClr val="535353"/>
                </a:solidFill>
                <a:cs typeface="Arial"/>
              </a:rPr>
              <a:t>abstraction!</a:t>
            </a:r>
            <a:endParaRPr sz="2400" dirty="0">
              <a:solidFill>
                <a:srgbClr val="263147"/>
              </a:solidFill>
              <a:cs typeface="Arial"/>
            </a:endParaRPr>
          </a:p>
          <a:p>
            <a:pPr marL="228600">
              <a:spcBef>
                <a:spcPts val="2120"/>
              </a:spcBef>
            </a:pPr>
            <a:r>
              <a:rPr sz="3200" spc="-5" dirty="0">
                <a:solidFill>
                  <a:srgbClr val="535353"/>
                </a:solidFill>
                <a:cs typeface="Arial"/>
              </a:rPr>
              <a:t>Store config </a:t>
            </a:r>
            <a:r>
              <a:rPr sz="3200" dirty="0">
                <a:solidFill>
                  <a:srgbClr val="535353"/>
                </a:solidFill>
                <a:cs typeface="Arial"/>
              </a:rPr>
              <a:t>in </a:t>
            </a:r>
            <a:r>
              <a:rPr sz="3200" spc="-5" dirty="0">
                <a:solidFill>
                  <a:srgbClr val="535353"/>
                </a:solidFill>
                <a:cs typeface="Arial"/>
              </a:rPr>
              <a:t>the</a:t>
            </a:r>
            <a:r>
              <a:rPr sz="3200" spc="15" dirty="0">
                <a:solidFill>
                  <a:srgbClr val="535353"/>
                </a:solidFill>
                <a:cs typeface="Arial"/>
              </a:rPr>
              <a:t> </a:t>
            </a:r>
            <a:r>
              <a:rPr sz="3200" spc="-5" dirty="0">
                <a:solidFill>
                  <a:srgbClr val="535353"/>
                </a:solidFill>
                <a:cs typeface="Arial"/>
              </a:rPr>
              <a:t>environment!!</a:t>
            </a:r>
            <a:endParaRPr sz="3200" dirty="0">
              <a:solidFill>
                <a:srgbClr val="263147"/>
              </a:solidFill>
              <a:cs typeface="Arial"/>
            </a:endParaRPr>
          </a:p>
        </p:txBody>
      </p:sp>
      <p:sp>
        <p:nvSpPr>
          <p:cNvPr id="6" name="Content Placeholder 2"/>
          <p:cNvSpPr>
            <a:spLocks noGrp="1"/>
          </p:cNvSpPr>
          <p:nvPr>
            <p:ph sz="quarter" idx="4294967295"/>
          </p:nvPr>
        </p:nvSpPr>
        <p:spPr>
          <a:xfrm>
            <a:off x="506437" y="5410204"/>
            <a:ext cx="9610793" cy="651163"/>
          </a:xfrm>
          <a:prstGeom prst="rect">
            <a:avLst/>
          </a:prstGeom>
        </p:spPr>
        <p:txBody>
          <a:bodyPr/>
          <a:lstStyle/>
          <a:p>
            <a:r>
              <a:rPr lang="en-US" sz="2800" dirty="0" smtClean="0"/>
              <a:t>Using ENV to </a:t>
            </a:r>
            <a:r>
              <a:rPr lang="en-US" sz="2800" dirty="0" err="1" smtClean="0"/>
              <a:t>config</a:t>
            </a:r>
            <a:r>
              <a:rPr lang="en-US" sz="2800" dirty="0" smtClean="0"/>
              <a:t> logging in Spring</a:t>
            </a:r>
          </a:p>
        </p:txBody>
      </p:sp>
    </p:spTree>
    <p:extLst>
      <p:ext uri="{BB962C8B-B14F-4D97-AF65-F5344CB8AC3E}">
        <p14:creationId xmlns="" xmlns:p14="http://schemas.microsoft.com/office/powerpoint/2010/main" val="29034797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nvGraphicFramePr>
        <p:xfrm>
          <a:off x="0" y="0"/>
          <a:ext cx="175846" cy="158750"/>
        </p:xfrm>
        <a:graphic>
          <a:graphicData uri="http://schemas.openxmlformats.org/presentationml/2006/ole">
            <p:oleObj spid="_x0000_s287746" name="think-cell Slide" r:id="rId4" imgW="360" imgH="360" progId="">
              <p:embed/>
            </p:oleObj>
          </a:graphicData>
        </a:graphic>
      </p:graphicFrame>
      <p:sp>
        <p:nvSpPr>
          <p:cNvPr id="21" name="Title 20"/>
          <p:cNvSpPr>
            <a:spLocks noGrp="1"/>
          </p:cNvSpPr>
          <p:nvPr>
            <p:ph type="title"/>
          </p:nvPr>
        </p:nvSpPr>
        <p:spPr/>
        <p:txBody>
          <a:bodyPr/>
          <a:lstStyle/>
          <a:p>
            <a:r>
              <a:rPr lang="en-US" sz="2800" dirty="0" smtClean="0"/>
              <a:t>Factor 12 – Admin Processes </a:t>
            </a:r>
            <a:endParaRPr lang="en-US" sz="2800" dirty="0"/>
          </a:p>
        </p:txBody>
      </p:sp>
      <p:sp>
        <p:nvSpPr>
          <p:cNvPr id="23" name="Content Placeholder 2"/>
          <p:cNvSpPr>
            <a:spLocks noGrp="1"/>
          </p:cNvSpPr>
          <p:nvPr>
            <p:ph sz="quarter" idx="4294967295"/>
          </p:nvPr>
        </p:nvSpPr>
        <p:spPr>
          <a:xfrm>
            <a:off x="506437" y="1219203"/>
            <a:ext cx="9610793" cy="4937125"/>
          </a:xfrm>
          <a:prstGeom prst="rect">
            <a:avLst/>
          </a:prstGeom>
        </p:spPr>
        <p:txBody>
          <a:bodyPr/>
          <a:lstStyle/>
          <a:p>
            <a:r>
              <a:rPr lang="en-US" sz="2800" dirty="0" smtClean="0"/>
              <a:t>Run admin/mgmt. tasks as one-off processes</a:t>
            </a:r>
          </a:p>
          <a:p>
            <a:r>
              <a:rPr lang="en-US" sz="2800" dirty="0" smtClean="0"/>
              <a:t>Admin Processes/Management tasks run as One-Off Processes</a:t>
            </a:r>
          </a:p>
          <a:p>
            <a:pPr lvl="1"/>
            <a:r>
              <a:rPr lang="en-US" sz="2800" dirty="0" smtClean="0"/>
              <a:t>DB Migrations, one time scripts </a:t>
            </a:r>
            <a:r>
              <a:rPr lang="en-US" sz="2800" dirty="0" err="1" smtClean="0"/>
              <a:t>etc</a:t>
            </a:r>
            <a:endParaRPr lang="en-US" sz="2800" dirty="0" smtClean="0"/>
          </a:p>
          <a:p>
            <a:pPr lvl="1"/>
            <a:r>
              <a:rPr lang="en-US" sz="2800" dirty="0" smtClean="0"/>
              <a:t>Use same environment, tools, language as application processes </a:t>
            </a:r>
            <a:r>
              <a:rPr lang="en-US" sz="2800" dirty="0" err="1" smtClean="0"/>
              <a:t>e.g.REPL</a:t>
            </a:r>
            <a:r>
              <a:rPr lang="en-US" sz="2800" dirty="0" smtClean="0"/>
              <a:t> – Read-</a:t>
            </a:r>
            <a:r>
              <a:rPr lang="en-US" sz="2800" dirty="0" err="1" smtClean="0"/>
              <a:t>Eval</a:t>
            </a:r>
            <a:r>
              <a:rPr lang="en-US" sz="2800" dirty="0" smtClean="0"/>
              <a:t>-Print-Loop (Command-shell for running non-interactive shell scripts)</a:t>
            </a:r>
            <a:endParaRPr lang="en-US" sz="2800" dirty="0"/>
          </a:p>
        </p:txBody>
      </p:sp>
    </p:spTree>
    <p:extLst>
      <p:ext uri="{BB962C8B-B14F-4D97-AF65-F5344CB8AC3E}">
        <p14:creationId xmlns="" xmlns:p14="http://schemas.microsoft.com/office/powerpoint/2010/main" val="146125556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nvGraphicFramePr>
        <p:xfrm>
          <a:off x="0" y="0"/>
          <a:ext cx="175846" cy="158750"/>
        </p:xfrm>
        <a:graphic>
          <a:graphicData uri="http://schemas.openxmlformats.org/presentationml/2006/ole">
            <p:oleObj spid="_x0000_s288770" name="think-cell Slide" r:id="rId4" imgW="360" imgH="360" progId="">
              <p:embed/>
            </p:oleObj>
          </a:graphicData>
        </a:graphic>
      </p:graphicFrame>
      <p:sp>
        <p:nvSpPr>
          <p:cNvPr id="21" name="Title 20"/>
          <p:cNvSpPr>
            <a:spLocks noGrp="1"/>
          </p:cNvSpPr>
          <p:nvPr>
            <p:ph type="title"/>
          </p:nvPr>
        </p:nvSpPr>
        <p:spPr/>
        <p:txBody>
          <a:bodyPr/>
          <a:lstStyle/>
          <a:p>
            <a:r>
              <a:rPr lang="en-US" sz="2800" dirty="0" smtClean="0"/>
              <a:t>Factor 12 – Admin Processes </a:t>
            </a:r>
            <a:endParaRPr lang="en-US" sz="2800" dirty="0"/>
          </a:p>
        </p:txBody>
      </p:sp>
      <p:sp>
        <p:nvSpPr>
          <p:cNvPr id="23" name="Content Placeholder 2"/>
          <p:cNvSpPr>
            <a:spLocks noGrp="1"/>
          </p:cNvSpPr>
          <p:nvPr>
            <p:ph sz="quarter" idx="4294967295"/>
          </p:nvPr>
        </p:nvSpPr>
        <p:spPr>
          <a:xfrm>
            <a:off x="506437" y="1219203"/>
            <a:ext cx="9610793" cy="4937125"/>
          </a:xfrm>
          <a:prstGeom prst="rect">
            <a:avLst/>
          </a:prstGeom>
        </p:spPr>
        <p:txBody>
          <a:bodyPr/>
          <a:lstStyle/>
          <a:p>
            <a:r>
              <a:rPr lang="en-US" sz="2800" dirty="0">
                <a:solidFill>
                  <a:srgbClr val="535353"/>
                </a:solidFill>
              </a:rPr>
              <a:t>Admin / Management processes run against a</a:t>
            </a:r>
            <a:r>
              <a:rPr lang="en-US" sz="2800" spc="-114" dirty="0">
                <a:solidFill>
                  <a:srgbClr val="535353"/>
                </a:solidFill>
              </a:rPr>
              <a:t> </a:t>
            </a:r>
            <a:r>
              <a:rPr lang="en-US" sz="2800" dirty="0">
                <a:solidFill>
                  <a:srgbClr val="535353"/>
                </a:solidFill>
              </a:rPr>
              <a:t>release </a:t>
            </a:r>
            <a:endParaRPr lang="en-US" sz="2800" dirty="0" smtClean="0"/>
          </a:p>
          <a:p>
            <a:r>
              <a:rPr lang="en-US" sz="2800" smtClean="0">
                <a:solidFill>
                  <a:srgbClr val="535353"/>
                </a:solidFill>
              </a:rPr>
              <a:t>They </a:t>
            </a:r>
            <a:r>
              <a:rPr lang="en-US" sz="2800" dirty="0">
                <a:solidFill>
                  <a:srgbClr val="535353"/>
                </a:solidFill>
              </a:rPr>
              <a:t>“should” run in an identical environment as the</a:t>
            </a:r>
            <a:r>
              <a:rPr lang="en-US" sz="2800" spc="-105" dirty="0">
                <a:solidFill>
                  <a:srgbClr val="535353"/>
                </a:solidFill>
              </a:rPr>
              <a:t> </a:t>
            </a:r>
            <a:r>
              <a:rPr lang="en-US" sz="2800" dirty="0">
                <a:solidFill>
                  <a:srgbClr val="535353"/>
                </a:solidFill>
              </a:rPr>
              <a:t>release </a:t>
            </a:r>
            <a:endParaRPr lang="en-US" sz="2800" dirty="0" smtClean="0">
              <a:solidFill>
                <a:srgbClr val="535353"/>
              </a:solidFill>
            </a:endParaRPr>
          </a:p>
          <a:p>
            <a:r>
              <a:rPr lang="en-US" sz="2800" dirty="0">
                <a:solidFill>
                  <a:srgbClr val="535353"/>
                </a:solidFill>
              </a:rPr>
              <a:t>They use the same codebase and</a:t>
            </a:r>
            <a:r>
              <a:rPr lang="en-US" sz="2800" spc="-105" dirty="0">
                <a:solidFill>
                  <a:srgbClr val="535353"/>
                </a:solidFill>
              </a:rPr>
              <a:t> </a:t>
            </a:r>
            <a:r>
              <a:rPr lang="en-US" sz="2800" dirty="0" err="1" smtClean="0">
                <a:solidFill>
                  <a:srgbClr val="535353"/>
                </a:solidFill>
              </a:rPr>
              <a:t>config</a:t>
            </a:r>
            <a:endParaRPr lang="en-US" sz="2800" dirty="0" smtClean="0">
              <a:solidFill>
                <a:srgbClr val="535353"/>
              </a:solidFill>
            </a:endParaRPr>
          </a:p>
          <a:p>
            <a:r>
              <a:rPr lang="en-US" sz="2800" dirty="0" smtClean="0">
                <a:solidFill>
                  <a:srgbClr val="535353"/>
                </a:solidFill>
              </a:rPr>
              <a:t>Admin code ships with App code </a:t>
            </a:r>
            <a:r>
              <a:rPr lang="en-US" sz="2800" dirty="0">
                <a:solidFill>
                  <a:srgbClr val="535353"/>
                </a:solidFill>
              </a:rPr>
              <a:t>to avoid synch</a:t>
            </a:r>
            <a:r>
              <a:rPr lang="en-US" sz="2800" spc="-100" dirty="0">
                <a:solidFill>
                  <a:srgbClr val="535353"/>
                </a:solidFill>
              </a:rPr>
              <a:t> </a:t>
            </a:r>
            <a:r>
              <a:rPr lang="en-US" sz="2800" dirty="0" smtClean="0">
                <a:solidFill>
                  <a:srgbClr val="535353"/>
                </a:solidFill>
              </a:rPr>
              <a:t>issues</a:t>
            </a:r>
          </a:p>
          <a:p>
            <a:r>
              <a:rPr lang="en-US" sz="2800" dirty="0" smtClean="0"/>
              <a:t>Run as a separate process</a:t>
            </a:r>
          </a:p>
        </p:txBody>
      </p:sp>
    </p:spTree>
    <p:extLst>
      <p:ext uri="{BB962C8B-B14F-4D97-AF65-F5344CB8AC3E}">
        <p14:creationId xmlns="" xmlns:p14="http://schemas.microsoft.com/office/powerpoint/2010/main" val="259444663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316303" y="1552353"/>
            <a:ext cx="6340198" cy="1200329"/>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7200" b="1" cap="none" spc="0" dirty="0" err="1"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Microservices</a:t>
            </a:r>
            <a:endParaRPr lang="en-US" sz="72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pic>
        <p:nvPicPr>
          <p:cNvPr id="320514" name="Picture 2" descr="micro-service-architecture"/>
          <p:cNvPicPr>
            <a:picLocks noChangeAspect="1" noChangeArrowheads="1"/>
          </p:cNvPicPr>
          <p:nvPr/>
        </p:nvPicPr>
        <p:blipFill>
          <a:blip r:embed="rId2" cstate="print"/>
          <a:srcRect/>
          <a:stretch>
            <a:fillRect/>
          </a:stretch>
        </p:blipFill>
        <p:spPr bwMode="auto">
          <a:xfrm>
            <a:off x="2462839" y="3103782"/>
            <a:ext cx="5715000" cy="2686051"/>
          </a:xfrm>
          <a:prstGeom prst="rect">
            <a:avLst/>
          </a:prstGeom>
          <a:noFill/>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Monolith</a:t>
            </a:r>
            <a:endParaRPr lang="en-US" dirty="0"/>
          </a:p>
        </p:txBody>
      </p:sp>
      <p:sp>
        <p:nvSpPr>
          <p:cNvPr id="3" name="TextBox 2"/>
          <p:cNvSpPr txBox="1"/>
          <p:nvPr/>
        </p:nvSpPr>
        <p:spPr>
          <a:xfrm>
            <a:off x="943583" y="1926077"/>
            <a:ext cx="9319098" cy="3877985"/>
          </a:xfrm>
          <a:prstGeom prst="rect">
            <a:avLst/>
          </a:prstGeom>
          <a:noFill/>
        </p:spPr>
        <p:txBody>
          <a:bodyPr wrap="square" rtlCol="0">
            <a:spAutoFit/>
          </a:bodyPr>
          <a:lstStyle/>
          <a:p>
            <a:pPr>
              <a:buFont typeface="Wingdings" pitchFamily="2" charset="2"/>
              <a:buChar char="Ø"/>
            </a:pPr>
            <a:r>
              <a:rPr lang="en-US" sz="2400" dirty="0" smtClean="0">
                <a:solidFill>
                  <a:schemeClr val="tx2">
                    <a:lumMod val="50000"/>
                  </a:schemeClr>
                </a:solidFill>
              </a:rPr>
              <a:t>Traditional monolithic design patterns are not appropriate for the 	cloud</a:t>
            </a:r>
          </a:p>
          <a:p>
            <a:pPr>
              <a:buFont typeface="Wingdings" pitchFamily="2" charset="2"/>
              <a:buChar char="Ø"/>
            </a:pPr>
            <a:r>
              <a:rPr lang="en-US" sz="2400" dirty="0" smtClean="0">
                <a:solidFill>
                  <a:schemeClr val="tx2">
                    <a:lumMod val="50000"/>
                  </a:schemeClr>
                </a:solidFill>
              </a:rPr>
              <a:t>Service which has bugs fixed and enhancements completed must 	wait for changes in rest of the app</a:t>
            </a:r>
          </a:p>
          <a:p>
            <a:pPr>
              <a:buFont typeface="Wingdings" pitchFamily="2" charset="2"/>
              <a:buChar char="Ø"/>
            </a:pPr>
            <a:r>
              <a:rPr lang="en-US" sz="2400" dirty="0" smtClean="0">
                <a:solidFill>
                  <a:schemeClr val="tx2">
                    <a:lumMod val="50000"/>
                  </a:schemeClr>
                </a:solidFill>
              </a:rPr>
              <a:t>Monoliths services cant be scaled independently</a:t>
            </a:r>
          </a:p>
          <a:p>
            <a:pPr>
              <a:buFont typeface="Wingdings" pitchFamily="2" charset="2"/>
              <a:buChar char="Ø"/>
            </a:pPr>
            <a:r>
              <a:rPr lang="en-US" sz="2400" dirty="0" smtClean="0">
                <a:solidFill>
                  <a:schemeClr val="tx2">
                    <a:lumMod val="50000"/>
                  </a:schemeClr>
                </a:solidFill>
              </a:rPr>
              <a:t>Too many developers in one code base</a:t>
            </a:r>
          </a:p>
          <a:p>
            <a:pPr>
              <a:buFont typeface="Wingdings" pitchFamily="2" charset="2"/>
              <a:buChar char="Ø"/>
            </a:pPr>
            <a:r>
              <a:rPr lang="en-US" sz="2400" dirty="0" smtClean="0">
                <a:solidFill>
                  <a:schemeClr val="tx2">
                    <a:lumMod val="50000"/>
                  </a:schemeClr>
                </a:solidFill>
              </a:rPr>
              <a:t>Developers struggle to understand a large code base</a:t>
            </a:r>
          </a:p>
          <a:p>
            <a:pPr>
              <a:buFont typeface="Wingdings" pitchFamily="2" charset="2"/>
              <a:buChar char="Ø"/>
            </a:pPr>
            <a:r>
              <a:rPr lang="en-US" sz="2400" dirty="0" smtClean="0">
                <a:solidFill>
                  <a:schemeClr val="tx2">
                    <a:lumMod val="50000"/>
                  </a:schemeClr>
                </a:solidFill>
              </a:rPr>
              <a:t>Long term commitment to technology stack</a:t>
            </a:r>
          </a:p>
          <a:p>
            <a:pPr>
              <a:buFont typeface="Wingdings" pitchFamily="2" charset="2"/>
              <a:buChar char="Ø"/>
            </a:pPr>
            <a:endParaRPr lang="en-US" sz="1800" dirty="0" smtClean="0">
              <a:solidFill>
                <a:schemeClr val="tx2">
                  <a:lumMod val="50000"/>
                </a:schemeClr>
              </a:solidFill>
            </a:endParaRPr>
          </a:p>
          <a:p>
            <a:pPr>
              <a:buFont typeface="Wingdings" pitchFamily="2" charset="2"/>
              <a:buChar char="Ø"/>
            </a:pPr>
            <a:endParaRPr lang="en-US" sz="1800" dirty="0" smtClean="0">
              <a:solidFill>
                <a:schemeClr val="tx2">
                  <a:lumMod val="50000"/>
                </a:schemeClr>
              </a:solidFill>
            </a:endParaRPr>
          </a:p>
          <a:p>
            <a:pPr>
              <a:buFont typeface="Wingdings" pitchFamily="2" charset="2"/>
              <a:buChar char="Ø"/>
            </a:pPr>
            <a:endParaRPr lang="en-US" sz="1800" dirty="0" err="1" smtClean="0">
              <a:solidFill>
                <a:schemeClr val="tx2">
                  <a:lumMod val="50000"/>
                </a:schemeClr>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From Orchestration to Choreography</a:t>
            </a:r>
            <a:endParaRPr lang="en-US" dirty="0"/>
          </a:p>
        </p:txBody>
      </p:sp>
      <p:pic>
        <p:nvPicPr>
          <p:cNvPr id="178179"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654990" y="1256003"/>
            <a:ext cx="1460541" cy="222291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78180"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8309665" y="1230734"/>
            <a:ext cx="2357438" cy="23574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78182" name="Picture 6" descr="Image result for enterprise service bus"/>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2171362" y="1853482"/>
            <a:ext cx="2800350" cy="1628776"/>
          </a:xfrm>
          <a:prstGeom prst="rect">
            <a:avLst/>
          </a:prstGeom>
          <a:noFill/>
          <a:extLst>
            <a:ext uri="{909E8E84-426E-40DD-AFC4-6F175D3DCCD1}">
              <a14:hiddenFill xmlns:a14="http://schemas.microsoft.com/office/drawing/2010/main" xmlns="">
                <a:solidFill>
                  <a:srgbClr val="FFFFFF"/>
                </a:solidFill>
              </a14:hiddenFill>
            </a:ext>
          </a:extLst>
        </p:spPr>
      </p:pic>
      <p:pic>
        <p:nvPicPr>
          <p:cNvPr id="178184" name="Picture 8" descr="Image result for cloud native apps"/>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6335528" y="1697495"/>
            <a:ext cx="2390775" cy="1914525"/>
          </a:xfrm>
          <a:prstGeom prst="rect">
            <a:avLst/>
          </a:prstGeom>
          <a:noFill/>
          <a:extLst>
            <a:ext uri="{909E8E84-426E-40DD-AFC4-6F175D3DCCD1}">
              <a14:hiddenFill xmlns:a14="http://schemas.microsoft.com/office/drawing/2010/main" xmlns="">
                <a:solidFill>
                  <a:srgbClr val="FFFFFF"/>
                </a:solidFill>
              </a14:hiddenFill>
            </a:ext>
          </a:extLst>
        </p:spPr>
      </p:pic>
      <p:sp>
        <p:nvSpPr>
          <p:cNvPr id="4" name="Rectangle 3"/>
          <p:cNvSpPr/>
          <p:nvPr/>
        </p:nvSpPr>
        <p:spPr>
          <a:xfrm>
            <a:off x="368382" y="3883231"/>
            <a:ext cx="4981540" cy="2244437"/>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r>
              <a:rPr lang="en-US" sz="1800" dirty="0" smtClean="0">
                <a:solidFill>
                  <a:schemeClr val="tx2">
                    <a:lumMod val="50000"/>
                  </a:schemeClr>
                </a:solidFill>
              </a:rPr>
              <a:t>Traditional </a:t>
            </a:r>
            <a:r>
              <a:rPr lang="en-US" sz="1800" dirty="0">
                <a:solidFill>
                  <a:schemeClr val="tx2">
                    <a:lumMod val="50000"/>
                  </a:schemeClr>
                </a:solidFill>
              </a:rPr>
              <a:t>I</a:t>
            </a:r>
            <a:r>
              <a:rPr lang="en-US" sz="1800" dirty="0" smtClean="0">
                <a:solidFill>
                  <a:schemeClr val="tx2">
                    <a:lumMod val="50000"/>
                  </a:schemeClr>
                </a:solidFill>
              </a:rPr>
              <a:t>ntegration of Services happens thru “Enterprise Service Bus” that orchestrates how all routing, </a:t>
            </a:r>
            <a:r>
              <a:rPr lang="en-US" sz="1800" dirty="0"/>
              <a:t>transformation,</a:t>
            </a:r>
          </a:p>
          <a:p>
            <a:r>
              <a:rPr lang="en-US" sz="1800" dirty="0"/>
              <a:t>policy, security, and other </a:t>
            </a:r>
            <a:r>
              <a:rPr lang="en-US" sz="1800" dirty="0" smtClean="0"/>
              <a:t>decisions happen.</a:t>
            </a:r>
            <a:endParaRPr lang="en-US" sz="1800" dirty="0"/>
          </a:p>
          <a:p>
            <a:r>
              <a:rPr lang="en-US" sz="1800" dirty="0" smtClean="0"/>
              <a:t>Simple ESB architectures often deceive, as they have complex underlying interconnections and dependencies. </a:t>
            </a:r>
            <a:r>
              <a:rPr lang="en-US" sz="1800" dirty="0" smtClean="0">
                <a:solidFill>
                  <a:schemeClr val="tx2">
                    <a:lumMod val="50000"/>
                  </a:schemeClr>
                </a:solidFill>
              </a:rPr>
              <a:t> </a:t>
            </a:r>
          </a:p>
        </p:txBody>
      </p:sp>
      <p:sp>
        <p:nvSpPr>
          <p:cNvPr id="9" name="Rectangle 8"/>
          <p:cNvSpPr/>
          <p:nvPr/>
        </p:nvSpPr>
        <p:spPr>
          <a:xfrm>
            <a:off x="5663821" y="3890498"/>
            <a:ext cx="4896126" cy="2244437"/>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r"/>
            <a:r>
              <a:rPr lang="en-US" sz="1800" dirty="0" smtClean="0">
                <a:solidFill>
                  <a:schemeClr val="tx2">
                    <a:lumMod val="50000"/>
                  </a:schemeClr>
                </a:solidFill>
              </a:rPr>
              <a:t>Cloud-native architectures (like Microservices) replace smart integration mechanisms with smarter end points, to adapt to changing circumstances in the environments via patterns – Client side load-balancing, or Circuit breakers. No different than a traditional SOA, it exposes the essential complexity of the system.</a:t>
            </a:r>
          </a:p>
        </p:txBody>
      </p:sp>
    </p:spTree>
    <p:extLst>
      <p:ext uri="{BB962C8B-B14F-4D97-AF65-F5344CB8AC3E}">
        <p14:creationId xmlns:p14="http://schemas.microsoft.com/office/powerpoint/2010/main" xmlns="" val="4075610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8179"/>
                                        </p:tgtEl>
                                        <p:attrNameLst>
                                          <p:attrName>style.visibility</p:attrName>
                                        </p:attrNameLst>
                                      </p:cBhvr>
                                      <p:to>
                                        <p:strVal val="visible"/>
                                      </p:to>
                                    </p:set>
                                    <p:animEffect transition="in" filter="fade">
                                      <p:cBhvr>
                                        <p:cTn id="7" dur="500"/>
                                        <p:tgtEl>
                                          <p:spTgt spid="178179"/>
                                        </p:tgtEl>
                                      </p:cBhvr>
                                    </p:animEffect>
                                  </p:childTnLst>
                                </p:cTn>
                              </p:par>
                              <p:par>
                                <p:cTn id="8" presetID="10" presetClass="entr" presetSubtype="0" fill="hold" nodeType="withEffect">
                                  <p:stCondLst>
                                    <p:cond delay="0"/>
                                  </p:stCondLst>
                                  <p:childTnLst>
                                    <p:set>
                                      <p:cBhvr>
                                        <p:cTn id="9" dur="1" fill="hold">
                                          <p:stCondLst>
                                            <p:cond delay="0"/>
                                          </p:stCondLst>
                                        </p:cTn>
                                        <p:tgtEl>
                                          <p:spTgt spid="178182"/>
                                        </p:tgtEl>
                                        <p:attrNameLst>
                                          <p:attrName>style.visibility</p:attrName>
                                        </p:attrNameLst>
                                      </p:cBhvr>
                                      <p:to>
                                        <p:strVal val="visible"/>
                                      </p:to>
                                    </p:set>
                                    <p:animEffect transition="in" filter="fade">
                                      <p:cBhvr>
                                        <p:cTn id="10" dur="500"/>
                                        <p:tgtEl>
                                          <p:spTgt spid="17818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78180"/>
                                        </p:tgtEl>
                                        <p:attrNameLst>
                                          <p:attrName>style.visibility</p:attrName>
                                        </p:attrNameLst>
                                      </p:cBhvr>
                                      <p:to>
                                        <p:strVal val="visible"/>
                                      </p:to>
                                    </p:set>
                                    <p:animEffect transition="in" filter="fade">
                                      <p:cBhvr>
                                        <p:cTn id="20" dur="500"/>
                                        <p:tgtEl>
                                          <p:spTgt spid="178180"/>
                                        </p:tgtEl>
                                      </p:cBhvr>
                                    </p:animEffect>
                                  </p:childTnLst>
                                </p:cTn>
                              </p:par>
                              <p:par>
                                <p:cTn id="21" presetID="10" presetClass="entr" presetSubtype="0" fill="hold" nodeType="withEffect">
                                  <p:stCondLst>
                                    <p:cond delay="0"/>
                                  </p:stCondLst>
                                  <p:childTnLst>
                                    <p:set>
                                      <p:cBhvr>
                                        <p:cTn id="22" dur="1" fill="hold">
                                          <p:stCondLst>
                                            <p:cond delay="0"/>
                                          </p:stCondLst>
                                        </p:cTn>
                                        <p:tgtEl>
                                          <p:spTgt spid="178184"/>
                                        </p:tgtEl>
                                        <p:attrNameLst>
                                          <p:attrName>style.visibility</p:attrName>
                                        </p:attrNameLst>
                                      </p:cBhvr>
                                      <p:to>
                                        <p:strVal val="visible"/>
                                      </p:to>
                                    </p:set>
                                    <p:animEffect transition="in" filter="fade">
                                      <p:cBhvr>
                                        <p:cTn id="23" dur="500"/>
                                        <p:tgtEl>
                                          <p:spTgt spid="17818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nvGraphicFramePr>
        <p:xfrm>
          <a:off x="0" y="0"/>
          <a:ext cx="175846" cy="158750"/>
        </p:xfrm>
        <a:graphic>
          <a:graphicData uri="http://schemas.openxmlformats.org/presentationml/2006/ole">
            <p:oleObj spid="_x0000_s289794" name="think-cell Slide" r:id="rId4" imgW="360" imgH="360" progId="">
              <p:embed/>
            </p:oleObj>
          </a:graphicData>
        </a:graphic>
      </p:graphicFrame>
      <p:sp>
        <p:nvSpPr>
          <p:cNvPr id="21" name="Title 20"/>
          <p:cNvSpPr>
            <a:spLocks noGrp="1"/>
          </p:cNvSpPr>
          <p:nvPr>
            <p:ph type="title"/>
          </p:nvPr>
        </p:nvSpPr>
        <p:spPr/>
        <p:txBody>
          <a:bodyPr/>
          <a:lstStyle/>
          <a:p>
            <a:r>
              <a:rPr lang="en-US" sz="2800" dirty="0" smtClean="0"/>
              <a:t>Microservices</a:t>
            </a:r>
            <a:endParaRPr lang="en-US" sz="2800" dirty="0"/>
          </a:p>
        </p:txBody>
      </p:sp>
      <p:sp>
        <p:nvSpPr>
          <p:cNvPr id="5" name="TextBox 4"/>
          <p:cNvSpPr txBox="1"/>
          <p:nvPr/>
        </p:nvSpPr>
        <p:spPr>
          <a:xfrm>
            <a:off x="939800" y="1612900"/>
            <a:ext cx="5118100" cy="738664"/>
          </a:xfrm>
          <a:prstGeom prst="rect">
            <a:avLst/>
          </a:prstGeom>
          <a:noFill/>
        </p:spPr>
        <p:txBody>
          <a:bodyPr wrap="square" rtlCol="0">
            <a:spAutoFit/>
          </a:bodyPr>
          <a:lstStyle/>
          <a:p>
            <a:r>
              <a:rPr lang="en-US" sz="1400" dirty="0" smtClean="0"/>
              <a:t>Microservices are small, autonomous services that work together.</a:t>
            </a:r>
          </a:p>
          <a:p>
            <a:r>
              <a:rPr lang="en-US" sz="1400" dirty="0" smtClean="0"/>
              <a:t>—Sam Newman, Thoughtworks</a:t>
            </a:r>
            <a:endParaRPr lang="en-US" sz="1400" dirty="0" smtClean="0">
              <a:solidFill>
                <a:schemeClr val="tx2">
                  <a:lumMod val="50000"/>
                </a:schemeClr>
              </a:solidFill>
            </a:endParaRPr>
          </a:p>
        </p:txBody>
      </p:sp>
      <p:sp>
        <p:nvSpPr>
          <p:cNvPr id="6" name="TextBox 5"/>
          <p:cNvSpPr txBox="1"/>
          <p:nvPr/>
        </p:nvSpPr>
        <p:spPr>
          <a:xfrm>
            <a:off x="2349500" y="2895600"/>
            <a:ext cx="5118100" cy="738664"/>
          </a:xfrm>
          <a:prstGeom prst="rect">
            <a:avLst/>
          </a:prstGeom>
          <a:noFill/>
        </p:spPr>
        <p:txBody>
          <a:bodyPr wrap="square" rtlCol="0">
            <a:spAutoFit/>
          </a:bodyPr>
          <a:lstStyle/>
          <a:p>
            <a:r>
              <a:rPr lang="en-US" sz="1400" dirty="0" smtClean="0"/>
              <a:t>Loosely coupled service-oriented architecture with bounded contexts.</a:t>
            </a:r>
          </a:p>
          <a:p>
            <a:r>
              <a:rPr lang="en-US" sz="1400" dirty="0" smtClean="0"/>
              <a:t>—Adrian Cockcroft, Battery Ventures</a:t>
            </a:r>
            <a:endParaRPr lang="en-US" sz="1400" dirty="0" smtClean="0">
              <a:solidFill>
                <a:schemeClr val="tx2">
                  <a:lumMod val="50000"/>
                </a:schemeClr>
              </a:solidFill>
            </a:endParaRPr>
          </a:p>
        </p:txBody>
      </p:sp>
      <p:sp>
        <p:nvSpPr>
          <p:cNvPr id="7" name="Rectangle 6"/>
          <p:cNvSpPr/>
          <p:nvPr/>
        </p:nvSpPr>
        <p:spPr>
          <a:xfrm>
            <a:off x="4381500" y="4363353"/>
            <a:ext cx="5486400" cy="1169551"/>
          </a:xfrm>
          <a:prstGeom prst="rect">
            <a:avLst/>
          </a:prstGeom>
        </p:spPr>
        <p:txBody>
          <a:bodyPr>
            <a:spAutoFit/>
          </a:bodyPr>
          <a:lstStyle/>
          <a:p>
            <a:r>
              <a:rPr lang="en-US" sz="1400" dirty="0" smtClean="0"/>
              <a:t>Some services require high availability, but are low volume, and it’s the opposite for other services. A microservice approach allows us to tune for both of these situations, whereas in a monolith it’s all or nothing.</a:t>
            </a:r>
          </a:p>
          <a:p>
            <a:r>
              <a:rPr lang="en-US" sz="1400" dirty="0" smtClean="0"/>
              <a:t>—</a:t>
            </a:r>
            <a:r>
              <a:rPr lang="en-US" sz="1400" dirty="0" err="1" smtClean="0"/>
              <a:t>Beier</a:t>
            </a:r>
            <a:r>
              <a:rPr lang="en-US" sz="1400" dirty="0" smtClean="0"/>
              <a:t> Cai, Director of Software Development, Hootsuite</a:t>
            </a:r>
            <a:endParaRPr lang="en-US" sz="1400" dirty="0"/>
          </a:p>
        </p:txBody>
      </p:sp>
    </p:spTree>
    <p:extLst>
      <p:ext uri="{BB962C8B-B14F-4D97-AF65-F5344CB8AC3E}">
        <p14:creationId xmlns="" xmlns:p14="http://schemas.microsoft.com/office/powerpoint/2010/main" val="259444663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err="1" smtClean="0"/>
              <a:t>Microservices</a:t>
            </a:r>
            <a:endParaRPr lang="en-US" dirty="0"/>
          </a:p>
        </p:txBody>
      </p:sp>
      <p:sp>
        <p:nvSpPr>
          <p:cNvPr id="3" name="Content Placeholder 2"/>
          <p:cNvSpPr>
            <a:spLocks noGrp="1"/>
          </p:cNvSpPr>
          <p:nvPr>
            <p:ph sz="quarter" idx="10"/>
          </p:nvPr>
        </p:nvSpPr>
        <p:spPr/>
        <p:txBody>
          <a:bodyPr/>
          <a:lstStyle/>
          <a:p>
            <a:pPr>
              <a:buFont typeface="Wingdings" pitchFamily="2" charset="2"/>
              <a:buChar char="ü"/>
            </a:pPr>
            <a:r>
              <a:rPr lang="en-US" sz="2400" dirty="0" smtClean="0"/>
              <a:t>A </a:t>
            </a:r>
            <a:r>
              <a:rPr lang="en-US" sz="2400" dirty="0" err="1" smtClean="0"/>
              <a:t>microservice</a:t>
            </a:r>
            <a:r>
              <a:rPr lang="en-US" sz="2400" dirty="0" smtClean="0"/>
              <a:t> has a single responsibility</a:t>
            </a:r>
          </a:p>
          <a:p>
            <a:pPr>
              <a:buFont typeface="Wingdings" pitchFamily="2" charset="2"/>
              <a:buChar char="ü"/>
            </a:pPr>
            <a:r>
              <a:rPr lang="en-US" sz="2400" dirty="0" err="1" smtClean="0"/>
              <a:t>Microservices</a:t>
            </a:r>
            <a:r>
              <a:rPr lang="en-US" sz="2400" dirty="0" smtClean="0"/>
              <a:t> use a bounded context</a:t>
            </a:r>
          </a:p>
          <a:p>
            <a:pPr>
              <a:buFont typeface="Wingdings" pitchFamily="2" charset="2"/>
              <a:buChar char="ü"/>
            </a:pPr>
            <a:r>
              <a:rPr lang="en-US" sz="2400" dirty="0" smtClean="0"/>
              <a:t>Freedom to pick the persistence solution</a:t>
            </a:r>
          </a:p>
          <a:p>
            <a:pPr>
              <a:buFont typeface="Wingdings" pitchFamily="2" charset="2"/>
              <a:buChar char="ü"/>
            </a:pPr>
            <a:r>
              <a:rPr lang="en-US" sz="2400" dirty="0" smtClean="0"/>
              <a:t>Choice of language when developing apps</a:t>
            </a:r>
          </a:p>
          <a:p>
            <a:pPr>
              <a:buFont typeface="Wingdings" pitchFamily="2" charset="2"/>
              <a:buChar char="ü"/>
            </a:pPr>
            <a:r>
              <a:rPr lang="en-US" sz="2400" dirty="0" smtClean="0"/>
              <a:t>Device specific gateways</a:t>
            </a:r>
          </a:p>
          <a:p>
            <a:pPr>
              <a:buFont typeface="Wingdings" pitchFamily="2" charset="2"/>
              <a:buChar char="ü"/>
            </a:pPr>
            <a:r>
              <a:rPr lang="en-US" sz="2400" dirty="0" smtClean="0"/>
              <a:t>Use cloud friendly protocols</a:t>
            </a:r>
          </a:p>
          <a:p>
            <a:pPr>
              <a:buFont typeface="Wingdings" pitchFamily="2" charset="2"/>
              <a:buChar char="ü"/>
            </a:pPr>
            <a:r>
              <a:rPr lang="en-US" sz="2400" dirty="0" smtClean="0"/>
              <a:t>Change cycles are decoupled, enabling frequent deploys</a:t>
            </a:r>
          </a:p>
          <a:p>
            <a:pPr>
              <a:buFont typeface="Wingdings" pitchFamily="2" charset="2"/>
              <a:buChar char="ü"/>
            </a:pPr>
            <a:r>
              <a:rPr lang="en-US" sz="2400" dirty="0" smtClean="0"/>
              <a:t>Allow efficient scaling</a:t>
            </a:r>
          </a:p>
          <a:p>
            <a:pPr>
              <a:buFont typeface="Wingdings" pitchFamily="2" charset="2"/>
              <a:buChar char="ü"/>
            </a:pPr>
            <a:r>
              <a:rPr lang="en-US" sz="2400" dirty="0" smtClean="0"/>
              <a:t>Developers learn a smaller code base faster</a:t>
            </a:r>
          </a:p>
          <a:p>
            <a:pPr>
              <a:buFont typeface="Wingdings" pitchFamily="2" charset="2"/>
              <a:buChar char="ü"/>
            </a:pPr>
            <a:endParaRPr lang="en-US" sz="2400" dirty="0" smtClean="0"/>
          </a:p>
          <a:p>
            <a:pPr>
              <a:buFont typeface="Wingdings" pitchFamily="2" charset="2"/>
              <a:buChar char="ü"/>
            </a:pPr>
            <a:endParaRPr lang="en-US" sz="2400" dirty="0" smtClean="0"/>
          </a:p>
          <a:p>
            <a:pPr>
              <a:buFont typeface="Wingdings" pitchFamily="2" charset="2"/>
              <a:buChar char="ü"/>
            </a:pPr>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a:spLocks noGrp="1"/>
          </p:cNvSpPr>
          <p:nvPr>
            <p:ph type="title"/>
          </p:nvPr>
        </p:nvSpPr>
        <p:spPr>
          <a:xfrm>
            <a:off x="6" y="68241"/>
            <a:ext cx="10972799" cy="838200"/>
          </a:xfrm>
        </p:spPr>
        <p:txBody>
          <a:bodyPr/>
          <a:lstStyle/>
          <a:p>
            <a:r>
              <a:rPr lang="fr-FR" sz="2800" dirty="0" smtClean="0">
                <a:solidFill>
                  <a:srgbClr val="000000"/>
                </a:solidFill>
              </a:rPr>
              <a:t>Microservices – </a:t>
            </a:r>
            <a:r>
              <a:rPr lang="fr-FR" sz="2000" dirty="0" smtClean="0">
                <a:solidFill>
                  <a:srgbClr val="000000"/>
                </a:solidFill>
              </a:rPr>
              <a:t>an ‘atomic’ unit of service that delivers business value</a:t>
            </a:r>
            <a:endParaRPr lang="fr-FR" sz="2000" dirty="0">
              <a:solidFill>
                <a:srgbClr val="000000"/>
              </a:solidFill>
            </a:endParaRPr>
          </a:p>
        </p:txBody>
      </p:sp>
      <p:sp>
        <p:nvSpPr>
          <p:cNvPr id="3" name="Rounded Rectangle 2"/>
          <p:cNvSpPr/>
          <p:nvPr/>
        </p:nvSpPr>
        <p:spPr>
          <a:xfrm>
            <a:off x="1255600" y="1214645"/>
            <a:ext cx="8311484" cy="791576"/>
          </a:xfrm>
          <a:prstGeom prst="roundRect">
            <a:avLst/>
          </a:prstGeom>
          <a:ln/>
        </p:spPr>
        <p:style>
          <a:lnRef idx="2">
            <a:schemeClr val="accent5"/>
          </a:lnRef>
          <a:fillRef idx="1">
            <a:schemeClr val="lt1"/>
          </a:fillRef>
          <a:effectRef idx="0">
            <a:schemeClr val="accent5"/>
          </a:effectRef>
          <a:fontRef idx="minor">
            <a:schemeClr val="dk1"/>
          </a:fontRef>
        </p:style>
        <p:txBody>
          <a:bodyPr rtlCol="0" anchor="ctr"/>
          <a:lstStyle/>
          <a:p>
            <a:r>
              <a:rPr lang="en-US" sz="2200" dirty="0" smtClean="0">
                <a:solidFill>
                  <a:schemeClr val="tx2">
                    <a:lumMod val="50000"/>
                  </a:schemeClr>
                </a:solidFill>
              </a:rPr>
              <a:t>It represents decomposition of monolithic business systems into independently deployable services that do “one thing well”</a:t>
            </a:r>
          </a:p>
        </p:txBody>
      </p:sp>
      <p:cxnSp>
        <p:nvCxnSpPr>
          <p:cNvPr id="9" name="Straight Connector 8"/>
          <p:cNvCxnSpPr/>
          <p:nvPr/>
        </p:nvCxnSpPr>
        <p:spPr>
          <a:xfrm flipH="1">
            <a:off x="777922" y="6156278"/>
            <a:ext cx="9075767" cy="0"/>
          </a:xfrm>
          <a:prstGeom prst="line">
            <a:avLst/>
          </a:prstGeom>
          <a:ln w="28575" cmpd="dbl">
            <a:solidFill>
              <a:schemeClr val="accent5">
                <a:shade val="95000"/>
                <a:satMod val="105000"/>
              </a:schemeClr>
            </a:solidFill>
            <a:prstDash val="solid"/>
          </a:ln>
        </p:spPr>
        <p:style>
          <a:lnRef idx="1">
            <a:schemeClr val="accent1"/>
          </a:lnRef>
          <a:fillRef idx="0">
            <a:schemeClr val="accent1"/>
          </a:fillRef>
          <a:effectRef idx="0">
            <a:schemeClr val="accent1"/>
          </a:effectRef>
          <a:fontRef idx="minor">
            <a:schemeClr val="tx1"/>
          </a:fontRef>
        </p:style>
      </p:cxnSp>
      <p:pic>
        <p:nvPicPr>
          <p:cNvPr id="177154" name="Picture 2" descr="https://drupalwatchdog.com/sites/default/files/images/web/4.2-DecouplingDrupal.jp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419440" y="2243919"/>
            <a:ext cx="1828800" cy="1371600"/>
          </a:xfrm>
          <a:prstGeom prst="rect">
            <a:avLst/>
          </a:prstGeom>
          <a:noFill/>
          <a:extLst>
            <a:ext uri="{909E8E84-426E-40DD-AFC4-6F175D3DCCD1}">
              <a14:hiddenFill xmlns="" xmlns:a14="http://schemas.microsoft.com/office/drawing/2010/main">
                <a:solidFill>
                  <a:srgbClr val="FFFFFF"/>
                </a:solidFill>
              </a14:hiddenFill>
            </a:ext>
          </a:extLst>
        </p:spPr>
      </p:pic>
      <p:pic>
        <p:nvPicPr>
          <p:cNvPr id="177156" name="Picture 4" descr="http://www.strawberrysdk.com/images/whatis3.png"/>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2439312" y="2249607"/>
            <a:ext cx="2094199" cy="1371600"/>
          </a:xfrm>
          <a:prstGeom prst="rect">
            <a:avLst/>
          </a:prstGeom>
          <a:noFill/>
          <a:extLst>
            <a:ext uri="{909E8E84-426E-40DD-AFC4-6F175D3DCCD1}">
              <a14:hiddenFill xmlns="" xmlns:a14="http://schemas.microsoft.com/office/drawing/2010/main">
                <a:solidFill>
                  <a:srgbClr val="FFFFFF"/>
                </a:solidFill>
              </a14:hiddenFill>
            </a:ext>
          </a:extLst>
        </p:spPr>
      </p:pic>
      <p:pic>
        <p:nvPicPr>
          <p:cNvPr id="177158" name="Picture 6" descr="http://blogldc.s3.amazonaws.com/wp-content/uploads/2015/03/2015_03_25_BizRel2.jpeg"/>
          <p:cNvPicPr>
            <a:picLocks noChangeArrowheads="1"/>
          </p:cNvPicPr>
          <p:nvPr/>
        </p:nvPicPr>
        <p:blipFill>
          <a:blip r:embed="rId5" cstate="print">
            <a:extLst>
              <a:ext uri="{28A0092B-C50C-407E-A947-70E740481C1C}">
                <a14:useLocalDpi xmlns="" xmlns:a14="http://schemas.microsoft.com/office/drawing/2010/main" val="0"/>
              </a:ext>
            </a:extLst>
          </a:blip>
          <a:srcRect/>
          <a:stretch>
            <a:fillRect/>
          </a:stretch>
        </p:blipFill>
        <p:spPr bwMode="auto">
          <a:xfrm>
            <a:off x="4834724" y="2243919"/>
            <a:ext cx="1828800" cy="1371600"/>
          </a:xfrm>
          <a:prstGeom prst="rect">
            <a:avLst/>
          </a:prstGeom>
          <a:noFill/>
          <a:extLst>
            <a:ext uri="{909E8E84-426E-40DD-AFC4-6F175D3DCCD1}">
              <a14:hiddenFill xmlns="" xmlns:a14="http://schemas.microsoft.com/office/drawing/2010/main">
                <a:solidFill>
                  <a:srgbClr val="FFFFFF"/>
                </a:solidFill>
              </a14:hiddenFill>
            </a:ext>
          </a:extLst>
        </p:spPr>
      </p:pic>
      <p:pic>
        <p:nvPicPr>
          <p:cNvPr id="177165" name="Picture 13" descr="D:\Users\momuruge\Downloads\new tech.jpg"/>
          <p:cNvPicPr>
            <a:picLocks noChangeArrowheads="1"/>
          </p:cNvPicPr>
          <p:nvPr/>
        </p:nvPicPr>
        <p:blipFill>
          <a:blip r:embed="rId6" cstate="print">
            <a:extLst>
              <a:ext uri="{28A0092B-C50C-407E-A947-70E740481C1C}">
                <a14:useLocalDpi xmlns="" xmlns:a14="http://schemas.microsoft.com/office/drawing/2010/main" val="0"/>
              </a:ext>
            </a:extLst>
          </a:blip>
          <a:srcRect/>
          <a:stretch>
            <a:fillRect/>
          </a:stretch>
        </p:blipFill>
        <p:spPr bwMode="auto">
          <a:xfrm>
            <a:off x="6957517" y="2249607"/>
            <a:ext cx="1828800" cy="1371600"/>
          </a:xfrm>
          <a:prstGeom prst="rect">
            <a:avLst/>
          </a:prstGeom>
          <a:noFill/>
          <a:extLst>
            <a:ext uri="{909E8E84-426E-40DD-AFC4-6F175D3DCCD1}">
              <a14:hiddenFill xmlns="" xmlns:a14="http://schemas.microsoft.com/office/drawing/2010/main">
                <a:solidFill>
                  <a:srgbClr val="FFFFFF"/>
                </a:solidFill>
              </a14:hiddenFill>
            </a:ext>
          </a:extLst>
        </p:spPr>
      </p:pic>
      <p:pic>
        <p:nvPicPr>
          <p:cNvPr id="177167" name="Picture 15" descr="http://siliconangle.com/files/2012/10/growth-chart.jpeg"/>
          <p:cNvPicPr>
            <a:picLocks noChangeAspect="1" noChangeArrowheads="1"/>
          </p:cNvPicPr>
          <p:nvPr/>
        </p:nvPicPr>
        <p:blipFill>
          <a:blip r:embed="rId7" cstate="print">
            <a:extLst>
              <a:ext uri="{28A0092B-C50C-407E-A947-70E740481C1C}">
                <a14:useLocalDpi xmlns="" xmlns:a14="http://schemas.microsoft.com/office/drawing/2010/main" val="0"/>
              </a:ext>
            </a:extLst>
          </a:blip>
          <a:srcRect/>
          <a:stretch>
            <a:fillRect/>
          </a:stretch>
        </p:blipFill>
        <p:spPr bwMode="auto">
          <a:xfrm>
            <a:off x="9067565" y="2249607"/>
            <a:ext cx="1577690" cy="1371600"/>
          </a:xfrm>
          <a:prstGeom prst="rect">
            <a:avLst/>
          </a:prstGeom>
          <a:noFill/>
          <a:extLst>
            <a:ext uri="{909E8E84-426E-40DD-AFC4-6F175D3DCCD1}">
              <a14:hiddenFill xmlns="" xmlns:a14="http://schemas.microsoft.com/office/drawing/2010/main">
                <a:solidFill>
                  <a:srgbClr val="FFFFFF"/>
                </a:solidFill>
              </a14:hiddenFill>
            </a:ext>
          </a:extLst>
        </p:spPr>
      </p:pic>
      <p:sp>
        <p:nvSpPr>
          <p:cNvPr id="26" name="Rectangle 25"/>
          <p:cNvSpPr/>
          <p:nvPr/>
        </p:nvSpPr>
        <p:spPr>
          <a:xfrm>
            <a:off x="356702" y="3621207"/>
            <a:ext cx="1947908" cy="2397456"/>
          </a:xfrm>
          <a:prstGeom prst="rect">
            <a:avLst/>
          </a:prstGeom>
          <a:ln/>
        </p:spPr>
        <p:style>
          <a:lnRef idx="2">
            <a:schemeClr val="accent3"/>
          </a:lnRef>
          <a:fillRef idx="1">
            <a:schemeClr val="lt1"/>
          </a:fillRef>
          <a:effectRef idx="0">
            <a:schemeClr val="accent3"/>
          </a:effectRef>
          <a:fontRef idx="minor">
            <a:schemeClr val="dk1"/>
          </a:fontRef>
        </p:style>
        <p:txBody>
          <a:bodyPr rtlCol="0" anchor="ctr"/>
          <a:lstStyle/>
          <a:p>
            <a:r>
              <a:rPr lang="en-US" sz="1600" dirty="0" smtClean="0">
                <a:solidFill>
                  <a:schemeClr val="tx2">
                    <a:lumMod val="50000"/>
                  </a:schemeClr>
                </a:solidFill>
                <a:latin typeface="Arial Narrow" panose="020B0606020202030204" pitchFamily="34" charset="0"/>
              </a:rPr>
              <a:t>Decoupling business context allows decoupling change cycles, enabling frequent and rapid changes  thus allowing continuous flow of value to business.</a:t>
            </a:r>
          </a:p>
        </p:txBody>
      </p:sp>
      <p:sp>
        <p:nvSpPr>
          <p:cNvPr id="32" name="Rectangle 31"/>
          <p:cNvSpPr/>
          <p:nvPr/>
        </p:nvSpPr>
        <p:spPr>
          <a:xfrm>
            <a:off x="2589094" y="3615519"/>
            <a:ext cx="1903817" cy="2397456"/>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r>
              <a:rPr lang="en-US" sz="1600" dirty="0" smtClean="0">
                <a:solidFill>
                  <a:schemeClr val="tx2">
                    <a:lumMod val="50000"/>
                  </a:schemeClr>
                </a:solidFill>
                <a:latin typeface="Arial Narrow" panose="020B0606020202030204" pitchFamily="34" charset="0"/>
              </a:rPr>
              <a:t>Adding </a:t>
            </a:r>
            <a:r>
              <a:rPr lang="en-US" sz="1600" dirty="0">
                <a:solidFill>
                  <a:schemeClr val="tx2">
                    <a:lumMod val="50000"/>
                  </a:schemeClr>
                </a:solidFill>
                <a:latin typeface="Arial Narrow" panose="020B0606020202030204" pitchFamily="34" charset="0"/>
              </a:rPr>
              <a:t>people</a:t>
            </a:r>
            <a:r>
              <a:rPr lang="en-US" sz="1600" dirty="0" smtClean="0">
                <a:solidFill>
                  <a:schemeClr val="tx2">
                    <a:lumMod val="50000"/>
                  </a:schemeClr>
                </a:solidFill>
                <a:latin typeface="Arial Narrow" panose="020B0606020202030204" pitchFamily="34" charset="0"/>
              </a:rPr>
              <a:t> to “late projects” makes the project later. Creating parallel work streams by building more sandboxes by bounded business contexts accelerates development.</a:t>
            </a:r>
          </a:p>
        </p:txBody>
      </p:sp>
      <p:sp>
        <p:nvSpPr>
          <p:cNvPr id="33" name="Rectangle 32"/>
          <p:cNvSpPr/>
          <p:nvPr/>
        </p:nvSpPr>
        <p:spPr>
          <a:xfrm>
            <a:off x="4764798" y="3615519"/>
            <a:ext cx="1945325" cy="239745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r>
              <a:rPr lang="en-US" sz="1600" dirty="0" smtClean="0">
                <a:solidFill>
                  <a:schemeClr val="tx2">
                    <a:lumMod val="50000"/>
                  </a:schemeClr>
                </a:solidFill>
                <a:latin typeface="Arial Narrow" panose="020B0606020202030204" pitchFamily="34" charset="0"/>
              </a:rPr>
              <a:t>Reduced cognitive learning of business domain and existing code; easier for new developers to build relationships within a smaller team; enables more productivity.</a:t>
            </a:r>
          </a:p>
        </p:txBody>
      </p:sp>
      <p:sp>
        <p:nvSpPr>
          <p:cNvPr id="34" name="Rectangle 33"/>
          <p:cNvSpPr/>
          <p:nvPr/>
        </p:nvSpPr>
        <p:spPr>
          <a:xfrm>
            <a:off x="6937875" y="3615519"/>
            <a:ext cx="1893102" cy="2397456"/>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r>
              <a:rPr lang="en-US" sz="1600" dirty="0" smtClean="0">
                <a:solidFill>
                  <a:schemeClr val="tx2">
                    <a:lumMod val="50000"/>
                  </a:schemeClr>
                </a:solidFill>
                <a:latin typeface="Arial Narrow" panose="020B0606020202030204" pitchFamily="34" charset="0"/>
              </a:rPr>
              <a:t>Enables adoption of new technology within a single monolith; isolates and minimizes the risk of technology compatibility issues much the same way as it minimizes the risk of runtime failure.</a:t>
            </a:r>
          </a:p>
        </p:txBody>
      </p:sp>
      <p:sp>
        <p:nvSpPr>
          <p:cNvPr id="35" name="Rectangle 34"/>
          <p:cNvSpPr/>
          <p:nvPr/>
        </p:nvSpPr>
        <p:spPr>
          <a:xfrm>
            <a:off x="8985677" y="3615519"/>
            <a:ext cx="1830051" cy="2397456"/>
          </a:xfrm>
          <a:prstGeom prst="rect">
            <a:avLst/>
          </a:prstGeom>
          <a:ln/>
        </p:spPr>
        <p:style>
          <a:lnRef idx="2">
            <a:schemeClr val="accent3"/>
          </a:lnRef>
          <a:fillRef idx="1">
            <a:schemeClr val="lt1"/>
          </a:fillRef>
          <a:effectRef idx="0">
            <a:schemeClr val="accent3"/>
          </a:effectRef>
          <a:fontRef idx="minor">
            <a:schemeClr val="dk1"/>
          </a:fontRef>
        </p:style>
        <p:txBody>
          <a:bodyPr rtlCol="0" anchor="ctr"/>
          <a:lstStyle/>
          <a:p>
            <a:r>
              <a:rPr lang="en-US" sz="1600" dirty="0" smtClean="0">
                <a:solidFill>
                  <a:schemeClr val="tx2">
                    <a:lumMod val="50000"/>
                  </a:schemeClr>
                </a:solidFill>
                <a:latin typeface="Arial Narrow" panose="020B0606020202030204" pitchFamily="34" charset="0"/>
              </a:rPr>
              <a:t>Allows efficient scaling of services thru selective scaling of components that experience heavy load unlike heavy monolithic apps that require scaling up entire  architecture.</a:t>
            </a:r>
            <a:endParaRPr lang="en-US" sz="2400" dirty="0" smtClean="0">
              <a:solidFill>
                <a:schemeClr val="tx2">
                  <a:lumMod val="50000"/>
                </a:schemeClr>
              </a:solidFill>
              <a:latin typeface="Arial Narrow" panose="020B0606020202030204" pitchFamily="34" charset="0"/>
            </a:endParaRPr>
          </a:p>
        </p:txBody>
      </p:sp>
    </p:spTree>
    <p:extLst>
      <p:ext uri="{BB962C8B-B14F-4D97-AF65-F5344CB8AC3E}">
        <p14:creationId xmlns="" xmlns:p14="http://schemas.microsoft.com/office/powerpoint/2010/main" val="2516895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7154"/>
                                        </p:tgtEl>
                                        <p:attrNameLst>
                                          <p:attrName>style.visibility</p:attrName>
                                        </p:attrNameLst>
                                      </p:cBhvr>
                                      <p:to>
                                        <p:strVal val="visible"/>
                                      </p:to>
                                    </p:set>
                                    <p:animEffect transition="in" filter="fade">
                                      <p:cBhvr>
                                        <p:cTn id="17" dur="500"/>
                                        <p:tgtEl>
                                          <p:spTgt spid="177154"/>
                                        </p:tgtEl>
                                      </p:cBhvr>
                                    </p:animEffect>
                                  </p:childTnLst>
                                </p:cTn>
                              </p:par>
                              <p:par>
                                <p:cTn id="18" presetID="10" presetClass="entr" presetSubtype="0" fill="hold" nodeType="withEffect">
                                  <p:stCondLst>
                                    <p:cond delay="0"/>
                                  </p:stCondLst>
                                  <p:childTnLst>
                                    <p:set>
                                      <p:cBhvr>
                                        <p:cTn id="19" dur="1" fill="hold">
                                          <p:stCondLst>
                                            <p:cond delay="0"/>
                                          </p:stCondLst>
                                        </p:cTn>
                                        <p:tgtEl>
                                          <p:spTgt spid="177156"/>
                                        </p:tgtEl>
                                        <p:attrNameLst>
                                          <p:attrName>style.visibility</p:attrName>
                                        </p:attrNameLst>
                                      </p:cBhvr>
                                      <p:to>
                                        <p:strVal val="visible"/>
                                      </p:to>
                                    </p:set>
                                    <p:animEffect transition="in" filter="fade">
                                      <p:cBhvr>
                                        <p:cTn id="20" dur="500"/>
                                        <p:tgtEl>
                                          <p:spTgt spid="177156"/>
                                        </p:tgtEl>
                                      </p:cBhvr>
                                    </p:animEffect>
                                  </p:childTnLst>
                                </p:cTn>
                              </p:par>
                              <p:par>
                                <p:cTn id="21" presetID="10" presetClass="entr" presetSubtype="0" fill="hold" nodeType="withEffect">
                                  <p:stCondLst>
                                    <p:cond delay="0"/>
                                  </p:stCondLst>
                                  <p:childTnLst>
                                    <p:set>
                                      <p:cBhvr>
                                        <p:cTn id="22" dur="1" fill="hold">
                                          <p:stCondLst>
                                            <p:cond delay="0"/>
                                          </p:stCondLst>
                                        </p:cTn>
                                        <p:tgtEl>
                                          <p:spTgt spid="177158"/>
                                        </p:tgtEl>
                                        <p:attrNameLst>
                                          <p:attrName>style.visibility</p:attrName>
                                        </p:attrNameLst>
                                      </p:cBhvr>
                                      <p:to>
                                        <p:strVal val="visible"/>
                                      </p:to>
                                    </p:set>
                                    <p:animEffect transition="in" filter="fade">
                                      <p:cBhvr>
                                        <p:cTn id="23" dur="500"/>
                                        <p:tgtEl>
                                          <p:spTgt spid="177158"/>
                                        </p:tgtEl>
                                      </p:cBhvr>
                                    </p:animEffect>
                                  </p:childTnLst>
                                </p:cTn>
                              </p:par>
                              <p:par>
                                <p:cTn id="24" presetID="10" presetClass="entr" presetSubtype="0" fill="hold" nodeType="withEffect">
                                  <p:stCondLst>
                                    <p:cond delay="0"/>
                                  </p:stCondLst>
                                  <p:childTnLst>
                                    <p:set>
                                      <p:cBhvr>
                                        <p:cTn id="25" dur="1" fill="hold">
                                          <p:stCondLst>
                                            <p:cond delay="0"/>
                                          </p:stCondLst>
                                        </p:cTn>
                                        <p:tgtEl>
                                          <p:spTgt spid="177165"/>
                                        </p:tgtEl>
                                        <p:attrNameLst>
                                          <p:attrName>style.visibility</p:attrName>
                                        </p:attrNameLst>
                                      </p:cBhvr>
                                      <p:to>
                                        <p:strVal val="visible"/>
                                      </p:to>
                                    </p:set>
                                    <p:animEffect transition="in" filter="fade">
                                      <p:cBhvr>
                                        <p:cTn id="26" dur="500"/>
                                        <p:tgtEl>
                                          <p:spTgt spid="177165"/>
                                        </p:tgtEl>
                                      </p:cBhvr>
                                    </p:animEffect>
                                  </p:childTnLst>
                                </p:cTn>
                              </p:par>
                              <p:par>
                                <p:cTn id="27" presetID="10" presetClass="entr" presetSubtype="0" fill="hold" nodeType="withEffect">
                                  <p:stCondLst>
                                    <p:cond delay="0"/>
                                  </p:stCondLst>
                                  <p:childTnLst>
                                    <p:set>
                                      <p:cBhvr>
                                        <p:cTn id="28" dur="1" fill="hold">
                                          <p:stCondLst>
                                            <p:cond delay="0"/>
                                          </p:stCondLst>
                                        </p:cTn>
                                        <p:tgtEl>
                                          <p:spTgt spid="177167"/>
                                        </p:tgtEl>
                                        <p:attrNameLst>
                                          <p:attrName>style.visibility</p:attrName>
                                        </p:attrNameLst>
                                      </p:cBhvr>
                                      <p:to>
                                        <p:strVal val="visible"/>
                                      </p:to>
                                    </p:set>
                                    <p:animEffect transition="in" filter="fade">
                                      <p:cBhvr>
                                        <p:cTn id="29" dur="500"/>
                                        <p:tgtEl>
                                          <p:spTgt spid="177167"/>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500"/>
                                        <p:tgtEl>
                                          <p:spTgt spid="2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500"/>
                                        <p:tgtEl>
                                          <p:spTgt spid="32"/>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33"/>
                                        </p:tgtEl>
                                        <p:attrNameLst>
                                          <p:attrName>style.visibility</p:attrName>
                                        </p:attrNameLst>
                                      </p:cBhvr>
                                      <p:to>
                                        <p:strVal val="visible"/>
                                      </p:to>
                                    </p:set>
                                    <p:animEffect transition="in" filter="fade">
                                      <p:cBhvr>
                                        <p:cTn id="44" dur="500"/>
                                        <p:tgtEl>
                                          <p:spTgt spid="33"/>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34"/>
                                        </p:tgtEl>
                                        <p:attrNameLst>
                                          <p:attrName>style.visibility</p:attrName>
                                        </p:attrNameLst>
                                      </p:cBhvr>
                                      <p:to>
                                        <p:strVal val="visible"/>
                                      </p:to>
                                    </p:set>
                                    <p:animEffect transition="in" filter="fade">
                                      <p:cBhvr>
                                        <p:cTn id="49" dur="500"/>
                                        <p:tgtEl>
                                          <p:spTgt spid="34"/>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35"/>
                                        </p:tgtEl>
                                        <p:attrNameLst>
                                          <p:attrName>style.visibility</p:attrName>
                                        </p:attrNameLst>
                                      </p:cBhvr>
                                      <p:to>
                                        <p:strVal val="visible"/>
                                      </p:to>
                                    </p:set>
                                    <p:animEffect transition="in" filter="fade">
                                      <p:cBhvr>
                                        <p:cTn id="54"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6" grpId="0" animBg="1"/>
      <p:bldP spid="32" grpId="0" animBg="1"/>
      <p:bldP spid="33" grpId="0" animBg="1"/>
      <p:bldP spid="34" grpId="0" animBg="1"/>
      <p:bldP spid="35"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Microservices</a:t>
            </a:r>
            <a:r>
              <a:rPr lang="en-US" dirty="0" smtClean="0"/>
              <a:t> Architecture Principle </a:t>
            </a:r>
            <a:endParaRPr lang="en-US" dirty="0"/>
          </a:p>
        </p:txBody>
      </p:sp>
      <p:graphicFrame>
        <p:nvGraphicFramePr>
          <p:cNvPr id="6" name="Diagram 5"/>
          <p:cNvGraphicFramePr/>
          <p:nvPr/>
        </p:nvGraphicFramePr>
        <p:xfrm>
          <a:off x="194553" y="1371601"/>
          <a:ext cx="10515600" cy="48054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41"/>
          <p:cNvSpPr/>
          <p:nvPr/>
        </p:nvSpPr>
        <p:spPr>
          <a:xfrm>
            <a:off x="251111" y="1405721"/>
            <a:ext cx="3829571" cy="4857867"/>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sz="2400" dirty="0" err="1" smtClean="0">
              <a:solidFill>
                <a:schemeClr val="tx2">
                  <a:lumMod val="50000"/>
                </a:schemeClr>
              </a:solidFill>
            </a:endParaRPr>
          </a:p>
        </p:txBody>
      </p:sp>
      <p:sp>
        <p:nvSpPr>
          <p:cNvPr id="10" name="Title 1"/>
          <p:cNvSpPr>
            <a:spLocks noGrp="1"/>
          </p:cNvSpPr>
          <p:nvPr>
            <p:ph type="title"/>
          </p:nvPr>
        </p:nvSpPr>
        <p:spPr>
          <a:xfrm>
            <a:off x="6" y="68241"/>
            <a:ext cx="10972799" cy="838200"/>
          </a:xfrm>
        </p:spPr>
        <p:txBody>
          <a:bodyPr/>
          <a:lstStyle/>
          <a:p>
            <a:r>
              <a:rPr lang="fr-FR" sz="2800" dirty="0" smtClean="0">
                <a:solidFill>
                  <a:srgbClr val="000000"/>
                </a:solidFill>
              </a:rPr>
              <a:t>Self Service Agile Infra – </a:t>
            </a:r>
            <a:r>
              <a:rPr lang="fr-FR" sz="2000" dirty="0" smtClean="0">
                <a:solidFill>
                  <a:srgbClr val="000000"/>
                </a:solidFill>
              </a:rPr>
              <a:t>Self service Platform that supports Microservices</a:t>
            </a:r>
            <a:endParaRPr lang="fr-FR" sz="1400" dirty="0">
              <a:solidFill>
                <a:srgbClr val="000000"/>
              </a:solidFill>
            </a:endParaRPr>
          </a:p>
        </p:txBody>
      </p:sp>
      <p:sp>
        <p:nvSpPr>
          <p:cNvPr id="2" name="AutoShape 4" descr="Image result for API"/>
          <p:cNvSpPr>
            <a:spLocks noChangeAspect="1" noChangeArrowheads="1"/>
          </p:cNvSpPr>
          <p:nvPr/>
        </p:nvSpPr>
        <p:spPr bwMode="auto">
          <a:xfrm>
            <a:off x="155575" y="-144463"/>
            <a:ext cx="304800" cy="304801"/>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6" descr="Image result for API"/>
          <p:cNvSpPr>
            <a:spLocks noChangeAspect="1" noChangeArrowheads="1"/>
          </p:cNvSpPr>
          <p:nvPr/>
        </p:nvSpPr>
        <p:spPr bwMode="auto">
          <a:xfrm>
            <a:off x="307975" y="7937"/>
            <a:ext cx="304800" cy="304801"/>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74087" name="Picture 7" descr="D:\Users\momuruge\Downloads\API.jp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1700913" y="3711826"/>
            <a:ext cx="914400" cy="914400"/>
          </a:xfrm>
          <a:prstGeom prst="rect">
            <a:avLst/>
          </a:prstGeom>
          <a:noFill/>
          <a:extLst>
            <a:ext uri="{909E8E84-426E-40DD-AFC4-6F175D3DCCD1}">
              <a14:hiddenFill xmlns="" xmlns:a14="http://schemas.microsoft.com/office/drawing/2010/main">
                <a:solidFill>
                  <a:srgbClr val="FFFFFF"/>
                </a:solidFill>
              </a14:hiddenFill>
            </a:ext>
          </a:extLst>
        </p:spPr>
      </p:pic>
      <p:sp>
        <p:nvSpPr>
          <p:cNvPr id="6" name="AutoShape 9" descr="Image result for Cloud server"/>
          <p:cNvSpPr>
            <a:spLocks noChangeAspect="1" noChangeArrowheads="1"/>
          </p:cNvSpPr>
          <p:nvPr/>
        </p:nvSpPr>
        <p:spPr bwMode="auto">
          <a:xfrm>
            <a:off x="460375" y="160337"/>
            <a:ext cx="304800" cy="304801"/>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74090" name="Picture 10" descr="D:\Users\momuruge\Downloads\Cloudserver.jpg"/>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1550785" y="5240004"/>
            <a:ext cx="1220771" cy="914400"/>
          </a:xfrm>
          <a:prstGeom prst="rect">
            <a:avLst/>
          </a:prstGeom>
          <a:noFill/>
          <a:extLst>
            <a:ext uri="{909E8E84-426E-40DD-AFC4-6F175D3DCCD1}">
              <a14:hiddenFill xmlns="" xmlns:a14="http://schemas.microsoft.com/office/drawing/2010/main">
                <a:solidFill>
                  <a:srgbClr val="FFFFFF"/>
                </a:solidFill>
              </a14:hiddenFill>
            </a:ext>
          </a:extLst>
        </p:spPr>
      </p:pic>
      <p:pic>
        <p:nvPicPr>
          <p:cNvPr id="174091" name="Picture 11" descr="D:\Users\momuruge\Downloads\CloudNetwork.jpg"/>
          <p:cNvPicPr>
            <a:picLocks noChangeAspect="1" noChangeArrowheads="1"/>
          </p:cNvPicPr>
          <p:nvPr/>
        </p:nvPicPr>
        <p:blipFill>
          <a:blip r:embed="rId5" cstate="print">
            <a:extLst>
              <a:ext uri="{28A0092B-C50C-407E-A947-70E740481C1C}">
                <a14:useLocalDpi xmlns="" xmlns:a14="http://schemas.microsoft.com/office/drawing/2010/main" val="0"/>
              </a:ext>
            </a:extLst>
          </a:blip>
          <a:srcRect/>
          <a:stretch>
            <a:fillRect/>
          </a:stretch>
        </p:blipFill>
        <p:spPr bwMode="auto">
          <a:xfrm>
            <a:off x="770478" y="4750620"/>
            <a:ext cx="1141863" cy="914400"/>
          </a:xfrm>
          <a:prstGeom prst="rect">
            <a:avLst/>
          </a:prstGeom>
          <a:noFill/>
          <a:extLst>
            <a:ext uri="{909E8E84-426E-40DD-AFC4-6F175D3DCCD1}">
              <a14:hiddenFill xmlns="" xmlns:a14="http://schemas.microsoft.com/office/drawing/2010/main">
                <a:solidFill>
                  <a:srgbClr val="FFFFFF"/>
                </a:solidFill>
              </a14:hiddenFill>
            </a:ext>
          </a:extLst>
        </p:spPr>
      </p:pic>
      <p:pic>
        <p:nvPicPr>
          <p:cNvPr id="174093" name="Picture 13" descr="Image result for Cloud storage"/>
          <p:cNvPicPr>
            <a:picLocks noChangeAspect="1" noChangeArrowheads="1"/>
          </p:cNvPicPr>
          <p:nvPr/>
        </p:nvPicPr>
        <p:blipFill>
          <a:blip r:embed="rId6" cstate="print">
            <a:extLst>
              <a:ext uri="{28A0092B-C50C-407E-A947-70E740481C1C}">
                <a14:useLocalDpi xmlns="" xmlns:a14="http://schemas.microsoft.com/office/drawing/2010/main" val="0"/>
              </a:ext>
            </a:extLst>
          </a:blip>
          <a:srcRect/>
          <a:stretch>
            <a:fillRect/>
          </a:stretch>
        </p:blipFill>
        <p:spPr bwMode="auto">
          <a:xfrm>
            <a:off x="2621428" y="4697872"/>
            <a:ext cx="914400" cy="914400"/>
          </a:xfrm>
          <a:prstGeom prst="rect">
            <a:avLst/>
          </a:prstGeom>
          <a:noFill/>
          <a:extLst>
            <a:ext uri="{909E8E84-426E-40DD-AFC4-6F175D3DCCD1}">
              <a14:hiddenFill xmlns="" xmlns:a14="http://schemas.microsoft.com/office/drawing/2010/main">
                <a:solidFill>
                  <a:srgbClr val="FFFFFF"/>
                </a:solidFill>
              </a14:hiddenFill>
            </a:ext>
          </a:extLst>
        </p:spPr>
      </p:pic>
      <p:cxnSp>
        <p:nvCxnSpPr>
          <p:cNvPr id="29" name="Straight Arrow Connector 28"/>
          <p:cNvCxnSpPr/>
          <p:nvPr/>
        </p:nvCxnSpPr>
        <p:spPr>
          <a:xfrm>
            <a:off x="2118689" y="4678872"/>
            <a:ext cx="469328" cy="290797"/>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p:pic>
        <p:nvPicPr>
          <p:cNvPr id="174097" name="Picture 17" descr="http://x1discovery.files.wordpress.com/2012/04/cloud-icon3.png"/>
          <p:cNvPicPr>
            <a:picLocks noChangeAspect="1" noChangeArrowheads="1"/>
          </p:cNvPicPr>
          <p:nvPr/>
        </p:nvPicPr>
        <p:blipFill>
          <a:blip r:embed="rId7" cstate="print">
            <a:extLst>
              <a:ext uri="{28A0092B-C50C-407E-A947-70E740481C1C}">
                <a14:useLocalDpi xmlns="" xmlns:a14="http://schemas.microsoft.com/office/drawing/2010/main" val="0"/>
              </a:ext>
            </a:extLst>
          </a:blip>
          <a:srcRect/>
          <a:stretch>
            <a:fillRect/>
          </a:stretch>
        </p:blipFill>
        <p:spPr bwMode="auto">
          <a:xfrm>
            <a:off x="1562449" y="2879314"/>
            <a:ext cx="1183340" cy="914400"/>
          </a:xfrm>
          <a:prstGeom prst="rect">
            <a:avLst/>
          </a:prstGeom>
          <a:noFill/>
          <a:extLst>
            <a:ext uri="{909E8E84-426E-40DD-AFC4-6F175D3DCCD1}">
              <a14:hiddenFill xmlns="" xmlns:a14="http://schemas.microsoft.com/office/drawing/2010/main">
                <a:solidFill>
                  <a:srgbClr val="FFFFFF"/>
                </a:solidFill>
              </a14:hiddenFill>
            </a:ext>
          </a:extLst>
        </p:spPr>
      </p:pic>
      <p:sp>
        <p:nvSpPr>
          <p:cNvPr id="41" name="Rounded Rectangle 40"/>
          <p:cNvSpPr/>
          <p:nvPr/>
        </p:nvSpPr>
        <p:spPr>
          <a:xfrm>
            <a:off x="4271750" y="1435263"/>
            <a:ext cx="6400803" cy="4353636"/>
          </a:xfrm>
          <a:prstGeom prst="roundRect">
            <a:avLst/>
          </a:prstGeom>
          <a:ln/>
        </p:spPr>
        <p:style>
          <a:lnRef idx="2">
            <a:schemeClr val="accent5"/>
          </a:lnRef>
          <a:fillRef idx="1">
            <a:schemeClr val="lt1"/>
          </a:fillRef>
          <a:effectRef idx="0">
            <a:schemeClr val="accent5"/>
          </a:effectRef>
          <a:fontRef idx="minor">
            <a:schemeClr val="dk1"/>
          </a:fontRef>
        </p:style>
        <p:txBody>
          <a:bodyPr rtlCol="0" anchor="ctr"/>
          <a:lstStyle/>
          <a:p>
            <a:pPr marL="285750" indent="-285750">
              <a:buFont typeface="Arial" panose="020B0604020202020204" pitchFamily="34" charset="0"/>
              <a:buChar char="•"/>
            </a:pPr>
            <a:endParaRPr lang="en-US" sz="1800" dirty="0" smtClean="0">
              <a:solidFill>
                <a:schemeClr val="tx2">
                  <a:lumMod val="50000"/>
                </a:schemeClr>
              </a:solidFill>
            </a:endParaRPr>
          </a:p>
          <a:p>
            <a:pPr marL="285750" indent="-285750">
              <a:buFont typeface="Arial" panose="020B0604020202020204" pitchFamily="34" charset="0"/>
              <a:buChar char="•"/>
            </a:pPr>
            <a:endParaRPr lang="en-US" sz="1800" dirty="0">
              <a:solidFill>
                <a:schemeClr val="tx2">
                  <a:lumMod val="50000"/>
                </a:schemeClr>
              </a:solidFill>
            </a:endParaRPr>
          </a:p>
          <a:p>
            <a:pPr marL="285750" indent="-285750">
              <a:buFont typeface="Arial" panose="020B0604020202020204" pitchFamily="34" charset="0"/>
              <a:buChar char="•"/>
            </a:pPr>
            <a:r>
              <a:rPr lang="en-US" sz="1800" dirty="0" smtClean="0">
                <a:solidFill>
                  <a:schemeClr val="tx2">
                    <a:lumMod val="50000"/>
                  </a:schemeClr>
                </a:solidFill>
              </a:rPr>
              <a:t>Platforms are provisioned using APIs that create virtual server instances, network and storage with various forms of configuration management and automation</a:t>
            </a:r>
          </a:p>
          <a:p>
            <a:endParaRPr lang="en-US" sz="1800" dirty="0" smtClean="0">
              <a:solidFill>
                <a:schemeClr val="tx2">
                  <a:lumMod val="50000"/>
                </a:schemeClr>
              </a:solidFill>
            </a:endParaRPr>
          </a:p>
          <a:p>
            <a:pPr marL="285750" indent="-285750">
              <a:buFont typeface="Arial" panose="020B0604020202020204" pitchFamily="34" charset="0"/>
              <a:buChar char="•"/>
            </a:pPr>
            <a:r>
              <a:rPr lang="en-US" sz="1800" dirty="0" smtClean="0">
                <a:solidFill>
                  <a:schemeClr val="tx2">
                    <a:lumMod val="50000"/>
                  </a:schemeClr>
                </a:solidFill>
              </a:rPr>
              <a:t>Application code is pushed in the form of artifacts, which the platform builds, constructs an Application environment, deploys the Application and starts the necessary processes</a:t>
            </a:r>
          </a:p>
          <a:p>
            <a:pPr marL="285750" indent="-285750">
              <a:buFont typeface="Arial" panose="020B0604020202020204" pitchFamily="34" charset="0"/>
              <a:buChar char="•"/>
            </a:pPr>
            <a:endParaRPr lang="en-US" sz="1800" dirty="0" smtClean="0">
              <a:solidFill>
                <a:schemeClr val="tx2">
                  <a:lumMod val="50000"/>
                </a:schemeClr>
              </a:solidFill>
            </a:endParaRPr>
          </a:p>
          <a:p>
            <a:pPr marL="285750" indent="-285750">
              <a:buFont typeface="Arial" panose="020B0604020202020204" pitchFamily="34" charset="0"/>
              <a:buChar char="•"/>
            </a:pPr>
            <a:r>
              <a:rPr lang="en-US" sz="1800" dirty="0" smtClean="0">
                <a:solidFill>
                  <a:schemeClr val="tx2">
                    <a:lumMod val="50000"/>
                  </a:schemeClr>
                </a:solidFill>
              </a:rPr>
              <a:t>Backing services like DB, MQ or </a:t>
            </a:r>
            <a:r>
              <a:rPr lang="en-US" sz="1800" dirty="0" err="1" smtClean="0">
                <a:solidFill>
                  <a:schemeClr val="tx2">
                    <a:lumMod val="50000"/>
                  </a:schemeClr>
                </a:solidFill>
              </a:rPr>
              <a:t>Mailserver</a:t>
            </a:r>
            <a:r>
              <a:rPr lang="en-US" sz="1800" dirty="0" smtClean="0">
                <a:solidFill>
                  <a:schemeClr val="tx2">
                    <a:lumMod val="50000"/>
                  </a:schemeClr>
                </a:solidFill>
              </a:rPr>
              <a:t>, </a:t>
            </a:r>
            <a:r>
              <a:rPr lang="en-US" sz="1800" dirty="0" err="1" smtClean="0">
                <a:solidFill>
                  <a:schemeClr val="tx2">
                    <a:lumMod val="50000"/>
                  </a:schemeClr>
                </a:solidFill>
              </a:rPr>
              <a:t>etc</a:t>
            </a:r>
            <a:r>
              <a:rPr lang="en-US" sz="1800" dirty="0" smtClean="0">
                <a:solidFill>
                  <a:schemeClr val="tx2">
                    <a:lumMod val="50000"/>
                  </a:schemeClr>
                </a:solidFill>
              </a:rPr>
              <a:t> are also provisioned the same way.</a:t>
            </a:r>
          </a:p>
          <a:p>
            <a:pPr lvl="2"/>
            <a:endParaRPr lang="en-US" sz="1800" dirty="0">
              <a:solidFill>
                <a:schemeClr val="tx2">
                  <a:lumMod val="50000"/>
                </a:schemeClr>
              </a:solidFill>
            </a:endParaRPr>
          </a:p>
          <a:p>
            <a:pPr lvl="2"/>
            <a:endParaRPr lang="en-US" sz="1800" dirty="0" smtClean="0">
              <a:solidFill>
                <a:schemeClr val="tx2">
                  <a:lumMod val="50000"/>
                </a:schemeClr>
              </a:solidFill>
            </a:endParaRPr>
          </a:p>
          <a:p>
            <a:pPr marL="1243506" lvl="2" indent="-285750">
              <a:buFont typeface="Arial" panose="020B0604020202020204" pitchFamily="34" charset="0"/>
              <a:buChar char="•"/>
            </a:pPr>
            <a:endParaRPr lang="en-US" sz="1800" dirty="0" smtClean="0">
              <a:solidFill>
                <a:schemeClr val="tx2">
                  <a:lumMod val="50000"/>
                </a:schemeClr>
              </a:solidFill>
            </a:endParaRPr>
          </a:p>
        </p:txBody>
      </p:sp>
      <p:cxnSp>
        <p:nvCxnSpPr>
          <p:cNvPr id="45" name="Straight Arrow Connector 44"/>
          <p:cNvCxnSpPr/>
          <p:nvPr/>
        </p:nvCxnSpPr>
        <p:spPr>
          <a:xfrm flipH="1">
            <a:off x="1728209" y="4696731"/>
            <a:ext cx="391180" cy="245642"/>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p:cxnSp>
        <p:nvCxnSpPr>
          <p:cNvPr id="50" name="Straight Arrow Connector 49"/>
          <p:cNvCxnSpPr/>
          <p:nvPr/>
        </p:nvCxnSpPr>
        <p:spPr>
          <a:xfrm>
            <a:off x="2134105" y="4696731"/>
            <a:ext cx="13417" cy="581594"/>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p:sp>
        <p:nvSpPr>
          <p:cNvPr id="39" name="Rectangle 38"/>
          <p:cNvSpPr/>
          <p:nvPr/>
        </p:nvSpPr>
        <p:spPr>
          <a:xfrm>
            <a:off x="319351" y="1487247"/>
            <a:ext cx="3663526" cy="1460674"/>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sz="2400" dirty="0" err="1" smtClean="0">
              <a:solidFill>
                <a:schemeClr val="tx2">
                  <a:lumMod val="50000"/>
                </a:schemeClr>
              </a:solidFill>
            </a:endParaRPr>
          </a:p>
        </p:txBody>
      </p:sp>
      <p:sp>
        <p:nvSpPr>
          <p:cNvPr id="40" name="Rounded Rectangle 39"/>
          <p:cNvSpPr/>
          <p:nvPr/>
        </p:nvSpPr>
        <p:spPr>
          <a:xfrm>
            <a:off x="496775" y="1569495"/>
            <a:ext cx="3295032" cy="395788"/>
          </a:xfrm>
          <a:prstGeom prst="roundRect">
            <a:avLst/>
          </a:prstGeom>
          <a:ln/>
        </p:spPr>
        <p:style>
          <a:lnRef idx="1">
            <a:schemeClr val="dk1"/>
          </a:lnRef>
          <a:fillRef idx="2">
            <a:schemeClr val="dk1"/>
          </a:fillRef>
          <a:effectRef idx="1">
            <a:schemeClr val="dk1"/>
          </a:effectRef>
          <a:fontRef idx="minor">
            <a:schemeClr val="dk1"/>
          </a:fontRef>
        </p:style>
        <p:txBody>
          <a:bodyPr rtlCol="0" anchor="ctr"/>
          <a:lstStyle/>
          <a:p>
            <a:pPr algn="ctr"/>
            <a:r>
              <a:rPr lang="en-US" sz="1600" dirty="0" smtClean="0">
                <a:solidFill>
                  <a:schemeClr val="tx2">
                    <a:lumMod val="50000"/>
                  </a:schemeClr>
                </a:solidFill>
              </a:rPr>
              <a:t>Automated Application Scaling</a:t>
            </a:r>
          </a:p>
        </p:txBody>
      </p:sp>
      <p:sp>
        <p:nvSpPr>
          <p:cNvPr id="56" name="Rounded Rectangle 55"/>
          <p:cNvSpPr/>
          <p:nvPr/>
        </p:nvSpPr>
        <p:spPr>
          <a:xfrm>
            <a:off x="499046" y="2022151"/>
            <a:ext cx="3292761" cy="395788"/>
          </a:xfrm>
          <a:prstGeom prst="roundRect">
            <a:avLst/>
          </a:prstGeom>
          <a:ln/>
        </p:spPr>
        <p:style>
          <a:lnRef idx="1">
            <a:schemeClr val="dk1"/>
          </a:lnRef>
          <a:fillRef idx="2">
            <a:schemeClr val="dk1"/>
          </a:fillRef>
          <a:effectRef idx="1">
            <a:schemeClr val="dk1"/>
          </a:effectRef>
          <a:fontRef idx="minor">
            <a:schemeClr val="dk1"/>
          </a:fontRef>
        </p:style>
        <p:txBody>
          <a:bodyPr rtlCol="0" anchor="ctr"/>
          <a:lstStyle/>
          <a:p>
            <a:pPr algn="ctr"/>
            <a:r>
              <a:rPr lang="en-US" sz="1600" dirty="0" smtClean="0">
                <a:solidFill>
                  <a:schemeClr val="tx2">
                    <a:lumMod val="50000"/>
                  </a:schemeClr>
                </a:solidFill>
              </a:rPr>
              <a:t>Application Health Management</a:t>
            </a:r>
          </a:p>
        </p:txBody>
      </p:sp>
      <p:sp>
        <p:nvSpPr>
          <p:cNvPr id="57" name="Rounded Rectangle 56"/>
          <p:cNvSpPr/>
          <p:nvPr/>
        </p:nvSpPr>
        <p:spPr>
          <a:xfrm>
            <a:off x="501318" y="2474807"/>
            <a:ext cx="3292761" cy="395788"/>
          </a:xfrm>
          <a:prstGeom prst="roundRect">
            <a:avLst/>
          </a:prstGeom>
          <a:ln/>
        </p:spPr>
        <p:style>
          <a:lnRef idx="1">
            <a:schemeClr val="dk1"/>
          </a:lnRef>
          <a:fillRef idx="2">
            <a:schemeClr val="dk1"/>
          </a:fillRef>
          <a:effectRef idx="1">
            <a:schemeClr val="dk1"/>
          </a:effectRef>
          <a:fontRef idx="minor">
            <a:schemeClr val="dk1"/>
          </a:fontRef>
        </p:style>
        <p:txBody>
          <a:bodyPr rtlCol="0" anchor="ctr"/>
          <a:lstStyle/>
          <a:p>
            <a:pPr algn="ctr"/>
            <a:r>
              <a:rPr lang="en-US" sz="1600" dirty="0" smtClean="0">
                <a:solidFill>
                  <a:schemeClr val="tx2">
                    <a:lumMod val="50000"/>
                  </a:schemeClr>
                </a:solidFill>
              </a:rPr>
              <a:t>Dynamic Routing of Requests</a:t>
            </a:r>
          </a:p>
        </p:txBody>
      </p:sp>
    </p:spTree>
    <p:extLst>
      <p:ext uri="{BB962C8B-B14F-4D97-AF65-F5344CB8AC3E}">
        <p14:creationId xmlns="" xmlns:p14="http://schemas.microsoft.com/office/powerpoint/2010/main" val="2782970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4087"/>
                                        </p:tgtEl>
                                        <p:attrNameLst>
                                          <p:attrName>style.visibility</p:attrName>
                                        </p:attrNameLst>
                                      </p:cBhvr>
                                      <p:to>
                                        <p:strVal val="visible"/>
                                      </p:to>
                                    </p:set>
                                    <p:animEffect transition="in" filter="fade">
                                      <p:cBhvr>
                                        <p:cTn id="7" dur="500"/>
                                        <p:tgtEl>
                                          <p:spTgt spid="174087"/>
                                        </p:tgtEl>
                                      </p:cBhvr>
                                    </p:animEffect>
                                  </p:childTnLst>
                                </p:cTn>
                              </p:par>
                              <p:par>
                                <p:cTn id="8" presetID="10" presetClass="entr" presetSubtype="0" fill="hold" nodeType="withEffect">
                                  <p:stCondLst>
                                    <p:cond delay="0"/>
                                  </p:stCondLst>
                                  <p:childTnLst>
                                    <p:set>
                                      <p:cBhvr>
                                        <p:cTn id="9" dur="1" fill="hold">
                                          <p:stCondLst>
                                            <p:cond delay="0"/>
                                          </p:stCondLst>
                                        </p:cTn>
                                        <p:tgtEl>
                                          <p:spTgt spid="174090"/>
                                        </p:tgtEl>
                                        <p:attrNameLst>
                                          <p:attrName>style.visibility</p:attrName>
                                        </p:attrNameLst>
                                      </p:cBhvr>
                                      <p:to>
                                        <p:strVal val="visible"/>
                                      </p:to>
                                    </p:set>
                                    <p:animEffect transition="in" filter="fade">
                                      <p:cBhvr>
                                        <p:cTn id="10" dur="500"/>
                                        <p:tgtEl>
                                          <p:spTgt spid="174090"/>
                                        </p:tgtEl>
                                      </p:cBhvr>
                                    </p:animEffect>
                                  </p:childTnLst>
                                </p:cTn>
                              </p:par>
                              <p:par>
                                <p:cTn id="11" presetID="10" presetClass="entr" presetSubtype="0" fill="hold" nodeType="withEffect">
                                  <p:stCondLst>
                                    <p:cond delay="0"/>
                                  </p:stCondLst>
                                  <p:childTnLst>
                                    <p:set>
                                      <p:cBhvr>
                                        <p:cTn id="12" dur="1" fill="hold">
                                          <p:stCondLst>
                                            <p:cond delay="0"/>
                                          </p:stCondLst>
                                        </p:cTn>
                                        <p:tgtEl>
                                          <p:spTgt spid="174091"/>
                                        </p:tgtEl>
                                        <p:attrNameLst>
                                          <p:attrName>style.visibility</p:attrName>
                                        </p:attrNameLst>
                                      </p:cBhvr>
                                      <p:to>
                                        <p:strVal val="visible"/>
                                      </p:to>
                                    </p:set>
                                    <p:animEffect transition="in" filter="fade">
                                      <p:cBhvr>
                                        <p:cTn id="13" dur="500"/>
                                        <p:tgtEl>
                                          <p:spTgt spid="174091"/>
                                        </p:tgtEl>
                                      </p:cBhvr>
                                    </p:animEffect>
                                  </p:childTnLst>
                                </p:cTn>
                              </p:par>
                              <p:par>
                                <p:cTn id="14" presetID="10" presetClass="entr" presetSubtype="0" fill="hold" nodeType="withEffect">
                                  <p:stCondLst>
                                    <p:cond delay="0"/>
                                  </p:stCondLst>
                                  <p:childTnLst>
                                    <p:set>
                                      <p:cBhvr>
                                        <p:cTn id="15" dur="1" fill="hold">
                                          <p:stCondLst>
                                            <p:cond delay="0"/>
                                          </p:stCondLst>
                                        </p:cTn>
                                        <p:tgtEl>
                                          <p:spTgt spid="174093"/>
                                        </p:tgtEl>
                                        <p:attrNameLst>
                                          <p:attrName>style.visibility</p:attrName>
                                        </p:attrNameLst>
                                      </p:cBhvr>
                                      <p:to>
                                        <p:strVal val="visible"/>
                                      </p:to>
                                    </p:set>
                                    <p:animEffect transition="in" filter="fade">
                                      <p:cBhvr>
                                        <p:cTn id="16" dur="500"/>
                                        <p:tgtEl>
                                          <p:spTgt spid="174093"/>
                                        </p:tgtEl>
                                      </p:cBhvr>
                                    </p:animEffect>
                                  </p:childTnLst>
                                </p:cTn>
                              </p:par>
                              <p:par>
                                <p:cTn id="17" presetID="10" presetClass="entr" presetSubtype="0" fill="hold" nodeType="with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500"/>
                                        <p:tgtEl>
                                          <p:spTgt spid="29"/>
                                        </p:tgtEl>
                                      </p:cBhvr>
                                    </p:animEffect>
                                  </p:childTnLst>
                                </p:cTn>
                              </p:par>
                              <p:par>
                                <p:cTn id="20" presetID="10" presetClass="entr" presetSubtype="0" fill="hold" nodeType="withEffect">
                                  <p:stCondLst>
                                    <p:cond delay="0"/>
                                  </p:stCondLst>
                                  <p:childTnLst>
                                    <p:set>
                                      <p:cBhvr>
                                        <p:cTn id="21" dur="1" fill="hold">
                                          <p:stCondLst>
                                            <p:cond delay="0"/>
                                          </p:stCondLst>
                                        </p:cTn>
                                        <p:tgtEl>
                                          <p:spTgt spid="45"/>
                                        </p:tgtEl>
                                        <p:attrNameLst>
                                          <p:attrName>style.visibility</p:attrName>
                                        </p:attrNameLst>
                                      </p:cBhvr>
                                      <p:to>
                                        <p:strVal val="visible"/>
                                      </p:to>
                                    </p:set>
                                    <p:animEffect transition="in" filter="fade">
                                      <p:cBhvr>
                                        <p:cTn id="22" dur="500"/>
                                        <p:tgtEl>
                                          <p:spTgt spid="45"/>
                                        </p:tgtEl>
                                      </p:cBhvr>
                                    </p:animEffect>
                                  </p:childTnLst>
                                </p:cTn>
                              </p:par>
                              <p:par>
                                <p:cTn id="23" presetID="10" presetClass="entr" presetSubtype="0" fill="hold" nodeType="withEffect">
                                  <p:stCondLst>
                                    <p:cond delay="0"/>
                                  </p:stCondLst>
                                  <p:childTnLst>
                                    <p:set>
                                      <p:cBhvr>
                                        <p:cTn id="24" dur="1" fill="hold">
                                          <p:stCondLst>
                                            <p:cond delay="0"/>
                                          </p:stCondLst>
                                        </p:cTn>
                                        <p:tgtEl>
                                          <p:spTgt spid="50"/>
                                        </p:tgtEl>
                                        <p:attrNameLst>
                                          <p:attrName>style.visibility</p:attrName>
                                        </p:attrNameLst>
                                      </p:cBhvr>
                                      <p:to>
                                        <p:strVal val="visible"/>
                                      </p:to>
                                    </p:set>
                                    <p:animEffect transition="in" filter="fade">
                                      <p:cBhvr>
                                        <p:cTn id="25" dur="500"/>
                                        <p:tgtEl>
                                          <p:spTgt spid="5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2"/>
                                        </p:tgtEl>
                                        <p:attrNameLst>
                                          <p:attrName>style.visibility</p:attrName>
                                        </p:attrNameLst>
                                      </p:cBhvr>
                                      <p:to>
                                        <p:strVal val="visible"/>
                                      </p:to>
                                    </p:set>
                                    <p:animEffect transition="in" filter="fade">
                                      <p:cBhvr>
                                        <p:cTn id="28" dur="500"/>
                                        <p:tgtEl>
                                          <p:spTgt spid="42"/>
                                        </p:tgtEl>
                                      </p:cBhvr>
                                    </p:animEffect>
                                  </p:childTnLst>
                                </p:cTn>
                              </p:par>
                              <p:par>
                                <p:cTn id="29" presetID="10" presetClass="entr" presetSubtype="0" fill="hold" nodeType="withEffect">
                                  <p:stCondLst>
                                    <p:cond delay="0"/>
                                  </p:stCondLst>
                                  <p:childTnLst>
                                    <p:set>
                                      <p:cBhvr>
                                        <p:cTn id="30" dur="1" fill="hold">
                                          <p:stCondLst>
                                            <p:cond delay="0"/>
                                          </p:stCondLst>
                                        </p:cTn>
                                        <p:tgtEl>
                                          <p:spTgt spid="174097"/>
                                        </p:tgtEl>
                                        <p:attrNameLst>
                                          <p:attrName>style.visibility</p:attrName>
                                        </p:attrNameLst>
                                      </p:cBhvr>
                                      <p:to>
                                        <p:strVal val="visible"/>
                                      </p:to>
                                    </p:set>
                                    <p:animEffect transition="in" filter="fade">
                                      <p:cBhvr>
                                        <p:cTn id="31" dur="500"/>
                                        <p:tgtEl>
                                          <p:spTgt spid="174097"/>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41">
                                            <p:txEl>
                                              <p:pRg st="2" end="2"/>
                                            </p:txEl>
                                          </p:spTgt>
                                        </p:tgtEl>
                                        <p:attrNameLst>
                                          <p:attrName>style.visibility</p:attrName>
                                        </p:attrNameLst>
                                      </p:cBhvr>
                                      <p:to>
                                        <p:strVal val="visible"/>
                                      </p:to>
                                    </p:set>
                                    <p:animEffect transition="in" filter="fade">
                                      <p:cBhvr>
                                        <p:cTn id="36" dur="500"/>
                                        <p:tgtEl>
                                          <p:spTgt spid="41">
                                            <p:txEl>
                                              <p:pRg st="2" end="2"/>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41">
                                            <p:txEl>
                                              <p:pRg st="4" end="4"/>
                                            </p:txEl>
                                          </p:spTgt>
                                        </p:tgtEl>
                                        <p:attrNameLst>
                                          <p:attrName>style.visibility</p:attrName>
                                        </p:attrNameLst>
                                      </p:cBhvr>
                                      <p:to>
                                        <p:strVal val="visible"/>
                                      </p:to>
                                    </p:set>
                                    <p:animEffect transition="in" filter="fade">
                                      <p:cBhvr>
                                        <p:cTn id="41" dur="500"/>
                                        <p:tgtEl>
                                          <p:spTgt spid="41">
                                            <p:txEl>
                                              <p:pRg st="4" end="4"/>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9"/>
                                        </p:tgtEl>
                                        <p:attrNameLst>
                                          <p:attrName>style.visibility</p:attrName>
                                        </p:attrNameLst>
                                      </p:cBhvr>
                                      <p:to>
                                        <p:strVal val="visible"/>
                                      </p:to>
                                    </p:set>
                                    <p:animEffect transition="in" filter="fade">
                                      <p:cBhvr>
                                        <p:cTn id="46" dur="500"/>
                                        <p:tgtEl>
                                          <p:spTgt spid="3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0"/>
                                        </p:tgtEl>
                                        <p:attrNameLst>
                                          <p:attrName>style.visibility</p:attrName>
                                        </p:attrNameLst>
                                      </p:cBhvr>
                                      <p:to>
                                        <p:strVal val="visible"/>
                                      </p:to>
                                    </p:set>
                                    <p:animEffect transition="in" filter="fade">
                                      <p:cBhvr>
                                        <p:cTn id="49" dur="500"/>
                                        <p:tgtEl>
                                          <p:spTgt spid="4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56"/>
                                        </p:tgtEl>
                                        <p:attrNameLst>
                                          <p:attrName>style.visibility</p:attrName>
                                        </p:attrNameLst>
                                      </p:cBhvr>
                                      <p:to>
                                        <p:strVal val="visible"/>
                                      </p:to>
                                    </p:set>
                                    <p:animEffect transition="in" filter="fade">
                                      <p:cBhvr>
                                        <p:cTn id="52" dur="500"/>
                                        <p:tgtEl>
                                          <p:spTgt spid="5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57"/>
                                        </p:tgtEl>
                                        <p:attrNameLst>
                                          <p:attrName>style.visibility</p:attrName>
                                        </p:attrNameLst>
                                      </p:cBhvr>
                                      <p:to>
                                        <p:strVal val="visible"/>
                                      </p:to>
                                    </p:set>
                                    <p:animEffect transition="in" filter="fade">
                                      <p:cBhvr>
                                        <p:cTn id="55" dur="500"/>
                                        <p:tgtEl>
                                          <p:spTgt spid="57"/>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41">
                                            <p:txEl>
                                              <p:pRg st="6" end="6"/>
                                            </p:txEl>
                                          </p:spTgt>
                                        </p:tgtEl>
                                        <p:attrNameLst>
                                          <p:attrName>style.visibility</p:attrName>
                                        </p:attrNameLst>
                                      </p:cBhvr>
                                      <p:to>
                                        <p:strVal val="visible"/>
                                      </p:to>
                                    </p:set>
                                    <p:animEffect transition="in" filter="fade">
                                      <p:cBhvr>
                                        <p:cTn id="60" dur="500"/>
                                        <p:tgtEl>
                                          <p:spTgt spid="4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39" grpId="0" animBg="1"/>
      <p:bldP spid="40" grpId="0" animBg="1"/>
      <p:bldP spid="56" grpId="0" animBg="1"/>
      <p:bldP spid="57"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5273225" y="1433015"/>
            <a:ext cx="2722870" cy="1104331"/>
          </a:xfrm>
          <a:prstGeom prst="rect">
            <a:avLst/>
          </a:prstGeom>
          <a:ln/>
        </p:spPr>
        <p:style>
          <a:lnRef idx="1">
            <a:schemeClr val="dk1"/>
          </a:lnRef>
          <a:fillRef idx="2">
            <a:schemeClr val="dk1"/>
          </a:fillRef>
          <a:effectRef idx="1">
            <a:schemeClr val="dk1"/>
          </a:effectRef>
          <a:fontRef idx="minor">
            <a:schemeClr val="dk1"/>
          </a:fontRef>
        </p:style>
        <p:txBody>
          <a:bodyPr rtlCol="0" anchor="t" anchorCtr="0"/>
          <a:lstStyle/>
          <a:p>
            <a:r>
              <a:rPr lang="en-US" sz="1600" b="1" dirty="0" smtClean="0">
                <a:solidFill>
                  <a:schemeClr val="tx2">
                    <a:lumMod val="50000"/>
                  </a:schemeClr>
                </a:solidFill>
              </a:rPr>
              <a:t>JSON serialization</a:t>
            </a:r>
          </a:p>
        </p:txBody>
      </p:sp>
      <p:sp>
        <p:nvSpPr>
          <p:cNvPr id="3" name="Title 2"/>
          <p:cNvSpPr>
            <a:spLocks noGrp="1"/>
          </p:cNvSpPr>
          <p:nvPr>
            <p:ph type="title"/>
          </p:nvPr>
        </p:nvSpPr>
        <p:spPr>
          <a:xfrm>
            <a:off x="13650" y="1"/>
            <a:ext cx="10972799" cy="1002135"/>
          </a:xfrm>
        </p:spPr>
        <p:txBody>
          <a:bodyPr/>
          <a:lstStyle/>
          <a:p>
            <a:r>
              <a:rPr lang="en-US" dirty="0" smtClean="0"/>
              <a:t>API based Collaboration</a:t>
            </a:r>
            <a:endParaRPr lang="en-US" dirty="0"/>
          </a:p>
        </p:txBody>
      </p:sp>
      <p:pic>
        <p:nvPicPr>
          <p:cNvPr id="175106" name="Picture 2" descr="D:\Users\momuruge\Downloads\download.jp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155575" y="1318146"/>
            <a:ext cx="3752850" cy="1219200"/>
          </a:xfrm>
          <a:prstGeom prst="rect">
            <a:avLst/>
          </a:prstGeom>
          <a:noFill/>
          <a:extLst>
            <a:ext uri="{909E8E84-426E-40DD-AFC4-6F175D3DCCD1}">
              <a14:hiddenFill xmlns="" xmlns:a14="http://schemas.microsoft.com/office/drawing/2010/main">
                <a:solidFill>
                  <a:srgbClr val="FFFFFF"/>
                </a:solidFill>
              </a14:hiddenFill>
            </a:ext>
          </a:extLst>
        </p:spPr>
      </p:pic>
      <p:pic>
        <p:nvPicPr>
          <p:cNvPr id="175109" name="Picture 5" descr="D:\Users\momuruge\Downloads\tickets.jpg"/>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361807" y="2673826"/>
            <a:ext cx="1162529" cy="914400"/>
          </a:xfrm>
          <a:prstGeom prst="rect">
            <a:avLst/>
          </a:prstGeom>
          <a:noFill/>
          <a:extLst>
            <a:ext uri="{909E8E84-426E-40DD-AFC4-6F175D3DCCD1}">
              <a14:hiddenFill xmlns="" xmlns:a14="http://schemas.microsoft.com/office/drawing/2010/main">
                <a:solidFill>
                  <a:srgbClr val="FFFFFF"/>
                </a:solidFill>
              </a14:hiddenFill>
            </a:ext>
          </a:extLst>
        </p:spPr>
      </p:pic>
      <p:sp>
        <p:nvSpPr>
          <p:cNvPr id="7" name="AutoShape 7" descr="Image result for data center engineers"/>
          <p:cNvSpPr>
            <a:spLocks noChangeAspect="1" noChangeArrowheads="1"/>
          </p:cNvSpPr>
          <p:nvPr/>
        </p:nvSpPr>
        <p:spPr bwMode="auto">
          <a:xfrm>
            <a:off x="155575" y="-144463"/>
            <a:ext cx="304800" cy="304801"/>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75112" name="Picture 8" descr="D:\Users\momuruge\Downloads\DC engineer.jpg"/>
          <p:cNvPicPr>
            <a:picLocks noChangeAspect="1" noChangeArrowheads="1"/>
          </p:cNvPicPr>
          <p:nvPr/>
        </p:nvPicPr>
        <p:blipFill>
          <a:blip r:embed="rId5" cstate="print">
            <a:extLst>
              <a:ext uri="{28A0092B-C50C-407E-A947-70E740481C1C}">
                <a14:useLocalDpi xmlns="" xmlns:a14="http://schemas.microsoft.com/office/drawing/2010/main" val="0"/>
              </a:ext>
            </a:extLst>
          </a:blip>
          <a:srcRect/>
          <a:stretch>
            <a:fillRect/>
          </a:stretch>
        </p:blipFill>
        <p:spPr bwMode="auto">
          <a:xfrm>
            <a:off x="362567" y="5092111"/>
            <a:ext cx="1141863" cy="914400"/>
          </a:xfrm>
          <a:prstGeom prst="rect">
            <a:avLst/>
          </a:prstGeom>
          <a:noFill/>
          <a:extLst>
            <a:ext uri="{909E8E84-426E-40DD-AFC4-6F175D3DCCD1}">
              <a14:hiddenFill xmlns="" xmlns:a14="http://schemas.microsoft.com/office/drawing/2010/main">
                <a:solidFill>
                  <a:srgbClr val="FFFFFF"/>
                </a:solidFill>
              </a14:hiddenFill>
            </a:ext>
          </a:extLst>
        </p:spPr>
      </p:pic>
      <p:pic>
        <p:nvPicPr>
          <p:cNvPr id="175113" name="Picture 9" descr="D:\Users\momuruge\Downloads\server.png"/>
          <p:cNvPicPr>
            <a:picLocks noChangeAspect="1" noChangeArrowheads="1"/>
          </p:cNvPicPr>
          <p:nvPr/>
        </p:nvPicPr>
        <p:blipFill>
          <a:blip r:embed="rId6" cstate="print">
            <a:extLst>
              <a:ext uri="{28A0092B-C50C-407E-A947-70E740481C1C}">
                <a14:useLocalDpi xmlns="" xmlns:a14="http://schemas.microsoft.com/office/drawing/2010/main" val="0"/>
              </a:ext>
            </a:extLst>
          </a:blip>
          <a:srcRect/>
          <a:stretch>
            <a:fillRect/>
          </a:stretch>
        </p:blipFill>
        <p:spPr bwMode="auto">
          <a:xfrm>
            <a:off x="307975" y="3789406"/>
            <a:ext cx="1453794" cy="914400"/>
          </a:xfrm>
          <a:prstGeom prst="rect">
            <a:avLst/>
          </a:prstGeom>
          <a:noFill/>
          <a:extLst>
            <a:ext uri="{909E8E84-426E-40DD-AFC4-6F175D3DCCD1}">
              <a14:hiddenFill xmlns="" xmlns:a14="http://schemas.microsoft.com/office/drawing/2010/main">
                <a:solidFill>
                  <a:srgbClr val="FFFFFF"/>
                </a:solidFill>
              </a14:hiddenFill>
            </a:ext>
          </a:extLst>
        </p:spPr>
      </p:pic>
      <p:sp>
        <p:nvSpPr>
          <p:cNvPr id="8" name="Rectangle 7"/>
          <p:cNvSpPr/>
          <p:nvPr/>
        </p:nvSpPr>
        <p:spPr>
          <a:xfrm>
            <a:off x="5416665" y="1835622"/>
            <a:ext cx="1774209" cy="532263"/>
          </a:xfrm>
          <a:prstGeom prst="rect">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1600" b="1" dirty="0" smtClean="0">
                <a:solidFill>
                  <a:schemeClr val="tx2">
                    <a:lumMod val="50000"/>
                  </a:schemeClr>
                </a:solidFill>
              </a:rPr>
              <a:t>HTTP </a:t>
            </a:r>
          </a:p>
          <a:p>
            <a:pPr algn="ctr"/>
            <a:r>
              <a:rPr lang="en-US" sz="1600" b="1" dirty="0" smtClean="0">
                <a:solidFill>
                  <a:schemeClr val="tx2">
                    <a:lumMod val="50000"/>
                  </a:schemeClr>
                </a:solidFill>
              </a:rPr>
              <a:t>REST-style APIs</a:t>
            </a:r>
          </a:p>
        </p:txBody>
      </p:sp>
      <p:sp>
        <p:nvSpPr>
          <p:cNvPr id="11" name="Left Brace 10"/>
          <p:cNvSpPr/>
          <p:nvPr/>
        </p:nvSpPr>
        <p:spPr>
          <a:xfrm>
            <a:off x="3848670" y="1405719"/>
            <a:ext cx="238694" cy="1104331"/>
          </a:xfrm>
          <a:prstGeom prst="leftBrace">
            <a:avLst/>
          </a:prstGeom>
          <a:ln/>
        </p:spPr>
        <p:style>
          <a:lnRef idx="1">
            <a:schemeClr val="accent5"/>
          </a:lnRef>
          <a:fillRef idx="0">
            <a:schemeClr val="accent5"/>
          </a:fillRef>
          <a:effectRef idx="0">
            <a:schemeClr val="accent5"/>
          </a:effectRef>
          <a:fontRef idx="minor">
            <a:schemeClr val="tx1"/>
          </a:fontRef>
        </p:style>
        <p:txBody>
          <a:bodyPr rtlCol="0" anchor="ctr"/>
          <a:lstStyle/>
          <a:p>
            <a:pPr algn="ctr"/>
            <a:endParaRPr lang="en-US"/>
          </a:p>
        </p:txBody>
      </p:sp>
      <p:sp>
        <p:nvSpPr>
          <p:cNvPr id="12" name="TextBox 11"/>
          <p:cNvSpPr txBox="1"/>
          <p:nvPr/>
        </p:nvSpPr>
        <p:spPr>
          <a:xfrm>
            <a:off x="4022609" y="1707080"/>
            <a:ext cx="1019831" cy="523220"/>
          </a:xfrm>
          <a:prstGeom prst="rect">
            <a:avLst/>
          </a:prstGeom>
          <a:noFill/>
        </p:spPr>
        <p:txBody>
          <a:bodyPr wrap="none" rtlCol="0">
            <a:spAutoFit/>
          </a:bodyPr>
          <a:lstStyle/>
          <a:p>
            <a:r>
              <a:rPr lang="en-US" sz="1400" b="1" dirty="0" smtClean="0">
                <a:solidFill>
                  <a:schemeClr val="tx2">
                    <a:lumMod val="50000"/>
                  </a:schemeClr>
                </a:solidFill>
              </a:rPr>
              <a:t>API </a:t>
            </a:r>
          </a:p>
          <a:p>
            <a:r>
              <a:rPr lang="en-US" sz="1400" b="1" dirty="0" smtClean="0">
                <a:solidFill>
                  <a:schemeClr val="tx2">
                    <a:lumMod val="50000"/>
                  </a:schemeClr>
                </a:solidFill>
              </a:rPr>
              <a:t>Contracts</a:t>
            </a:r>
          </a:p>
        </p:txBody>
      </p:sp>
      <p:pic>
        <p:nvPicPr>
          <p:cNvPr id="175115" name="Picture 11" descr="Image result for auto provisioning vms"/>
          <p:cNvPicPr>
            <a:picLocks noChangeAspect="1" noChangeArrowheads="1"/>
          </p:cNvPicPr>
          <p:nvPr/>
        </p:nvPicPr>
        <p:blipFill>
          <a:blip r:embed="rId7" cstate="print">
            <a:extLst>
              <a:ext uri="{28A0092B-C50C-407E-A947-70E740481C1C}">
                <a14:useLocalDpi xmlns="" xmlns:a14="http://schemas.microsoft.com/office/drawing/2010/main" val="0"/>
              </a:ext>
            </a:extLst>
          </a:blip>
          <a:srcRect/>
          <a:stretch>
            <a:fillRect/>
          </a:stretch>
        </p:blipFill>
        <p:spPr bwMode="auto">
          <a:xfrm>
            <a:off x="8464881" y="1246896"/>
            <a:ext cx="2139784" cy="1371600"/>
          </a:xfrm>
          <a:prstGeom prst="rect">
            <a:avLst/>
          </a:prstGeom>
          <a:noFill/>
          <a:extLst>
            <a:ext uri="{909E8E84-426E-40DD-AFC4-6F175D3DCCD1}">
              <a14:hiddenFill xmlns="" xmlns:a14="http://schemas.microsoft.com/office/drawing/2010/main">
                <a:solidFill>
                  <a:srgbClr val="FFFFFF"/>
                </a:solidFill>
              </a14:hiddenFill>
            </a:ext>
          </a:extLst>
        </p:spPr>
      </p:pic>
      <p:sp>
        <p:nvSpPr>
          <p:cNvPr id="14" name="Right Arrow 13"/>
          <p:cNvSpPr/>
          <p:nvPr/>
        </p:nvSpPr>
        <p:spPr>
          <a:xfrm>
            <a:off x="3567375" y="1884523"/>
            <a:ext cx="259307" cy="176286"/>
          </a:xfrm>
          <a:prstGeom prst="rightArrow">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2400" dirty="0" err="1" smtClean="0">
              <a:solidFill>
                <a:schemeClr val="tx2">
                  <a:lumMod val="50000"/>
                </a:schemeClr>
              </a:solidFill>
            </a:endParaRPr>
          </a:p>
        </p:txBody>
      </p:sp>
      <p:sp>
        <p:nvSpPr>
          <p:cNvPr id="34" name="Right Arrow 33"/>
          <p:cNvSpPr/>
          <p:nvPr/>
        </p:nvSpPr>
        <p:spPr>
          <a:xfrm>
            <a:off x="4912786" y="1835622"/>
            <a:ext cx="259307" cy="176286"/>
          </a:xfrm>
          <a:prstGeom prst="rightArrow">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2400" dirty="0" err="1" smtClean="0">
              <a:solidFill>
                <a:schemeClr val="tx2">
                  <a:lumMod val="50000"/>
                </a:schemeClr>
              </a:solidFill>
            </a:endParaRPr>
          </a:p>
        </p:txBody>
      </p:sp>
      <p:sp>
        <p:nvSpPr>
          <p:cNvPr id="35" name="Right Arrow 34"/>
          <p:cNvSpPr/>
          <p:nvPr/>
        </p:nvSpPr>
        <p:spPr>
          <a:xfrm>
            <a:off x="8123686" y="1839603"/>
            <a:ext cx="259307" cy="176286"/>
          </a:xfrm>
          <a:prstGeom prst="rightArrow">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2400" dirty="0" err="1" smtClean="0">
              <a:solidFill>
                <a:schemeClr val="tx2">
                  <a:lumMod val="50000"/>
                </a:schemeClr>
              </a:solidFill>
            </a:endParaRPr>
          </a:p>
        </p:txBody>
      </p:sp>
      <p:sp>
        <p:nvSpPr>
          <p:cNvPr id="15" name="Down Arrow 14"/>
          <p:cNvSpPr/>
          <p:nvPr/>
        </p:nvSpPr>
        <p:spPr>
          <a:xfrm>
            <a:off x="810845" y="3501650"/>
            <a:ext cx="245305" cy="294757"/>
          </a:xfrm>
          <a:prstGeom prst="downArrow">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2400" dirty="0" err="1">
              <a:solidFill>
                <a:schemeClr val="tx2">
                  <a:lumMod val="50000"/>
                </a:schemeClr>
              </a:solidFill>
            </a:endParaRPr>
          </a:p>
        </p:txBody>
      </p:sp>
      <p:sp>
        <p:nvSpPr>
          <p:cNvPr id="37" name="Down Arrow 36"/>
          <p:cNvSpPr/>
          <p:nvPr/>
        </p:nvSpPr>
        <p:spPr>
          <a:xfrm>
            <a:off x="820418" y="2394989"/>
            <a:ext cx="245305" cy="294757"/>
          </a:xfrm>
          <a:prstGeom prst="downArrow">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2400" dirty="0" err="1">
              <a:solidFill>
                <a:schemeClr val="tx2">
                  <a:lumMod val="50000"/>
                </a:schemeClr>
              </a:solidFill>
            </a:endParaRPr>
          </a:p>
        </p:txBody>
      </p:sp>
      <p:sp>
        <p:nvSpPr>
          <p:cNvPr id="38" name="Down Arrow 37"/>
          <p:cNvSpPr/>
          <p:nvPr/>
        </p:nvSpPr>
        <p:spPr>
          <a:xfrm>
            <a:off x="820418" y="4703806"/>
            <a:ext cx="245305" cy="294757"/>
          </a:xfrm>
          <a:prstGeom prst="downArrow">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2400" dirty="0" err="1">
              <a:solidFill>
                <a:schemeClr val="tx2">
                  <a:lumMod val="50000"/>
                </a:schemeClr>
              </a:solidFill>
            </a:endParaRPr>
          </a:p>
        </p:txBody>
      </p:sp>
      <p:cxnSp>
        <p:nvCxnSpPr>
          <p:cNvPr id="17" name="Straight Connector 16"/>
          <p:cNvCxnSpPr/>
          <p:nvPr/>
        </p:nvCxnSpPr>
        <p:spPr>
          <a:xfrm>
            <a:off x="155575" y="2510050"/>
            <a:ext cx="1606194" cy="3605742"/>
          </a:xfrm>
          <a:prstGeom prst="line">
            <a:avLst/>
          </a:prstGeom>
          <a:ln>
            <a:solidFill>
              <a:schemeClr val="accent3">
                <a:alpha val="36000"/>
              </a:schemeClr>
            </a:solidFill>
          </a:ln>
        </p:spPr>
        <p:style>
          <a:lnRef idx="2">
            <a:schemeClr val="accent3"/>
          </a:lnRef>
          <a:fillRef idx="0">
            <a:schemeClr val="accent3"/>
          </a:fillRef>
          <a:effectRef idx="1">
            <a:schemeClr val="accent3"/>
          </a:effectRef>
          <a:fontRef idx="minor">
            <a:schemeClr val="tx1"/>
          </a:fontRef>
        </p:style>
      </p:cxnSp>
      <p:cxnSp>
        <p:nvCxnSpPr>
          <p:cNvPr id="43" name="Straight Connector 42"/>
          <p:cNvCxnSpPr/>
          <p:nvPr/>
        </p:nvCxnSpPr>
        <p:spPr>
          <a:xfrm flipH="1">
            <a:off x="131825" y="2555575"/>
            <a:ext cx="1606194" cy="3605742"/>
          </a:xfrm>
          <a:prstGeom prst="line">
            <a:avLst/>
          </a:prstGeom>
          <a:ln>
            <a:solidFill>
              <a:schemeClr val="accent3">
                <a:alpha val="36000"/>
              </a:schemeClr>
            </a:solidFill>
          </a:ln>
        </p:spPr>
        <p:style>
          <a:lnRef idx="2">
            <a:schemeClr val="accent3"/>
          </a:lnRef>
          <a:fillRef idx="0">
            <a:schemeClr val="accent3"/>
          </a:fillRef>
          <a:effectRef idx="1">
            <a:schemeClr val="accent3"/>
          </a:effectRef>
          <a:fontRef idx="minor">
            <a:schemeClr val="tx1"/>
          </a:fontRef>
        </p:style>
      </p:cxnSp>
      <p:sp>
        <p:nvSpPr>
          <p:cNvPr id="20" name="Rounded Rectangle 19"/>
          <p:cNvSpPr/>
          <p:nvPr/>
        </p:nvSpPr>
        <p:spPr>
          <a:xfrm>
            <a:off x="1865750" y="2739163"/>
            <a:ext cx="8812202" cy="3485139"/>
          </a:xfrm>
          <a:prstGeom prst="roundRect">
            <a:avLst/>
          </a:prstGeom>
          <a:ln/>
          <a:effectLst>
            <a:innerShdw blurRad="63500" dist="50800" dir="2700000">
              <a:prstClr val="black">
                <a:alpha val="50000"/>
              </a:prstClr>
            </a:innerShdw>
          </a:effectLst>
        </p:spPr>
        <p:style>
          <a:lnRef idx="2">
            <a:schemeClr val="accent5"/>
          </a:lnRef>
          <a:fillRef idx="1">
            <a:schemeClr val="lt1"/>
          </a:fillRef>
          <a:effectRef idx="0">
            <a:schemeClr val="accent5"/>
          </a:effectRef>
          <a:fontRef idx="minor">
            <a:schemeClr val="dk1"/>
          </a:fontRef>
        </p:style>
        <p:txBody>
          <a:bodyPr rtlCol="0" anchor="ctr"/>
          <a:lstStyle/>
          <a:p>
            <a:pPr marL="457200" indent="-457200">
              <a:buFont typeface="+mj-lt"/>
              <a:buAutoNum type="arabicPeriod"/>
            </a:pPr>
            <a:endParaRPr lang="en-US" sz="1600" dirty="0" smtClean="0">
              <a:solidFill>
                <a:schemeClr val="tx2">
                  <a:lumMod val="50000"/>
                </a:schemeClr>
              </a:solidFill>
            </a:endParaRPr>
          </a:p>
          <a:p>
            <a:pPr marL="457200" indent="-457200">
              <a:buFont typeface="+mj-lt"/>
              <a:buAutoNum type="arabicPeriod"/>
            </a:pPr>
            <a:endParaRPr lang="en-US" sz="1600" dirty="0" smtClean="0">
              <a:solidFill>
                <a:schemeClr val="tx2">
                  <a:lumMod val="50000"/>
                </a:schemeClr>
              </a:solidFill>
            </a:endParaRPr>
          </a:p>
          <a:p>
            <a:pPr marL="457200" indent="-457200">
              <a:buFont typeface="+mj-lt"/>
              <a:buAutoNum type="arabicPeriod"/>
            </a:pPr>
            <a:endParaRPr lang="en-US" sz="1600" dirty="0">
              <a:solidFill>
                <a:schemeClr val="tx2">
                  <a:lumMod val="50000"/>
                </a:schemeClr>
              </a:solidFill>
            </a:endParaRPr>
          </a:p>
          <a:p>
            <a:pPr marL="457200" indent="-457200">
              <a:buFont typeface="+mj-lt"/>
              <a:buAutoNum type="arabicPeriod"/>
            </a:pPr>
            <a:r>
              <a:rPr lang="en-US" sz="1800" dirty="0" smtClean="0">
                <a:solidFill>
                  <a:schemeClr val="tx2">
                    <a:lumMod val="50000"/>
                  </a:schemeClr>
                </a:solidFill>
              </a:rPr>
              <a:t>Sole mode of interaction is thru published APIs.</a:t>
            </a:r>
          </a:p>
          <a:p>
            <a:pPr marL="457200" indent="-457200">
              <a:buFont typeface="+mj-lt"/>
              <a:buAutoNum type="arabicPeriod"/>
            </a:pPr>
            <a:r>
              <a:rPr lang="en-US" sz="1800" dirty="0" smtClean="0">
                <a:solidFill>
                  <a:schemeClr val="tx2">
                    <a:lumMod val="50000"/>
                  </a:schemeClr>
                </a:solidFill>
              </a:rPr>
              <a:t>Software Development teams could deploy new functionality thru a service without synchronizing with other teams (provided they do not break any API contracts).</a:t>
            </a:r>
          </a:p>
          <a:p>
            <a:pPr marL="457200" indent="-457200">
              <a:buFont typeface="+mj-lt"/>
              <a:buAutoNum type="arabicPeriod"/>
            </a:pPr>
            <a:r>
              <a:rPr lang="en-US" sz="1800" dirty="0" smtClean="0"/>
              <a:t>No need for submission of tickets </a:t>
            </a:r>
            <a:r>
              <a:rPr lang="en-US" sz="1800" dirty="0"/>
              <a:t>to </a:t>
            </a:r>
            <a:r>
              <a:rPr lang="en-US" sz="1800" dirty="0" smtClean="0"/>
              <a:t>provision</a:t>
            </a:r>
            <a:r>
              <a:rPr lang="en-US" sz="1800" dirty="0"/>
              <a:t>, scale, and </a:t>
            </a:r>
            <a:r>
              <a:rPr lang="en-US" sz="1800" dirty="0" smtClean="0"/>
              <a:t>maintain application infrastructure.</a:t>
            </a:r>
          </a:p>
          <a:p>
            <a:pPr marL="457200" indent="-457200">
              <a:buFont typeface="+mj-lt"/>
              <a:buAutoNum type="arabicPeriod"/>
            </a:pPr>
            <a:r>
              <a:rPr lang="en-US" sz="1800" dirty="0" smtClean="0"/>
              <a:t>Rather </a:t>
            </a:r>
            <a:r>
              <a:rPr lang="en-US" sz="1800" dirty="0"/>
              <a:t>those same requests are submitted to an API that automatically services the </a:t>
            </a:r>
            <a:r>
              <a:rPr lang="en-US" sz="1800" dirty="0" smtClean="0"/>
              <a:t>requests (thru API contracts).</a:t>
            </a:r>
          </a:p>
          <a:p>
            <a:pPr marL="457200" indent="-457200">
              <a:buFont typeface="+mj-lt"/>
              <a:buAutoNum type="arabicPeriod"/>
            </a:pPr>
            <a:r>
              <a:rPr lang="en-US" sz="1800" dirty="0" smtClean="0"/>
              <a:t>Contract compliance is verified thru service-to-service interactions.</a:t>
            </a:r>
          </a:p>
          <a:p>
            <a:pPr marL="457200" indent="-457200">
              <a:buFont typeface="+mj-lt"/>
              <a:buAutoNum type="arabicPeriod"/>
            </a:pPr>
            <a:r>
              <a:rPr lang="en-US" sz="1800" dirty="0" smtClean="0"/>
              <a:t>Only one service is allowed to access the data store at any time.</a:t>
            </a:r>
          </a:p>
          <a:p>
            <a:pPr marL="457200" indent="-457200">
              <a:buFont typeface="+mj-lt"/>
              <a:buAutoNum type="arabicPeriod"/>
            </a:pPr>
            <a:r>
              <a:rPr lang="en-US" sz="1800" dirty="0" smtClean="0"/>
              <a:t>Such decoupling directly supports cloud native requirement of speed.</a:t>
            </a:r>
          </a:p>
          <a:p>
            <a:pPr marL="457200" indent="-457200">
              <a:buFont typeface="+mj-lt"/>
              <a:buAutoNum type="arabicPeriod"/>
            </a:pPr>
            <a:endParaRPr lang="en-US" sz="1600" dirty="0" smtClean="0">
              <a:solidFill>
                <a:schemeClr val="tx2">
                  <a:lumMod val="50000"/>
                </a:schemeClr>
              </a:solidFill>
            </a:endParaRPr>
          </a:p>
          <a:p>
            <a:endParaRPr lang="en-US" sz="1600" dirty="0" smtClean="0">
              <a:solidFill>
                <a:schemeClr val="tx2">
                  <a:lumMod val="50000"/>
                </a:schemeClr>
              </a:solidFill>
            </a:endParaRPr>
          </a:p>
          <a:p>
            <a:endParaRPr lang="en-US" sz="1600" dirty="0" err="1" smtClean="0">
              <a:solidFill>
                <a:schemeClr val="tx2">
                  <a:lumMod val="50000"/>
                </a:schemeClr>
              </a:solidFill>
            </a:endParaRPr>
          </a:p>
        </p:txBody>
      </p:sp>
    </p:spTree>
    <p:extLst>
      <p:ext uri="{BB962C8B-B14F-4D97-AF65-F5344CB8AC3E}">
        <p14:creationId xmlns="" xmlns:p14="http://schemas.microsoft.com/office/powerpoint/2010/main" val="3893606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5106"/>
                                        </p:tgtEl>
                                        <p:attrNameLst>
                                          <p:attrName>style.visibility</p:attrName>
                                        </p:attrNameLst>
                                      </p:cBhvr>
                                      <p:to>
                                        <p:strVal val="visible"/>
                                      </p:to>
                                    </p:set>
                                    <p:animEffect transition="in" filter="fade">
                                      <p:cBhvr>
                                        <p:cTn id="7" dur="500"/>
                                        <p:tgtEl>
                                          <p:spTgt spid="17510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500"/>
                                        <p:tgtEl>
                                          <p:spTgt spid="3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5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0">
                                            <p:txEl>
                                              <p:pRg st="3" end="3"/>
                                            </p:txEl>
                                          </p:spTgt>
                                        </p:tgtEl>
                                        <p:attrNameLst>
                                          <p:attrName>style.visibility</p:attrName>
                                        </p:attrNameLst>
                                      </p:cBhvr>
                                      <p:to>
                                        <p:strVal val="visible"/>
                                      </p:to>
                                    </p:set>
                                    <p:animEffect transition="in" filter="fade">
                                      <p:cBhvr>
                                        <p:cTn id="26" dur="500"/>
                                        <p:tgtEl>
                                          <p:spTgt spid="20">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0">
                                            <p:txEl>
                                              <p:pRg st="4" end="4"/>
                                            </p:txEl>
                                          </p:spTgt>
                                        </p:tgtEl>
                                        <p:attrNameLst>
                                          <p:attrName>style.visibility</p:attrName>
                                        </p:attrNameLst>
                                      </p:cBhvr>
                                      <p:to>
                                        <p:strVal val="visible"/>
                                      </p:to>
                                    </p:set>
                                    <p:animEffect transition="in" filter="fade">
                                      <p:cBhvr>
                                        <p:cTn id="31" dur="500"/>
                                        <p:tgtEl>
                                          <p:spTgt spid="20">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7"/>
                                        </p:tgtEl>
                                        <p:attrNameLst>
                                          <p:attrName>style.visibility</p:attrName>
                                        </p:attrNameLst>
                                      </p:cBhvr>
                                      <p:to>
                                        <p:strVal val="visible"/>
                                      </p:to>
                                    </p:set>
                                    <p:animEffect transition="in" filter="fade">
                                      <p:cBhvr>
                                        <p:cTn id="36" dur="500"/>
                                        <p:tgtEl>
                                          <p:spTgt spid="37"/>
                                        </p:tgtEl>
                                      </p:cBhvr>
                                    </p:animEffect>
                                  </p:childTnLst>
                                </p:cTn>
                              </p:par>
                              <p:par>
                                <p:cTn id="37" presetID="10" presetClass="entr" presetSubtype="0" fill="hold" nodeType="withEffect">
                                  <p:stCondLst>
                                    <p:cond delay="0"/>
                                  </p:stCondLst>
                                  <p:childTnLst>
                                    <p:set>
                                      <p:cBhvr>
                                        <p:cTn id="38" dur="1" fill="hold">
                                          <p:stCondLst>
                                            <p:cond delay="0"/>
                                          </p:stCondLst>
                                        </p:cTn>
                                        <p:tgtEl>
                                          <p:spTgt spid="175109"/>
                                        </p:tgtEl>
                                        <p:attrNameLst>
                                          <p:attrName>style.visibility</p:attrName>
                                        </p:attrNameLst>
                                      </p:cBhvr>
                                      <p:to>
                                        <p:strVal val="visible"/>
                                      </p:to>
                                    </p:set>
                                    <p:animEffect transition="in" filter="fade">
                                      <p:cBhvr>
                                        <p:cTn id="39" dur="500"/>
                                        <p:tgtEl>
                                          <p:spTgt spid="17510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par>
                                <p:cTn id="43" presetID="10" presetClass="entr" presetSubtype="0" fill="hold" nodeType="withEffect">
                                  <p:stCondLst>
                                    <p:cond delay="0"/>
                                  </p:stCondLst>
                                  <p:childTnLst>
                                    <p:set>
                                      <p:cBhvr>
                                        <p:cTn id="44" dur="1" fill="hold">
                                          <p:stCondLst>
                                            <p:cond delay="0"/>
                                          </p:stCondLst>
                                        </p:cTn>
                                        <p:tgtEl>
                                          <p:spTgt spid="175113"/>
                                        </p:tgtEl>
                                        <p:attrNameLst>
                                          <p:attrName>style.visibility</p:attrName>
                                        </p:attrNameLst>
                                      </p:cBhvr>
                                      <p:to>
                                        <p:strVal val="visible"/>
                                      </p:to>
                                    </p:set>
                                    <p:animEffect transition="in" filter="fade">
                                      <p:cBhvr>
                                        <p:cTn id="45" dur="500"/>
                                        <p:tgtEl>
                                          <p:spTgt spid="175113"/>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8"/>
                                        </p:tgtEl>
                                        <p:attrNameLst>
                                          <p:attrName>style.visibility</p:attrName>
                                        </p:attrNameLst>
                                      </p:cBhvr>
                                      <p:to>
                                        <p:strVal val="visible"/>
                                      </p:to>
                                    </p:set>
                                    <p:animEffect transition="in" filter="fade">
                                      <p:cBhvr>
                                        <p:cTn id="48" dur="500"/>
                                        <p:tgtEl>
                                          <p:spTgt spid="38"/>
                                        </p:tgtEl>
                                      </p:cBhvr>
                                    </p:animEffect>
                                  </p:childTnLst>
                                </p:cTn>
                              </p:par>
                              <p:par>
                                <p:cTn id="49" presetID="10" presetClass="entr" presetSubtype="0" fill="hold" nodeType="withEffect">
                                  <p:stCondLst>
                                    <p:cond delay="0"/>
                                  </p:stCondLst>
                                  <p:childTnLst>
                                    <p:set>
                                      <p:cBhvr>
                                        <p:cTn id="50" dur="1" fill="hold">
                                          <p:stCondLst>
                                            <p:cond delay="0"/>
                                          </p:stCondLst>
                                        </p:cTn>
                                        <p:tgtEl>
                                          <p:spTgt spid="175112"/>
                                        </p:tgtEl>
                                        <p:attrNameLst>
                                          <p:attrName>style.visibility</p:attrName>
                                        </p:attrNameLst>
                                      </p:cBhvr>
                                      <p:to>
                                        <p:strVal val="visible"/>
                                      </p:to>
                                    </p:set>
                                    <p:animEffect transition="in" filter="fade">
                                      <p:cBhvr>
                                        <p:cTn id="51" dur="500"/>
                                        <p:tgtEl>
                                          <p:spTgt spid="175112"/>
                                        </p:tgtEl>
                                      </p:cBhvr>
                                    </p:animEffect>
                                  </p:childTnLst>
                                </p:cTn>
                              </p:par>
                              <p:par>
                                <p:cTn id="52" presetID="10" presetClass="entr" presetSubtype="0" fill="hold" nodeType="with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500"/>
                                        <p:tgtEl>
                                          <p:spTgt spid="17"/>
                                        </p:tgtEl>
                                      </p:cBhvr>
                                    </p:animEffect>
                                  </p:childTnLst>
                                </p:cTn>
                              </p:par>
                              <p:par>
                                <p:cTn id="55" presetID="10" presetClass="entr" presetSubtype="0" fill="hold" nodeType="withEffect">
                                  <p:stCondLst>
                                    <p:cond delay="0"/>
                                  </p:stCondLst>
                                  <p:childTnLst>
                                    <p:set>
                                      <p:cBhvr>
                                        <p:cTn id="56" dur="1" fill="hold">
                                          <p:stCondLst>
                                            <p:cond delay="0"/>
                                          </p:stCondLst>
                                        </p:cTn>
                                        <p:tgtEl>
                                          <p:spTgt spid="43"/>
                                        </p:tgtEl>
                                        <p:attrNameLst>
                                          <p:attrName>style.visibility</p:attrName>
                                        </p:attrNameLst>
                                      </p:cBhvr>
                                      <p:to>
                                        <p:strVal val="visible"/>
                                      </p:to>
                                    </p:set>
                                    <p:animEffect transition="in" filter="fade">
                                      <p:cBhvr>
                                        <p:cTn id="57" dur="500"/>
                                        <p:tgtEl>
                                          <p:spTgt spid="43"/>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0">
                                            <p:txEl>
                                              <p:pRg st="5" end="5"/>
                                            </p:txEl>
                                          </p:spTgt>
                                        </p:tgtEl>
                                        <p:attrNameLst>
                                          <p:attrName>style.visibility</p:attrName>
                                        </p:attrNameLst>
                                      </p:cBhvr>
                                      <p:to>
                                        <p:strVal val="visible"/>
                                      </p:to>
                                    </p:set>
                                    <p:animEffect transition="in" filter="fade">
                                      <p:cBhvr>
                                        <p:cTn id="62" dur="500"/>
                                        <p:tgtEl>
                                          <p:spTgt spid="20">
                                            <p:txEl>
                                              <p:pRg st="5" end="5"/>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500"/>
                                        <p:tgtEl>
                                          <p:spTgt spid="1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11"/>
                                        </p:tgtEl>
                                        <p:attrNameLst>
                                          <p:attrName>style.visibility</p:attrName>
                                        </p:attrNameLst>
                                      </p:cBhvr>
                                      <p:to>
                                        <p:strVal val="visible"/>
                                      </p:to>
                                    </p:set>
                                    <p:animEffect transition="in" filter="fade">
                                      <p:cBhvr>
                                        <p:cTn id="70" dur="500"/>
                                        <p:tgtEl>
                                          <p:spTgt spid="11"/>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12"/>
                                        </p:tgtEl>
                                        <p:attrNameLst>
                                          <p:attrName>style.visibility</p:attrName>
                                        </p:attrNameLst>
                                      </p:cBhvr>
                                      <p:to>
                                        <p:strVal val="visible"/>
                                      </p:to>
                                    </p:set>
                                    <p:animEffect transition="in" filter="fade">
                                      <p:cBhvr>
                                        <p:cTn id="73" dur="500"/>
                                        <p:tgtEl>
                                          <p:spTgt spid="12"/>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35"/>
                                        </p:tgtEl>
                                        <p:attrNameLst>
                                          <p:attrName>style.visibility</p:attrName>
                                        </p:attrNameLst>
                                      </p:cBhvr>
                                      <p:to>
                                        <p:strVal val="visible"/>
                                      </p:to>
                                    </p:set>
                                    <p:animEffect transition="in" filter="fade">
                                      <p:cBhvr>
                                        <p:cTn id="78" dur="500"/>
                                        <p:tgtEl>
                                          <p:spTgt spid="35"/>
                                        </p:tgtEl>
                                      </p:cBhvr>
                                    </p:animEffect>
                                  </p:childTnLst>
                                </p:cTn>
                              </p:par>
                              <p:par>
                                <p:cTn id="79" presetID="10" presetClass="entr" presetSubtype="0" fill="hold" nodeType="withEffect">
                                  <p:stCondLst>
                                    <p:cond delay="0"/>
                                  </p:stCondLst>
                                  <p:childTnLst>
                                    <p:set>
                                      <p:cBhvr>
                                        <p:cTn id="80" dur="1" fill="hold">
                                          <p:stCondLst>
                                            <p:cond delay="0"/>
                                          </p:stCondLst>
                                        </p:cTn>
                                        <p:tgtEl>
                                          <p:spTgt spid="175115"/>
                                        </p:tgtEl>
                                        <p:attrNameLst>
                                          <p:attrName>style.visibility</p:attrName>
                                        </p:attrNameLst>
                                      </p:cBhvr>
                                      <p:to>
                                        <p:strVal val="visible"/>
                                      </p:to>
                                    </p:set>
                                    <p:animEffect transition="in" filter="fade">
                                      <p:cBhvr>
                                        <p:cTn id="81" dur="500"/>
                                        <p:tgtEl>
                                          <p:spTgt spid="175115"/>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20">
                                            <p:txEl>
                                              <p:pRg st="6" end="6"/>
                                            </p:txEl>
                                          </p:spTgt>
                                        </p:tgtEl>
                                        <p:attrNameLst>
                                          <p:attrName>style.visibility</p:attrName>
                                        </p:attrNameLst>
                                      </p:cBhvr>
                                      <p:to>
                                        <p:strVal val="visible"/>
                                      </p:to>
                                    </p:set>
                                    <p:animEffect transition="in" filter="fade">
                                      <p:cBhvr>
                                        <p:cTn id="86" dur="500"/>
                                        <p:tgtEl>
                                          <p:spTgt spid="20">
                                            <p:txEl>
                                              <p:pRg st="6" end="6"/>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20">
                                            <p:txEl>
                                              <p:pRg st="7" end="7"/>
                                            </p:txEl>
                                          </p:spTgt>
                                        </p:tgtEl>
                                        <p:attrNameLst>
                                          <p:attrName>style.visibility</p:attrName>
                                        </p:attrNameLst>
                                      </p:cBhvr>
                                      <p:to>
                                        <p:strVal val="visible"/>
                                      </p:to>
                                    </p:set>
                                    <p:animEffect transition="in" filter="fade">
                                      <p:cBhvr>
                                        <p:cTn id="91" dur="500"/>
                                        <p:tgtEl>
                                          <p:spTgt spid="20">
                                            <p:txEl>
                                              <p:pRg st="7" end="7"/>
                                            </p:txEl>
                                          </p:spTgt>
                                        </p:tgtEl>
                                      </p:cBhvr>
                                    </p:animEffect>
                                  </p:childTnLst>
                                </p:cTn>
                              </p:par>
                              <p:par>
                                <p:cTn id="92" presetID="10" presetClass="entr" presetSubtype="0" fill="hold" nodeType="withEffect">
                                  <p:stCondLst>
                                    <p:cond delay="0"/>
                                  </p:stCondLst>
                                  <p:childTnLst>
                                    <p:set>
                                      <p:cBhvr>
                                        <p:cTn id="93" dur="1" fill="hold">
                                          <p:stCondLst>
                                            <p:cond delay="0"/>
                                          </p:stCondLst>
                                        </p:cTn>
                                        <p:tgtEl>
                                          <p:spTgt spid="20">
                                            <p:txEl>
                                              <p:pRg st="8" end="8"/>
                                            </p:txEl>
                                          </p:spTgt>
                                        </p:tgtEl>
                                        <p:attrNameLst>
                                          <p:attrName>style.visibility</p:attrName>
                                        </p:attrNameLst>
                                      </p:cBhvr>
                                      <p:to>
                                        <p:strVal val="visible"/>
                                      </p:to>
                                    </p:set>
                                    <p:animEffect transition="in" filter="fade">
                                      <p:cBhvr>
                                        <p:cTn id="94" dur="500"/>
                                        <p:tgtEl>
                                          <p:spTgt spid="20">
                                            <p:txEl>
                                              <p:pRg st="8" end="8"/>
                                            </p:txEl>
                                          </p:spTgt>
                                        </p:tgtEl>
                                      </p:cBhvr>
                                    </p:animEffect>
                                  </p:childTnLst>
                                </p:cTn>
                              </p:par>
                              <p:par>
                                <p:cTn id="95" presetID="10" presetClass="entr" presetSubtype="0" fill="hold" nodeType="withEffect">
                                  <p:stCondLst>
                                    <p:cond delay="0"/>
                                  </p:stCondLst>
                                  <p:childTnLst>
                                    <p:set>
                                      <p:cBhvr>
                                        <p:cTn id="96" dur="1" fill="hold">
                                          <p:stCondLst>
                                            <p:cond delay="0"/>
                                          </p:stCondLst>
                                        </p:cTn>
                                        <p:tgtEl>
                                          <p:spTgt spid="20">
                                            <p:txEl>
                                              <p:pRg st="9" end="9"/>
                                            </p:txEl>
                                          </p:spTgt>
                                        </p:tgtEl>
                                        <p:attrNameLst>
                                          <p:attrName>style.visibility</p:attrName>
                                        </p:attrNameLst>
                                      </p:cBhvr>
                                      <p:to>
                                        <p:strVal val="visible"/>
                                      </p:to>
                                    </p:set>
                                    <p:animEffect transition="in" filter="fade">
                                      <p:cBhvr>
                                        <p:cTn id="97" dur="500"/>
                                        <p:tgtEl>
                                          <p:spTgt spid="20">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8" grpId="0" animBg="1"/>
      <p:bldP spid="11" grpId="0" animBg="1"/>
      <p:bldP spid="12" grpId="0"/>
      <p:bldP spid="14" grpId="0" animBg="1"/>
      <p:bldP spid="34" grpId="0" animBg="1"/>
      <p:bldP spid="35" grpId="0" animBg="1"/>
      <p:bldP spid="15" grpId="0" animBg="1"/>
      <p:bldP spid="37" grpId="0" animBg="1"/>
      <p:bldP spid="38" grpId="0" animBg="1"/>
      <p:bldP spid="20"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p:cNvSpPr/>
          <p:nvPr/>
        </p:nvSpPr>
        <p:spPr>
          <a:xfrm>
            <a:off x="1105730" y="2403022"/>
            <a:ext cx="2050219" cy="1790700"/>
          </a:xfrm>
          <a:prstGeom prst="rect">
            <a:avLst/>
          </a:prstGeom>
          <a:ln/>
        </p:spPr>
        <p:style>
          <a:lnRef idx="1">
            <a:schemeClr val="dk1"/>
          </a:lnRef>
          <a:fillRef idx="2">
            <a:schemeClr val="dk1"/>
          </a:fillRef>
          <a:effectRef idx="1">
            <a:schemeClr val="dk1"/>
          </a:effectRef>
          <a:fontRef idx="minor">
            <a:schemeClr val="dk1"/>
          </a:fontRef>
        </p:style>
        <p:txBody>
          <a:bodyPr rtlCol="0" anchor="ctr"/>
          <a:lstStyle/>
          <a:p>
            <a:pPr lvl="1"/>
            <a:endParaRPr lang="en-US" sz="1800" dirty="0" smtClean="0">
              <a:solidFill>
                <a:schemeClr val="tx2">
                  <a:lumMod val="50000"/>
                </a:schemeClr>
              </a:solidFill>
            </a:endParaRPr>
          </a:p>
        </p:txBody>
      </p:sp>
      <p:sp>
        <p:nvSpPr>
          <p:cNvPr id="3" name="Title 2"/>
          <p:cNvSpPr>
            <a:spLocks noGrp="1"/>
          </p:cNvSpPr>
          <p:nvPr>
            <p:ph type="title"/>
          </p:nvPr>
        </p:nvSpPr>
        <p:spPr>
          <a:xfrm>
            <a:off x="13650" y="1"/>
            <a:ext cx="10972799" cy="1002135"/>
          </a:xfrm>
        </p:spPr>
        <p:txBody>
          <a:bodyPr/>
          <a:lstStyle/>
          <a:p>
            <a:r>
              <a:rPr lang="en-US" dirty="0" err="1" smtClean="0"/>
              <a:t>Antifragility</a:t>
            </a:r>
            <a:r>
              <a:rPr lang="en-US" dirty="0"/>
              <a:t> </a:t>
            </a:r>
            <a:r>
              <a:rPr lang="en-US" sz="2000" dirty="0" smtClean="0"/>
              <a:t>– ability of a system getting stronger when subject to stress</a:t>
            </a:r>
            <a:endParaRPr lang="en-US" sz="2000" dirty="0"/>
          </a:p>
        </p:txBody>
      </p:sp>
      <p:sp>
        <p:nvSpPr>
          <p:cNvPr id="7" name="AutoShape 7" descr="Image result for data center engineers"/>
          <p:cNvSpPr>
            <a:spLocks noChangeAspect="1" noChangeArrowheads="1"/>
          </p:cNvSpPr>
          <p:nvPr/>
        </p:nvSpPr>
        <p:spPr bwMode="auto">
          <a:xfrm>
            <a:off x="155575" y="-144463"/>
            <a:ext cx="304800" cy="304801"/>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Rounded Rectangle 19"/>
          <p:cNvSpPr/>
          <p:nvPr/>
        </p:nvSpPr>
        <p:spPr>
          <a:xfrm>
            <a:off x="1105730" y="1230878"/>
            <a:ext cx="9190176" cy="704681"/>
          </a:xfrm>
          <a:prstGeom prst="roundRect">
            <a:avLst/>
          </a:prstGeom>
          <a:ln/>
          <a:effectLst>
            <a:innerShdw blurRad="63500" dist="50800" dir="2700000">
              <a:prstClr val="black">
                <a:alpha val="50000"/>
              </a:prstClr>
            </a:innerShdw>
          </a:effectLst>
        </p:spPr>
        <p:style>
          <a:lnRef idx="2">
            <a:schemeClr val="accent5"/>
          </a:lnRef>
          <a:fillRef idx="1">
            <a:schemeClr val="lt1"/>
          </a:fillRef>
          <a:effectRef idx="0">
            <a:schemeClr val="accent5"/>
          </a:effectRef>
          <a:fontRef idx="minor">
            <a:schemeClr val="dk1"/>
          </a:fontRef>
        </p:style>
        <p:txBody>
          <a:bodyPr rtlCol="0" anchor="ctr"/>
          <a:lstStyle/>
          <a:p>
            <a:endParaRPr lang="en-US" sz="1600" dirty="0" smtClean="0">
              <a:solidFill>
                <a:schemeClr val="tx2">
                  <a:lumMod val="50000"/>
                </a:schemeClr>
              </a:solidFill>
            </a:endParaRPr>
          </a:p>
          <a:p>
            <a:pPr marL="457200" indent="-457200">
              <a:buFont typeface="+mj-lt"/>
              <a:buAutoNum type="arabicPeriod"/>
            </a:pPr>
            <a:endParaRPr lang="en-US" sz="1600" dirty="0" smtClean="0">
              <a:solidFill>
                <a:schemeClr val="tx2">
                  <a:lumMod val="50000"/>
                </a:schemeClr>
              </a:solidFill>
            </a:endParaRPr>
          </a:p>
          <a:p>
            <a:r>
              <a:rPr lang="en-US" sz="1800" dirty="0" smtClean="0">
                <a:solidFill>
                  <a:schemeClr val="tx2">
                    <a:lumMod val="50000"/>
                  </a:schemeClr>
                </a:solidFill>
              </a:rPr>
              <a:t>It is the opposite quality of a system that gets weaker or breaks when subject to stress.</a:t>
            </a:r>
            <a:endParaRPr lang="en-US" sz="1600" dirty="0" smtClean="0">
              <a:solidFill>
                <a:schemeClr val="tx2">
                  <a:lumMod val="50000"/>
                </a:schemeClr>
              </a:solidFill>
            </a:endParaRPr>
          </a:p>
          <a:p>
            <a:endParaRPr lang="en-US" sz="1600" dirty="0" smtClean="0">
              <a:solidFill>
                <a:schemeClr val="tx2">
                  <a:lumMod val="50000"/>
                </a:schemeClr>
              </a:solidFill>
            </a:endParaRPr>
          </a:p>
          <a:p>
            <a:endParaRPr lang="en-US" sz="1600" dirty="0" err="1" smtClean="0">
              <a:solidFill>
                <a:schemeClr val="tx2">
                  <a:lumMod val="50000"/>
                </a:schemeClr>
              </a:solidFill>
            </a:endParaRPr>
          </a:p>
        </p:txBody>
      </p:sp>
      <p:sp>
        <p:nvSpPr>
          <p:cNvPr id="2" name="AutoShape 2" descr="Image result for chaos monkey"/>
          <p:cNvSpPr>
            <a:spLocks noChangeAspect="1" noChangeArrowheads="1"/>
          </p:cNvSpPr>
          <p:nvPr/>
        </p:nvSpPr>
        <p:spPr bwMode="auto">
          <a:xfrm>
            <a:off x="307975" y="7937"/>
            <a:ext cx="304800" cy="304801"/>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74085" name="Picture 5" descr="D:\Users\momuruge\Downloads\ChaosMonkey.jp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1172360" y="2450523"/>
            <a:ext cx="1947964" cy="1693964"/>
          </a:xfrm>
          <a:prstGeom prst="rect">
            <a:avLst/>
          </a:prstGeom>
          <a:noFill/>
          <a:extLst>
            <a:ext uri="{909E8E84-426E-40DD-AFC4-6F175D3DCCD1}">
              <a14:hiddenFill xmlns="" xmlns:a14="http://schemas.microsoft.com/office/drawing/2010/main">
                <a:solidFill>
                  <a:srgbClr val="FFFFFF"/>
                </a:solidFill>
              </a14:hiddenFill>
            </a:ext>
          </a:extLst>
        </p:spPr>
      </p:pic>
      <p:sp>
        <p:nvSpPr>
          <p:cNvPr id="5" name="Rectangle 4"/>
          <p:cNvSpPr/>
          <p:nvPr/>
        </p:nvSpPr>
        <p:spPr>
          <a:xfrm>
            <a:off x="3155949" y="2403022"/>
            <a:ext cx="7139957" cy="1790700"/>
          </a:xfrm>
          <a:prstGeom prst="rect">
            <a:avLst/>
          </a:prstGeom>
          <a:ln/>
        </p:spPr>
        <p:style>
          <a:lnRef idx="1">
            <a:schemeClr val="dk1"/>
          </a:lnRef>
          <a:fillRef idx="2">
            <a:schemeClr val="dk1"/>
          </a:fillRef>
          <a:effectRef idx="1">
            <a:schemeClr val="dk1"/>
          </a:effectRef>
          <a:fontRef idx="minor">
            <a:schemeClr val="dk1"/>
          </a:fontRef>
        </p:style>
        <p:txBody>
          <a:bodyPr rtlCol="0" anchor="ctr"/>
          <a:lstStyle/>
          <a:p>
            <a:pPr lvl="1"/>
            <a:r>
              <a:rPr lang="en-US" sz="1800" dirty="0"/>
              <a:t>Netflix Simian Army </a:t>
            </a:r>
            <a:r>
              <a:rPr lang="en-US" sz="1800" dirty="0" smtClean="0"/>
              <a:t>project has been famous for the sub module </a:t>
            </a:r>
            <a:r>
              <a:rPr lang="en-US" sz="1800" dirty="0"/>
              <a:t>“Chaos Monkey,” which injects random </a:t>
            </a:r>
            <a:r>
              <a:rPr lang="en-US" sz="1800" dirty="0" smtClean="0"/>
              <a:t>failures into </a:t>
            </a:r>
            <a:r>
              <a:rPr lang="en-US" sz="1800" dirty="0"/>
              <a:t>production components with the goal of identifying </a:t>
            </a:r>
            <a:r>
              <a:rPr lang="en-US" sz="1800" dirty="0" smtClean="0"/>
              <a:t>and eliminating </a:t>
            </a:r>
            <a:r>
              <a:rPr lang="en-US" sz="1800" dirty="0"/>
              <a:t>weaknesses in the architecture.</a:t>
            </a:r>
            <a:endParaRPr lang="en-US" sz="1800" dirty="0" smtClean="0">
              <a:solidFill>
                <a:schemeClr val="tx2">
                  <a:lumMod val="50000"/>
                </a:schemeClr>
              </a:solidFill>
            </a:endParaRPr>
          </a:p>
        </p:txBody>
      </p:sp>
      <p:sp>
        <p:nvSpPr>
          <p:cNvPr id="6" name="TextBox 5"/>
          <p:cNvSpPr txBox="1"/>
          <p:nvPr/>
        </p:nvSpPr>
        <p:spPr>
          <a:xfrm>
            <a:off x="1105730" y="4536375"/>
            <a:ext cx="9190176" cy="923330"/>
          </a:xfrm>
          <a:prstGeom prst="rect">
            <a:avLst/>
          </a:prstGeom>
          <a:noFill/>
        </p:spPr>
        <p:txBody>
          <a:bodyPr wrap="square" rtlCol="0">
            <a:spAutoFit/>
          </a:bodyPr>
          <a:lstStyle/>
          <a:p>
            <a:r>
              <a:rPr lang="en-US" sz="1800" dirty="0"/>
              <a:t>By explicitly seeking </a:t>
            </a:r>
            <a:r>
              <a:rPr lang="en-US" sz="1800" dirty="0" smtClean="0"/>
              <a:t>out weaknesses </a:t>
            </a:r>
            <a:r>
              <a:rPr lang="en-US" sz="1800" dirty="0"/>
              <a:t>in the application architecture, injecting failures, </a:t>
            </a:r>
            <a:r>
              <a:rPr lang="en-US" sz="1800" dirty="0" smtClean="0"/>
              <a:t>and forcing </a:t>
            </a:r>
            <a:r>
              <a:rPr lang="en-US" sz="1800" dirty="0"/>
              <a:t>their remediation, the architecture naturally converges on </a:t>
            </a:r>
            <a:r>
              <a:rPr lang="en-US" sz="1800" dirty="0" smtClean="0"/>
              <a:t>a greater </a:t>
            </a:r>
            <a:r>
              <a:rPr lang="en-US" sz="1800" dirty="0"/>
              <a:t>degree of safety over time.</a:t>
            </a:r>
            <a:endParaRPr lang="en-US" sz="1800" dirty="0" smtClean="0">
              <a:solidFill>
                <a:schemeClr val="tx2">
                  <a:lumMod val="50000"/>
                </a:schemeClr>
              </a:solidFill>
            </a:endParaRPr>
          </a:p>
        </p:txBody>
      </p:sp>
      <p:sp>
        <p:nvSpPr>
          <p:cNvPr id="10" name="TextBox 9"/>
          <p:cNvSpPr txBox="1"/>
          <p:nvPr/>
        </p:nvSpPr>
        <p:spPr>
          <a:xfrm>
            <a:off x="1099663" y="5758825"/>
            <a:ext cx="9196243" cy="461665"/>
          </a:xfrm>
          <a:prstGeom prst="rect">
            <a:avLst/>
          </a:prstGeom>
          <a:noFill/>
        </p:spPr>
        <p:txBody>
          <a:bodyPr wrap="square" rtlCol="0">
            <a:spAutoFit/>
          </a:bodyPr>
          <a:lstStyle/>
          <a:p>
            <a:r>
              <a:rPr lang="en-US" sz="1200" i="1" dirty="0"/>
              <a:t>The concept of </a:t>
            </a:r>
            <a:r>
              <a:rPr lang="en-US" sz="1200" i="1" dirty="0" err="1"/>
              <a:t>antifragility</a:t>
            </a:r>
            <a:r>
              <a:rPr lang="en-US" sz="1200" i="1" dirty="0"/>
              <a:t> was introduced in </a:t>
            </a:r>
            <a:r>
              <a:rPr lang="en-US" sz="1200" i="1" dirty="0" err="1"/>
              <a:t>Nassim</a:t>
            </a:r>
            <a:r>
              <a:rPr lang="en-US" sz="1200" i="1" dirty="0"/>
              <a:t> </a:t>
            </a:r>
            <a:r>
              <a:rPr lang="en-US" sz="1200" i="1" dirty="0" err="1"/>
              <a:t>Taleb’s</a:t>
            </a:r>
            <a:r>
              <a:rPr lang="en-US" sz="1200" i="1" dirty="0"/>
              <a:t> </a:t>
            </a:r>
            <a:r>
              <a:rPr lang="en-US" sz="1200" i="1" dirty="0" smtClean="0"/>
              <a:t>book </a:t>
            </a:r>
            <a:r>
              <a:rPr lang="en-US" sz="1200" i="1" dirty="0" err="1" smtClean="0"/>
              <a:t>Antifragile</a:t>
            </a:r>
            <a:r>
              <a:rPr lang="en-US" sz="1200" i="1" dirty="0" smtClean="0"/>
              <a:t> </a:t>
            </a:r>
            <a:r>
              <a:rPr lang="en-US" sz="1200" i="1" dirty="0"/>
              <a:t>(Random House</a:t>
            </a:r>
            <a:r>
              <a:rPr lang="en-US" sz="1200" i="1" dirty="0" smtClean="0"/>
              <a:t>). While one may relate </a:t>
            </a:r>
            <a:r>
              <a:rPr lang="en-US" sz="1200" i="1" dirty="0" err="1" smtClean="0"/>
              <a:t>antifragility</a:t>
            </a:r>
            <a:r>
              <a:rPr lang="en-US" sz="1200" i="1" dirty="0" smtClean="0"/>
              <a:t> to resilience, or robustness, </a:t>
            </a:r>
            <a:r>
              <a:rPr lang="en-US" sz="1200" i="1" dirty="0" err="1" smtClean="0"/>
              <a:t>Taleb</a:t>
            </a:r>
            <a:r>
              <a:rPr lang="en-US" sz="1200" i="1" dirty="0" smtClean="0"/>
              <a:t> clearly states it is the direct opposite of fragility. </a:t>
            </a:r>
            <a:endParaRPr lang="en-US" sz="1200" i="1" dirty="0" smtClean="0">
              <a:solidFill>
                <a:schemeClr val="tx2">
                  <a:lumMod val="50000"/>
                </a:schemeClr>
              </a:solidFill>
            </a:endParaRPr>
          </a:p>
        </p:txBody>
      </p:sp>
    </p:spTree>
    <p:extLst>
      <p:ext uri="{BB962C8B-B14F-4D97-AF65-F5344CB8AC3E}">
        <p14:creationId xmlns="" xmlns:p14="http://schemas.microsoft.com/office/powerpoint/2010/main" val="109132075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4085"/>
                                        </p:tgtEl>
                                        <p:attrNameLst>
                                          <p:attrName>style.visibility</p:attrName>
                                        </p:attrNameLst>
                                      </p:cBhvr>
                                      <p:to>
                                        <p:strVal val="visible"/>
                                      </p:to>
                                    </p:set>
                                    <p:animEffect transition="in" filter="fade">
                                      <p:cBhvr>
                                        <p:cTn id="12" dur="500"/>
                                        <p:tgtEl>
                                          <p:spTgt spid="17408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fade">
                                      <p:cBhvr>
                                        <p:cTn id="18" dur="500"/>
                                        <p:tgtEl>
                                          <p:spTgt spid="2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0" grpId="0" animBg="1"/>
      <p:bldP spid="5" grpId="0" animBg="1"/>
      <p:bldP spid="6" grpId="0"/>
      <p:bldP spid="10"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Cloud Native - Summary</a:t>
            </a:r>
            <a:endParaRPr lang="en-US" dirty="0"/>
          </a:p>
        </p:txBody>
      </p:sp>
      <p:grpSp>
        <p:nvGrpSpPr>
          <p:cNvPr id="21" name="Group 20"/>
          <p:cNvGrpSpPr/>
          <p:nvPr/>
        </p:nvGrpSpPr>
        <p:grpSpPr>
          <a:xfrm>
            <a:off x="5476480" y="1294941"/>
            <a:ext cx="4561694" cy="2467139"/>
            <a:chOff x="6110379" y="1258239"/>
            <a:chExt cx="4291163" cy="2401305"/>
          </a:xfrm>
        </p:grpSpPr>
        <p:pic>
          <p:nvPicPr>
            <p:cNvPr id="28" name="Picture 27"/>
            <p:cNvPicPr>
              <a:picLocks noChangeAspect="1"/>
            </p:cNvPicPr>
            <p:nvPr/>
          </p:nvPicPr>
          <p:blipFill>
            <a:blip r:embed="rId3" cstate="print"/>
            <a:stretch>
              <a:fillRect/>
            </a:stretch>
          </p:blipFill>
          <p:spPr>
            <a:xfrm>
              <a:off x="6110379" y="1258239"/>
              <a:ext cx="4291163" cy="2401305"/>
            </a:xfrm>
            <a:prstGeom prst="rect">
              <a:avLst/>
            </a:prstGeom>
          </p:spPr>
        </p:pic>
        <p:sp>
          <p:nvSpPr>
            <p:cNvPr id="29" name="Rectangle 28"/>
            <p:cNvSpPr/>
            <p:nvPr/>
          </p:nvSpPr>
          <p:spPr bwMode="auto">
            <a:xfrm>
              <a:off x="7906311" y="2504609"/>
              <a:ext cx="439176" cy="189923"/>
            </a:xfrm>
            <a:prstGeom prst="rect">
              <a:avLst/>
            </a:prstGeom>
            <a:solidFill>
              <a:sysClr val="window" lastClr="FFFFFF"/>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ctr" defTabSz="914400" rtl="0" eaLnBrk="0" fontAlgn="base" latinLnBrk="0" hangingPunct="0">
                <a:lnSpc>
                  <a:spcPct val="85000"/>
                </a:lnSpc>
                <a:spcBef>
                  <a:spcPct val="0"/>
                </a:spcBef>
                <a:spcAft>
                  <a:spcPct val="0"/>
                </a:spcAft>
                <a:buClrTx/>
                <a:buSzTx/>
                <a:buFontTx/>
                <a:buNone/>
                <a:tabLst/>
                <a:defRPr/>
              </a:pPr>
              <a:endParaRPr kumimoji="0" lang="en-US" sz="1600" b="1" i="0" u="none" strike="noStrike" kern="1200" cap="none" spc="0" normalizeH="0" baseline="0" noProof="0" dirty="0" smtClean="0">
                <a:ln>
                  <a:noFill/>
                </a:ln>
                <a:solidFill>
                  <a:srgbClr val="DBF5F9">
                    <a:lumMod val="50000"/>
                  </a:srgbClr>
                </a:solidFill>
                <a:effectLst/>
                <a:uLnTx/>
                <a:uFillTx/>
                <a:latin typeface="Arial"/>
                <a:ea typeface="+mn-ea"/>
                <a:cs typeface="Arial" charset="0"/>
              </a:endParaRPr>
            </a:p>
          </p:txBody>
        </p:sp>
      </p:grpSp>
      <p:sp>
        <p:nvSpPr>
          <p:cNvPr id="22" name="TextBox 7"/>
          <p:cNvSpPr txBox="1"/>
          <p:nvPr/>
        </p:nvSpPr>
        <p:spPr>
          <a:xfrm>
            <a:off x="419123" y="1696144"/>
            <a:ext cx="3572752" cy="4016484"/>
          </a:xfrm>
          <a:prstGeom prst="rect">
            <a:avLst/>
          </a:prstGeom>
          <a:solidFill>
            <a:sysClr val="window" lastClr="FFFFFF">
              <a:lumMod val="85000"/>
            </a:sysClr>
          </a:solidFill>
        </p:spPr>
        <p:txBody>
          <a:bodyPr wrap="square" rtlCol="0">
            <a:spAutoFit/>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smtClean="0">
                <a:ln>
                  <a:noFill/>
                </a:ln>
                <a:solidFill>
                  <a:srgbClr val="04617B">
                    <a:lumMod val="50000"/>
                  </a:srgbClr>
                </a:solidFill>
                <a:effectLst/>
                <a:uLnTx/>
                <a:uFillTx/>
                <a:latin typeface="Arial"/>
                <a:ea typeface="+mn-ea"/>
                <a:cs typeface="+mn-cs"/>
              </a:rPr>
              <a:t>It is style and approach in developing applications….</a:t>
            </a:r>
          </a:p>
          <a:p>
            <a:pPr marL="285750" marR="0" lvl="0" indent="-285750" algn="l" defTabSz="957756" rtl="0" eaLnBrk="1" fontAlgn="auto" latinLnBrk="0" hangingPunct="1">
              <a:lnSpc>
                <a:spcPct val="100000"/>
              </a:lnSpc>
              <a:spcBef>
                <a:spcPts val="0"/>
              </a:spcBef>
              <a:spcAft>
                <a:spcPts val="0"/>
              </a:spcAft>
              <a:buClrTx/>
              <a:buSzTx/>
              <a:buFont typeface="Arial"/>
              <a:buChar char="•"/>
              <a:tabLst/>
              <a:defRPr/>
            </a:pPr>
            <a:r>
              <a:rPr kumimoji="0" lang="en-US" sz="1500" b="0" i="0" u="none" strike="noStrike" kern="1200" cap="none" spc="0" normalizeH="0" baseline="0" noProof="0" dirty="0">
                <a:ln>
                  <a:noFill/>
                </a:ln>
                <a:solidFill>
                  <a:srgbClr val="04617B">
                    <a:lumMod val="50000"/>
                  </a:srgbClr>
                </a:solidFill>
                <a:effectLst/>
                <a:uLnTx/>
                <a:uFillTx/>
                <a:latin typeface="Arial"/>
                <a:ea typeface="+mn-ea"/>
                <a:cs typeface="+mn-cs"/>
              </a:rPr>
              <a:t>I</a:t>
            </a:r>
            <a:r>
              <a:rPr kumimoji="0" lang="en-US" sz="1500" b="0" i="0" u="none" strike="noStrike" kern="1200" cap="none" spc="0" normalizeH="0" baseline="0" noProof="0" dirty="0" smtClean="0">
                <a:ln>
                  <a:noFill/>
                </a:ln>
                <a:solidFill>
                  <a:srgbClr val="04617B">
                    <a:lumMod val="50000"/>
                  </a:srgbClr>
                </a:solidFill>
                <a:effectLst/>
                <a:uLnTx/>
                <a:uFillTx/>
                <a:latin typeface="Arial"/>
                <a:ea typeface="+mn-ea"/>
                <a:cs typeface="+mn-cs"/>
              </a:rPr>
              <a:t>n a more fine-grained, highly distributed fashion</a:t>
            </a:r>
          </a:p>
          <a:p>
            <a:pPr marL="285750" marR="0" lvl="0" indent="-285750" algn="l" defTabSz="957756" rtl="0" eaLnBrk="1" fontAlgn="auto" latinLnBrk="0" hangingPunct="1">
              <a:lnSpc>
                <a:spcPct val="100000"/>
              </a:lnSpc>
              <a:spcBef>
                <a:spcPts val="0"/>
              </a:spcBef>
              <a:spcAft>
                <a:spcPts val="0"/>
              </a:spcAft>
              <a:buClrTx/>
              <a:buSzTx/>
              <a:buFont typeface="Arial"/>
              <a:buChar char="•"/>
              <a:tabLst/>
              <a:defRPr/>
            </a:pPr>
            <a:r>
              <a:rPr kumimoji="0" lang="en-US" sz="1500" b="0" i="0" u="none" strike="noStrike" kern="1200" cap="none" spc="0" normalizeH="0" baseline="0" noProof="0" dirty="0" smtClean="0">
                <a:ln>
                  <a:noFill/>
                </a:ln>
                <a:solidFill>
                  <a:srgbClr val="04617B">
                    <a:lumMod val="50000"/>
                  </a:srgbClr>
                </a:solidFill>
                <a:effectLst/>
                <a:uLnTx/>
                <a:uFillTx/>
                <a:latin typeface="Arial"/>
                <a:ea typeface="+mn-ea"/>
                <a:cs typeface="+mn-cs"/>
              </a:rPr>
              <a:t>Embodies 12 factors principles of application development</a:t>
            </a:r>
          </a:p>
          <a:p>
            <a:pPr marL="285750" marR="0" lvl="0" indent="-285750" algn="l" defTabSz="957756" rtl="0" eaLnBrk="1" fontAlgn="auto" latinLnBrk="0" hangingPunct="1">
              <a:lnSpc>
                <a:spcPct val="100000"/>
              </a:lnSpc>
              <a:spcBef>
                <a:spcPts val="0"/>
              </a:spcBef>
              <a:spcAft>
                <a:spcPts val="0"/>
              </a:spcAft>
              <a:buClrTx/>
              <a:buSzTx/>
              <a:buFont typeface="Arial"/>
              <a:buChar char="•"/>
              <a:tabLst/>
              <a:defRPr/>
            </a:pPr>
            <a:r>
              <a:rPr kumimoji="0" lang="en-US" sz="1500" b="0" i="0" u="none" strike="noStrike" kern="1200" cap="none" spc="0" normalizeH="0" baseline="0" noProof="0" dirty="0" smtClean="0">
                <a:ln>
                  <a:noFill/>
                </a:ln>
                <a:solidFill>
                  <a:srgbClr val="04617B">
                    <a:lumMod val="50000"/>
                  </a:srgbClr>
                </a:solidFill>
                <a:effectLst/>
                <a:uLnTx/>
                <a:uFillTx/>
                <a:latin typeface="Arial"/>
                <a:ea typeface="+mn-ea"/>
                <a:cs typeface="+mn-cs"/>
              </a:rPr>
              <a:t>Organized around specific product feature or business capability</a:t>
            </a:r>
          </a:p>
          <a:p>
            <a:pPr marL="285750" marR="0" lvl="0" indent="-285750" algn="l" defTabSz="957756" rtl="0" eaLnBrk="1" fontAlgn="auto" latinLnBrk="0" hangingPunct="1">
              <a:lnSpc>
                <a:spcPct val="100000"/>
              </a:lnSpc>
              <a:spcBef>
                <a:spcPts val="0"/>
              </a:spcBef>
              <a:spcAft>
                <a:spcPts val="0"/>
              </a:spcAft>
              <a:buClrTx/>
              <a:buSzTx/>
              <a:buFont typeface="Arial"/>
              <a:buChar char="•"/>
              <a:tabLst/>
              <a:defRPr/>
            </a:pPr>
            <a:r>
              <a:rPr kumimoji="0" lang="en-US" sz="1500" b="0" i="0" u="none" strike="noStrike" kern="1200" cap="none" spc="0" normalizeH="0" baseline="0" noProof="0" dirty="0">
                <a:ln>
                  <a:noFill/>
                </a:ln>
                <a:solidFill>
                  <a:srgbClr val="04617B">
                    <a:lumMod val="50000"/>
                  </a:srgbClr>
                </a:solidFill>
                <a:effectLst/>
                <a:uLnTx/>
                <a:uFillTx/>
                <a:latin typeface="Arial"/>
                <a:ea typeface="+mn-ea"/>
                <a:cs typeface="+mn-cs"/>
              </a:rPr>
              <a:t>As a mesh of </a:t>
            </a:r>
            <a:r>
              <a:rPr kumimoji="0" lang="en-US" sz="1500" b="0" i="0" u="none" strike="noStrike" kern="1200" cap="none" spc="0" normalizeH="0" baseline="0" noProof="0" dirty="0" smtClean="0">
                <a:ln>
                  <a:noFill/>
                </a:ln>
                <a:solidFill>
                  <a:srgbClr val="04617B">
                    <a:lumMod val="50000"/>
                  </a:srgbClr>
                </a:solidFill>
                <a:effectLst/>
                <a:uLnTx/>
                <a:uFillTx/>
                <a:latin typeface="Arial"/>
                <a:ea typeface="+mn-ea"/>
                <a:cs typeface="+mn-cs"/>
              </a:rPr>
              <a:t>small, autonomous services (“</a:t>
            </a:r>
            <a:r>
              <a:rPr kumimoji="0" lang="en-US" sz="1500" b="0" i="0" u="none" strike="noStrike" kern="1200" cap="none" spc="0" normalizeH="0" baseline="0" noProof="0" dirty="0" err="1" smtClean="0">
                <a:ln>
                  <a:noFill/>
                </a:ln>
                <a:solidFill>
                  <a:srgbClr val="04617B">
                    <a:lumMod val="50000"/>
                  </a:srgbClr>
                </a:solidFill>
                <a:effectLst/>
                <a:uLnTx/>
                <a:uFillTx/>
                <a:latin typeface="Arial"/>
                <a:ea typeface="+mn-ea"/>
                <a:cs typeface="+mn-cs"/>
              </a:rPr>
              <a:t>microservices</a:t>
            </a:r>
            <a:r>
              <a:rPr kumimoji="0" lang="en-US" sz="1500" b="0" i="0" u="none" strike="noStrike" kern="1200" cap="none" spc="0" normalizeH="0" baseline="0" noProof="0" dirty="0" smtClean="0">
                <a:ln>
                  <a:noFill/>
                </a:ln>
                <a:solidFill>
                  <a:srgbClr val="04617B">
                    <a:lumMod val="50000"/>
                  </a:srgbClr>
                </a:solidFill>
                <a:effectLst/>
                <a:uLnTx/>
                <a:uFillTx/>
                <a:latin typeface="Arial"/>
                <a:ea typeface="+mn-ea"/>
                <a:cs typeface="+mn-cs"/>
              </a:rPr>
              <a:t>”), each independently deployable, </a:t>
            </a:r>
            <a:r>
              <a:rPr kumimoji="0" lang="en-US" sz="1500" b="0" i="0" u="none" strike="noStrike" kern="1200" cap="none" spc="0" normalizeH="0" baseline="0" noProof="0" dirty="0">
                <a:ln>
                  <a:noFill/>
                </a:ln>
                <a:solidFill>
                  <a:srgbClr val="04617B">
                    <a:lumMod val="50000"/>
                  </a:srgbClr>
                </a:solidFill>
                <a:effectLst/>
                <a:uLnTx/>
                <a:uFillTx/>
                <a:latin typeface="Arial"/>
                <a:ea typeface="+mn-ea"/>
                <a:cs typeface="+mn-cs"/>
              </a:rPr>
              <a:t>running in its own process and communicating with lightweight mechanisms, often an HTTP resource API </a:t>
            </a:r>
            <a:endParaRPr kumimoji="0" lang="en-US" sz="1500" b="0" i="0" u="none" strike="noStrike" kern="1200" cap="none" spc="0" normalizeH="0" baseline="0" noProof="0" dirty="0" smtClean="0">
              <a:ln>
                <a:noFill/>
              </a:ln>
              <a:solidFill>
                <a:srgbClr val="04617B">
                  <a:lumMod val="50000"/>
                </a:srgbClr>
              </a:solidFill>
              <a:effectLst/>
              <a:uLnTx/>
              <a:uFillTx/>
              <a:latin typeface="Arial"/>
              <a:ea typeface="+mn-ea"/>
              <a:cs typeface="+mn-cs"/>
            </a:endParaRPr>
          </a:p>
          <a:p>
            <a:pPr marL="285750" marR="0" lvl="0" indent="-285750" algn="l" defTabSz="957756" rtl="0" eaLnBrk="1" fontAlgn="auto" latinLnBrk="0" hangingPunct="1">
              <a:lnSpc>
                <a:spcPct val="100000"/>
              </a:lnSpc>
              <a:spcBef>
                <a:spcPts val="0"/>
              </a:spcBef>
              <a:spcAft>
                <a:spcPts val="0"/>
              </a:spcAft>
              <a:buClrTx/>
              <a:buSzTx/>
              <a:buFont typeface="Arial"/>
              <a:buChar char="•"/>
              <a:tabLst/>
              <a:defRPr/>
            </a:pPr>
            <a:r>
              <a:rPr kumimoji="0" lang="en-US" sz="1500" b="0" i="0" u="none" strike="noStrike" kern="1200" cap="none" spc="0" normalizeH="0" baseline="0" noProof="0" dirty="0" smtClean="0">
                <a:ln>
                  <a:noFill/>
                </a:ln>
                <a:solidFill>
                  <a:srgbClr val="04617B">
                    <a:lumMod val="50000"/>
                  </a:srgbClr>
                </a:solidFill>
                <a:effectLst/>
                <a:uLnTx/>
                <a:uFillTx/>
                <a:latin typeface="Arial"/>
                <a:ea typeface="+mn-ea"/>
                <a:cs typeface="+mn-cs"/>
              </a:rPr>
              <a:t>That facilitates polyglot and “geo fencing”</a:t>
            </a:r>
            <a:endParaRPr kumimoji="0" lang="en-US" sz="1500" b="0" i="0" u="none" strike="noStrike" kern="1200" cap="none" spc="0" normalizeH="0" baseline="0" noProof="0" dirty="0">
              <a:ln>
                <a:noFill/>
              </a:ln>
              <a:solidFill>
                <a:srgbClr val="04617B">
                  <a:lumMod val="50000"/>
                </a:srgbClr>
              </a:solidFill>
              <a:effectLst/>
              <a:uLnTx/>
              <a:uFillTx/>
              <a:latin typeface="Arial"/>
              <a:ea typeface="+mn-ea"/>
              <a:cs typeface="+mn-cs"/>
            </a:endParaRPr>
          </a:p>
        </p:txBody>
      </p:sp>
      <p:sp>
        <p:nvSpPr>
          <p:cNvPr id="23" name="TextBox 8"/>
          <p:cNvSpPr txBox="1"/>
          <p:nvPr/>
        </p:nvSpPr>
        <p:spPr>
          <a:xfrm>
            <a:off x="5239476" y="3699515"/>
            <a:ext cx="5456701" cy="2400657"/>
          </a:xfrm>
          <a:prstGeom prst="rect">
            <a:avLst/>
          </a:prstGeom>
          <a:solidFill>
            <a:srgbClr val="DBF5F9">
              <a:lumMod val="90000"/>
            </a:srgbClr>
          </a:solidFill>
        </p:spPr>
        <p:txBody>
          <a:bodyPr wrap="square" rtlCol="0">
            <a:spAutoFit/>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smtClean="0">
                <a:ln>
                  <a:noFill/>
                </a:ln>
                <a:solidFill>
                  <a:srgbClr val="04617B">
                    <a:lumMod val="50000"/>
                  </a:srgbClr>
                </a:solidFill>
                <a:effectLst/>
                <a:uLnTx/>
                <a:uFillTx/>
                <a:latin typeface="Arial"/>
                <a:ea typeface="+mn-ea"/>
                <a:cs typeface="+mn-cs"/>
              </a:rPr>
              <a:t>That enables….</a:t>
            </a:r>
          </a:p>
          <a:p>
            <a:pPr marL="285750" marR="0" lvl="0" indent="-285750" algn="l" defTabSz="957756" rtl="0" eaLnBrk="1" fontAlgn="auto" latinLnBrk="0" hangingPunct="1">
              <a:lnSpc>
                <a:spcPct val="100000"/>
              </a:lnSpc>
              <a:spcBef>
                <a:spcPts val="0"/>
              </a:spcBef>
              <a:spcAft>
                <a:spcPts val="0"/>
              </a:spcAft>
              <a:buClrTx/>
              <a:buSzTx/>
              <a:buFont typeface="Arial"/>
              <a:buChar char="•"/>
              <a:tabLst/>
              <a:defRPr/>
            </a:pPr>
            <a:r>
              <a:rPr kumimoji="0" lang="en-US" sz="1500" b="0" i="0" u="none" strike="noStrike" kern="1200" cap="none" spc="0" normalizeH="0" baseline="0" noProof="0" dirty="0" smtClean="0">
                <a:ln>
                  <a:noFill/>
                </a:ln>
                <a:solidFill>
                  <a:srgbClr val="04617B">
                    <a:lumMod val="50000"/>
                  </a:srgbClr>
                </a:solidFill>
                <a:effectLst/>
                <a:uLnTx/>
                <a:uFillTx/>
                <a:latin typeface="Arial"/>
                <a:ea typeface="+mn-ea"/>
                <a:cs typeface="+mn-cs"/>
              </a:rPr>
              <a:t>Faster development and deployment with smaller, multi-disciplinary, nimble teams </a:t>
            </a:r>
          </a:p>
          <a:p>
            <a:pPr marL="285750" marR="0" lvl="0" indent="-285750" algn="l" defTabSz="957756" rtl="0" eaLnBrk="1" fontAlgn="auto" latinLnBrk="0" hangingPunct="1">
              <a:lnSpc>
                <a:spcPct val="100000"/>
              </a:lnSpc>
              <a:spcBef>
                <a:spcPts val="0"/>
              </a:spcBef>
              <a:spcAft>
                <a:spcPts val="0"/>
              </a:spcAft>
              <a:buClrTx/>
              <a:buSzTx/>
              <a:buFont typeface="Arial"/>
              <a:buChar char="•"/>
              <a:tabLst/>
              <a:defRPr/>
            </a:pPr>
            <a:r>
              <a:rPr kumimoji="0" lang="en-US" sz="1500" b="0" i="0" u="none" strike="noStrike" kern="1200" cap="none" spc="0" normalizeH="0" baseline="0" noProof="0" dirty="0" smtClean="0">
                <a:ln>
                  <a:noFill/>
                </a:ln>
                <a:solidFill>
                  <a:srgbClr val="04617B">
                    <a:lumMod val="50000"/>
                  </a:srgbClr>
                </a:solidFill>
                <a:effectLst/>
                <a:uLnTx/>
                <a:uFillTx/>
                <a:latin typeface="Arial"/>
                <a:ea typeface="+mn-ea"/>
                <a:cs typeface="+mn-cs"/>
              </a:rPr>
              <a:t>Rapid iterative evolution of a business solution or capability;  simpler deployments and rollbacks</a:t>
            </a:r>
          </a:p>
          <a:p>
            <a:pPr marL="285750" marR="0" lvl="0" indent="-285750" algn="l" defTabSz="957756" rtl="0" eaLnBrk="1" fontAlgn="auto" latinLnBrk="0" hangingPunct="1">
              <a:lnSpc>
                <a:spcPct val="100000"/>
              </a:lnSpc>
              <a:spcBef>
                <a:spcPts val="0"/>
              </a:spcBef>
              <a:spcAft>
                <a:spcPts val="0"/>
              </a:spcAft>
              <a:buClrTx/>
              <a:buSzTx/>
              <a:buFont typeface="Arial"/>
              <a:buChar char="•"/>
              <a:tabLst/>
              <a:defRPr/>
            </a:pPr>
            <a:r>
              <a:rPr kumimoji="0" lang="en-US" sz="1500" b="0" i="0" u="none" strike="noStrike" kern="1200" cap="none" spc="0" normalizeH="0" baseline="0" noProof="0" dirty="0" smtClean="0">
                <a:ln>
                  <a:noFill/>
                </a:ln>
                <a:solidFill>
                  <a:srgbClr val="04617B">
                    <a:lumMod val="50000"/>
                  </a:srgbClr>
                </a:solidFill>
                <a:effectLst/>
                <a:uLnTx/>
                <a:uFillTx/>
                <a:latin typeface="Arial"/>
                <a:ea typeface="+mn-ea"/>
                <a:cs typeface="+mn-cs"/>
              </a:rPr>
              <a:t>Individually scalable – only where it is needed</a:t>
            </a:r>
          </a:p>
          <a:p>
            <a:pPr marL="285750" marR="0" lvl="0" indent="-285750" algn="l" defTabSz="957756" rtl="0" eaLnBrk="1" fontAlgn="auto" latinLnBrk="0" hangingPunct="1">
              <a:lnSpc>
                <a:spcPct val="100000"/>
              </a:lnSpc>
              <a:spcBef>
                <a:spcPts val="0"/>
              </a:spcBef>
              <a:spcAft>
                <a:spcPts val="0"/>
              </a:spcAft>
              <a:buClrTx/>
              <a:buSzTx/>
              <a:buFont typeface="Arial"/>
              <a:buChar char="•"/>
              <a:tabLst/>
              <a:defRPr/>
            </a:pPr>
            <a:r>
              <a:rPr kumimoji="0" lang="en-US" sz="1500" b="0" i="0" u="none" strike="noStrike" kern="1200" cap="none" spc="0" normalizeH="0" baseline="0" noProof="0" dirty="0" smtClean="0">
                <a:ln>
                  <a:noFill/>
                </a:ln>
                <a:solidFill>
                  <a:srgbClr val="04617B">
                    <a:lumMod val="50000"/>
                  </a:srgbClr>
                </a:solidFill>
                <a:effectLst/>
                <a:uLnTx/>
                <a:uFillTx/>
                <a:latin typeface="Arial"/>
                <a:ea typeface="+mn-ea"/>
                <a:cs typeface="+mn-cs"/>
              </a:rPr>
              <a:t>Built-in resiliency, anti-fragility:  more confined fault isolation and tolerance</a:t>
            </a:r>
          </a:p>
          <a:p>
            <a:pPr marL="285750" marR="0" lvl="0" indent="-285750" algn="l" defTabSz="957756" rtl="0" eaLnBrk="1" fontAlgn="auto" latinLnBrk="0" hangingPunct="1">
              <a:lnSpc>
                <a:spcPct val="100000"/>
              </a:lnSpc>
              <a:spcBef>
                <a:spcPts val="0"/>
              </a:spcBef>
              <a:spcAft>
                <a:spcPts val="0"/>
              </a:spcAft>
              <a:buClrTx/>
              <a:buSzTx/>
              <a:buFont typeface="Arial"/>
              <a:buChar char="•"/>
              <a:tabLst/>
              <a:defRPr/>
            </a:pPr>
            <a:r>
              <a:rPr kumimoji="0" lang="en-US" sz="1500" b="0" i="0" u="none" strike="noStrike" kern="1200" cap="none" spc="0" normalizeH="0" baseline="0" noProof="0" dirty="0" smtClean="0">
                <a:ln>
                  <a:noFill/>
                </a:ln>
                <a:solidFill>
                  <a:srgbClr val="04617B">
                    <a:lumMod val="50000"/>
                  </a:srgbClr>
                </a:solidFill>
                <a:effectLst/>
                <a:uLnTx/>
                <a:uFillTx/>
                <a:latin typeface="Arial"/>
                <a:ea typeface="+mn-ea"/>
                <a:cs typeface="+mn-cs"/>
              </a:rPr>
              <a:t>Better availability when designed correctly</a:t>
            </a:r>
          </a:p>
          <a:p>
            <a:pPr marL="285750" marR="0" lvl="0" indent="-285750" algn="l" defTabSz="957756" rtl="0" eaLnBrk="1" fontAlgn="auto" latinLnBrk="0" hangingPunct="1">
              <a:lnSpc>
                <a:spcPct val="100000"/>
              </a:lnSpc>
              <a:spcBef>
                <a:spcPts val="0"/>
              </a:spcBef>
              <a:spcAft>
                <a:spcPts val="0"/>
              </a:spcAft>
              <a:buClrTx/>
              <a:buSzTx/>
              <a:buFont typeface="Arial"/>
              <a:buChar char="•"/>
              <a:tabLst/>
              <a:defRPr/>
            </a:pPr>
            <a:r>
              <a:rPr kumimoji="0" lang="en-US" sz="1500" b="0" i="0" u="none" strike="noStrike" kern="1200" cap="none" spc="0" normalizeH="0" baseline="0" noProof="0" dirty="0" smtClean="0">
                <a:ln>
                  <a:noFill/>
                </a:ln>
                <a:solidFill>
                  <a:srgbClr val="04617B">
                    <a:lumMod val="50000"/>
                  </a:srgbClr>
                </a:solidFill>
                <a:effectLst/>
                <a:uLnTx/>
                <a:uFillTx/>
                <a:latin typeface="Arial"/>
                <a:ea typeface="+mn-ea"/>
                <a:cs typeface="+mn-cs"/>
              </a:rPr>
              <a:t>More optimized around cloud elasticity and cost model</a:t>
            </a:r>
            <a:endParaRPr kumimoji="0" lang="en-US" sz="1500" b="0" i="0" u="none" strike="noStrike" kern="1200" cap="none" spc="0" normalizeH="0" baseline="0" noProof="0" dirty="0">
              <a:ln>
                <a:noFill/>
              </a:ln>
              <a:solidFill>
                <a:sysClr val="windowText" lastClr="000000"/>
              </a:solidFill>
              <a:effectLst/>
              <a:uLnTx/>
              <a:uFillTx/>
              <a:latin typeface="Arial"/>
              <a:ea typeface="+mn-ea"/>
              <a:cs typeface="+mn-cs"/>
            </a:endParaRPr>
          </a:p>
        </p:txBody>
      </p:sp>
      <p:sp>
        <p:nvSpPr>
          <p:cNvPr id="24" name="TextBox 12"/>
          <p:cNvSpPr txBox="1"/>
          <p:nvPr/>
        </p:nvSpPr>
        <p:spPr>
          <a:xfrm>
            <a:off x="5796959" y="1292690"/>
            <a:ext cx="1792678" cy="276999"/>
          </a:xfrm>
          <a:prstGeom prst="rect">
            <a:avLst/>
          </a:prstGeom>
          <a:noFill/>
        </p:spPr>
        <p:txBody>
          <a:bodyPr wrap="none" rtlCol="0">
            <a:spAutoFit/>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rgbClr val="FF0000"/>
                </a:solidFill>
                <a:effectLst/>
                <a:uLnTx/>
                <a:uFillTx/>
                <a:latin typeface="Arial"/>
                <a:ea typeface="+mn-ea"/>
                <a:cs typeface="+mn-cs"/>
              </a:rPr>
              <a:t>Deployments in months</a:t>
            </a:r>
          </a:p>
        </p:txBody>
      </p:sp>
      <p:sp>
        <p:nvSpPr>
          <p:cNvPr id="25" name="Striped Right Arrow 24"/>
          <p:cNvSpPr/>
          <p:nvPr/>
        </p:nvSpPr>
        <p:spPr bwMode="auto">
          <a:xfrm>
            <a:off x="4128198" y="4177253"/>
            <a:ext cx="940239" cy="866981"/>
          </a:xfrm>
          <a:prstGeom prst="stripedRightArrow">
            <a:avLst/>
          </a:prstGeom>
          <a:solidFill>
            <a:srgbClr val="04617B">
              <a:lumMod val="50000"/>
            </a:srgbClr>
          </a:solidFill>
          <a:ln w="6350" cap="flat" cmpd="sng" algn="ctr">
            <a:solidFill>
              <a:srgbClr val="04617B">
                <a:lumMod val="5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ctr" defTabSz="914400" rtl="0" eaLnBrk="0" fontAlgn="base" latinLnBrk="0" hangingPunct="0">
              <a:lnSpc>
                <a:spcPct val="85000"/>
              </a:lnSpc>
              <a:spcBef>
                <a:spcPct val="0"/>
              </a:spcBef>
              <a:spcAft>
                <a:spcPct val="0"/>
              </a:spcAft>
              <a:buClrTx/>
              <a:buSzTx/>
              <a:buFontTx/>
              <a:buNone/>
              <a:tabLst/>
              <a:defRPr/>
            </a:pPr>
            <a:endParaRPr kumimoji="0" lang="en-US" sz="1600" b="1" i="0" u="none" strike="noStrike" kern="1200" cap="none" spc="0" normalizeH="0" baseline="0" noProof="0" dirty="0" smtClean="0">
              <a:ln>
                <a:noFill/>
              </a:ln>
              <a:solidFill>
                <a:srgbClr val="DBF5F9">
                  <a:lumMod val="50000"/>
                </a:srgbClr>
              </a:solidFill>
              <a:effectLst/>
              <a:uLnTx/>
              <a:uFillTx/>
              <a:latin typeface="Arial"/>
              <a:ea typeface="+mn-ea"/>
              <a:cs typeface="Arial" charset="0"/>
            </a:endParaRPr>
          </a:p>
        </p:txBody>
      </p:sp>
      <p:sp>
        <p:nvSpPr>
          <p:cNvPr id="27" name="TextBox 13"/>
          <p:cNvSpPr txBox="1"/>
          <p:nvPr/>
        </p:nvSpPr>
        <p:spPr>
          <a:xfrm>
            <a:off x="7811522" y="1292690"/>
            <a:ext cx="2134794" cy="276999"/>
          </a:xfrm>
          <a:prstGeom prst="rect">
            <a:avLst/>
          </a:prstGeom>
          <a:solidFill>
            <a:srgbClr val="FFFFFF"/>
          </a:solidFill>
        </p:spPr>
        <p:txBody>
          <a:bodyPr wrap="none" rtlCol="0">
            <a:spAutoFit/>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rgbClr val="7CCA62">
                    <a:lumMod val="50000"/>
                  </a:srgbClr>
                </a:solidFill>
                <a:effectLst/>
                <a:uLnTx/>
                <a:uFillTx/>
                <a:latin typeface="Arial"/>
                <a:ea typeface="+mn-ea"/>
                <a:cs typeface="+mn-cs"/>
              </a:rPr>
              <a:t>Deployments in days, weeks</a:t>
            </a:r>
          </a:p>
        </p:txBody>
      </p:sp>
    </p:spTree>
    <p:extLst>
      <p:ext uri="{BB962C8B-B14F-4D97-AF65-F5344CB8AC3E}">
        <p14:creationId xmlns="" xmlns:p14="http://schemas.microsoft.com/office/powerpoint/2010/main" val="192278613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Migration Approaches	</a:t>
            </a:r>
            <a:endParaRPr lang="en-US" dirty="0"/>
          </a:p>
        </p:txBody>
      </p:sp>
      <p:sp>
        <p:nvSpPr>
          <p:cNvPr id="3" name="Subtitle 2"/>
          <p:cNvSpPr>
            <a:spLocks noGrp="1"/>
          </p:cNvSpPr>
          <p:nvPr>
            <p:ph type="subTitle" idx="1"/>
          </p:nvPr>
        </p:nvSpPr>
        <p:spPr/>
        <p:txBody>
          <a:bodyPr/>
          <a:lstStyle/>
          <a:p>
            <a:r>
              <a:rPr lang="en-US" dirty="0" smtClean="0"/>
              <a:t>Dealing with Monoliths, Leveraging Spring Cloud and Other methods</a:t>
            </a:r>
          </a:p>
        </p:txBody>
      </p:sp>
    </p:spTree>
    <p:extLst>
      <p:ext uri="{BB962C8B-B14F-4D97-AF65-F5344CB8AC3E}">
        <p14:creationId xmlns="" xmlns:p14="http://schemas.microsoft.com/office/powerpoint/2010/main" val="259881110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Migrate Existing Apps To Cloud</a:t>
            </a:r>
            <a:endParaRPr lang="en-US" dirty="0"/>
          </a:p>
        </p:txBody>
      </p:sp>
      <p:sp>
        <p:nvSpPr>
          <p:cNvPr id="3" name="Rectangle 2"/>
          <p:cNvSpPr/>
          <p:nvPr/>
        </p:nvSpPr>
        <p:spPr>
          <a:xfrm>
            <a:off x="583660" y="1702339"/>
            <a:ext cx="10155676" cy="2110903"/>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marL="457200" indent="-457200"/>
            <a:r>
              <a:rPr lang="en-US" sz="1600" dirty="0" smtClean="0">
                <a:solidFill>
                  <a:schemeClr val="tx1"/>
                </a:solidFill>
              </a:rPr>
              <a:t>To ensure successful migration of existing applications to cloud computing</a:t>
            </a:r>
          </a:p>
          <a:p>
            <a:pPr marL="457200" indent="-457200"/>
            <a:endParaRPr lang="en-US" sz="1600" dirty="0" smtClean="0">
              <a:solidFill>
                <a:schemeClr val="tx1"/>
              </a:solidFill>
            </a:endParaRPr>
          </a:p>
          <a:p>
            <a:pPr marL="457200" indent="-457200">
              <a:buFont typeface="Wingdings" pitchFamily="2" charset="2"/>
              <a:buChar char="Ø"/>
            </a:pPr>
            <a:r>
              <a:rPr lang="en-US" sz="1600" dirty="0" smtClean="0">
                <a:solidFill>
                  <a:schemeClr val="tx1"/>
                </a:solidFill>
              </a:rPr>
              <a:t>Assess your Applications and Workloads</a:t>
            </a:r>
          </a:p>
          <a:p>
            <a:pPr marL="457200" indent="-457200">
              <a:buFont typeface="Wingdings" pitchFamily="2" charset="2"/>
              <a:buChar char="Ø"/>
            </a:pPr>
            <a:r>
              <a:rPr lang="en-US" sz="1600" dirty="0" smtClean="0">
                <a:solidFill>
                  <a:schemeClr val="tx1"/>
                </a:solidFill>
              </a:rPr>
              <a:t>Build the Business Case</a:t>
            </a:r>
          </a:p>
          <a:p>
            <a:pPr marL="457200" indent="-457200">
              <a:buFont typeface="Wingdings" pitchFamily="2" charset="2"/>
              <a:buChar char="Ø"/>
            </a:pPr>
            <a:r>
              <a:rPr lang="en-US" sz="1600" dirty="0" smtClean="0">
                <a:solidFill>
                  <a:schemeClr val="tx1"/>
                </a:solidFill>
              </a:rPr>
              <a:t>Develop the Technical Approach</a:t>
            </a:r>
          </a:p>
          <a:p>
            <a:pPr marL="457200" indent="-457200">
              <a:buFont typeface="Wingdings" pitchFamily="2" charset="2"/>
              <a:buChar char="Ø"/>
            </a:pPr>
            <a:r>
              <a:rPr lang="en-US" sz="1600" dirty="0" smtClean="0">
                <a:solidFill>
                  <a:schemeClr val="tx1"/>
                </a:solidFill>
              </a:rPr>
              <a:t>Adopt a Flexible Integration Model</a:t>
            </a:r>
          </a:p>
          <a:p>
            <a:pPr marL="457200" indent="-457200">
              <a:buFont typeface="Wingdings" pitchFamily="2" charset="2"/>
              <a:buChar char="Ø"/>
            </a:pPr>
            <a:r>
              <a:rPr lang="en-US" sz="1600" dirty="0" smtClean="0">
                <a:solidFill>
                  <a:schemeClr val="tx1"/>
                </a:solidFill>
              </a:rPr>
              <a:t>Address Security and Privacy Requirements</a:t>
            </a:r>
          </a:p>
          <a:p>
            <a:pPr marL="457200" indent="-457200">
              <a:buFont typeface="Wingdings" pitchFamily="2" charset="2"/>
              <a:buChar char="Ø"/>
            </a:pPr>
            <a:r>
              <a:rPr lang="en-US" sz="1600" dirty="0" smtClean="0">
                <a:solidFill>
                  <a:schemeClr val="tx1"/>
                </a:solidFill>
              </a:rPr>
              <a:t>Manage the Migration</a:t>
            </a:r>
          </a:p>
        </p:txBody>
      </p:sp>
      <p:sp>
        <p:nvSpPr>
          <p:cNvPr id="4" name="Rectangle 3"/>
          <p:cNvSpPr/>
          <p:nvPr/>
        </p:nvSpPr>
        <p:spPr>
          <a:xfrm>
            <a:off x="544749" y="4163438"/>
            <a:ext cx="10184860" cy="1605064"/>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r>
              <a:rPr lang="en-US" sz="1600" dirty="0" smtClean="0">
                <a:solidFill>
                  <a:schemeClr val="tx1"/>
                </a:solidFill>
              </a:rPr>
              <a:t>There are three common categories for approaching cloud migration:</a:t>
            </a:r>
          </a:p>
          <a:p>
            <a:endParaRPr lang="en-US" sz="1600" dirty="0" smtClean="0">
              <a:solidFill>
                <a:schemeClr val="tx1"/>
              </a:solidFill>
            </a:endParaRPr>
          </a:p>
          <a:p>
            <a:pPr>
              <a:buFont typeface="Wingdings" pitchFamily="2" charset="2"/>
              <a:buChar char="ü"/>
            </a:pPr>
            <a:r>
              <a:rPr lang="en-US" sz="1600" dirty="0" smtClean="0">
                <a:solidFill>
                  <a:schemeClr val="tx1"/>
                </a:solidFill>
              </a:rPr>
              <a:t>Lift and Shift –Directly deploy the applications on cloud</a:t>
            </a:r>
          </a:p>
          <a:p>
            <a:pPr>
              <a:buFont typeface="Wingdings" pitchFamily="2" charset="2"/>
              <a:buChar char="ü"/>
            </a:pPr>
            <a:r>
              <a:rPr lang="en-US" sz="1600" dirty="0" err="1" smtClean="0">
                <a:solidFill>
                  <a:schemeClr val="tx1"/>
                </a:solidFill>
              </a:rPr>
              <a:t>Refactor</a:t>
            </a:r>
            <a:r>
              <a:rPr lang="en-US" sz="1600" dirty="0" smtClean="0">
                <a:solidFill>
                  <a:schemeClr val="tx1"/>
                </a:solidFill>
              </a:rPr>
              <a:t> – Deploy application on cloud with minimal modifications/Changes</a:t>
            </a:r>
          </a:p>
          <a:p>
            <a:pPr>
              <a:buFont typeface="Wingdings" pitchFamily="2" charset="2"/>
              <a:buChar char="ü"/>
            </a:pPr>
            <a:r>
              <a:rPr lang="en-US" sz="1600" dirty="0" smtClean="0">
                <a:solidFill>
                  <a:schemeClr val="tx1"/>
                </a:solidFill>
              </a:rPr>
              <a:t>Rewrite – Rewrite the application with compatible technology  to be deployed on cloud</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modernize monolith apps to be Cloud </a:t>
            </a:r>
            <a:r>
              <a:rPr lang="en-US" dirty="0"/>
              <a:t>N</a:t>
            </a:r>
            <a:r>
              <a:rPr lang="en-US" dirty="0" smtClean="0"/>
              <a:t>ative?</a:t>
            </a:r>
            <a:endParaRPr lang="en-US" dirty="0"/>
          </a:p>
        </p:txBody>
      </p:sp>
      <p:pic>
        <p:nvPicPr>
          <p:cNvPr id="4" name="Picture 3"/>
          <p:cNvPicPr>
            <a:picLocks noChangeAspect="1"/>
          </p:cNvPicPr>
          <p:nvPr/>
        </p:nvPicPr>
        <p:blipFill>
          <a:blip r:embed="rId3" cstate="print"/>
          <a:stretch>
            <a:fillRect/>
          </a:stretch>
        </p:blipFill>
        <p:spPr>
          <a:xfrm>
            <a:off x="7990250" y="1409945"/>
            <a:ext cx="2132379" cy="1823877"/>
          </a:xfrm>
          <a:prstGeom prst="rect">
            <a:avLst/>
          </a:prstGeom>
          <a:ln>
            <a:noFill/>
          </a:ln>
        </p:spPr>
      </p:pic>
      <p:pic>
        <p:nvPicPr>
          <p:cNvPr id="5" name="Picture 4"/>
          <p:cNvPicPr>
            <a:picLocks noChangeAspect="1"/>
          </p:cNvPicPr>
          <p:nvPr/>
        </p:nvPicPr>
        <p:blipFill>
          <a:blip r:embed="rId4" cstate="print"/>
          <a:stretch>
            <a:fillRect/>
          </a:stretch>
        </p:blipFill>
        <p:spPr>
          <a:xfrm>
            <a:off x="7924726" y="3870886"/>
            <a:ext cx="2305408" cy="2077111"/>
          </a:xfrm>
          <a:prstGeom prst="rect">
            <a:avLst/>
          </a:prstGeom>
          <a:ln>
            <a:solidFill>
              <a:srgbClr val="FFFFFF"/>
            </a:solidFill>
          </a:ln>
        </p:spPr>
      </p:pic>
      <p:sp>
        <p:nvSpPr>
          <p:cNvPr id="6" name="Striped Right Arrow 5"/>
          <p:cNvSpPr/>
          <p:nvPr/>
        </p:nvSpPr>
        <p:spPr bwMode="auto">
          <a:xfrm rot="5400000">
            <a:off x="8865957" y="3073567"/>
            <a:ext cx="378538" cy="856583"/>
          </a:xfrm>
          <a:prstGeom prst="stripedRightArrow">
            <a:avLst/>
          </a:prstGeom>
          <a:solidFill>
            <a:srgbClr val="02303E"/>
          </a:solidFill>
          <a:ln w="6350" cap="flat" cmpd="sng" algn="ctr">
            <a:solidFill>
              <a:schemeClr val="tx2">
                <a:lumMod val="50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85000"/>
              </a:lnSpc>
              <a:spcBef>
                <a:spcPct val="0"/>
              </a:spcBef>
              <a:spcAft>
                <a:spcPct val="0"/>
              </a:spcAft>
              <a:buClrTx/>
              <a:buSzTx/>
              <a:buFontTx/>
              <a:buNone/>
              <a:tabLst/>
            </a:pPr>
            <a:endParaRPr kumimoji="0" lang="en-US" sz="1600" b="1" i="0" u="none" strike="noStrike" cap="none" normalizeH="0" baseline="0" dirty="0" smtClean="0">
              <a:ln>
                <a:noFill/>
              </a:ln>
              <a:solidFill>
                <a:schemeClr val="bg2">
                  <a:lumMod val="50000"/>
                </a:schemeClr>
              </a:solidFill>
              <a:effectLst/>
              <a:latin typeface="+mn-lt"/>
              <a:cs typeface="Arial" charset="0"/>
            </a:endParaRPr>
          </a:p>
        </p:txBody>
      </p:sp>
      <p:sp>
        <p:nvSpPr>
          <p:cNvPr id="7" name="TextBox 6"/>
          <p:cNvSpPr txBox="1"/>
          <p:nvPr/>
        </p:nvSpPr>
        <p:spPr>
          <a:xfrm>
            <a:off x="6731876" y="4138555"/>
            <a:ext cx="1114916" cy="738664"/>
          </a:xfrm>
          <a:prstGeom prst="rect">
            <a:avLst/>
          </a:prstGeom>
          <a:noFill/>
        </p:spPr>
        <p:txBody>
          <a:bodyPr wrap="square" rtlCol="0">
            <a:spAutoFit/>
          </a:bodyPr>
          <a:lstStyle/>
          <a:p>
            <a:pPr algn="ctr"/>
            <a:r>
              <a:rPr lang="en-US" sz="1400" dirty="0" smtClean="0">
                <a:solidFill>
                  <a:schemeClr val="tx2">
                    <a:lumMod val="50000"/>
                  </a:schemeClr>
                </a:solidFill>
              </a:rPr>
              <a:t>Decoupled Mesh of Services</a:t>
            </a:r>
          </a:p>
        </p:txBody>
      </p:sp>
      <p:sp>
        <p:nvSpPr>
          <p:cNvPr id="93" name="TextBox 92"/>
          <p:cNvSpPr txBox="1"/>
          <p:nvPr/>
        </p:nvSpPr>
        <p:spPr>
          <a:xfrm>
            <a:off x="6910780" y="2130581"/>
            <a:ext cx="890845" cy="738664"/>
          </a:xfrm>
          <a:prstGeom prst="rect">
            <a:avLst/>
          </a:prstGeom>
          <a:noFill/>
        </p:spPr>
        <p:txBody>
          <a:bodyPr wrap="square" rtlCol="0">
            <a:spAutoFit/>
          </a:bodyPr>
          <a:lstStyle/>
          <a:p>
            <a:pPr algn="ctr"/>
            <a:r>
              <a:rPr lang="en-US" sz="1400" dirty="0" smtClean="0">
                <a:solidFill>
                  <a:schemeClr val="tx2">
                    <a:lumMod val="50000"/>
                  </a:schemeClr>
                </a:solidFill>
              </a:rPr>
              <a:t>Tightly Coupled</a:t>
            </a:r>
          </a:p>
          <a:p>
            <a:pPr algn="ctr"/>
            <a:r>
              <a:rPr lang="en-US" sz="1400" dirty="0" smtClean="0">
                <a:solidFill>
                  <a:schemeClr val="tx2">
                    <a:lumMod val="50000"/>
                  </a:schemeClr>
                </a:solidFill>
              </a:rPr>
              <a:t>Monolith</a:t>
            </a:r>
          </a:p>
        </p:txBody>
      </p:sp>
      <p:sp>
        <p:nvSpPr>
          <p:cNvPr id="95" name="TextBox 94"/>
          <p:cNvSpPr txBox="1"/>
          <p:nvPr/>
        </p:nvSpPr>
        <p:spPr>
          <a:xfrm>
            <a:off x="655010" y="1543124"/>
            <a:ext cx="5339994" cy="4524316"/>
          </a:xfrm>
          <a:prstGeom prst="rect">
            <a:avLst/>
          </a:prstGeom>
          <a:noFill/>
        </p:spPr>
        <p:txBody>
          <a:bodyPr wrap="square" rtlCol="0">
            <a:spAutoFit/>
          </a:bodyPr>
          <a:lstStyle/>
          <a:p>
            <a:pPr marL="285750" indent="-285750">
              <a:buFont typeface="Arial"/>
              <a:buChar char="•"/>
            </a:pPr>
            <a:r>
              <a:rPr lang="en-US" sz="1600" dirty="0" smtClean="0">
                <a:solidFill>
                  <a:schemeClr val="tx2">
                    <a:lumMod val="50000"/>
                  </a:schemeClr>
                </a:solidFill>
              </a:rPr>
              <a:t>Burden of a monolith</a:t>
            </a:r>
          </a:p>
          <a:p>
            <a:pPr marL="764628" lvl="1" indent="-285750">
              <a:buFont typeface="Arial"/>
              <a:buChar char="•"/>
            </a:pPr>
            <a:r>
              <a:rPr lang="en-US" sz="1600" dirty="0">
                <a:solidFill>
                  <a:schemeClr val="tx2">
                    <a:lumMod val="50000"/>
                  </a:schemeClr>
                </a:solidFill>
              </a:rPr>
              <a:t>L</a:t>
            </a:r>
            <a:r>
              <a:rPr lang="en-US" sz="1600" dirty="0" smtClean="0">
                <a:solidFill>
                  <a:schemeClr val="tx2">
                    <a:lumMod val="50000"/>
                  </a:schemeClr>
                </a:solidFill>
              </a:rPr>
              <a:t>onger to do impact analysis </a:t>
            </a:r>
          </a:p>
          <a:p>
            <a:pPr marL="764628" lvl="1" indent="-285750">
              <a:buFont typeface="Arial"/>
              <a:buChar char="•"/>
            </a:pPr>
            <a:r>
              <a:rPr lang="en-US" sz="1600" dirty="0" smtClean="0">
                <a:solidFill>
                  <a:schemeClr val="tx2">
                    <a:lumMod val="50000"/>
                  </a:schemeClr>
                </a:solidFill>
              </a:rPr>
              <a:t>Harder to modify and debug </a:t>
            </a:r>
          </a:p>
          <a:p>
            <a:pPr marL="764628" lvl="1" indent="-285750">
              <a:buFont typeface="Arial"/>
              <a:buChar char="•"/>
            </a:pPr>
            <a:r>
              <a:rPr lang="en-US" sz="1600" dirty="0" smtClean="0">
                <a:solidFill>
                  <a:schemeClr val="tx2">
                    <a:lumMod val="50000"/>
                  </a:schemeClr>
                </a:solidFill>
              </a:rPr>
              <a:t>Changing, even small ones, requiring full rebuild, comprehensive testing and deploy</a:t>
            </a:r>
          </a:p>
          <a:p>
            <a:pPr marL="285750" indent="-285750">
              <a:buFont typeface="Arial"/>
              <a:buChar char="•"/>
            </a:pPr>
            <a:r>
              <a:rPr lang="en-US" sz="1600" dirty="0" smtClean="0">
                <a:solidFill>
                  <a:schemeClr val="tx2">
                    <a:lumMod val="50000"/>
                  </a:schemeClr>
                </a:solidFill>
              </a:rPr>
              <a:t>Costly</a:t>
            </a:r>
          </a:p>
          <a:p>
            <a:pPr marL="764628" lvl="1" indent="-285750">
              <a:buFont typeface="Courier New"/>
              <a:buChar char="o"/>
            </a:pPr>
            <a:r>
              <a:rPr lang="en-US" sz="1600" dirty="0">
                <a:solidFill>
                  <a:schemeClr val="tx2">
                    <a:lumMod val="50000"/>
                  </a:schemeClr>
                </a:solidFill>
              </a:rPr>
              <a:t>E</a:t>
            </a:r>
            <a:r>
              <a:rPr lang="en-US" sz="1600" dirty="0" smtClean="0">
                <a:solidFill>
                  <a:schemeClr val="tx2">
                    <a:lumMod val="50000"/>
                  </a:schemeClr>
                </a:solidFill>
              </a:rPr>
              <a:t>xpensive MIPs and scarce resources</a:t>
            </a:r>
          </a:p>
          <a:p>
            <a:pPr marL="764628" lvl="1" indent="-285750">
              <a:buFont typeface="Courier New"/>
              <a:buChar char="o"/>
            </a:pPr>
            <a:r>
              <a:rPr lang="en-US" sz="1600" dirty="0" smtClean="0">
                <a:solidFill>
                  <a:schemeClr val="tx2">
                    <a:lumMod val="50000"/>
                  </a:schemeClr>
                </a:solidFill>
              </a:rPr>
              <a:t>High availability constraints and cost</a:t>
            </a:r>
          </a:p>
          <a:p>
            <a:pPr marL="764628" lvl="1" indent="-285750">
              <a:buFont typeface="Courier New"/>
              <a:buChar char="o"/>
            </a:pPr>
            <a:r>
              <a:rPr lang="en-US" sz="1600" dirty="0">
                <a:solidFill>
                  <a:schemeClr val="tx2">
                    <a:lumMod val="50000"/>
                  </a:schemeClr>
                </a:solidFill>
              </a:rPr>
              <a:t>M</a:t>
            </a:r>
            <a:r>
              <a:rPr lang="en-US" sz="1600" dirty="0" smtClean="0">
                <a:solidFill>
                  <a:schemeClr val="tx2">
                    <a:lumMod val="50000"/>
                  </a:schemeClr>
                </a:solidFill>
              </a:rPr>
              <a:t>onths to enhance and deploy</a:t>
            </a:r>
          </a:p>
          <a:p>
            <a:pPr marL="285750" indent="-285750">
              <a:buFont typeface="Arial"/>
              <a:buChar char="•"/>
            </a:pPr>
            <a:r>
              <a:rPr lang="en-US" sz="1600" dirty="0" smtClean="0">
                <a:solidFill>
                  <a:schemeClr val="tx2">
                    <a:lumMod val="50000"/>
                  </a:schemeClr>
                </a:solidFill>
              </a:rPr>
              <a:t>Innovation inhibitor</a:t>
            </a:r>
          </a:p>
          <a:p>
            <a:pPr marL="764628" lvl="1" indent="-285750">
              <a:buFont typeface="Courier New"/>
              <a:buChar char="o"/>
            </a:pPr>
            <a:r>
              <a:rPr lang="en-US" sz="1600" dirty="0" smtClean="0">
                <a:solidFill>
                  <a:schemeClr val="tx2">
                    <a:lumMod val="50000"/>
                  </a:schemeClr>
                </a:solidFill>
              </a:rPr>
              <a:t>Difficult to adopt new technology</a:t>
            </a:r>
          </a:p>
          <a:p>
            <a:pPr marL="764628" lvl="1" indent="-285750">
              <a:buFont typeface="Courier New"/>
              <a:buChar char="o"/>
            </a:pPr>
            <a:r>
              <a:rPr lang="en-US" sz="1600" dirty="0" smtClean="0">
                <a:solidFill>
                  <a:schemeClr val="tx2">
                    <a:lumMod val="50000"/>
                  </a:schemeClr>
                </a:solidFill>
              </a:rPr>
              <a:t>Weakest link in achieving agility for customer experiences</a:t>
            </a:r>
          </a:p>
          <a:p>
            <a:pPr marL="285750" indent="-285750">
              <a:buFont typeface="Arial"/>
              <a:buChar char="•"/>
            </a:pPr>
            <a:r>
              <a:rPr lang="en-US" sz="1600" dirty="0" smtClean="0">
                <a:solidFill>
                  <a:schemeClr val="tx2">
                    <a:lumMod val="50000"/>
                  </a:schemeClr>
                </a:solidFill>
              </a:rPr>
              <a:t>Little resiliency:  any failure in monolith brings it down</a:t>
            </a:r>
          </a:p>
          <a:p>
            <a:pPr marL="285750" indent="-285750">
              <a:buFont typeface="Arial"/>
              <a:buChar char="•"/>
            </a:pPr>
            <a:r>
              <a:rPr lang="en-US" sz="1600" dirty="0" smtClean="0">
                <a:solidFill>
                  <a:schemeClr val="tx2">
                    <a:lumMod val="50000"/>
                  </a:schemeClr>
                </a:solidFill>
              </a:rPr>
              <a:t>Limited, expensive scalability:  add more MIPS or horizontally scale the whole monolith</a:t>
            </a:r>
          </a:p>
          <a:p>
            <a:pPr marL="285750" indent="-285750">
              <a:buFont typeface="Arial"/>
              <a:buChar char="•"/>
            </a:pPr>
            <a:endParaRPr lang="en-US" sz="1600" dirty="0">
              <a:solidFill>
                <a:schemeClr val="tx2">
                  <a:lumMod val="50000"/>
                </a:schemeClr>
              </a:solidFill>
            </a:endParaRPr>
          </a:p>
          <a:p>
            <a:pPr marL="764628" lvl="1" indent="-285750">
              <a:buFont typeface="Arial"/>
              <a:buChar char="•"/>
            </a:pPr>
            <a:endParaRPr lang="en-US" sz="1600" dirty="0" smtClean="0">
              <a:solidFill>
                <a:schemeClr val="tx2">
                  <a:lumMod val="50000"/>
                </a:schemeClr>
              </a:solidFill>
            </a:endParaRPr>
          </a:p>
        </p:txBody>
      </p:sp>
    </p:spTree>
    <p:extLst>
      <p:ext uri="{BB962C8B-B14F-4D97-AF65-F5344CB8AC3E}">
        <p14:creationId xmlns="" xmlns:p14="http://schemas.microsoft.com/office/powerpoint/2010/main" val="764231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3"/>
                                        </p:tgtEl>
                                        <p:attrNameLst>
                                          <p:attrName>style.visibility</p:attrName>
                                        </p:attrNameLst>
                                      </p:cBhvr>
                                      <p:to>
                                        <p:strVal val="visible"/>
                                      </p:to>
                                    </p:set>
                                    <p:animEffect transition="in" filter="fade">
                                      <p:cBhvr>
                                        <p:cTn id="10" dur="500"/>
                                        <p:tgtEl>
                                          <p:spTgt spid="9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95">
                                            <p:txEl>
                                              <p:pRg st="0" end="0"/>
                                            </p:txEl>
                                          </p:spTgt>
                                        </p:tgtEl>
                                        <p:attrNameLst>
                                          <p:attrName>style.visibility</p:attrName>
                                        </p:attrNameLst>
                                      </p:cBhvr>
                                      <p:to>
                                        <p:strVal val="visible"/>
                                      </p:to>
                                    </p:set>
                                    <p:animEffect transition="in" filter="fade">
                                      <p:cBhvr>
                                        <p:cTn id="15" dur="500"/>
                                        <p:tgtEl>
                                          <p:spTgt spid="95">
                                            <p:txEl>
                                              <p:pRg st="0" end="0"/>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95">
                                            <p:txEl>
                                              <p:pRg st="1" end="1"/>
                                            </p:txEl>
                                          </p:spTgt>
                                        </p:tgtEl>
                                        <p:attrNameLst>
                                          <p:attrName>style.visibility</p:attrName>
                                        </p:attrNameLst>
                                      </p:cBhvr>
                                      <p:to>
                                        <p:strVal val="visible"/>
                                      </p:to>
                                    </p:set>
                                    <p:animEffect transition="in" filter="fade">
                                      <p:cBhvr>
                                        <p:cTn id="18" dur="500"/>
                                        <p:tgtEl>
                                          <p:spTgt spid="95">
                                            <p:txEl>
                                              <p:pRg st="1" end="1"/>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95">
                                            <p:txEl>
                                              <p:pRg st="2" end="2"/>
                                            </p:txEl>
                                          </p:spTgt>
                                        </p:tgtEl>
                                        <p:attrNameLst>
                                          <p:attrName>style.visibility</p:attrName>
                                        </p:attrNameLst>
                                      </p:cBhvr>
                                      <p:to>
                                        <p:strVal val="visible"/>
                                      </p:to>
                                    </p:set>
                                    <p:animEffect transition="in" filter="fade">
                                      <p:cBhvr>
                                        <p:cTn id="21" dur="500"/>
                                        <p:tgtEl>
                                          <p:spTgt spid="95">
                                            <p:txEl>
                                              <p:pRg st="2" end="2"/>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95">
                                            <p:txEl>
                                              <p:pRg st="3" end="3"/>
                                            </p:txEl>
                                          </p:spTgt>
                                        </p:tgtEl>
                                        <p:attrNameLst>
                                          <p:attrName>style.visibility</p:attrName>
                                        </p:attrNameLst>
                                      </p:cBhvr>
                                      <p:to>
                                        <p:strVal val="visible"/>
                                      </p:to>
                                    </p:set>
                                    <p:animEffect transition="in" filter="fade">
                                      <p:cBhvr>
                                        <p:cTn id="24" dur="500"/>
                                        <p:tgtEl>
                                          <p:spTgt spid="95">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95">
                                            <p:txEl>
                                              <p:pRg st="4" end="4"/>
                                            </p:txEl>
                                          </p:spTgt>
                                        </p:tgtEl>
                                        <p:attrNameLst>
                                          <p:attrName>style.visibility</p:attrName>
                                        </p:attrNameLst>
                                      </p:cBhvr>
                                      <p:to>
                                        <p:strVal val="visible"/>
                                      </p:to>
                                    </p:set>
                                    <p:animEffect transition="in" filter="fade">
                                      <p:cBhvr>
                                        <p:cTn id="29" dur="500"/>
                                        <p:tgtEl>
                                          <p:spTgt spid="95">
                                            <p:txEl>
                                              <p:pRg st="4" end="4"/>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95">
                                            <p:txEl>
                                              <p:pRg st="5" end="5"/>
                                            </p:txEl>
                                          </p:spTgt>
                                        </p:tgtEl>
                                        <p:attrNameLst>
                                          <p:attrName>style.visibility</p:attrName>
                                        </p:attrNameLst>
                                      </p:cBhvr>
                                      <p:to>
                                        <p:strVal val="visible"/>
                                      </p:to>
                                    </p:set>
                                    <p:animEffect transition="in" filter="fade">
                                      <p:cBhvr>
                                        <p:cTn id="32" dur="500"/>
                                        <p:tgtEl>
                                          <p:spTgt spid="95">
                                            <p:txEl>
                                              <p:pRg st="5" end="5"/>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95">
                                            <p:txEl>
                                              <p:pRg st="6" end="6"/>
                                            </p:txEl>
                                          </p:spTgt>
                                        </p:tgtEl>
                                        <p:attrNameLst>
                                          <p:attrName>style.visibility</p:attrName>
                                        </p:attrNameLst>
                                      </p:cBhvr>
                                      <p:to>
                                        <p:strVal val="visible"/>
                                      </p:to>
                                    </p:set>
                                    <p:animEffect transition="in" filter="fade">
                                      <p:cBhvr>
                                        <p:cTn id="35" dur="500"/>
                                        <p:tgtEl>
                                          <p:spTgt spid="95">
                                            <p:txEl>
                                              <p:pRg st="6" end="6"/>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95">
                                            <p:txEl>
                                              <p:pRg st="7" end="7"/>
                                            </p:txEl>
                                          </p:spTgt>
                                        </p:tgtEl>
                                        <p:attrNameLst>
                                          <p:attrName>style.visibility</p:attrName>
                                        </p:attrNameLst>
                                      </p:cBhvr>
                                      <p:to>
                                        <p:strVal val="visible"/>
                                      </p:to>
                                    </p:set>
                                    <p:animEffect transition="in" filter="fade">
                                      <p:cBhvr>
                                        <p:cTn id="38" dur="500"/>
                                        <p:tgtEl>
                                          <p:spTgt spid="95">
                                            <p:txEl>
                                              <p:pRg st="7" end="7"/>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95">
                                            <p:txEl>
                                              <p:pRg st="8" end="8"/>
                                            </p:txEl>
                                          </p:spTgt>
                                        </p:tgtEl>
                                        <p:attrNameLst>
                                          <p:attrName>style.visibility</p:attrName>
                                        </p:attrNameLst>
                                      </p:cBhvr>
                                      <p:to>
                                        <p:strVal val="visible"/>
                                      </p:to>
                                    </p:set>
                                    <p:animEffect transition="in" filter="fade">
                                      <p:cBhvr>
                                        <p:cTn id="43" dur="500"/>
                                        <p:tgtEl>
                                          <p:spTgt spid="95">
                                            <p:txEl>
                                              <p:pRg st="8" end="8"/>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95">
                                            <p:txEl>
                                              <p:pRg st="9" end="9"/>
                                            </p:txEl>
                                          </p:spTgt>
                                        </p:tgtEl>
                                        <p:attrNameLst>
                                          <p:attrName>style.visibility</p:attrName>
                                        </p:attrNameLst>
                                      </p:cBhvr>
                                      <p:to>
                                        <p:strVal val="visible"/>
                                      </p:to>
                                    </p:set>
                                    <p:animEffect transition="in" filter="fade">
                                      <p:cBhvr>
                                        <p:cTn id="46" dur="500"/>
                                        <p:tgtEl>
                                          <p:spTgt spid="95">
                                            <p:txEl>
                                              <p:pRg st="9" end="9"/>
                                            </p:txEl>
                                          </p:spTgt>
                                        </p:tgtEl>
                                      </p:cBhvr>
                                    </p:animEffect>
                                  </p:childTnLst>
                                </p:cTn>
                              </p:par>
                              <p:par>
                                <p:cTn id="47" presetID="10" presetClass="entr" presetSubtype="0" fill="hold" nodeType="withEffect">
                                  <p:stCondLst>
                                    <p:cond delay="0"/>
                                  </p:stCondLst>
                                  <p:childTnLst>
                                    <p:set>
                                      <p:cBhvr>
                                        <p:cTn id="48" dur="1" fill="hold">
                                          <p:stCondLst>
                                            <p:cond delay="0"/>
                                          </p:stCondLst>
                                        </p:cTn>
                                        <p:tgtEl>
                                          <p:spTgt spid="95">
                                            <p:txEl>
                                              <p:pRg st="10" end="10"/>
                                            </p:txEl>
                                          </p:spTgt>
                                        </p:tgtEl>
                                        <p:attrNameLst>
                                          <p:attrName>style.visibility</p:attrName>
                                        </p:attrNameLst>
                                      </p:cBhvr>
                                      <p:to>
                                        <p:strVal val="visible"/>
                                      </p:to>
                                    </p:set>
                                    <p:animEffect transition="in" filter="fade">
                                      <p:cBhvr>
                                        <p:cTn id="49" dur="500"/>
                                        <p:tgtEl>
                                          <p:spTgt spid="95">
                                            <p:txEl>
                                              <p:pRg st="10" end="10"/>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95">
                                            <p:txEl>
                                              <p:pRg st="11" end="11"/>
                                            </p:txEl>
                                          </p:spTgt>
                                        </p:tgtEl>
                                        <p:attrNameLst>
                                          <p:attrName>style.visibility</p:attrName>
                                        </p:attrNameLst>
                                      </p:cBhvr>
                                      <p:to>
                                        <p:strVal val="visible"/>
                                      </p:to>
                                    </p:set>
                                    <p:animEffect transition="in" filter="fade">
                                      <p:cBhvr>
                                        <p:cTn id="54" dur="500"/>
                                        <p:tgtEl>
                                          <p:spTgt spid="95">
                                            <p:txEl>
                                              <p:pRg st="11" end="11"/>
                                            </p:txEl>
                                          </p:spTgt>
                                        </p:tgtEl>
                                      </p:cBhvr>
                                    </p:animEffect>
                                  </p:childTnLst>
                                </p:cTn>
                              </p:par>
                              <p:par>
                                <p:cTn id="55" presetID="10" presetClass="entr" presetSubtype="0" fill="hold" nodeType="withEffect">
                                  <p:stCondLst>
                                    <p:cond delay="0"/>
                                  </p:stCondLst>
                                  <p:childTnLst>
                                    <p:set>
                                      <p:cBhvr>
                                        <p:cTn id="56" dur="1" fill="hold">
                                          <p:stCondLst>
                                            <p:cond delay="0"/>
                                          </p:stCondLst>
                                        </p:cTn>
                                        <p:tgtEl>
                                          <p:spTgt spid="95">
                                            <p:txEl>
                                              <p:pRg st="12" end="12"/>
                                            </p:txEl>
                                          </p:spTgt>
                                        </p:tgtEl>
                                        <p:attrNameLst>
                                          <p:attrName>style.visibility</p:attrName>
                                        </p:attrNameLst>
                                      </p:cBhvr>
                                      <p:to>
                                        <p:strVal val="visible"/>
                                      </p:to>
                                    </p:set>
                                    <p:animEffect transition="in" filter="fade">
                                      <p:cBhvr>
                                        <p:cTn id="57" dur="500"/>
                                        <p:tgtEl>
                                          <p:spTgt spid="95">
                                            <p:txEl>
                                              <p:pRg st="12" end="1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6"/>
                                        </p:tgtEl>
                                        <p:attrNameLst>
                                          <p:attrName>style.visibility</p:attrName>
                                        </p:attrNameLst>
                                      </p:cBhvr>
                                      <p:to>
                                        <p:strVal val="visible"/>
                                      </p:to>
                                    </p:set>
                                    <p:animEffect transition="in" filter="fade">
                                      <p:cBhvr>
                                        <p:cTn id="62" dur="500"/>
                                        <p:tgtEl>
                                          <p:spTgt spid="6"/>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7"/>
                                        </p:tgtEl>
                                        <p:attrNameLst>
                                          <p:attrName>style.visibility</p:attrName>
                                        </p:attrNameLst>
                                      </p:cBhvr>
                                      <p:to>
                                        <p:strVal val="visible"/>
                                      </p:to>
                                    </p:set>
                                    <p:animEffect transition="in" filter="fade">
                                      <p:cBhvr>
                                        <p:cTn id="65" dur="500"/>
                                        <p:tgtEl>
                                          <p:spTgt spid="7"/>
                                        </p:tgtEl>
                                      </p:cBhvr>
                                    </p:animEffect>
                                  </p:childTnLst>
                                </p:cTn>
                              </p:par>
                              <p:par>
                                <p:cTn id="66" presetID="10" presetClass="entr" presetSubtype="0" fill="hold" nodeType="withEffect">
                                  <p:stCondLst>
                                    <p:cond delay="0"/>
                                  </p:stCondLst>
                                  <p:childTnLst>
                                    <p:set>
                                      <p:cBhvr>
                                        <p:cTn id="67" dur="1" fill="hold">
                                          <p:stCondLst>
                                            <p:cond delay="0"/>
                                          </p:stCondLst>
                                        </p:cTn>
                                        <p:tgtEl>
                                          <p:spTgt spid="5"/>
                                        </p:tgtEl>
                                        <p:attrNameLst>
                                          <p:attrName>style.visibility</p:attrName>
                                        </p:attrNameLst>
                                      </p:cBhvr>
                                      <p:to>
                                        <p:strVal val="visible"/>
                                      </p:to>
                                    </p:set>
                                    <p:animEffect transition="in" filter="fade">
                                      <p:cBhvr>
                                        <p:cTn id="6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9213" name="Picture 8"/>
          <p:cNvPicPr>
            <a:picLocks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689508" y="4362589"/>
            <a:ext cx="2295144" cy="172821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US" dirty="0" smtClean="0"/>
              <a:t>Strangling the Monolith</a:t>
            </a:r>
            <a:endParaRPr lang="en-US" dirty="0"/>
          </a:p>
        </p:txBody>
      </p:sp>
      <p:pic>
        <p:nvPicPr>
          <p:cNvPr id="179202" name="Picture 2" descr="Image result for banyan tree"/>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734115" y="2021061"/>
            <a:ext cx="2290352" cy="1731081"/>
          </a:xfrm>
          <a:prstGeom prst="rect">
            <a:avLst/>
          </a:prstGeom>
          <a:noFill/>
          <a:extLst>
            <a:ext uri="{909E8E84-426E-40DD-AFC4-6F175D3DCCD1}">
              <a14:hiddenFill xmlns="" xmlns:a14="http://schemas.microsoft.com/office/drawing/2010/main">
                <a:solidFill>
                  <a:srgbClr val="FFFFFF"/>
                </a:solidFill>
              </a14:hiddenFill>
            </a:ext>
          </a:extLst>
        </p:spPr>
      </p:pic>
      <p:sp>
        <p:nvSpPr>
          <p:cNvPr id="5" name="Rounded Rectangle 4"/>
          <p:cNvSpPr/>
          <p:nvPr/>
        </p:nvSpPr>
        <p:spPr>
          <a:xfrm>
            <a:off x="3625529" y="2164519"/>
            <a:ext cx="7074316" cy="3979176"/>
          </a:xfrm>
          <a:prstGeom prst="roundRect">
            <a:avLst/>
          </a:prstGeom>
          <a:ln/>
        </p:spPr>
        <p:style>
          <a:lnRef idx="2">
            <a:schemeClr val="accent5"/>
          </a:lnRef>
          <a:fillRef idx="1">
            <a:schemeClr val="lt1"/>
          </a:fillRef>
          <a:effectRef idx="0">
            <a:schemeClr val="accent5"/>
          </a:effectRef>
          <a:fontRef idx="minor">
            <a:schemeClr val="dk1"/>
          </a:fontRef>
        </p:style>
        <p:txBody>
          <a:bodyPr rtlCol="0" anchor="ctr"/>
          <a:lstStyle/>
          <a:p>
            <a:r>
              <a:rPr lang="en-US" sz="2000" u="sng" dirty="0" smtClean="0">
                <a:solidFill>
                  <a:schemeClr val="tx2">
                    <a:lumMod val="50000"/>
                  </a:schemeClr>
                </a:solidFill>
              </a:rPr>
              <a:t>We cannot break the monolith; however we can strangle it by following means</a:t>
            </a:r>
          </a:p>
          <a:p>
            <a:pPr marL="457200" indent="-457200">
              <a:buFont typeface="+mj-lt"/>
              <a:buAutoNum type="arabicPeriod"/>
            </a:pPr>
            <a:r>
              <a:rPr lang="en-US" sz="1600" dirty="0" smtClean="0">
                <a:solidFill>
                  <a:schemeClr val="tx2">
                    <a:lumMod val="50000"/>
                  </a:schemeClr>
                </a:solidFill>
              </a:rPr>
              <a:t>Stop any new feature getting into the monolith</a:t>
            </a:r>
          </a:p>
          <a:p>
            <a:pPr marL="457200" indent="-457200">
              <a:buFont typeface="+mj-lt"/>
              <a:buAutoNum type="arabicPeriod"/>
            </a:pPr>
            <a:r>
              <a:rPr lang="en-US" sz="1600" dirty="0" smtClean="0">
                <a:solidFill>
                  <a:schemeClr val="tx2">
                    <a:lumMod val="50000"/>
                  </a:schemeClr>
                </a:solidFill>
              </a:rPr>
              <a:t>Build those new features </a:t>
            </a:r>
            <a:r>
              <a:rPr lang="en-US" sz="1600" b="1" dirty="0" smtClean="0">
                <a:solidFill>
                  <a:schemeClr val="tx2">
                    <a:lumMod val="50000"/>
                  </a:schemeClr>
                </a:solidFill>
              </a:rPr>
              <a:t>“The Microservices way” </a:t>
            </a:r>
            <a:r>
              <a:rPr lang="en-US" sz="1600" dirty="0" smtClean="0">
                <a:solidFill>
                  <a:schemeClr val="tx2">
                    <a:lumMod val="50000"/>
                  </a:schemeClr>
                </a:solidFill>
              </a:rPr>
              <a:t>using distributed systems on the Cloud (b</a:t>
            </a:r>
            <a:r>
              <a:rPr lang="en-US" sz="1600" dirty="0" smtClean="0"/>
              <a:t>uilding new </a:t>
            </a:r>
            <a:r>
              <a:rPr lang="en-US" sz="1600" dirty="0"/>
              <a:t>services from scratch is far easier than surgically </a:t>
            </a:r>
            <a:r>
              <a:rPr lang="en-US" sz="1600" dirty="0" smtClean="0"/>
              <a:t>extracting them </a:t>
            </a:r>
            <a:r>
              <a:rPr lang="en-US" sz="1600" dirty="0"/>
              <a:t>from </a:t>
            </a:r>
            <a:r>
              <a:rPr lang="en-US" sz="1600" b="1" dirty="0" smtClean="0"/>
              <a:t>“a big </a:t>
            </a:r>
            <a:r>
              <a:rPr lang="en-US" sz="1600" b="1" dirty="0"/>
              <a:t>ball of </a:t>
            </a:r>
            <a:r>
              <a:rPr lang="en-US" sz="1600" b="1" dirty="0" smtClean="0"/>
              <a:t>mud</a:t>
            </a:r>
            <a:r>
              <a:rPr lang="en-US" sz="1600" dirty="0" smtClean="0"/>
              <a:t>.”)</a:t>
            </a:r>
          </a:p>
          <a:p>
            <a:pPr marL="457200" indent="-457200">
              <a:buFont typeface="+mj-lt"/>
              <a:buAutoNum type="arabicPeriod"/>
            </a:pPr>
            <a:r>
              <a:rPr lang="en-US" sz="1600" dirty="0" smtClean="0">
                <a:solidFill>
                  <a:schemeClr val="tx2">
                    <a:lumMod val="50000"/>
                  </a:schemeClr>
                </a:solidFill>
              </a:rPr>
              <a:t>Build interfaces to integrate with the Monolith the DDD way </a:t>
            </a:r>
            <a:r>
              <a:rPr lang="en-US" sz="1600" b="1" dirty="0" smtClean="0">
                <a:solidFill>
                  <a:schemeClr val="tx2">
                    <a:lumMod val="50000"/>
                  </a:schemeClr>
                </a:solidFill>
              </a:rPr>
              <a:t>(Domain-Driven Design</a:t>
            </a:r>
            <a:r>
              <a:rPr lang="en-US" sz="1600" dirty="0" smtClean="0">
                <a:solidFill>
                  <a:schemeClr val="tx2">
                    <a:lumMod val="50000"/>
                  </a:schemeClr>
                </a:solidFill>
              </a:rPr>
              <a:t> – integrating two systems in a way that the domain of one does not corrupt the other)</a:t>
            </a:r>
          </a:p>
          <a:p>
            <a:pPr marL="457200" indent="-457200">
              <a:buFont typeface="+mj-lt"/>
              <a:buAutoNum type="arabicPeriod"/>
            </a:pPr>
            <a:r>
              <a:rPr lang="en-US" sz="1600" dirty="0" smtClean="0">
                <a:solidFill>
                  <a:schemeClr val="tx2">
                    <a:lumMod val="50000"/>
                  </a:schemeClr>
                </a:solidFill>
              </a:rPr>
              <a:t>Continue this approach until you have built all required services the Microservices way – the Monolith gets strangled over a period of time.</a:t>
            </a:r>
          </a:p>
          <a:p>
            <a:pPr marL="457200" indent="-457200">
              <a:buFont typeface="+mj-lt"/>
              <a:buAutoNum type="arabicPeriod"/>
            </a:pPr>
            <a:r>
              <a:rPr lang="en-US" sz="1600" dirty="0" smtClean="0">
                <a:solidFill>
                  <a:schemeClr val="tx2">
                    <a:lumMod val="50000"/>
                  </a:schemeClr>
                </a:solidFill>
              </a:rPr>
              <a:t>Some portions of the monolith may remain stable, with no changes happening for years; don’t mind leaving them as they are.</a:t>
            </a:r>
            <a:endParaRPr lang="en-US" sz="1800" dirty="0" smtClean="0">
              <a:solidFill>
                <a:schemeClr val="tx2">
                  <a:lumMod val="50000"/>
                </a:schemeClr>
              </a:solidFill>
            </a:endParaRPr>
          </a:p>
        </p:txBody>
      </p:sp>
      <p:cxnSp>
        <p:nvCxnSpPr>
          <p:cNvPr id="10" name="Straight Arrow Connector 9"/>
          <p:cNvCxnSpPr/>
          <p:nvPr/>
        </p:nvCxnSpPr>
        <p:spPr>
          <a:xfrm flipV="1">
            <a:off x="2298534" y="3310830"/>
            <a:ext cx="267245" cy="75763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1445670" y="2900249"/>
            <a:ext cx="328043" cy="10962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1773713" y="2274815"/>
            <a:ext cx="690040" cy="196284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754542" y="3979364"/>
            <a:ext cx="970137" cy="307777"/>
          </a:xfrm>
          <a:prstGeom prst="rect">
            <a:avLst/>
          </a:prstGeom>
          <a:noFill/>
        </p:spPr>
        <p:txBody>
          <a:bodyPr wrap="none" rtlCol="0">
            <a:spAutoFit/>
          </a:bodyPr>
          <a:lstStyle/>
          <a:p>
            <a:r>
              <a:rPr lang="en-US" sz="1400" dirty="0" smtClean="0">
                <a:solidFill>
                  <a:schemeClr val="tx2">
                    <a:lumMod val="50000"/>
                  </a:schemeClr>
                </a:solidFill>
              </a:rPr>
              <a:t>Interfaces</a:t>
            </a:r>
          </a:p>
        </p:txBody>
      </p:sp>
      <p:sp>
        <p:nvSpPr>
          <p:cNvPr id="23" name="TextBox 22"/>
          <p:cNvSpPr txBox="1"/>
          <p:nvPr/>
        </p:nvSpPr>
        <p:spPr>
          <a:xfrm>
            <a:off x="150123" y="3760683"/>
            <a:ext cx="1295547" cy="307777"/>
          </a:xfrm>
          <a:prstGeom prst="rect">
            <a:avLst/>
          </a:prstGeom>
          <a:noFill/>
        </p:spPr>
        <p:txBody>
          <a:bodyPr wrap="none" rtlCol="0">
            <a:spAutoFit/>
          </a:bodyPr>
          <a:lstStyle/>
          <a:p>
            <a:r>
              <a:rPr lang="en-US" sz="1400" b="1" dirty="0" smtClean="0">
                <a:solidFill>
                  <a:schemeClr val="tx2">
                    <a:lumMod val="50000"/>
                  </a:schemeClr>
                </a:solidFill>
              </a:rPr>
              <a:t>The Monolith</a:t>
            </a:r>
          </a:p>
        </p:txBody>
      </p:sp>
      <p:sp>
        <p:nvSpPr>
          <p:cNvPr id="24" name="TextBox 23"/>
          <p:cNvSpPr txBox="1"/>
          <p:nvPr/>
        </p:nvSpPr>
        <p:spPr>
          <a:xfrm>
            <a:off x="2242100" y="3830585"/>
            <a:ext cx="1239442" cy="307777"/>
          </a:xfrm>
          <a:prstGeom prst="rect">
            <a:avLst/>
          </a:prstGeom>
          <a:noFill/>
        </p:spPr>
        <p:txBody>
          <a:bodyPr wrap="none" rtlCol="0">
            <a:spAutoFit/>
          </a:bodyPr>
          <a:lstStyle/>
          <a:p>
            <a:r>
              <a:rPr lang="en-US" sz="1400" dirty="0" smtClean="0">
                <a:solidFill>
                  <a:schemeClr val="tx2">
                    <a:lumMod val="50000"/>
                  </a:schemeClr>
                </a:solidFill>
              </a:rPr>
              <a:t>New features</a:t>
            </a:r>
          </a:p>
        </p:txBody>
      </p:sp>
      <p:sp>
        <p:nvSpPr>
          <p:cNvPr id="26" name="TextBox 25"/>
          <p:cNvSpPr txBox="1"/>
          <p:nvPr/>
        </p:nvSpPr>
        <p:spPr>
          <a:xfrm>
            <a:off x="758277" y="6039558"/>
            <a:ext cx="2310463" cy="338555"/>
          </a:xfrm>
          <a:prstGeom prst="rect">
            <a:avLst/>
          </a:prstGeom>
          <a:noFill/>
        </p:spPr>
        <p:txBody>
          <a:bodyPr wrap="square" rtlCol="0">
            <a:spAutoFit/>
          </a:bodyPr>
          <a:lstStyle/>
          <a:p>
            <a:r>
              <a:rPr lang="en-US" sz="1400" b="1" dirty="0" smtClean="0">
                <a:solidFill>
                  <a:schemeClr val="tx2">
                    <a:lumMod val="50000"/>
                  </a:schemeClr>
                </a:solidFill>
              </a:rPr>
              <a:t>Where is the Monolith?</a:t>
            </a:r>
            <a:endParaRPr lang="en-US" sz="1400" b="1" dirty="0">
              <a:solidFill>
                <a:schemeClr val="tx2">
                  <a:lumMod val="50000"/>
                </a:schemeClr>
              </a:solidFill>
            </a:endParaRPr>
          </a:p>
        </p:txBody>
      </p:sp>
      <p:cxnSp>
        <p:nvCxnSpPr>
          <p:cNvPr id="29" name="Straight Connector 28"/>
          <p:cNvCxnSpPr/>
          <p:nvPr/>
        </p:nvCxnSpPr>
        <p:spPr>
          <a:xfrm>
            <a:off x="199693" y="4008465"/>
            <a:ext cx="1251985" cy="0"/>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V="1">
            <a:off x="758277" y="4237658"/>
            <a:ext cx="1017868" cy="7102"/>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2294321" y="4082769"/>
            <a:ext cx="990093" cy="0"/>
          </a:xfrm>
          <a:prstGeom prst="line">
            <a:avLst/>
          </a:prstGeom>
          <a:ln/>
        </p:spPr>
        <p:style>
          <a:lnRef idx="1">
            <a:schemeClr val="accent1"/>
          </a:lnRef>
          <a:fillRef idx="0">
            <a:schemeClr val="accent1"/>
          </a:fillRef>
          <a:effectRef idx="0">
            <a:schemeClr val="accent1"/>
          </a:effectRef>
          <a:fontRef idx="minor">
            <a:schemeClr val="tx1"/>
          </a:fontRef>
        </p:style>
      </p:cxnSp>
      <p:sp>
        <p:nvSpPr>
          <p:cNvPr id="31" name="Rectangle 30"/>
          <p:cNvSpPr/>
          <p:nvPr/>
        </p:nvSpPr>
        <p:spPr>
          <a:xfrm>
            <a:off x="1626160" y="4904547"/>
            <a:ext cx="607859" cy="763083"/>
          </a:xfrm>
          <a:prstGeom prst="rect">
            <a:avLst/>
          </a:prstGeom>
          <a:noFill/>
        </p:spPr>
        <p:txBody>
          <a:bodyPr wrap="none" lIns="91440" tIns="45720" rIns="91440" bIns="45720">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r>
              <a:rPr lang="en-US" sz="5400" b="1" cap="all" spc="0" dirty="0" smtClean="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rPr>
              <a:t>?</a:t>
            </a:r>
            <a:endParaRPr lang="en-US" sz="5400" b="1" cap="all" spc="0"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endParaRPr>
          </a:p>
        </p:txBody>
      </p:sp>
      <p:sp>
        <p:nvSpPr>
          <p:cNvPr id="179201" name="Rounded Rectangle 179200"/>
          <p:cNvSpPr/>
          <p:nvPr/>
        </p:nvSpPr>
        <p:spPr>
          <a:xfrm>
            <a:off x="783374" y="1200590"/>
            <a:ext cx="9820936" cy="628626"/>
          </a:xfrm>
          <a:prstGeom prst="roundRect">
            <a:avLst/>
          </a:prstGeom>
          <a:ln/>
        </p:spPr>
        <p:style>
          <a:lnRef idx="2">
            <a:schemeClr val="accent5"/>
          </a:lnRef>
          <a:fillRef idx="1">
            <a:schemeClr val="lt1"/>
          </a:fillRef>
          <a:effectRef idx="0">
            <a:schemeClr val="accent5"/>
          </a:effectRef>
          <a:fontRef idx="minor">
            <a:schemeClr val="dk1"/>
          </a:fontRef>
        </p:style>
        <p:txBody>
          <a:bodyPr rtlCol="0" anchor="ctr"/>
          <a:lstStyle/>
          <a:p>
            <a:r>
              <a:rPr lang="en-US" sz="2000" dirty="0"/>
              <a:t>G</a:t>
            </a:r>
            <a:r>
              <a:rPr lang="en-US" sz="2000" dirty="0" smtClean="0"/>
              <a:t>radually </a:t>
            </a:r>
            <a:r>
              <a:rPr lang="en-US" sz="2000" dirty="0"/>
              <a:t>creating “a new system around </a:t>
            </a:r>
            <a:r>
              <a:rPr lang="en-US" sz="2000" dirty="0" smtClean="0"/>
              <a:t>the edges </a:t>
            </a:r>
            <a:r>
              <a:rPr lang="en-US" sz="2000" dirty="0"/>
              <a:t>of the old, letting it grow slowly over several years until </a:t>
            </a:r>
            <a:r>
              <a:rPr lang="en-US" sz="2000" dirty="0" smtClean="0"/>
              <a:t>the old </a:t>
            </a:r>
            <a:r>
              <a:rPr lang="en-US" sz="2000" dirty="0"/>
              <a:t>system is strangled.”</a:t>
            </a:r>
            <a:endParaRPr lang="en-US" sz="2000" dirty="0" smtClean="0">
              <a:solidFill>
                <a:schemeClr val="tx2">
                  <a:lumMod val="50000"/>
                </a:schemeClr>
              </a:solidFill>
            </a:endParaRPr>
          </a:p>
        </p:txBody>
      </p:sp>
    </p:spTree>
    <p:extLst>
      <p:ext uri="{BB962C8B-B14F-4D97-AF65-F5344CB8AC3E}">
        <p14:creationId xmlns="" xmlns:p14="http://schemas.microsoft.com/office/powerpoint/2010/main" val="2892653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9201"/>
                                        </p:tgtEl>
                                        <p:attrNameLst>
                                          <p:attrName>style.visibility</p:attrName>
                                        </p:attrNameLst>
                                      </p:cBhvr>
                                      <p:to>
                                        <p:strVal val="visible"/>
                                      </p:to>
                                    </p:set>
                                    <p:animEffect transition="in" filter="fade">
                                      <p:cBhvr>
                                        <p:cTn id="7" dur="500"/>
                                        <p:tgtEl>
                                          <p:spTgt spid="17920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9202"/>
                                        </p:tgtEl>
                                        <p:attrNameLst>
                                          <p:attrName>style.visibility</p:attrName>
                                        </p:attrNameLst>
                                      </p:cBhvr>
                                      <p:to>
                                        <p:strVal val="visible"/>
                                      </p:to>
                                    </p:set>
                                    <p:animEffect transition="in" filter="fade">
                                      <p:cBhvr>
                                        <p:cTn id="12" dur="500"/>
                                        <p:tgtEl>
                                          <p:spTgt spid="17920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par>
                                <p:cTn id="18" presetID="10"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fade">
                                      <p:cBhvr>
                                        <p:cTn id="20" dur="500"/>
                                        <p:tgtEl>
                                          <p:spTgt spid="2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500"/>
                                        <p:tgtEl>
                                          <p:spTgt spid="2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8"/>
                                        </p:tgtEl>
                                        <p:attrNameLst>
                                          <p:attrName>style.visibility</p:attrName>
                                        </p:attrNameLst>
                                      </p:cBhvr>
                                      <p:to>
                                        <p:strVal val="visible"/>
                                      </p:to>
                                    </p:set>
                                    <p:animEffect transition="in" filter="fade">
                                      <p:cBhvr>
                                        <p:cTn id="28" dur="500"/>
                                        <p:tgtEl>
                                          <p:spTgt spid="3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500"/>
                                        <p:tgtEl>
                                          <p:spTgt spid="24"/>
                                        </p:tgtEl>
                                      </p:cBhvr>
                                    </p:animEffect>
                                  </p:childTnLst>
                                </p:cTn>
                              </p:par>
                              <p:par>
                                <p:cTn id="32" presetID="10" presetClass="entr" presetSubtype="0" fill="hold"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500"/>
                                        <p:tgtEl>
                                          <p:spTgt spid="20"/>
                                        </p:tgtEl>
                                      </p:cBhvr>
                                    </p:animEffect>
                                  </p:childTnLst>
                                </p:cTn>
                              </p:par>
                              <p:par>
                                <p:cTn id="40" presetID="10" presetClass="entr" presetSubtype="0" fill="hold" nodeType="withEffect">
                                  <p:stCondLst>
                                    <p:cond delay="0"/>
                                  </p:stCondLst>
                                  <p:childTnLst>
                                    <p:set>
                                      <p:cBhvr>
                                        <p:cTn id="41" dur="1" fill="hold">
                                          <p:stCondLst>
                                            <p:cond delay="0"/>
                                          </p:stCondLst>
                                        </p:cTn>
                                        <p:tgtEl>
                                          <p:spTgt spid="36"/>
                                        </p:tgtEl>
                                        <p:attrNameLst>
                                          <p:attrName>style.visibility</p:attrName>
                                        </p:attrNameLst>
                                      </p:cBhvr>
                                      <p:to>
                                        <p:strVal val="visible"/>
                                      </p:to>
                                    </p:set>
                                    <p:animEffect transition="in" filter="fade">
                                      <p:cBhvr>
                                        <p:cTn id="42" dur="500"/>
                                        <p:tgtEl>
                                          <p:spTgt spid="3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500"/>
                                        <p:tgtEl>
                                          <p:spTgt spid="14"/>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5"/>
                                        </p:tgtEl>
                                        <p:attrNameLst>
                                          <p:attrName>style.visibility</p:attrName>
                                        </p:attrNameLst>
                                      </p:cBhvr>
                                      <p:to>
                                        <p:strVal val="visible"/>
                                      </p:to>
                                    </p:set>
                                    <p:animEffect transition="in" filter="fade">
                                      <p:cBhvr>
                                        <p:cTn id="50" dur="500"/>
                                        <p:tgtEl>
                                          <p:spTgt spid="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79213"/>
                                        </p:tgtEl>
                                        <p:attrNameLst>
                                          <p:attrName>style.visibility</p:attrName>
                                        </p:attrNameLst>
                                      </p:cBhvr>
                                      <p:to>
                                        <p:strVal val="visible"/>
                                      </p:to>
                                    </p:set>
                                    <p:animEffect transition="in" filter="fade">
                                      <p:cBhvr>
                                        <p:cTn id="55" dur="500"/>
                                        <p:tgtEl>
                                          <p:spTgt spid="179213"/>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1"/>
                                        </p:tgtEl>
                                        <p:attrNameLst>
                                          <p:attrName>style.visibility</p:attrName>
                                        </p:attrNameLst>
                                      </p:cBhvr>
                                      <p:to>
                                        <p:strVal val="visible"/>
                                      </p:to>
                                    </p:set>
                                    <p:animEffect transition="in" filter="fade">
                                      <p:cBhvr>
                                        <p:cTn id="58" dur="500"/>
                                        <p:tgtEl>
                                          <p:spTgt spid="3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fade">
                                      <p:cBhvr>
                                        <p:cTn id="61"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4" grpId="0"/>
      <p:bldP spid="23" grpId="0"/>
      <p:bldP spid="24" grpId="0"/>
      <p:bldP spid="26" grpId="0"/>
      <p:bldP spid="31" grpId="0"/>
      <p:bldP spid="179201"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Using Spring Cloud to build common patterns</a:t>
            </a:r>
            <a:endParaRPr lang="en-US" dirty="0"/>
          </a:p>
        </p:txBody>
      </p:sp>
      <p:sp>
        <p:nvSpPr>
          <p:cNvPr id="5" name="Rounded Rectangle 4"/>
          <p:cNvSpPr/>
          <p:nvPr/>
        </p:nvSpPr>
        <p:spPr>
          <a:xfrm>
            <a:off x="327544" y="1255594"/>
            <a:ext cx="6610292" cy="4708477"/>
          </a:xfrm>
          <a:prstGeom prst="roundRect">
            <a:avLst/>
          </a:prstGeom>
          <a:ln/>
        </p:spPr>
        <p:style>
          <a:lnRef idx="2">
            <a:schemeClr val="accent5"/>
          </a:lnRef>
          <a:fillRef idx="1">
            <a:schemeClr val="lt1"/>
          </a:fillRef>
          <a:effectRef idx="0">
            <a:schemeClr val="accent5"/>
          </a:effectRef>
          <a:fontRef idx="minor">
            <a:schemeClr val="dk1"/>
          </a:fontRef>
        </p:style>
        <p:txBody>
          <a:bodyPr rtlCol="0" anchor="ctr"/>
          <a:lstStyle/>
          <a:p>
            <a:pPr marL="285750" indent="-285750">
              <a:buFont typeface="Arial" panose="020B0604020202020204" pitchFamily="34" charset="0"/>
              <a:buChar char="•"/>
            </a:pPr>
            <a:r>
              <a:rPr lang="en-US" sz="1800" dirty="0" smtClean="0"/>
              <a:t>For some common patterns Spring </a:t>
            </a:r>
            <a:r>
              <a:rPr lang="en-US" sz="1800" dirty="0"/>
              <a:t>Cloud provides </a:t>
            </a:r>
            <a:r>
              <a:rPr lang="en-US" sz="1800" dirty="0" smtClean="0"/>
              <a:t>ready to use tools for developers </a:t>
            </a:r>
            <a:r>
              <a:rPr lang="en-US" sz="1800" b="1" dirty="0" smtClean="0"/>
              <a:t>(e.g</a:t>
            </a:r>
            <a:r>
              <a:rPr lang="en-US" sz="1800" b="1" dirty="0"/>
              <a:t>. configuration management, service discovery, circuit breakers, intelligent routing, micro-proxy, control bus, one-time tokens, global locks, leadership election, distributed sessions, cluster state). </a:t>
            </a:r>
            <a:endParaRPr lang="en-US" sz="1800" b="1" dirty="0" smtClean="0"/>
          </a:p>
          <a:p>
            <a:pPr marL="285750" indent="-285750">
              <a:buFont typeface="Arial" panose="020B0604020202020204" pitchFamily="34" charset="0"/>
              <a:buChar char="•"/>
            </a:pPr>
            <a:r>
              <a:rPr lang="en-US" sz="1800" dirty="0" smtClean="0"/>
              <a:t>Coordination </a:t>
            </a:r>
            <a:r>
              <a:rPr lang="en-US" sz="1800" dirty="0"/>
              <a:t>of distributed systems leads to boiler plate patterns, and using Spring Cloud developers can </a:t>
            </a:r>
            <a:r>
              <a:rPr lang="en-US" sz="1800" b="1" u="sng" dirty="0"/>
              <a:t>quickly stand up services </a:t>
            </a:r>
            <a:r>
              <a:rPr lang="en-US" sz="1800" dirty="0"/>
              <a:t>and applications that implement those patterns. </a:t>
            </a:r>
            <a:endParaRPr lang="en-US" sz="1800" dirty="0" smtClean="0"/>
          </a:p>
          <a:p>
            <a:pPr marL="285750" indent="-285750">
              <a:buFont typeface="Arial" panose="020B0604020202020204" pitchFamily="34" charset="0"/>
              <a:buChar char="•"/>
            </a:pPr>
            <a:r>
              <a:rPr lang="en-US" sz="1800" dirty="0" smtClean="0"/>
              <a:t>They </a:t>
            </a:r>
            <a:r>
              <a:rPr lang="en-US" sz="1800" dirty="0"/>
              <a:t>will work well in any distributed environment, including the developer's own laptop, bare metal data </a:t>
            </a:r>
            <a:r>
              <a:rPr lang="en-US" sz="1800" dirty="0" smtClean="0"/>
              <a:t>centers</a:t>
            </a:r>
            <a:r>
              <a:rPr lang="en-US" sz="1800" dirty="0"/>
              <a:t>, and managed platforms such as Cloud Foundry.</a:t>
            </a:r>
            <a:endParaRPr lang="en-US" sz="1800" dirty="0" smtClean="0">
              <a:solidFill>
                <a:schemeClr val="tx2">
                  <a:lumMod val="50000"/>
                </a:schemeClr>
              </a:solidFill>
            </a:endParaRPr>
          </a:p>
        </p:txBody>
      </p:sp>
      <p:pic>
        <p:nvPicPr>
          <p:cNvPr id="180226" name="Picture 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7222294" y="1345656"/>
            <a:ext cx="3559434" cy="317175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3" name="TextBox 2"/>
          <p:cNvSpPr txBox="1"/>
          <p:nvPr/>
        </p:nvSpPr>
        <p:spPr>
          <a:xfrm>
            <a:off x="7222294" y="4653885"/>
            <a:ext cx="3559433" cy="1384995"/>
          </a:xfrm>
          <a:prstGeom prst="rect">
            <a:avLst/>
          </a:prstGeom>
          <a:noFill/>
        </p:spPr>
        <p:txBody>
          <a:bodyPr wrap="square" rtlCol="0">
            <a:spAutoFit/>
          </a:bodyPr>
          <a:lstStyle/>
          <a:p>
            <a:r>
              <a:rPr lang="en-US" sz="1400" i="1" dirty="0"/>
              <a:t>The configuration </a:t>
            </a:r>
            <a:r>
              <a:rPr lang="en-US" sz="1400" i="1" dirty="0" smtClean="0"/>
              <a:t>in the above example was </a:t>
            </a:r>
            <a:r>
              <a:rPr lang="en-US" sz="1400" i="1" dirty="0"/>
              <a:t>not manually coded, but generated</a:t>
            </a:r>
          </a:p>
          <a:p>
            <a:r>
              <a:rPr lang="en-US" sz="1400" i="1" dirty="0"/>
              <a:t>automatically. We can see that the value for </a:t>
            </a:r>
            <a:r>
              <a:rPr lang="en-US" sz="1400" b="1" i="1" dirty="0"/>
              <a:t>greeting</a:t>
            </a:r>
            <a:r>
              <a:rPr lang="en-US" sz="1400" i="1" dirty="0"/>
              <a:t> is </a:t>
            </a:r>
            <a:r>
              <a:rPr lang="en-US" sz="1400" i="1" dirty="0" smtClean="0"/>
              <a:t>being distributed </a:t>
            </a:r>
            <a:r>
              <a:rPr lang="en-US" sz="1400" i="1" dirty="0"/>
              <a:t>to the Spring application by examining its /</a:t>
            </a:r>
            <a:r>
              <a:rPr lang="en-US" sz="1400" i="1" dirty="0" err="1"/>
              <a:t>env</a:t>
            </a:r>
            <a:r>
              <a:rPr lang="en-US" sz="1400" i="1" dirty="0"/>
              <a:t> endpoint</a:t>
            </a:r>
            <a:endParaRPr lang="en-US" sz="1400" i="1" dirty="0" smtClean="0">
              <a:solidFill>
                <a:schemeClr val="tx2">
                  <a:lumMod val="50000"/>
                </a:schemeClr>
              </a:solidFill>
            </a:endParaRPr>
          </a:p>
        </p:txBody>
      </p:sp>
      <p:sp>
        <p:nvSpPr>
          <p:cNvPr id="4" name="TextBox 3"/>
          <p:cNvSpPr txBox="1"/>
          <p:nvPr/>
        </p:nvSpPr>
        <p:spPr>
          <a:xfrm>
            <a:off x="7156684" y="1255594"/>
            <a:ext cx="1298753" cy="738664"/>
          </a:xfrm>
          <a:prstGeom prst="rect">
            <a:avLst/>
          </a:prstGeom>
          <a:noFill/>
        </p:spPr>
        <p:txBody>
          <a:bodyPr wrap="none" rtlCol="0">
            <a:spAutoFit/>
          </a:bodyPr>
          <a:lstStyle/>
          <a:p>
            <a:r>
              <a:rPr lang="en-US" sz="1400" i="1" u="sng" dirty="0" smtClean="0">
                <a:solidFill>
                  <a:schemeClr val="tx2">
                    <a:lumMod val="50000"/>
                  </a:schemeClr>
                </a:solidFill>
              </a:rPr>
              <a:t>Example :</a:t>
            </a:r>
          </a:p>
          <a:p>
            <a:r>
              <a:rPr lang="en-US" sz="1400" i="1" u="sng" dirty="0" smtClean="0">
                <a:solidFill>
                  <a:schemeClr val="tx2">
                    <a:lumMod val="50000"/>
                  </a:schemeClr>
                </a:solidFill>
              </a:rPr>
              <a:t>Configuration </a:t>
            </a:r>
          </a:p>
          <a:p>
            <a:r>
              <a:rPr lang="en-US" sz="1400" i="1" u="sng" dirty="0" smtClean="0">
                <a:solidFill>
                  <a:schemeClr val="tx2">
                    <a:lumMod val="50000"/>
                  </a:schemeClr>
                </a:solidFill>
              </a:rPr>
              <a:t>Management</a:t>
            </a:r>
          </a:p>
        </p:txBody>
      </p:sp>
    </p:spTree>
    <p:extLst>
      <p:ext uri="{BB962C8B-B14F-4D97-AF65-F5344CB8AC3E}">
        <p14:creationId xmlns:p14="http://schemas.microsoft.com/office/powerpoint/2010/main" xmlns="" val="2766637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180226"/>
                                        </p:tgtEl>
                                        <p:attrNameLst>
                                          <p:attrName>style.visibility</p:attrName>
                                        </p:attrNameLst>
                                      </p:cBhvr>
                                      <p:to>
                                        <p:strVal val="visible"/>
                                      </p:to>
                                    </p:set>
                                    <p:animEffect transition="in" filter="fade">
                                      <p:cBhvr>
                                        <p:cTn id="10" dur="500"/>
                                        <p:tgtEl>
                                          <p:spTgt spid="18022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fade">
                                      <p:cBhvr>
                                        <p:cTn id="2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p:bldP spid="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1"/>
          <p:cNvSpPr>
            <a:spLocks noGrp="1"/>
          </p:cNvSpPr>
          <p:nvPr>
            <p:ph type="title"/>
          </p:nvPr>
        </p:nvSpPr>
        <p:spPr/>
        <p:txBody>
          <a:bodyPr/>
          <a:lstStyle/>
          <a:p>
            <a:r>
              <a:rPr lang="fr-FR" sz="2800" dirty="0" err="1" smtClean="0">
                <a:solidFill>
                  <a:srgbClr val="000000"/>
                </a:solidFill>
              </a:rPr>
              <a:t>Example</a:t>
            </a:r>
            <a:r>
              <a:rPr lang="fr-FR" sz="2800" dirty="0" smtClean="0">
                <a:solidFill>
                  <a:srgbClr val="000000"/>
                </a:solidFill>
              </a:rPr>
              <a:t> </a:t>
            </a:r>
            <a:r>
              <a:rPr lang="fr-FR" sz="2800" dirty="0" err="1" smtClean="0">
                <a:solidFill>
                  <a:srgbClr val="000000"/>
                </a:solidFill>
              </a:rPr>
              <a:t>PaaS</a:t>
            </a:r>
            <a:r>
              <a:rPr lang="fr-FR" sz="2800" dirty="0" smtClean="0">
                <a:solidFill>
                  <a:srgbClr val="000000"/>
                </a:solidFill>
              </a:rPr>
              <a:t> Cloud Service Providers</a:t>
            </a:r>
            <a:endParaRPr lang="fr-FR" sz="2800" dirty="0">
              <a:solidFill>
                <a:srgbClr val="000000"/>
              </a:solidFill>
            </a:endParaRPr>
          </a:p>
        </p:txBody>
      </p:sp>
      <p:sp>
        <p:nvSpPr>
          <p:cNvPr id="305154" name="AutoShape 2" descr="Image result for docker imag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305156" name="AutoShape 4" descr="Image result for docker imag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graphicFrame>
        <p:nvGraphicFramePr>
          <p:cNvPr id="9" name="Diagram 8"/>
          <p:cNvGraphicFramePr/>
          <p:nvPr/>
        </p:nvGraphicFramePr>
        <p:xfrm>
          <a:off x="2498708" y="1520457"/>
          <a:ext cx="5156791" cy="44975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 xmlns:p14="http://schemas.microsoft.com/office/powerpoint/2010/main" val="194829505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CLOUD FOUNDRY</a:t>
            </a:r>
            <a:endParaRPr lang="en-US" dirty="0"/>
          </a:p>
        </p:txBody>
      </p:sp>
      <p:graphicFrame>
        <p:nvGraphicFramePr>
          <p:cNvPr id="4" name="Diagram 3"/>
          <p:cNvGraphicFramePr/>
          <p:nvPr/>
        </p:nvGraphicFramePr>
        <p:xfrm>
          <a:off x="318977" y="1541721"/>
          <a:ext cx="10260418" cy="24561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Table 4"/>
          <p:cNvGraphicFramePr>
            <a:graphicFrameLocks noGrp="1"/>
          </p:cNvGraphicFramePr>
          <p:nvPr/>
        </p:nvGraphicFramePr>
        <p:xfrm>
          <a:off x="414671" y="4316829"/>
          <a:ext cx="9324754" cy="1767840"/>
        </p:xfrm>
        <a:graphic>
          <a:graphicData uri="http://schemas.openxmlformats.org/drawingml/2006/table">
            <a:tbl>
              <a:tblPr firstRow="1" bandRow="1">
                <a:tableStyleId>{5FD0F851-EC5A-4D38-B0AD-8093EC10F338}</a:tableStyleId>
              </a:tblPr>
              <a:tblGrid>
                <a:gridCol w="2664215"/>
                <a:gridCol w="6660539"/>
              </a:tblGrid>
              <a:tr h="464289">
                <a:tc>
                  <a:txBody>
                    <a:bodyPr/>
                    <a:lstStyle/>
                    <a:p>
                      <a:r>
                        <a:rPr lang="en-US" sz="1400" b="0" dirty="0" smtClean="0"/>
                        <a:t>Development Frameworks:</a:t>
                      </a:r>
                      <a:endParaRPr lang="en-US" sz="1400" b="0" dirty="0"/>
                    </a:p>
                  </a:txBody>
                  <a:tcPr/>
                </a:tc>
                <a:tc>
                  <a:txBody>
                    <a:bodyPr/>
                    <a:lstStyle/>
                    <a:p>
                      <a:r>
                        <a:rPr lang="en-US" sz="1400" b="0" dirty="0" smtClean="0"/>
                        <a:t>Cloud Foundry supports Java™ code, Spring, Ruby, Node.js, and custom frameworks.</a:t>
                      </a:r>
                      <a:endParaRPr lang="en-US" sz="1400" b="0" dirty="0"/>
                    </a:p>
                  </a:txBody>
                  <a:tcPr/>
                </a:tc>
              </a:tr>
              <a:tr h="464289">
                <a:tc>
                  <a:txBody>
                    <a:bodyPr/>
                    <a:lstStyle/>
                    <a:p>
                      <a:r>
                        <a:rPr lang="en-US" sz="1400" dirty="0" smtClean="0"/>
                        <a:t>Application Services:</a:t>
                      </a:r>
                      <a:endParaRPr lang="en-US" sz="1400" b="0" dirty="0"/>
                    </a:p>
                  </a:txBody>
                  <a:tcPr/>
                </a:tc>
                <a:tc>
                  <a:txBody>
                    <a:bodyPr/>
                    <a:lstStyle/>
                    <a:p>
                      <a:r>
                        <a:rPr lang="en-US" sz="1400" dirty="0" smtClean="0"/>
                        <a:t>Cloud Foundry offers support for </a:t>
                      </a:r>
                      <a:r>
                        <a:rPr lang="en-US" sz="1400" dirty="0" err="1" smtClean="0"/>
                        <a:t>MySQL</a:t>
                      </a:r>
                      <a:r>
                        <a:rPr lang="en-US" sz="1400" dirty="0" smtClean="0"/>
                        <a:t>, </a:t>
                      </a:r>
                      <a:r>
                        <a:rPr lang="en-US" sz="1400" dirty="0" err="1" smtClean="0"/>
                        <a:t>MongoDB</a:t>
                      </a:r>
                      <a:r>
                        <a:rPr lang="en-US" sz="1400" dirty="0" smtClean="0"/>
                        <a:t>, </a:t>
                      </a:r>
                      <a:r>
                        <a:rPr lang="en-US" sz="1400" dirty="0" err="1" smtClean="0"/>
                        <a:t>PostgreSQL</a:t>
                      </a:r>
                      <a:r>
                        <a:rPr lang="en-US" sz="1400" dirty="0" smtClean="0"/>
                        <a:t>, </a:t>
                      </a:r>
                      <a:r>
                        <a:rPr lang="en-US" sz="1400" dirty="0" err="1" smtClean="0"/>
                        <a:t>Redis</a:t>
                      </a:r>
                      <a:r>
                        <a:rPr lang="en-US" sz="1400" dirty="0" smtClean="0"/>
                        <a:t>, </a:t>
                      </a:r>
                      <a:r>
                        <a:rPr lang="en-US" sz="1400" dirty="0" err="1" smtClean="0"/>
                        <a:t>RabbitMQ</a:t>
                      </a:r>
                      <a:r>
                        <a:rPr lang="en-US" sz="1400" dirty="0" smtClean="0"/>
                        <a:t>, and custom services.</a:t>
                      </a:r>
                      <a:endParaRPr lang="en-US" sz="1400" b="0" dirty="0"/>
                    </a:p>
                  </a:txBody>
                  <a:tcPr/>
                </a:tc>
              </a:tr>
              <a:tr h="464289">
                <a:tc>
                  <a:txBody>
                    <a:bodyPr/>
                    <a:lstStyle/>
                    <a:p>
                      <a:r>
                        <a:rPr lang="en-US" sz="1400" dirty="0" smtClean="0"/>
                        <a:t>Clouds:</a:t>
                      </a:r>
                      <a:endParaRPr lang="en-US" sz="1400" b="0" dirty="0"/>
                    </a:p>
                  </a:txBody>
                  <a:tcPr/>
                </a:tc>
                <a:tc>
                  <a:txBody>
                    <a:bodyPr/>
                    <a:lstStyle/>
                    <a:p>
                      <a:pPr marL="0" marR="0" indent="0" algn="l" defTabSz="914342" rtl="0" eaLnBrk="1" fontAlgn="auto" latinLnBrk="0" hangingPunct="1">
                        <a:lnSpc>
                          <a:spcPct val="100000"/>
                        </a:lnSpc>
                        <a:spcBef>
                          <a:spcPts val="0"/>
                        </a:spcBef>
                        <a:spcAft>
                          <a:spcPts val="0"/>
                        </a:spcAft>
                        <a:buClrTx/>
                        <a:buSzTx/>
                        <a:buFontTx/>
                        <a:buNone/>
                        <a:tabLst/>
                        <a:defRPr/>
                      </a:pPr>
                      <a:r>
                        <a:rPr lang="en-US" sz="1400" dirty="0" smtClean="0"/>
                        <a:t> Developers and organizations can choose to run Cloud Foundry in Public, Private, </a:t>
                      </a:r>
                      <a:r>
                        <a:rPr lang="en-US" sz="1400" dirty="0" err="1" smtClean="0"/>
                        <a:t>VMWare</a:t>
                      </a:r>
                      <a:r>
                        <a:rPr lang="en-US" sz="1400" dirty="0" smtClean="0"/>
                        <a:t> and </a:t>
                      </a:r>
                      <a:r>
                        <a:rPr lang="en-US" sz="1400" dirty="0" err="1" smtClean="0"/>
                        <a:t>OpenStack</a:t>
                      </a:r>
                      <a:r>
                        <a:rPr lang="en-US" sz="1400" dirty="0" smtClean="0"/>
                        <a:t>-based clouds.</a:t>
                      </a:r>
                    </a:p>
                    <a:p>
                      <a:endParaRPr lang="en-US" sz="1400" b="0" dirty="0"/>
                    </a:p>
                  </a:txBody>
                  <a:tcPr/>
                </a:tc>
              </a:tr>
            </a:tbl>
          </a:graphicData>
        </a:graphic>
      </p:graphicFrame>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CLOUD FOUNDRY</a:t>
            </a:r>
            <a:endParaRPr lang="en-US" dirty="0"/>
          </a:p>
        </p:txBody>
      </p:sp>
      <p:graphicFrame>
        <p:nvGraphicFramePr>
          <p:cNvPr id="4" name="Diagram 3"/>
          <p:cNvGraphicFramePr/>
          <p:nvPr/>
        </p:nvGraphicFramePr>
        <p:xfrm>
          <a:off x="170121" y="1743740"/>
          <a:ext cx="10356112" cy="43806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0434" name="AutoShape 2" descr="Image result for short quotes about explori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530435" name="Picture 3"/>
          <p:cNvPicPr>
            <a:picLocks noChangeAspect="1" noChangeArrowheads="1"/>
          </p:cNvPicPr>
          <p:nvPr/>
        </p:nvPicPr>
        <p:blipFill>
          <a:blip r:embed="rId2" cstate="print"/>
          <a:srcRect/>
          <a:stretch>
            <a:fillRect/>
          </a:stretch>
        </p:blipFill>
        <p:spPr bwMode="auto">
          <a:xfrm>
            <a:off x="2519917" y="1586356"/>
            <a:ext cx="4351486" cy="398114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81299" y="2862239"/>
            <a:ext cx="8324602" cy="2769989"/>
          </a:xfrm>
          <a:prstGeom prst="rect">
            <a:avLst/>
          </a:prstGeom>
          <a:noFill/>
        </p:spPr>
        <p:txBody>
          <a:bodyPr wrap="square" rtlCol="0">
            <a:spAutoFit/>
          </a:bodyPr>
          <a:lstStyle/>
          <a:p>
            <a:r>
              <a:rPr lang="en-US" dirty="0" smtClean="0">
                <a:solidFill>
                  <a:srgbClr val="FF0000"/>
                </a:solidFill>
              </a:rPr>
              <a:t>References</a:t>
            </a:r>
          </a:p>
          <a:p>
            <a:endParaRPr lang="en-US" dirty="0" smtClean="0">
              <a:solidFill>
                <a:schemeClr val="bg1"/>
              </a:solidFill>
            </a:endParaRPr>
          </a:p>
          <a:p>
            <a:pPr marL="457200" indent="-457200">
              <a:buAutoNum type="arabicParenR"/>
            </a:pPr>
            <a:r>
              <a:rPr lang="en-US" sz="1400" i="1" dirty="0" smtClean="0">
                <a:solidFill>
                  <a:schemeClr val="bg1"/>
                </a:solidFill>
              </a:rPr>
              <a:t>Migrating to Cloud-Native Application Architectures – Matt Stine (Pivotal)</a:t>
            </a:r>
          </a:p>
          <a:p>
            <a:pPr marL="457200" indent="-457200">
              <a:buAutoNum type="arabicParenR"/>
            </a:pPr>
            <a:r>
              <a:rPr lang="en-US" sz="1400" i="1" dirty="0" smtClean="0">
                <a:solidFill>
                  <a:schemeClr val="bg1"/>
                </a:solidFill>
              </a:rPr>
              <a:t>Beyond_the_12-Factor_App_Pivotal – Kevin Hoffman</a:t>
            </a:r>
          </a:p>
          <a:p>
            <a:pPr marL="457200" indent="-457200">
              <a:buAutoNum type="arabicParenR"/>
            </a:pPr>
            <a:r>
              <a:rPr lang="en-US" sz="1400" i="1" dirty="0" smtClean="0">
                <a:solidFill>
                  <a:schemeClr val="bg1"/>
                </a:solidFill>
              </a:rPr>
              <a:t>http</a:t>
            </a:r>
            <a:r>
              <a:rPr lang="en-US" sz="1400" i="1" dirty="0">
                <a:solidFill>
                  <a:schemeClr val="bg1"/>
                </a:solidFill>
              </a:rPr>
              <a:t>:// </a:t>
            </a:r>
            <a:r>
              <a:rPr lang="en-US" sz="1400" i="1" dirty="0" smtClean="0">
                <a:solidFill>
                  <a:schemeClr val="bg1"/>
                </a:solidFill>
              </a:rPr>
              <a:t>www.ibm.com/cloud-computing/bluemix</a:t>
            </a:r>
          </a:p>
          <a:p>
            <a:pPr marL="457200" indent="-457200">
              <a:buAutoNum type="arabicParenR"/>
            </a:pPr>
            <a:r>
              <a:rPr lang="en-US" sz="1400" i="1" dirty="0">
                <a:solidFill>
                  <a:schemeClr val="bg1"/>
                </a:solidFill>
              </a:rPr>
              <a:t>http:// </a:t>
            </a:r>
            <a:r>
              <a:rPr lang="en-US" sz="1400" i="1" dirty="0" smtClean="0">
                <a:solidFill>
                  <a:schemeClr val="bg1"/>
                </a:solidFill>
                <a:hlinkClick r:id="rId2"/>
              </a:rPr>
              <a:t>www.coreos.com</a:t>
            </a:r>
            <a:endParaRPr lang="en-US" sz="1400" i="1" dirty="0" smtClean="0">
              <a:solidFill>
                <a:schemeClr val="bg1"/>
              </a:solidFill>
            </a:endParaRPr>
          </a:p>
          <a:p>
            <a:pPr marL="457200" indent="-457200">
              <a:buAutoNum type="arabicParenR"/>
            </a:pPr>
            <a:r>
              <a:rPr lang="en-US" sz="1400" i="1" dirty="0">
                <a:solidFill>
                  <a:schemeClr val="bg1"/>
                </a:solidFill>
              </a:rPr>
              <a:t>http:// </a:t>
            </a:r>
            <a:r>
              <a:rPr lang="en-US" sz="1400" i="1" dirty="0" smtClean="0">
                <a:solidFill>
                  <a:schemeClr val="bg1"/>
                </a:solidFill>
              </a:rPr>
              <a:t>cloud.spring.io</a:t>
            </a:r>
          </a:p>
          <a:p>
            <a:pPr marL="457200" indent="-457200">
              <a:buAutoNum type="arabicParenR"/>
            </a:pPr>
            <a:r>
              <a:rPr lang="en-US" sz="1400" i="1" dirty="0">
                <a:solidFill>
                  <a:schemeClr val="bg1"/>
                </a:solidFill>
              </a:rPr>
              <a:t>http:// </a:t>
            </a:r>
            <a:r>
              <a:rPr lang="en-US" sz="1400" i="1" dirty="0" smtClean="0">
                <a:solidFill>
                  <a:schemeClr val="bg1"/>
                </a:solidFill>
              </a:rPr>
              <a:t>blog.xebia.co</a:t>
            </a:r>
          </a:p>
          <a:p>
            <a:pPr marL="457200" indent="-457200">
              <a:buAutoNum type="arabicParenR"/>
            </a:pPr>
            <a:r>
              <a:rPr lang="en-US" sz="1400" i="1" dirty="0">
                <a:solidFill>
                  <a:schemeClr val="bg1"/>
                </a:solidFill>
              </a:rPr>
              <a:t>http:// </a:t>
            </a:r>
            <a:r>
              <a:rPr lang="en-US" sz="1400" i="1" dirty="0" smtClean="0">
                <a:solidFill>
                  <a:schemeClr val="bg1"/>
                </a:solidFill>
                <a:hlinkClick r:id="rId3"/>
              </a:rPr>
              <a:t>www.netflix.com</a:t>
            </a:r>
            <a:endParaRPr lang="en-US" sz="1400" i="1" dirty="0" smtClean="0">
              <a:solidFill>
                <a:schemeClr val="bg1"/>
              </a:solidFill>
            </a:endParaRPr>
          </a:p>
          <a:p>
            <a:pPr marL="457200" indent="-457200">
              <a:buAutoNum type="arabicParenR"/>
            </a:pPr>
            <a:endParaRPr lang="en-US" dirty="0" smtClean="0">
              <a:solidFill>
                <a:schemeClr val="bg1"/>
              </a:solidFill>
            </a:endParaRPr>
          </a:p>
          <a:p>
            <a:pPr marL="457200" indent="-457200"/>
            <a:endParaRPr lang="en-US" dirty="0">
              <a:solidFill>
                <a:schemeClr val="bg1"/>
              </a:solidFill>
            </a:endParaRPr>
          </a:p>
        </p:txBody>
      </p:sp>
    </p:spTree>
    <p:extLst>
      <p:ext uri="{BB962C8B-B14F-4D97-AF65-F5344CB8AC3E}">
        <p14:creationId xmlns="" xmlns:p14="http://schemas.microsoft.com/office/powerpoint/2010/main" val="254790027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nvGraphicFramePr>
        <p:xfrm>
          <a:off x="0" y="0"/>
          <a:ext cx="175846" cy="158750"/>
        </p:xfrm>
        <a:graphic>
          <a:graphicData uri="http://schemas.openxmlformats.org/presentationml/2006/ole">
            <p:oleObj spid="_x0000_s140483" name="think-cell Slide" r:id="rId4" imgW="360" imgH="360" progId="">
              <p:embed/>
            </p:oleObj>
          </a:graphicData>
        </a:graphic>
      </p:graphicFrame>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10;&lt;root&gt;&lt;version val=&quot;17192&quot;/&gt;&lt;partner val=&quot;610&quot;/&gt;&lt;CPresentation id=&quot;1&quot;&gt;&lt;m_defprecNumber idref=&quot;2&quot;/&gt;&lt;m_defprecPercent idref=&quot;3&quot;/&gt;&lt;m_defprecDate idref=&quot;4&quot;/&gt;&lt;m_defprecYear idref=&quot;5&quot;/&gt;&lt;m_defprecQuarter idref=&quot;6&quot;/&gt;&lt;m_defprecMonth idref=&quot;7&quot;/&gt;&lt;m_defprecWeek idref=&quot;8&quot;/&gt;&lt;m_defprecDay idref=&quot;9&quot;/&gt;&lt;m_eweekdayFirstOfWeek val=&quot;2&quot;/&gt;&lt;m_mruColor&gt;&lt;m_vecMRU length=&quot;0&quot;/&gt;&lt;/m_mruColor&gt;&lt;/CPresentation&gt;&lt;CDefaultPrec id=&quot;9&quot;&gt;&lt;m_precDefault/&gt;&lt;/CDefaultPrec&gt;&lt;CDefaultPrec id=&quot;8&quot;&gt;&lt;m_precDefault/&gt;&lt;/CDefaultPrec&gt;&lt;CDefaultPrec id=&quot;7&quot;&gt;&lt;m_precDefault/&gt;&lt;/CDefaultPrec&gt;&lt;CDefaultPrec id=&quot;6&quot;&gt;&lt;m_precDefault/&gt;&lt;/CDefaultPrec&gt;&lt;CDefaultPrec id=&quot;5&quot;&gt;&lt;m_precDefault/&gt;&lt;/CDefaultPrec&gt;&lt;CDefaultPrec id=&quot;4&quot;&gt;&lt;m_precDefault/&gt;&lt;/CDefaultPrec&gt;&lt;CDefaultPrec id=&quot;3&quot;&gt;&lt;m_precDefault/&gt;&lt;/CDefaultPrec&gt;&lt;CDefaultPrec id=&quot;2&quot;&gt;&lt;m_precDefault&gt;&lt;m_chDecimalSymbol&gt;,&lt;/m_chDecimalSymbol&gt;&lt;m_nGroupingDigits val=&quot;3&quot;/&gt;&lt;m_chGroupingSymbol&gt;.&lt;/m_chGroupingSymbol&gt;&lt;/m_precDefault&gt;&lt;/CDefaultPrec&gt;&lt;/root&gt;"/>
  <p:tag name="THINKCELLUNDODONOTDELETE" val="6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xzY4oecJCE2aPB.u6loWP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1xI4A68crEiZSNCDbGy9g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oGq5J2dxDUm3Ma.7NhQKK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iau07_YeOU2LhML6a8NafA"/>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jfCn1rK4qUmp5lj5ISq8xA"/>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cOLV5mW.q0KZi163Pl1yLQ"/>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J_rDdt6HIk6q49v0xMSrT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FrrxF00J0k2t3oJwY033cw"/>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jDnCrkojv0SGcwHGEYrPF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O0p5rQUZbU22mWSKdDzEb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pOFNbajSUEaO0T7L3_MyVA"/>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0nVqnsTkbEesDolNHQoqs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zDbv4V7vT0WxnXgCD5MXW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e11Y1Bb0l0irz8SJoiUMeg"/>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Zmxc0iXCQkmeiJMOi0JxKg"/>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cF9GXJfe4kWec6UHbfCPK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6kAk9o_lW0Ov.hm_5XvnyQ"/>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OxU61rCZf0ui2sg3.Ux._w"/>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Cv4KUhlsnkSm9yhyCFYpSw"/>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Xq6O2oonXUC.Ah4a29V_IQ"/>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Giir17zYkEOKrQjij7J_dg"/>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pLnlxQ53SUCFalwIPRbaUg"/>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Xq6O2oonXUC.Ah4a29V_IQ"/>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pjQt7HR0uEmHGOBxH6tjbg"/>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IUq26z0rEkWiApiWfpkFX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pnRCdww2x_kWXwqqw_did_Q"/>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TzZ9AyfU70.O66e.c9FkVw"/>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xzY4oecJCE2aPB.u6loWPw"/>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p1xI4A68crEiZSNCDbGy9gA"/>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poGq5J2dxDUm3Ma.7NhQKKA"/>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piau07_YeOU2LhML6a8NafA"/>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pjfCn1rK4qUmp5lj5ISq8xA"/>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pcOLV5mW.q0KZi163Pl1yLQ"/>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pJ_rDdt6HIk6q49v0xMSrTQ"/>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pFrrxF00J0k2t3oJwY033cw"/>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pi7vUGXTBfkqiTxbV6Ty_sw"/>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pWk8PWFUdk0KvXkyaGZ3bkw"/>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pcOLV5mW.q0KZi163Pl1yLQ"/>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pFrrxF00J0k2t3oJwY033cw"/>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pjfCn1rK4qUmp5lj5ISq8xA"/>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pJ_rDdt6HIk6q49v0xMSrTQ"/>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pjqZTlbzwhkOEBq_f4HJ0Ww"/>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prGIuHW8gFUKsEtFJDZy1QA"/>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pKgz3YXo3l0OkLMYAWunuiw"/>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pb7lR2ZPdT0GiqzvYZsxoow"/>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pDDnGmnlJWUybweSHRV5zMg"/>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pgQ5iGtRqU02KNLCmPGzp4A"/>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pDc8wFtNDQEWdRtOXF1QyRg"/>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pMtFIJDhqukmiZrrs7RIxOQ"/>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pBBk8lAE_1EizYsNCWPJyzQ"/>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pLSf6F_6IvUOzE1MWebP3wg"/>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plIkCAESggUqrdbLfjv5zDQ"/>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paLI83S.QyU2cWSfucWO3YA"/>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phxTia5XSD0.OzMnWznRytQ"/>
</p:tagLst>
</file>

<file path=ppt/theme/theme1.xml><?xml version="1.0" encoding="utf-8"?>
<a:theme xmlns:a="http://schemas.openxmlformats.org/drawingml/2006/main" name="Blank">
  <a:themeElements>
    <a:clrScheme name="Capgemini colors">
      <a:dk1>
        <a:srgbClr val="263147"/>
      </a:dk1>
      <a:lt1>
        <a:sysClr val="window" lastClr="FFFFFF"/>
      </a:lt1>
      <a:dk2>
        <a:srgbClr val="998C85"/>
      </a:dk2>
      <a:lt2>
        <a:srgbClr val="909090"/>
      </a:lt2>
      <a:accent1>
        <a:srgbClr val="FFBC1D"/>
      </a:accent1>
      <a:accent2>
        <a:srgbClr val="E47E1A"/>
      </a:accent2>
      <a:accent3>
        <a:srgbClr val="AC2B37"/>
      </a:accent3>
      <a:accent4>
        <a:srgbClr val="762C7C"/>
      </a:accent4>
      <a:accent5>
        <a:srgbClr val="0098C7"/>
      </a:accent5>
      <a:accent6>
        <a:srgbClr val="B7BE16"/>
      </a:accent6>
      <a:hlink>
        <a:srgbClr val="A2BFAF"/>
      </a:hlink>
      <a:folHlink>
        <a:srgbClr val="AF1C63"/>
      </a:folHlink>
    </a:clrScheme>
    <a:fontScheme name="Capgemini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tx2"/>
          </a:solidFill>
        </a:ln>
      </a:spPr>
      <a:bodyPr rtlCol="0" anchor="ctr"/>
      <a:lstStyle>
        <a:defPPr algn="ctr">
          <a:defRPr sz="2400" dirty="0" err="1" smtClean="0">
            <a:solidFill>
              <a:schemeClr val="tx2">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solidFill>
              <a:schemeClr val="tx2">
                <a:lumMod val="50000"/>
              </a:schemeClr>
            </a:solidFill>
          </a:defRPr>
        </a:defPPr>
      </a:lstStyle>
    </a:txDef>
  </a:objectDefaults>
  <a:extraClrSchemeLst/>
</a:theme>
</file>

<file path=ppt/theme/theme2.xml><?xml version="1.0" encoding="utf-8"?>
<a:theme xmlns:a="http://schemas.openxmlformats.org/drawingml/2006/main" name="Closing slides">
  <a:themeElements>
    <a:clrScheme name="Capgemini colors">
      <a:dk1>
        <a:srgbClr val="263147"/>
      </a:dk1>
      <a:lt1>
        <a:sysClr val="window" lastClr="FFFFFF"/>
      </a:lt1>
      <a:dk2>
        <a:srgbClr val="998C85"/>
      </a:dk2>
      <a:lt2>
        <a:srgbClr val="909090"/>
      </a:lt2>
      <a:accent1>
        <a:srgbClr val="FFBC1D"/>
      </a:accent1>
      <a:accent2>
        <a:srgbClr val="E47E1A"/>
      </a:accent2>
      <a:accent3>
        <a:srgbClr val="AC2B37"/>
      </a:accent3>
      <a:accent4>
        <a:srgbClr val="762C7C"/>
      </a:accent4>
      <a:accent5>
        <a:srgbClr val="0098C7"/>
      </a:accent5>
      <a:accent6>
        <a:srgbClr val="B7BE16"/>
      </a:accent6>
      <a:hlink>
        <a:srgbClr val="A2BFAF"/>
      </a:hlink>
      <a:folHlink>
        <a:srgbClr val="AF1C6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ection break">
  <a:themeElements>
    <a:clrScheme name="Capgemini colors">
      <a:dk1>
        <a:srgbClr val="263147"/>
      </a:dk1>
      <a:lt1>
        <a:sysClr val="window" lastClr="FFFFFF"/>
      </a:lt1>
      <a:dk2>
        <a:srgbClr val="998C85"/>
      </a:dk2>
      <a:lt2>
        <a:srgbClr val="909090"/>
      </a:lt2>
      <a:accent1>
        <a:srgbClr val="FFBC1D"/>
      </a:accent1>
      <a:accent2>
        <a:srgbClr val="E47E1A"/>
      </a:accent2>
      <a:accent3>
        <a:srgbClr val="AC2B37"/>
      </a:accent3>
      <a:accent4>
        <a:srgbClr val="762C7C"/>
      </a:accent4>
      <a:accent5>
        <a:srgbClr val="0098C7"/>
      </a:accent5>
      <a:accent6>
        <a:srgbClr val="B7BE16"/>
      </a:accent6>
      <a:hlink>
        <a:srgbClr val="A2BFAF"/>
      </a:hlink>
      <a:folHlink>
        <a:srgbClr val="AF1C6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PPT Template">
  <a:themeElements>
    <a:clrScheme name="Capgemini colors">
      <a:dk1>
        <a:srgbClr val="263147"/>
      </a:dk1>
      <a:lt1>
        <a:sysClr val="window" lastClr="FFFFFF"/>
      </a:lt1>
      <a:dk2>
        <a:srgbClr val="998C85"/>
      </a:dk2>
      <a:lt2>
        <a:srgbClr val="909090"/>
      </a:lt2>
      <a:accent1>
        <a:srgbClr val="FFBC1D"/>
      </a:accent1>
      <a:accent2>
        <a:srgbClr val="E47E1A"/>
      </a:accent2>
      <a:accent3>
        <a:srgbClr val="AC2B37"/>
      </a:accent3>
      <a:accent4>
        <a:srgbClr val="762C7C"/>
      </a:accent4>
      <a:accent5>
        <a:srgbClr val="0098C7"/>
      </a:accent5>
      <a:accent6>
        <a:srgbClr val="B7BE16"/>
      </a:accent6>
      <a:hlink>
        <a:srgbClr val="A2BFAF"/>
      </a:hlink>
      <a:folHlink>
        <a:srgbClr val="AF1C63"/>
      </a:folHlink>
    </a:clrScheme>
    <a:fontScheme name="Capgemini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tx2"/>
          </a:solidFill>
        </a:ln>
      </a:spPr>
      <a:bodyPr rtlCol="0" anchor="ctr"/>
      <a:lstStyle>
        <a:defPPr algn="ctr">
          <a:defRPr sz="2400" dirty="0" err="1" smtClean="0">
            <a:solidFill>
              <a:schemeClr val="tx2">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solidFill>
              <a:schemeClr val="tx2">
                <a:lumMod val="50000"/>
              </a:schemeClr>
            </a:solidFill>
          </a:defRPr>
        </a:defPPr>
      </a:lstStyle>
    </a:txDef>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41038</TotalTime>
  <Words>3607</Words>
  <Application>Microsoft Office PowerPoint</Application>
  <PresentationFormat>Custom</PresentationFormat>
  <Paragraphs>491</Paragraphs>
  <Slides>52</Slides>
  <Notes>36</Notes>
  <HiddenSlides>0</HiddenSlides>
  <MMClips>0</MMClips>
  <ScaleCrop>false</ScaleCrop>
  <HeadingPairs>
    <vt:vector size="6" baseType="variant">
      <vt:variant>
        <vt:lpstr>Theme</vt:lpstr>
      </vt:variant>
      <vt:variant>
        <vt:i4>6</vt:i4>
      </vt:variant>
      <vt:variant>
        <vt:lpstr>Embedded OLE Servers</vt:lpstr>
      </vt:variant>
      <vt:variant>
        <vt:i4>1</vt:i4>
      </vt:variant>
      <vt:variant>
        <vt:lpstr>Slide Titles</vt:lpstr>
      </vt:variant>
      <vt:variant>
        <vt:i4>52</vt:i4>
      </vt:variant>
    </vt:vector>
  </HeadingPairs>
  <TitlesOfParts>
    <vt:vector size="59" baseType="lpstr">
      <vt:lpstr>Blank</vt:lpstr>
      <vt:lpstr>Closing slides</vt:lpstr>
      <vt:lpstr>Section break</vt:lpstr>
      <vt:lpstr>Custom Design</vt:lpstr>
      <vt:lpstr>Office Theme</vt:lpstr>
      <vt:lpstr>PPT Template</vt:lpstr>
      <vt:lpstr>think-cell Slide</vt:lpstr>
      <vt:lpstr>Cloud Native Development </vt:lpstr>
      <vt:lpstr>What Is Cloud?</vt:lpstr>
      <vt:lpstr>Why Cloud?</vt:lpstr>
      <vt:lpstr>Cloud Offerings</vt:lpstr>
      <vt:lpstr>Slide 5</vt:lpstr>
      <vt:lpstr>What Is Cloud Native?</vt:lpstr>
      <vt:lpstr>How ?</vt:lpstr>
      <vt:lpstr>12 Factor Design Principles </vt:lpstr>
      <vt:lpstr>Slide 9</vt:lpstr>
      <vt:lpstr>Factor 1 - Codebase</vt:lpstr>
      <vt:lpstr>Factor 2 - Dependencies</vt:lpstr>
      <vt:lpstr>Factor 2 - Dependencies</vt:lpstr>
      <vt:lpstr>Factor 2 - Dependencies</vt:lpstr>
      <vt:lpstr>Factor 3 - Configuration</vt:lpstr>
      <vt:lpstr>Factor 3 - Configuration</vt:lpstr>
      <vt:lpstr>Factor 3 - Configuration</vt:lpstr>
      <vt:lpstr>Factor 4 – Backing Services</vt:lpstr>
      <vt:lpstr>Factor 5 – Build, Release, Run</vt:lpstr>
      <vt:lpstr>Factor 5 – Build, Release, Run</vt:lpstr>
      <vt:lpstr>Factor 6 – Processes</vt:lpstr>
      <vt:lpstr>Factor 7 – Port Binding</vt:lpstr>
      <vt:lpstr>Factor 7 – Port Binding</vt:lpstr>
      <vt:lpstr>Factor 8 – Concurrency</vt:lpstr>
      <vt:lpstr>Factor 8 – Concurrency</vt:lpstr>
      <vt:lpstr>Factor 9 – Disposability</vt:lpstr>
      <vt:lpstr>Factor 10 – Dev/prod parity</vt:lpstr>
      <vt:lpstr>Factor 11 – Logs</vt:lpstr>
      <vt:lpstr>Factor 11 – Logs</vt:lpstr>
      <vt:lpstr>Factor 12 – Admin Processes </vt:lpstr>
      <vt:lpstr>Factor 12 – Admin Processes </vt:lpstr>
      <vt:lpstr>Slide 31</vt:lpstr>
      <vt:lpstr>Monolith</vt:lpstr>
      <vt:lpstr>From Orchestration to Choreography</vt:lpstr>
      <vt:lpstr>Microservices</vt:lpstr>
      <vt:lpstr>Microservices</vt:lpstr>
      <vt:lpstr>Microservices – an ‘atomic’ unit of service that delivers business value</vt:lpstr>
      <vt:lpstr>Microservices Architecture Principle </vt:lpstr>
      <vt:lpstr>Self Service Agile Infra – Self service Platform that supports Microservices</vt:lpstr>
      <vt:lpstr>API based Collaboration</vt:lpstr>
      <vt:lpstr>Antifragility – ability of a system getting stronger when subject to stress</vt:lpstr>
      <vt:lpstr>Cloud Native - Summary</vt:lpstr>
      <vt:lpstr>Migration Approaches </vt:lpstr>
      <vt:lpstr>Migrate Existing Apps To Cloud</vt:lpstr>
      <vt:lpstr>Why modernize monolith apps to be Cloud Native?</vt:lpstr>
      <vt:lpstr>Strangling the Monolith</vt:lpstr>
      <vt:lpstr>Using Spring Cloud to build common patterns</vt:lpstr>
      <vt:lpstr>Example PaaS Cloud Service Providers</vt:lpstr>
      <vt:lpstr>CLOUD FOUNDRY</vt:lpstr>
      <vt:lpstr>CLOUD FOUNDRY</vt:lpstr>
      <vt:lpstr>Slide 50</vt:lpstr>
      <vt:lpstr>Slide 51</vt:lpstr>
      <vt:lpstr>Slide 52</vt:lpstr>
    </vt:vector>
  </TitlesOfParts>
  <Company>Capgemini GCC</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the presentation</dc:title>
  <dc:creator>vakkired</dc:creator>
  <cp:lastModifiedBy>ukannan</cp:lastModifiedBy>
  <cp:revision>568</cp:revision>
  <dcterms:created xsi:type="dcterms:W3CDTF">2013-04-01T04:45:56Z</dcterms:created>
  <dcterms:modified xsi:type="dcterms:W3CDTF">2017-05-08T12:47:49Z</dcterms:modified>
</cp:coreProperties>
</file>